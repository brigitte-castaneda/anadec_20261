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3.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2.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100"/>
  </p:notesMasterIdLst>
  <p:handoutMasterIdLst>
    <p:handoutMasterId r:id="rId101"/>
  </p:handoutMasterIdLst>
  <p:sldIdLst>
    <p:sldId id="398" r:id="rId2"/>
    <p:sldId id="354" r:id="rId3"/>
    <p:sldId id="601" r:id="rId4"/>
    <p:sldId id="591" r:id="rId5"/>
    <p:sldId id="259" r:id="rId6"/>
    <p:sldId id="261" r:id="rId7"/>
    <p:sldId id="260" r:id="rId8"/>
    <p:sldId id="262" r:id="rId9"/>
    <p:sldId id="263" r:id="rId10"/>
    <p:sldId id="602" r:id="rId11"/>
    <p:sldId id="264" r:id="rId12"/>
    <p:sldId id="265" r:id="rId13"/>
    <p:sldId id="266" r:id="rId14"/>
    <p:sldId id="267" r:id="rId15"/>
    <p:sldId id="383" r:id="rId16"/>
    <p:sldId id="625" r:id="rId17"/>
    <p:sldId id="382" r:id="rId18"/>
    <p:sldId id="608" r:id="rId19"/>
    <p:sldId id="269" r:id="rId20"/>
    <p:sldId id="270" r:id="rId21"/>
    <p:sldId id="271" r:id="rId22"/>
    <p:sldId id="272" r:id="rId23"/>
    <p:sldId id="344" r:id="rId24"/>
    <p:sldId id="611" r:id="rId25"/>
    <p:sldId id="612" r:id="rId26"/>
    <p:sldId id="279" r:id="rId27"/>
    <p:sldId id="280" r:id="rId28"/>
    <p:sldId id="281" r:id="rId29"/>
    <p:sldId id="283" r:id="rId30"/>
    <p:sldId id="282" r:id="rId31"/>
    <p:sldId id="284" r:id="rId32"/>
    <p:sldId id="286" r:id="rId33"/>
    <p:sldId id="603" r:id="rId34"/>
    <p:sldId id="287" r:id="rId35"/>
    <p:sldId id="288" r:id="rId36"/>
    <p:sldId id="289" r:id="rId37"/>
    <p:sldId id="400" r:id="rId38"/>
    <p:sldId id="290" r:id="rId39"/>
    <p:sldId id="291" r:id="rId40"/>
    <p:sldId id="402" r:id="rId41"/>
    <p:sldId id="292" r:id="rId42"/>
    <p:sldId id="584" r:id="rId43"/>
    <p:sldId id="362" r:id="rId44"/>
    <p:sldId id="307" r:id="rId45"/>
    <p:sldId id="373" r:id="rId46"/>
    <p:sldId id="360" r:id="rId47"/>
    <p:sldId id="614" r:id="rId48"/>
    <p:sldId id="294" r:id="rId49"/>
    <p:sldId id="586" r:id="rId50"/>
    <p:sldId id="296" r:id="rId51"/>
    <p:sldId id="297" r:id="rId52"/>
    <p:sldId id="309" r:id="rId53"/>
    <p:sldId id="390" r:id="rId54"/>
    <p:sldId id="310" r:id="rId55"/>
    <p:sldId id="361" r:id="rId56"/>
    <p:sldId id="384" r:id="rId57"/>
    <p:sldId id="624" r:id="rId58"/>
    <p:sldId id="622" r:id="rId59"/>
    <p:sldId id="590" r:id="rId60"/>
    <p:sldId id="312" r:id="rId61"/>
    <p:sldId id="313" r:id="rId62"/>
    <p:sldId id="314" r:id="rId63"/>
    <p:sldId id="315" r:id="rId64"/>
    <p:sldId id="592" r:id="rId65"/>
    <p:sldId id="399" r:id="rId66"/>
    <p:sldId id="619" r:id="rId67"/>
    <p:sldId id="627" r:id="rId68"/>
    <p:sldId id="628" r:id="rId69"/>
    <p:sldId id="605" r:id="rId70"/>
    <p:sldId id="317" r:id="rId71"/>
    <p:sldId id="318" r:id="rId72"/>
    <p:sldId id="319" r:id="rId73"/>
    <p:sldId id="320" r:id="rId74"/>
    <p:sldId id="321" r:id="rId75"/>
    <p:sldId id="322" r:id="rId76"/>
    <p:sldId id="371" r:id="rId77"/>
    <p:sldId id="376" r:id="rId78"/>
    <p:sldId id="324" r:id="rId79"/>
    <p:sldId id="325" r:id="rId80"/>
    <p:sldId id="606" r:id="rId81"/>
    <p:sldId id="326" r:id="rId82"/>
    <p:sldId id="327" r:id="rId83"/>
    <p:sldId id="328" r:id="rId84"/>
    <p:sldId id="389" r:id="rId85"/>
    <p:sldId id="329" r:id="rId86"/>
    <p:sldId id="610" r:id="rId87"/>
    <p:sldId id="330" r:id="rId88"/>
    <p:sldId id="331" r:id="rId89"/>
    <p:sldId id="332" r:id="rId90"/>
    <p:sldId id="607" r:id="rId91"/>
    <p:sldId id="333" r:id="rId92"/>
    <p:sldId id="334" r:id="rId93"/>
    <p:sldId id="335" r:id="rId94"/>
    <p:sldId id="609" r:id="rId95"/>
    <p:sldId id="337" r:id="rId96"/>
    <p:sldId id="629" r:id="rId97"/>
    <p:sldId id="620" r:id="rId98"/>
    <p:sldId id="621"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8CB64A"/>
    <a:srgbClr val="366658"/>
    <a:srgbClr val="969FA7"/>
    <a:srgbClr val="48BE7A"/>
    <a:srgbClr val="002F90"/>
    <a:srgbClr val="6666FF"/>
    <a:srgbClr val="FF6600"/>
    <a:srgbClr val="93FFFF"/>
    <a:srgbClr val="FFF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750AF7-F8F0-CA49-A212-C3DE0ACDB321}" v="2" dt="2026-09-01T18:49:55.65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39"/>
    <p:restoredTop sz="97861"/>
  </p:normalViewPr>
  <p:slideViewPr>
    <p:cSldViewPr snapToGrid="0">
      <p:cViewPr varScale="1">
        <p:scale>
          <a:sx n="177" d="100"/>
          <a:sy n="177" d="100"/>
        </p:scale>
        <p:origin x="20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5/10/relationships/revisionInfo" Target="revisionInfo.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BA86-46C7-BD26-D557516CD4D3}"/>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1.1514453449693988E-2"/>
                <c:y val="0.49191787779166546"/>
              </c:manualLayout>
            </c:layout>
            <c:txPr>
              <a:bodyPr/>
              <a:lstStyle/>
              <a:p>
                <a:pPr>
                  <a:defRPr sz="1600"/>
                </a:pPr>
                <a:endParaRPr lang="es-CO"/>
              </a:p>
            </c:txPr>
          </c:dispUnitsLbl>
        </c:dispUnits>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 (</a:t>
            </a:r>
            <a:r>
              <a:rPr lang="es-ES" sz="2400" noProof="0"/>
              <a:t>Ejemplo</a:t>
            </a:r>
            <a:r>
              <a:rPr lang="en-US" sz="240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41CC-4458-97CA-08818C34ABC8}"/>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a:t>VPN en Millones</a:t>
                  </a:r>
                </a:p>
              </c:rich>
            </c:tx>
          </c:dispUnitsLbl>
        </c:dispUnits>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 (</a:t>
            </a:r>
            <a:r>
              <a:rPr lang="es-ES" sz="2400" noProof="0"/>
              <a:t>Ejemplo</a:t>
            </a:r>
            <a:r>
              <a:rPr lang="en-US" sz="240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051D-49FC-B7A5-92570604FDE0}"/>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a:t>VPN en Millones</a:t>
                  </a:r>
                </a:p>
              </c:rich>
            </c:tx>
          </c:dispUnitsLbl>
        </c:dispUnits>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CO"/>
              <a:t>Flujos</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7.5226741821904045E-2"/>
          <c:y val="0.14520108150647026"/>
          <c:w val="0.91325880368444412"/>
          <c:h val="0.81690355708686069"/>
        </c:manualLayout>
      </c:layout>
      <c:barChart>
        <c:barDir val="col"/>
        <c:grouping val="clustered"/>
        <c:varyColors val="0"/>
        <c:ser>
          <c:idx val="0"/>
          <c:order val="0"/>
          <c:spPr>
            <a:solidFill>
              <a:schemeClr val="accent1"/>
            </a:solidFill>
            <a:ln>
              <a:noFill/>
            </a:ln>
            <a:effectLst/>
          </c:spPr>
          <c:invertIfNegative val="0"/>
          <c:val>
            <c:numRef>
              <c:f>TIR!$E$17:$O$17</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val>
          <c:extLst>
            <c:ext xmlns:c16="http://schemas.microsoft.com/office/drawing/2014/chart" uri="{C3380CC4-5D6E-409C-BE32-E72D297353CC}">
              <c16:uniqueId val="{00000000-1CF3-4C74-A374-C231288C5A5B}"/>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TIR!$E$18:$O$18</c:f>
              <c:numCache>
                <c:formatCode>General</c:formatCode>
                <c:ptCount val="11"/>
                <c:pt idx="0">
                  <c:v>-1200</c:v>
                </c:pt>
                <c:pt idx="1">
                  <c:v>700</c:v>
                </c:pt>
                <c:pt idx="2">
                  <c:v>700</c:v>
                </c:pt>
                <c:pt idx="3">
                  <c:v>700</c:v>
                </c:pt>
                <c:pt idx="4">
                  <c:v>700</c:v>
                </c:pt>
                <c:pt idx="5">
                  <c:v>700</c:v>
                </c:pt>
                <c:pt idx="6">
                  <c:v>-700</c:v>
                </c:pt>
                <c:pt idx="7">
                  <c:v>-700</c:v>
                </c:pt>
                <c:pt idx="8">
                  <c:v>-700</c:v>
                </c:pt>
                <c:pt idx="9">
                  <c:v>-700</c:v>
                </c:pt>
                <c:pt idx="10">
                  <c:v>-700</c:v>
                </c:pt>
              </c:numCache>
            </c:numRef>
          </c:val>
          <c:extLst>
            <c:ext xmlns:c16="http://schemas.microsoft.com/office/drawing/2014/chart" uri="{C3380CC4-5D6E-409C-BE32-E72D297353CC}">
              <c16:uniqueId val="{00000001-1CF3-4C74-A374-C231288C5A5B}"/>
            </c:ext>
          </c:extLst>
        </c:ser>
        <c:dLbls>
          <c:showLegendKey val="0"/>
          <c:showVal val="0"/>
          <c:showCatName val="0"/>
          <c:showSerName val="0"/>
          <c:showPercent val="0"/>
          <c:showBubbleSize val="0"/>
        </c:dLbls>
        <c:gapWidth val="150"/>
        <c:axId val="870054320"/>
        <c:axId val="870055152"/>
      </c:barChart>
      <c:catAx>
        <c:axId val="87005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crossAx val="870055152"/>
        <c:crosses val="autoZero"/>
        <c:auto val="1"/>
        <c:lblAlgn val="ctr"/>
        <c:lblOffset val="100"/>
        <c:noMultiLvlLbl val="0"/>
      </c:catAx>
      <c:valAx>
        <c:axId val="87005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crossAx val="870054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s-CO"/>
              <a:t>VPN con diferentes CO</a:t>
            </a:r>
          </a:p>
        </c:rich>
      </c:tx>
      <c:layout>
        <c:manualLayout>
          <c:xMode val="edge"/>
          <c:yMode val="edge"/>
          <c:x val="0.32909159151972545"/>
          <c:y val="0"/>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lineChart>
        <c:grouping val="standard"/>
        <c:varyColors val="0"/>
        <c:ser>
          <c:idx val="0"/>
          <c:order val="0"/>
          <c:tx>
            <c:strRef>
              <c:f>TIR!$B$22</c:f>
              <c:strCache>
                <c:ptCount val="1"/>
                <c:pt idx="0">
                  <c:v>CO</c:v>
                </c:pt>
              </c:strCache>
            </c:strRef>
          </c:tx>
          <c:spPr>
            <a:ln w="28575" cap="rnd">
              <a:solidFill>
                <a:schemeClr val="accent1"/>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val>
          <c:smooth val="0"/>
          <c:extLst>
            <c:ext xmlns:c16="http://schemas.microsoft.com/office/drawing/2014/chart" uri="{C3380CC4-5D6E-409C-BE32-E72D297353CC}">
              <c16:uniqueId val="{00000000-C14A-40EF-99A3-11D4BF2B6278}"/>
            </c:ext>
          </c:extLst>
        </c:ser>
        <c:ser>
          <c:idx val="1"/>
          <c:order val="1"/>
          <c:tx>
            <c:strRef>
              <c:f>TIR!$C$22</c:f>
              <c:strCache>
                <c:ptCount val="1"/>
                <c:pt idx="0">
                  <c:v>VP</c:v>
                </c:pt>
              </c:strCache>
            </c:strRef>
          </c:tx>
          <c:spPr>
            <a:ln w="38100" cap="rnd">
              <a:solidFill>
                <a:schemeClr val="accent2"/>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TIR!$C$23:$C$183</c:f>
              <c:numCache>
                <c:formatCode>"$"#,##0.00_);[Red]\("$"#,##0.00\)</c:formatCode>
                <c:ptCount val="161"/>
                <c:pt idx="0">
                  <c:v>-1200</c:v>
                </c:pt>
                <c:pt idx="1">
                  <c:v>-1115.0754432119584</c:v>
                </c:pt>
                <c:pt idx="2">
                  <c:v>-1035.1094364360015</c:v>
                </c:pt>
                <c:pt idx="3">
                  <c:v>-959.82622415778008</c:v>
                </c:pt>
                <c:pt idx="4">
                  <c:v>-888.96619246367845</c:v>
                </c:pt>
                <c:pt idx="5">
                  <c:v>-822.28485781260247</c:v>
                </c:pt>
                <c:pt idx="6">
                  <c:v>-759.55192367073278</c:v>
                </c:pt>
                <c:pt idx="7">
                  <c:v>-700.55040014552185</c:v>
                </c:pt>
                <c:pt idx="8">
                  <c:v>-645.07578212583167</c:v>
                </c:pt>
                <c:pt idx="9">
                  <c:v>-592.93528177616702</c:v>
                </c:pt>
                <c:pt idx="10">
                  <c:v>-543.94711154622098</c:v>
                </c:pt>
                <c:pt idx="11">
                  <c:v>-497.93981414552911</c:v>
                </c:pt>
                <c:pt idx="12">
                  <c:v>-454.75163619828743</c:v>
                </c:pt>
                <c:pt idx="13">
                  <c:v>-414.22994253794695</c:v>
                </c:pt>
                <c:pt idx="14">
                  <c:v>-376.23066832619008</c:v>
                </c:pt>
                <c:pt idx="15">
                  <c:v>-340.61780638850144</c:v>
                </c:pt>
                <c:pt idx="16">
                  <c:v>-307.26292734969059</c:v>
                </c:pt>
                <c:pt idx="17">
                  <c:v>-276.04473032922363</c:v>
                </c:pt>
                <c:pt idx="18">
                  <c:v>-246.84862211890231</c:v>
                </c:pt>
                <c:pt idx="19">
                  <c:v>-219.56632291573385</c:v>
                </c:pt>
                <c:pt idx="20">
                  <c:v>-194.09549682144939</c:v>
                </c:pt>
                <c:pt idx="21">
                  <c:v>-170.33940544836469</c:v>
                </c:pt>
                <c:pt idx="22">
                  <c:v>-148.20658308959355</c:v>
                </c:pt>
                <c:pt idx="23">
                  <c:v>-127.61053202114408</c:v>
                </c:pt>
                <c:pt idx="24">
                  <c:v>-108.46943660459783</c:v>
                </c:pt>
                <c:pt idx="25">
                  <c:v>-90.705894952752715</c:v>
                </c:pt>
                <c:pt idx="26">
                  <c:v>-74.246667007230144</c:v>
                </c:pt>
                <c:pt idx="27">
                  <c:v>-59.022437957333068</c:v>
                </c:pt>
                <c:pt idx="28">
                  <c:v>-44.967596003661356</c:v>
                </c:pt>
                <c:pt idx="29">
                  <c:v>-32.020023538906116</c:v>
                </c:pt>
                <c:pt idx="30">
                  <c:v>-20.120900881997386</c:v>
                </c:pt>
                <c:pt idx="31">
                  <c:v>-9.2145217609383963</c:v>
                </c:pt>
                <c:pt idx="32">
                  <c:v>0.75188020549967405</c:v>
                </c:pt>
                <c:pt idx="33">
                  <c:v>9.8282947261277513</c:v>
                </c:pt>
                <c:pt idx="34">
                  <c:v>18.0620884074483</c:v>
                </c:pt>
                <c:pt idx="35">
                  <c:v>25.49814928335536</c:v>
                </c:pt>
                <c:pt idx="36">
                  <c:v>32.179022871567213</c:v>
                </c:pt>
                <c:pt idx="37">
                  <c:v>38.145040286080757</c:v>
                </c:pt>
                <c:pt idx="38">
                  <c:v>43.434438899797442</c:v>
                </c:pt>
                <c:pt idx="39">
                  <c:v>48.083476018781994</c:v>
                </c:pt>
                <c:pt idx="40">
                  <c:v>52.126535999233965</c:v>
                </c:pt>
                <c:pt idx="41">
                  <c:v>55.596231209970028</c:v>
                </c:pt>
                <c:pt idx="42">
                  <c:v>58.52349721693372</c:v>
                </c:pt>
                <c:pt idx="43">
                  <c:v>60.937682541746653</c:v>
                </c:pt>
                <c:pt idx="44">
                  <c:v>62.86663332351668</c:v>
                </c:pt>
                <c:pt idx="45">
                  <c:v>64.336773191916791</c:v>
                </c:pt>
                <c:pt idx="46">
                  <c:v>65.373178639732942</c:v>
                </c:pt>
                <c:pt idx="47">
                  <c:v>65.99965016466399</c:v>
                </c:pt>
                <c:pt idx="48">
                  <c:v>66.238779432969295</c:v>
                </c:pt>
                <c:pt idx="49">
                  <c:v>66.112012701539015</c:v>
                </c:pt>
                <c:pt idx="50">
                  <c:v>65.639710719999812</c:v>
                </c:pt>
                <c:pt idx="51">
                  <c:v>64.841205320546351</c:v>
                </c:pt>
                <c:pt idx="52">
                  <c:v>63.734852890145248</c:v>
                </c:pt>
                <c:pt idx="53">
                  <c:v>62.338084907636812</c:v>
                </c:pt>
                <c:pt idx="54">
                  <c:v>60.667455716875111</c:v>
                </c:pt>
                <c:pt idx="55">
                  <c:v>58.738687696486522</c:v>
                </c:pt>
                <c:pt idx="56">
                  <c:v>56.566713976889559</c:v>
                </c:pt>
                <c:pt idx="57">
                  <c:v>54.165718845977381</c:v>
                </c:pt>
                <c:pt idx="58">
                  <c:v>51.549175976205333</c:v>
                </c:pt>
                <c:pt idx="59">
                  <c:v>48.729884597737737</c:v>
                </c:pt>
                <c:pt idx="60">
                  <c:v>45.720003734725879</c:v>
                </c:pt>
                <c:pt idx="61">
                  <c:v>42.53108461471993</c:v>
                </c:pt>
                <c:pt idx="62">
                  <c:v>39.174101354571349</c:v>
                </c:pt>
                <c:pt idx="63">
                  <c:v>35.659480019995044</c:v>
                </c:pt>
                <c:pt idx="64">
                  <c:v>31.997126150133681</c:v>
                </c:pt>
                <c:pt idx="65">
                  <c:v>28.196450833028848</c:v>
                </c:pt>
                <c:pt idx="66">
                  <c:v>24.266395412799966</c:v>
                </c:pt>
                <c:pt idx="67">
                  <c:v>20.215454904568787</c:v>
                </c:pt>
                <c:pt idx="68">
                  <c:v>16.051700188659197</c:v>
                </c:pt>
                <c:pt idx="69">
                  <c:v>11.782799051424718</c:v>
                </c:pt>
                <c:pt idx="70">
                  <c:v>7.4160361361134619</c:v>
                </c:pt>
                <c:pt idx="71">
                  <c:v>2.9583318634722673</c:v>
                </c:pt>
                <c:pt idx="72">
                  <c:v>-1.5837396216581965</c:v>
                </c:pt>
                <c:pt idx="73">
                  <c:v>-6.2039334247758688</c:v>
                </c:pt>
                <c:pt idx="74">
                  <c:v>-10.896317747235798</c:v>
                </c:pt>
                <c:pt idx="75">
                  <c:v>-15.655258555791534</c:v>
                </c:pt>
                <c:pt idx="76">
                  <c:v>-20.475405031788114</c:v>
                </c:pt>
                <c:pt idx="77">
                  <c:v>-25.351675758161036</c:v>
                </c:pt>
                <c:pt idx="78">
                  <c:v>-30.279245604785274</c:v>
                </c:pt>
                <c:pt idx="79">
                  <c:v>-35.253533274935307</c:v>
                </c:pt>
                <c:pt idx="80">
                  <c:v>-40.27018947773422</c:v>
                </c:pt>
                <c:pt idx="81">
                  <c:v>-45.325085693441906</c:v>
                </c:pt>
                <c:pt idx="82">
                  <c:v>-50.414303500284404</c:v>
                </c:pt>
                <c:pt idx="83">
                  <c:v>-55.53412443327602</c:v>
                </c:pt>
                <c:pt idx="84">
                  <c:v>-60.681020347139111</c:v>
                </c:pt>
                <c:pt idx="85">
                  <c:v>-65.851644256958025</c:v>
                </c:pt>
                <c:pt idx="86">
                  <c:v>-71.042821631681591</c:v>
                </c:pt>
                <c:pt idx="87">
                  <c:v>-76.251542116938936</c:v>
                </c:pt>
                <c:pt idx="88">
                  <c:v>-81.474951664936498</c:v>
                </c:pt>
                <c:pt idx="89">
                  <c:v>-86.710345050423939</c:v>
                </c:pt>
                <c:pt idx="90">
                  <c:v>-91.95515875285696</c:v>
                </c:pt>
                <c:pt idx="91">
                  <c:v>-97.206964185962761</c:v>
                </c:pt>
                <c:pt idx="92">
                  <c:v>-102.46346125693663</c:v>
                </c:pt>
                <c:pt idx="93">
                  <c:v>-107.72247223846875</c:v>
                </c:pt>
                <c:pt idx="94">
                  <c:v>-112.98193593767587</c:v>
                </c:pt>
                <c:pt idx="95">
                  <c:v>-118.23990214689934</c:v>
                </c:pt>
                <c:pt idx="96">
                  <c:v>-123.49452636211481</c:v>
                </c:pt>
                <c:pt idx="97">
                  <c:v>-128.74406475546471</c:v>
                </c:pt>
                <c:pt idx="98">
                  <c:v>-133.9868693891458</c:v>
                </c:pt>
                <c:pt idx="99">
                  <c:v>-139.2213836585529</c:v>
                </c:pt>
                <c:pt idx="100">
                  <c:v>-144.44613795322607</c:v>
                </c:pt>
                <c:pt idx="101">
                  <c:v>-149.65974552474222</c:v>
                </c:pt>
                <c:pt idx="102">
                  <c:v>-154.86089855128125</c:v>
                </c:pt>
                <c:pt idx="103">
                  <c:v>-160.04836438910093</c:v>
                </c:pt>
                <c:pt idx="104">
                  <c:v>-165.22098200170376</c:v>
                </c:pt>
                <c:pt idx="105">
                  <c:v>-170.37765855792691</c:v>
                </c:pt>
                <c:pt idx="106">
                  <c:v>-175.51736619065946</c:v>
                </c:pt>
                <c:pt idx="107">
                  <c:v>-180.63913890830815</c:v>
                </c:pt>
                <c:pt idx="108">
                  <c:v>-185.74206965154758</c:v>
                </c:pt>
                <c:pt idx="109">
                  <c:v>-190.82530748827025</c:v>
                </c:pt>
                <c:pt idx="110">
                  <c:v>-195.88805494001724</c:v>
                </c:pt>
                <c:pt idx="111">
                  <c:v>-200.92956543350874</c:v>
                </c:pt>
                <c:pt idx="112">
                  <c:v>-205.94914087122231</c:v>
                </c:pt>
                <c:pt idx="113">
                  <c:v>-210.94612931527604</c:v>
                </c:pt>
                <c:pt idx="114">
                  <c:v>-215.91992277916097</c:v>
                </c:pt>
                <c:pt idx="115">
                  <c:v>-220.86995512214185</c:v>
                </c:pt>
                <c:pt idx="116">
                  <c:v>-225.79570004140942</c:v>
                </c:pt>
                <c:pt idx="117">
                  <c:v>-230.69666915731307</c:v>
                </c:pt>
                <c:pt idx="118">
                  <c:v>-235.5724101872388</c:v>
                </c:pt>
                <c:pt idx="119">
                  <c:v>-240.42250520390917</c:v>
                </c:pt>
                <c:pt idx="120">
                  <c:v>-245.24656897410841</c:v>
                </c:pt>
                <c:pt idx="121">
                  <c:v>-250.04424737401473</c:v>
                </c:pt>
                <c:pt idx="122">
                  <c:v>-254.815215877539</c:v>
                </c:pt>
                <c:pt idx="123">
                  <c:v>-259.55917811420602</c:v>
                </c:pt>
                <c:pt idx="124">
                  <c:v>-264.27586449332591</c:v>
                </c:pt>
                <c:pt idx="125">
                  <c:v>-268.96503089134148</c:v>
                </c:pt>
                <c:pt idx="126">
                  <c:v>-273.62645739939035</c:v>
                </c:pt>
                <c:pt idx="127">
                  <c:v>-278.25994712826878</c:v>
                </c:pt>
                <c:pt idx="128">
                  <c:v>-282.86532506812898</c:v>
                </c:pt>
                <c:pt idx="129">
                  <c:v>-287.44243700035167</c:v>
                </c:pt>
                <c:pt idx="130">
                  <c:v>-291.99114845918348</c:v>
                </c:pt>
                <c:pt idx="131">
                  <c:v>-296.51134374082483</c:v>
                </c:pt>
                <c:pt idx="132">
                  <c:v>-301.00292495777751</c:v>
                </c:pt>
                <c:pt idx="133">
                  <c:v>-305.46581113636557</c:v>
                </c:pt>
                <c:pt idx="134">
                  <c:v>-309.89993735543499</c:v>
                </c:pt>
                <c:pt idx="135">
                  <c:v>-314.30525392434686</c:v>
                </c:pt>
                <c:pt idx="136">
                  <c:v>-318.68172559845038</c:v>
                </c:pt>
                <c:pt idx="137">
                  <c:v>-323.02933083033361</c:v>
                </c:pt>
                <c:pt idx="138">
                  <c:v>-327.34806105519851</c:v>
                </c:pt>
                <c:pt idx="139">
                  <c:v>-331.63792000882097</c:v>
                </c:pt>
                <c:pt idx="140">
                  <c:v>-335.89892307659397</c:v>
                </c:pt>
                <c:pt idx="141">
                  <c:v>-340.13109667225353</c:v>
                </c:pt>
                <c:pt idx="142">
                  <c:v>-344.3344776449344</c:v>
                </c:pt>
                <c:pt idx="143">
                  <c:v>-348.5091127132664</c:v>
                </c:pt>
                <c:pt idx="144">
                  <c:v>-352.65505792529734</c:v>
                </c:pt>
                <c:pt idx="145">
                  <c:v>-356.77237814306557</c:v>
                </c:pt>
                <c:pt idx="146">
                  <c:v>-360.86114655071822</c:v>
                </c:pt>
                <c:pt idx="147">
                  <c:v>-364.92144418510566</c:v>
                </c:pt>
                <c:pt idx="148">
                  <c:v>-368.9533594878493</c:v>
                </c:pt>
                <c:pt idx="149">
                  <c:v>-372.95698787791002</c:v>
                </c:pt>
                <c:pt idx="150">
                  <c:v>-376.93243134374598</c:v>
                </c:pt>
                <c:pt idx="151">
                  <c:v>-380.87979805417217</c:v>
                </c:pt>
                <c:pt idx="152">
                  <c:v>-384.7992019870909</c:v>
                </c:pt>
                <c:pt idx="153">
                  <c:v>-388.69076257529662</c:v>
                </c:pt>
                <c:pt idx="154">
                  <c:v>-392.55460436858425</c:v>
                </c:pt>
                <c:pt idx="155">
                  <c:v>-396.39085671144244</c:v>
                </c:pt>
                <c:pt idx="156">
                  <c:v>-400.19965343563183</c:v>
                </c:pt>
                <c:pt idx="157">
                  <c:v>-403.98113256698923</c:v>
                </c:pt>
                <c:pt idx="158">
                  <c:v>-407.73543604582426</c:v>
                </c:pt>
                <c:pt idx="159">
                  <c:v>-411.46270946030484</c:v>
                </c:pt>
                <c:pt idx="160">
                  <c:v>-415.16310179225286</c:v>
                </c:pt>
              </c:numCache>
            </c:numRef>
          </c:val>
          <c:smooth val="0"/>
          <c:extLst>
            <c:ext xmlns:c16="http://schemas.microsoft.com/office/drawing/2014/chart" uri="{C3380CC4-5D6E-409C-BE32-E72D297353CC}">
              <c16:uniqueId val="{00000001-C14A-40EF-99A3-11D4BF2B6278}"/>
            </c:ext>
          </c:extLst>
        </c:ser>
        <c:dLbls>
          <c:showLegendKey val="0"/>
          <c:showVal val="0"/>
          <c:showCatName val="0"/>
          <c:showSerName val="0"/>
          <c:showPercent val="0"/>
          <c:showBubbleSize val="0"/>
        </c:dLbls>
        <c:smooth val="0"/>
        <c:axId val="351098960"/>
        <c:axId val="351104784"/>
      </c:lineChart>
      <c:catAx>
        <c:axId val="351098960"/>
        <c:scaling>
          <c:orientation val="minMax"/>
        </c:scaling>
        <c:delete val="0"/>
        <c:axPos val="b"/>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351104784"/>
        <c:crosses val="autoZero"/>
        <c:auto val="1"/>
        <c:lblAlgn val="ctr"/>
        <c:lblOffset val="100"/>
        <c:noMultiLvlLbl val="0"/>
      </c:catAx>
      <c:valAx>
        <c:axId val="3511047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35109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01685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noProof="0" dirty="0"/>
              <a:t>Mutuamente Excluyentes:</a:t>
            </a:r>
          </a:p>
          <a:p>
            <a:r>
              <a:rPr lang="es-ES_tradnl" noProof="0" dirty="0"/>
              <a:t>-Trabajar en empresa de sus sueños 1 vs empresa de sus sueños 2</a:t>
            </a:r>
          </a:p>
          <a:p>
            <a:r>
              <a:rPr lang="es-ES_tradnl" noProof="0" dirty="0"/>
              <a:t>-Estudiar en la universidad X</a:t>
            </a:r>
            <a:r>
              <a:rPr lang="es-ES_tradnl" baseline="0" noProof="0" dirty="0"/>
              <a:t> o Z</a:t>
            </a:r>
          </a:p>
          <a:p>
            <a:pPr marL="0" indent="0">
              <a:buFontTx/>
              <a:buNone/>
            </a:pPr>
            <a:r>
              <a:rPr lang="es-ES_tradnl" baseline="0" noProof="0" dirty="0"/>
              <a:t>-Modelo de victoria </a:t>
            </a:r>
            <a:r>
              <a:rPr lang="es-ES_tradnl" baseline="0" noProof="0" dirty="0" err="1"/>
              <a:t>secret</a:t>
            </a:r>
            <a:r>
              <a:rPr lang="es-ES_tradnl" baseline="0" noProof="0" dirty="0"/>
              <a:t> 1 o 2</a:t>
            </a:r>
          </a:p>
          <a:p>
            <a:pPr marL="171450" indent="-171450">
              <a:buFontTx/>
              <a:buChar char="-"/>
            </a:pPr>
            <a:endParaRPr lang="es-ES_tradnl" baseline="0" noProof="0" dirty="0"/>
          </a:p>
          <a:p>
            <a:pPr marL="0" indent="0">
              <a:buFontTx/>
              <a:buNone/>
            </a:pPr>
            <a:r>
              <a:rPr lang="es-ES_tradnl" baseline="0" noProof="0" dirty="0"/>
              <a:t>Restricciones Técnicas:</a:t>
            </a:r>
          </a:p>
          <a:p>
            <a:pPr marL="171450" indent="-171450">
              <a:buFontTx/>
              <a:buChar char="-"/>
            </a:pPr>
            <a:r>
              <a:rPr lang="es-ES_tradnl" baseline="0" noProof="0" dirty="0"/>
              <a:t>Restricción presupuestal del gobierno</a:t>
            </a:r>
          </a:p>
          <a:p>
            <a:pPr marL="171450" indent="-171450">
              <a:buFontTx/>
              <a:buChar char="-"/>
            </a:pPr>
            <a:r>
              <a:rPr lang="es-ES_tradnl" baseline="0" noProof="0" dirty="0"/>
              <a:t>Corte constitucional</a:t>
            </a:r>
            <a:endParaRPr lang="es-ES_tradnl" noProof="0" dirty="0"/>
          </a:p>
        </p:txBody>
      </p:sp>
      <p:sp>
        <p:nvSpPr>
          <p:cNvPr id="4" name="Slide Number Placeholder 3"/>
          <p:cNvSpPr>
            <a:spLocks noGrp="1"/>
          </p:cNvSpPr>
          <p:nvPr>
            <p:ph type="sldNum" sz="quarter" idx="10"/>
          </p:nvPr>
        </p:nvSpPr>
        <p:spPr/>
        <p:txBody>
          <a:bodyPr/>
          <a:lstStyle/>
          <a:p>
            <a:fld id="{602C4E94-3DB4-C84A-925E-628A397D8BB4}" type="slidenum">
              <a:rPr lang="en-US" smtClean="0"/>
              <a:t>6</a:t>
            </a:fld>
            <a:endParaRPr lang="en-US"/>
          </a:p>
        </p:txBody>
      </p:sp>
    </p:spTree>
    <p:extLst>
      <p:ext uri="{BB962C8B-B14F-4D97-AF65-F5344CB8AC3E}">
        <p14:creationId xmlns:p14="http://schemas.microsoft.com/office/powerpoint/2010/main" val="3748919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Qué</a:t>
            </a:r>
            <a:r>
              <a:rPr lang="en-US" dirty="0"/>
              <a:t> se </a:t>
            </a:r>
            <a:r>
              <a:rPr lang="en-US" dirty="0" err="1"/>
              <a:t>requiere</a:t>
            </a:r>
            <a:r>
              <a:rPr lang="en-US" dirty="0"/>
              <a:t> para </a:t>
            </a:r>
            <a:r>
              <a:rPr lang="en-US" dirty="0" err="1"/>
              <a:t>traer</a:t>
            </a:r>
            <a:r>
              <a:rPr lang="en-US" dirty="0"/>
              <a:t> a valor </a:t>
            </a:r>
            <a:r>
              <a:rPr lang="en-US" dirty="0" err="1"/>
              <a:t>presente</a:t>
            </a:r>
            <a:r>
              <a:rPr lang="en-US" dirty="0"/>
              <a:t>? –</a:t>
            </a:r>
            <a:r>
              <a:rPr lang="en-US" baseline="0" dirty="0"/>
              <a:t> </a:t>
            </a:r>
            <a:r>
              <a:rPr lang="en-US" baseline="0" dirty="0" err="1"/>
              <a:t>Flujos</a:t>
            </a:r>
            <a:r>
              <a:rPr lang="en-US" baseline="0" dirty="0"/>
              <a:t> &amp; Tasa de </a:t>
            </a:r>
            <a:r>
              <a:rPr lang="en-US" baseline="0" dirty="0" err="1"/>
              <a:t>Descuento</a:t>
            </a:r>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15</a:t>
            </a:fld>
            <a:endParaRPr lang="en-US"/>
          </a:p>
        </p:txBody>
      </p:sp>
    </p:spTree>
    <p:extLst>
      <p:ext uri="{BB962C8B-B14F-4D97-AF65-F5344CB8AC3E}">
        <p14:creationId xmlns:p14="http://schemas.microsoft.com/office/powerpoint/2010/main" val="4225999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2547795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FBD6-CC2A-1538-6474-72589A5C5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860CC-6C4A-69AE-39CC-0D88A4DC3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89BB8-6C9D-6F3F-DA0A-B02CF0EC7F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13C998-8F9F-3809-A406-31937C446B2F}"/>
              </a:ext>
            </a:extLst>
          </p:cNvPr>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3395297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CB666-6D2F-9A28-535B-38023DAAE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4244E-EF11-CBB3-E216-64D8B73F2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1BBCE-D1B5-E62B-6419-F7F254F04E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9AEF53-B3BA-2BFB-84AE-7BAC5651FC9A}"/>
              </a:ext>
            </a:extLst>
          </p:cNvPr>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4101327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8D12-FACB-5959-84CE-B3FB24B97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90B45-847C-D377-D235-236BCD2C3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8A2CA-6EC4-49B0-F430-B552418AFA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DA8BE3-C2A0-88E7-96E5-4A2D6C5D290A}"/>
              </a:ext>
            </a:extLst>
          </p:cNvPr>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4122604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Preguntar</a:t>
            </a:r>
            <a:r>
              <a:rPr lang="en-US"/>
              <a:t>: </a:t>
            </a:r>
            <a:r>
              <a:rPr lang="en-US" err="1"/>
              <a:t>Por</a:t>
            </a:r>
            <a:r>
              <a:rPr lang="en-US"/>
              <a:t> </a:t>
            </a:r>
            <a:r>
              <a:rPr lang="en-US" err="1"/>
              <a:t>qué</a:t>
            </a:r>
            <a:r>
              <a:rPr lang="en-US"/>
              <a:t> no la </a:t>
            </a:r>
            <a:r>
              <a:rPr lang="en-US" err="1"/>
              <a:t>rentabilidad</a:t>
            </a:r>
            <a:r>
              <a:rPr lang="en-US"/>
              <a:t>?</a:t>
            </a:r>
          </a:p>
        </p:txBody>
      </p:sp>
      <p:sp>
        <p:nvSpPr>
          <p:cNvPr id="4" name="Slide Number Placeholder 3"/>
          <p:cNvSpPr>
            <a:spLocks noGrp="1"/>
          </p:cNvSpPr>
          <p:nvPr>
            <p:ph type="sldNum" sz="quarter" idx="10"/>
          </p:nvPr>
        </p:nvSpPr>
        <p:spPr/>
        <p:txBody>
          <a:bodyPr/>
          <a:lstStyle/>
          <a:p>
            <a:fld id="{602C4E94-3DB4-C84A-925E-628A397D8BB4}" type="slidenum">
              <a:rPr lang="en-US" smtClean="0"/>
              <a:t>32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63B15-72A8-4A24-6270-58CD6E7BD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491D6-BCAC-FC16-ED3E-2F4767420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414FB-9443-8D5C-0AF5-F651C3EA6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91D76F-EF5E-4BB5-F867-2D3B1112AE73}"/>
              </a:ext>
            </a:extLst>
          </p:cNvPr>
          <p:cNvSpPr>
            <a:spLocks noGrp="1"/>
          </p:cNvSpPr>
          <p:nvPr>
            <p:ph type="sldNum" sz="quarter" idx="10"/>
          </p:nvPr>
        </p:nvSpPr>
        <p:spPr/>
        <p:txBody>
          <a:bodyPr/>
          <a:lstStyle/>
          <a:p>
            <a:fld id="{602C4E94-3DB4-C84A-925E-628A397D8BB4}" type="slidenum">
              <a:rPr lang="en-US" smtClean="0"/>
              <a:t>37</a:t>
            </a:fld>
            <a:endParaRPr lang="en-US"/>
          </a:p>
        </p:txBody>
      </p:sp>
    </p:spTree>
    <p:extLst>
      <p:ext uri="{BB962C8B-B14F-4D97-AF65-F5344CB8AC3E}">
        <p14:creationId xmlns:p14="http://schemas.microsoft.com/office/powerpoint/2010/main" val="1021804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0143-4FDF-B04D-C51F-F043F9B6F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82E0B-73DD-E0A8-A1A0-02A6AD7E6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82666-691B-52BF-F094-3063416CADA0}"/>
              </a:ext>
            </a:extLst>
          </p:cNvPr>
          <p:cNvSpPr>
            <a:spLocks noGrp="1"/>
          </p:cNvSpPr>
          <p:nvPr>
            <p:ph type="body" idx="1"/>
          </p:nvPr>
        </p:nvSpPr>
        <p:spPr/>
        <p:txBody>
          <a:bodyPr/>
          <a:lstStyle/>
          <a:p>
            <a:r>
              <a:rPr lang="en-US" err="1"/>
              <a:t>Preguntar</a:t>
            </a:r>
            <a:r>
              <a:rPr lang="en-US"/>
              <a:t>:</a:t>
            </a:r>
            <a:r>
              <a:rPr lang="en-US" baseline="0"/>
              <a:t> ¿</a:t>
            </a:r>
            <a:r>
              <a:rPr lang="en-US" baseline="0" err="1"/>
              <a:t>Cuál</a:t>
            </a:r>
            <a:r>
              <a:rPr lang="en-US" baseline="0"/>
              <a:t> </a:t>
            </a:r>
            <a:r>
              <a:rPr lang="en-US" baseline="0" err="1"/>
              <a:t>es</a:t>
            </a:r>
            <a:r>
              <a:rPr lang="en-US" baseline="0"/>
              <a:t> la TIR?</a:t>
            </a:r>
            <a:endParaRPr lang="en-US"/>
          </a:p>
        </p:txBody>
      </p:sp>
      <p:sp>
        <p:nvSpPr>
          <p:cNvPr id="4" name="Slide Number Placeholder 3">
            <a:extLst>
              <a:ext uri="{FF2B5EF4-FFF2-40B4-BE49-F238E27FC236}">
                <a16:creationId xmlns:a16="http://schemas.microsoft.com/office/drawing/2014/main" id="{7ED81D2A-9C27-8774-7F3B-0834FC4FA82B}"/>
              </a:ext>
            </a:extLst>
          </p:cNvPr>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642432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4282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8005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Preguntar</a:t>
            </a:r>
            <a:r>
              <a:rPr lang="en-US"/>
              <a:t>:</a:t>
            </a:r>
            <a:r>
              <a:rPr lang="en-US" baseline="0"/>
              <a:t> ¿</a:t>
            </a:r>
            <a:r>
              <a:rPr lang="en-US" baseline="0" err="1"/>
              <a:t>Cuál</a:t>
            </a:r>
            <a:r>
              <a:rPr lang="en-US" baseline="0"/>
              <a:t> </a:t>
            </a:r>
            <a:r>
              <a:rPr lang="en-US" baseline="0" err="1"/>
              <a:t>es</a:t>
            </a:r>
            <a:r>
              <a:rPr lang="en-US" baseline="0"/>
              <a:t> la TIR?</a:t>
            </a:r>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18210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607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11DB-7271-839A-1EBA-3F7FB9E7D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2BC9E-6214-D543-D95A-FC5C3C883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7AE39-9966-6039-1D83-D5C4433414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80BA6-C381-03F3-9317-F716D55527C9}"/>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0929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48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O" dirty="0"/>
              <a:t>El </a:t>
            </a:r>
            <a:r>
              <a:rPr lang="en-CO" b="0" dirty="0"/>
              <a:t>Proyecto 1 </a:t>
            </a:r>
            <a:r>
              <a:rPr lang="en-CO" dirty="0"/>
              <a:t>representa el caso más sencillo y tradicional de entender. Es una estructura tipo 'bullet' o de pago único al vencimiento5.</a:t>
            </a:r>
          </a:p>
          <a:p>
            <a:r>
              <a:rPr lang="en-CO" dirty="0"/>
              <a:t>Noten que en cada uno de los trimestres 1, 2 y 3, el inversionista recibe exactamente el 9% de su inversión inicial de $1.000.000, es decir, </a:t>
            </a:r>
            <a:r>
              <a:rPr lang="en-US" dirty="0"/>
              <a:t>$90.000 </a:t>
            </a:r>
            <a:r>
              <a:rPr lang="en-US" dirty="0" err="1"/>
              <a:t>periódicos</a:t>
            </a:r>
            <a:r>
              <a:rPr lang="en-US" dirty="0"/>
              <a:t>.</a:t>
            </a:r>
            <a:r>
              <a:rPr lang="en-CO" dirty="0"/>
              <a:t> Al final del trimestre 4, el proyecto le entrega la rentabilidad del último periodo $90.000 y le devuelve intacto el millón de pesos invertido </a:t>
            </a:r>
            <a:r>
              <a:rPr lang="en-US" dirty="0" err="1"/>
              <a:t>originalmente</a:t>
            </a:r>
            <a:r>
              <a:rPr lang="en-US" dirty="0"/>
              <a:t>.</a:t>
            </a:r>
            <a:endParaRPr lang="en-CO" dirty="0"/>
          </a:p>
          <a:p>
            <a:r>
              <a:rPr lang="en-CO" dirty="0"/>
              <a:t>Como el inversionista no retiró nada de su capital inicial antes del final, </a:t>
            </a:r>
            <a:r>
              <a:rPr lang="en-CO" b="0" dirty="0"/>
              <a:t>el saldo expuesto que permaneció dentro del proyecto en cada periodo fue siempre de exactamente </a:t>
            </a:r>
            <a:r>
              <a:rPr lang="en-CO" dirty="0"/>
              <a:t>$1.000.000. Por esta razón, es muy fácil e intuitivo ver que la rentabilidad periódica (TIR) es del 9 % E.T.. Pero, ¿qué pasa cuando el proyecto empieza a devolvernos el capital poco a poco?</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871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CO" dirty="0"/>
                  <a:t>Miren ahora el </a:t>
                </a:r>
                <a:r>
                  <a:rPr lang="en-CO" b="1" dirty="0"/>
                  <a:t>Proyecto 2</a:t>
                </a:r>
                <a:r>
                  <a:rPr lang="en-CO" dirty="0"/>
                  <a:t>. La inversión inicial es la misma ($1.000.000), pero en lugar de darnos $90.000 trimestrales y devolvernos el millón al final, el proyecto nos entrega cuotas constantes de $308.668,7 cada trimestre. La TIR de este proyecto también es del $9%{ E.T.}.</a:t>
                </a:r>
                <a:br>
                  <a:rPr lang="en-CO" dirty="0"/>
                </a:br>
                <a:br>
                  <a:rPr lang="en-CO" dirty="0"/>
                </a:br>
                <a:r>
                  <a:rPr lang="en-CO" dirty="0"/>
                  <a:t>¿Cómo es posible que rindan lo mismo si en el Proyecto 2 nunca recibimos un flujo de </a:t>
                </a:r>
                <a14:m>
                  <m:oMath xmlns:m="http://schemas.openxmlformats.org/officeDocument/2006/math">
                    <m:r>
                      <a:rPr lang="en-CO" dirty="0" smtClean="0">
                        <a:latin typeface="Cambria Math" panose="02040503050406030204" pitchFamily="18" charset="0"/>
                      </a:rPr>
                      <m:t>90.000</m:t>
                    </m:r>
                  </m:oMath>
                </a14:m>
                <a:r>
                  <a:rPr lang="en-CO" dirty="0"/>
                  <a:t> de interés? </a:t>
                </a:r>
                <a:r>
                  <a:rPr lang="en-US" b="1" dirty="0" err="1"/>
                  <a:t>Porque</a:t>
                </a:r>
                <a:r>
                  <a:rPr lang="en-CO" b="1" dirty="0"/>
                  <a:t> la TIR calcula la rentabilidad únicamente sobre los fondos que permanecen invertidos dentro del proyecto cada periodo</a:t>
                </a:r>
                <a:endParaRPr lang="en-US" dirty="0"/>
              </a:p>
            </p:txBody>
          </p:sp>
        </mc:Choice>
        <mc:Fallback xmlns="">
          <p:sp>
            <p:nvSpPr>
              <p:cNvPr id="3" name="Notes Placeholder 2"/>
              <p:cNvSpPr>
                <a:spLocks noGrp="1"/>
              </p:cNvSpPr>
              <p:nvPr>
                <p:ph type="body" idx="1"/>
              </p:nvPr>
            </p:nvSpPr>
            <p:spPr/>
            <p:txBody>
              <a:bodyPr/>
              <a:lstStyle/>
              <a:p>
                <a:r>
                  <a:rPr lang="en-CO" dirty="0"/>
                  <a:t>Miren ahora el </a:t>
                </a:r>
                <a:r>
                  <a:rPr lang="en-CO" b="1" dirty="0"/>
                  <a:t>Proyecto 2</a:t>
                </a:r>
                <a:r>
                  <a:rPr lang="en-CO" dirty="0"/>
                  <a:t>. La inversión inicial es la misma ($1.000.000), pero en lugar de darnos $90.000 trimestrales y devolvernos el millón al final, el proyecto nos entrega cuotas constantes de $308.668,7 cada trimestre. La TIR de este proyecto también es del $9%{ E.T.}.</a:t>
                </a:r>
                <a:br>
                  <a:rPr lang="en-CO" dirty="0"/>
                </a:br>
                <a:br>
                  <a:rPr lang="en-CO" dirty="0"/>
                </a:br>
                <a:r>
                  <a:rPr lang="en-CO" dirty="0"/>
                  <a:t>¿Cómo es posible que rindan lo mismo si en el Proyecto 2 nunca recibimos un flujo de </a:t>
                </a:r>
                <a:r>
                  <a:rPr lang="en-CO" i="0" dirty="0">
                    <a:latin typeface="Cambria Math" panose="02040503050406030204" pitchFamily="18" charset="0"/>
                  </a:rPr>
                  <a:t>90.000</a:t>
                </a:r>
                <a:r>
                  <a:rPr lang="en-CO" dirty="0"/>
                  <a:t> de interés? </a:t>
                </a:r>
                <a:r>
                  <a:rPr lang="en-US" b="1" dirty="0" err="1"/>
                  <a:t>Porque</a:t>
                </a:r>
                <a:r>
                  <a:rPr lang="en-CO" b="1" dirty="0"/>
                  <a:t> la TIR calcula la rentabilidad únicamente sobre los fondos que permanecen invertidos dentro del proyecto cada periodo</a:t>
                </a:r>
                <a:endParaRPr lang="en-US" dirty="0"/>
              </a:p>
            </p:txBody>
          </p:sp>
        </mc:Fallback>
      </mc:AlternateContent>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50979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RESPUESTA A LA PREGUNTA: </a:t>
            </a:r>
            <a:r>
              <a:rPr lang="en-CO" sz="1200" dirty="0">
                <a:solidFill>
                  <a:schemeClr val="tx2"/>
                </a:solidFill>
              </a:rPr>
              <a:t>La TIR </a:t>
            </a:r>
            <a:r>
              <a:rPr lang="en-US" sz="1200" dirty="0" err="1">
                <a:solidFill>
                  <a:schemeClr val="tx2"/>
                </a:solidFill>
              </a:rPr>
              <a:t>asume</a:t>
            </a:r>
            <a:r>
              <a:rPr lang="en-US" sz="1200" dirty="0">
                <a:solidFill>
                  <a:schemeClr val="tx2"/>
                </a:solidFill>
              </a:rPr>
              <a:t>, </a:t>
            </a:r>
            <a:r>
              <a:rPr lang="en-US" sz="1200" dirty="0" err="1">
                <a:solidFill>
                  <a:schemeClr val="tx2"/>
                </a:solidFill>
              </a:rPr>
              <a:t>matemáticamente</a:t>
            </a:r>
            <a:r>
              <a:rPr lang="en-US" sz="1200" dirty="0">
                <a:solidFill>
                  <a:schemeClr val="tx2"/>
                </a:solidFill>
              </a:rPr>
              <a:t>, </a:t>
            </a:r>
            <a:r>
              <a:rPr lang="en-US" sz="1200" dirty="0" err="1">
                <a:solidFill>
                  <a:schemeClr val="tx2"/>
                </a:solidFill>
              </a:rPr>
              <a:t>que</a:t>
            </a:r>
            <a:r>
              <a:rPr lang="en-US" sz="1200" dirty="0">
                <a:solidFill>
                  <a:schemeClr val="tx2"/>
                </a:solidFill>
              </a:rPr>
              <a:t> el </a:t>
            </a:r>
            <a:r>
              <a:rPr lang="en-US" sz="1200" dirty="0" err="1">
                <a:solidFill>
                  <a:schemeClr val="tx2"/>
                </a:solidFill>
              </a:rPr>
              <a:t>inversionista</a:t>
            </a:r>
            <a:r>
              <a:rPr lang="en-US" sz="1200" dirty="0">
                <a:solidFill>
                  <a:schemeClr val="tx2"/>
                </a:solidFill>
              </a:rPr>
              <a:t> </a:t>
            </a:r>
            <a:r>
              <a:rPr lang="en-US" sz="1200" dirty="0" err="1">
                <a:solidFill>
                  <a:schemeClr val="tx2"/>
                </a:solidFill>
              </a:rPr>
              <a:t>tiene</a:t>
            </a:r>
            <a:r>
              <a:rPr lang="en-US" sz="1200" dirty="0">
                <a:solidFill>
                  <a:schemeClr val="tx2"/>
                </a:solidFill>
              </a:rPr>
              <a:t> la capacidad de </a:t>
            </a:r>
            <a:r>
              <a:rPr lang="en-US" sz="1200" dirty="0" err="1">
                <a:solidFill>
                  <a:schemeClr val="tx2"/>
                </a:solidFill>
              </a:rPr>
              <a:t>reinvertir</a:t>
            </a:r>
            <a:r>
              <a:rPr lang="en-US" sz="1200" dirty="0">
                <a:solidFill>
                  <a:schemeClr val="tx2"/>
                </a:solidFill>
              </a:rPr>
              <a:t> </a:t>
            </a:r>
            <a:r>
              <a:rPr lang="en-US" sz="1200" dirty="0" err="1">
                <a:solidFill>
                  <a:schemeClr val="tx2"/>
                </a:solidFill>
              </a:rPr>
              <a:t>esos</a:t>
            </a:r>
            <a:r>
              <a:rPr lang="en-US" sz="1200" dirty="0">
                <a:solidFill>
                  <a:schemeClr val="tx2"/>
                </a:solidFill>
              </a:rPr>
              <a:t> </a:t>
            </a:r>
            <a:r>
              <a:rPr lang="en-US" sz="1200" dirty="0" err="1">
                <a:solidFill>
                  <a:schemeClr val="tx2"/>
                </a:solidFill>
              </a:rPr>
              <a:t>flujos</a:t>
            </a:r>
            <a:r>
              <a:rPr lang="en-US" sz="1200" dirty="0">
                <a:solidFill>
                  <a:schemeClr val="tx2"/>
                </a:solidFill>
              </a:rPr>
              <a:t> </a:t>
            </a:r>
            <a:r>
              <a:rPr lang="en-US" sz="1200" dirty="0" err="1">
                <a:solidFill>
                  <a:schemeClr val="tx2"/>
                </a:solidFill>
              </a:rPr>
              <a:t>liberados</a:t>
            </a:r>
            <a:r>
              <a:rPr lang="en-US" sz="1200" dirty="0">
                <a:solidFill>
                  <a:schemeClr val="tx2"/>
                </a:solidFill>
              </a:rPr>
              <a:t> a </a:t>
            </a:r>
            <a:r>
              <a:rPr lang="en-US" sz="1200" dirty="0" err="1">
                <a:solidFill>
                  <a:schemeClr val="tx2"/>
                </a:solidFill>
              </a:rPr>
              <a:t>esa</a:t>
            </a:r>
            <a:r>
              <a:rPr lang="en-US" sz="1200" dirty="0">
                <a:solidFill>
                  <a:schemeClr val="tx2"/>
                </a:solidFill>
              </a:rPr>
              <a:t> </a:t>
            </a:r>
            <a:r>
              <a:rPr lang="en-US" sz="1200" dirty="0" err="1">
                <a:solidFill>
                  <a:schemeClr val="tx2"/>
                </a:solidFill>
              </a:rPr>
              <a:t>misma</a:t>
            </a:r>
            <a:r>
              <a:rPr lang="en-CO" sz="1200" dirty="0">
                <a:solidFill>
                  <a:schemeClr val="tx2"/>
                </a:solidFill>
              </a:rPr>
              <a:t> tasa del 9%.</a:t>
            </a:r>
            <a:br>
              <a:rPr lang="en-CO" sz="1200" dirty="0">
                <a:solidFill>
                  <a:schemeClr val="tx2"/>
                </a:solidFill>
              </a:rPr>
            </a:br>
            <a:br>
              <a:rPr lang="en-CO" sz="1200" dirty="0">
                <a:solidFill>
                  <a:schemeClr val="tx2"/>
                </a:solidFill>
              </a:rPr>
            </a:br>
            <a:r>
              <a:rPr lang="en-US" sz="1200" dirty="0">
                <a:solidFill>
                  <a:schemeClr val="tx2"/>
                </a:solidFill>
              </a:rPr>
              <a:t>O</a:t>
            </a:r>
            <a:r>
              <a:rPr lang="en-CO" sz="1200" dirty="0">
                <a:solidFill>
                  <a:schemeClr val="tx2"/>
                </a:solidFill>
              </a:rPr>
              <a:t>bjetivo del </a:t>
            </a:r>
            <a:r>
              <a:rPr lang="en-US" sz="1200" dirty="0">
                <a:solidFill>
                  <a:schemeClr val="tx2"/>
                </a:solidFill>
              </a:rPr>
              <a:t>slide:</a:t>
            </a:r>
            <a:r>
              <a:rPr lang="en-CO" sz="1200" dirty="0">
                <a:solidFill>
                  <a:schemeClr val="tx2"/>
                </a:solidFill>
              </a:rPr>
              <a:t> </a:t>
            </a:r>
            <a:r>
              <a:rPr lang="en-CO" sz="1200" b="0" i="0" kern="1200" dirty="0">
                <a:solidFill>
                  <a:schemeClr val="tx1"/>
                </a:solidFill>
                <a:effectLst/>
                <a:latin typeface="+mn-lt"/>
                <a:ea typeface="+mn-ea"/>
                <a:cs typeface="+mn-cs"/>
              </a:rPr>
              <a:t>Plantea la pregunta de qué hace el inversionista con el dinero que el proyecto le va devolviendo periodo a periodo. Introduce el supuesto de </a:t>
            </a:r>
            <a:r>
              <a:rPr lang="en-CO" sz="1200" b="1" i="0" kern="1200" dirty="0">
                <a:solidFill>
                  <a:schemeClr val="tx1"/>
                </a:solidFill>
                <a:effectLst/>
                <a:latin typeface="+mn-lt"/>
                <a:ea typeface="+mn-ea"/>
                <a:cs typeface="+mn-cs"/>
              </a:rPr>
              <a:t>reinversión de flujos a la misma tasa de la TIR</a:t>
            </a:r>
            <a:r>
              <a:rPr lang="en-CO" sz="1200" b="0" i="0" kern="1200" dirty="0">
                <a:solidFill>
                  <a:schemeClr val="tx1"/>
                </a:solidFill>
                <a:effectLst/>
                <a:latin typeface="+mn-lt"/>
                <a:ea typeface="+mn-ea"/>
                <a:cs typeface="+mn-cs"/>
              </a:rPr>
              <a:t> y las limitaciones de las múltiples raíces en las ecuaciones polinómicas</a:t>
            </a:r>
            <a:endParaRPr lang="es-ES_tradnl" sz="1200" dirty="0">
              <a:solidFill>
                <a:schemeClr val="tx2"/>
              </a:solidFill>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4138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53</a:t>
            </a:fld>
            <a:endParaRPr lang="en-US"/>
          </a:p>
        </p:txBody>
      </p:sp>
    </p:spTree>
    <p:extLst>
      <p:ext uri="{BB962C8B-B14F-4D97-AF65-F5344CB8AC3E}">
        <p14:creationId xmlns:p14="http://schemas.microsoft.com/office/powerpoint/2010/main" val="3656891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41430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t>
            </a:r>
            <a:r>
              <a:rPr lang="en-US" dirty="0" err="1"/>
              <a:t>hace</a:t>
            </a:r>
            <a:r>
              <a:rPr lang="en-US" dirty="0"/>
              <a:t> </a:t>
            </a:r>
            <a:r>
              <a:rPr lang="en-US" dirty="0" err="1"/>
              <a:t>este</a:t>
            </a:r>
            <a:r>
              <a:rPr lang="en-US" dirty="0"/>
              <a:t> </a:t>
            </a:r>
            <a:r>
              <a:rPr lang="en-US" dirty="0" err="1"/>
              <a:t>ejercicio</a:t>
            </a:r>
            <a:r>
              <a:rPr lang="en-US" dirty="0"/>
              <a:t> y </a:t>
            </a:r>
            <a:r>
              <a:rPr lang="en-US" dirty="0" err="1"/>
              <a:t>el</a:t>
            </a:r>
            <a:r>
              <a:rPr lang="en-US" dirty="0"/>
              <a:t> </a:t>
            </a:r>
            <a:r>
              <a:rPr lang="en-US" dirty="0" err="1"/>
              <a:t>siguiente</a:t>
            </a:r>
            <a:r>
              <a:rPr lang="en-US" dirty="0"/>
              <a:t> </a:t>
            </a:r>
            <a:r>
              <a:rPr lang="en-US" dirty="0" err="1"/>
              <a:t>en</a:t>
            </a:r>
            <a:r>
              <a:rPr lang="en-US" dirty="0"/>
              <a:t> excel para </a:t>
            </a:r>
            <a:r>
              <a:rPr lang="en-US" dirty="0" err="1"/>
              <a:t>mostrar</a:t>
            </a:r>
            <a:r>
              <a:rPr lang="en-US" dirty="0"/>
              <a:t> </a:t>
            </a:r>
            <a:r>
              <a:rPr lang="en-US" dirty="0" err="1"/>
              <a:t>uso</a:t>
            </a:r>
            <a:r>
              <a:rPr lang="en-US" dirty="0"/>
              <a:t> de formula TIR y TIRM, Tambien recorder </a:t>
            </a:r>
            <a:r>
              <a:rPr lang="en-US" dirty="0" err="1"/>
              <a:t>mostrar</a:t>
            </a:r>
            <a:r>
              <a:rPr lang="en-US" dirty="0"/>
              <a:t> </a:t>
            </a:r>
            <a:r>
              <a:rPr lang="en-US" dirty="0" err="1"/>
              <a:t>el</a:t>
            </a:r>
            <a:r>
              <a:rPr lang="en-US" dirty="0"/>
              <a:t> manual de </a:t>
            </a:r>
            <a:r>
              <a:rPr lang="en-US" dirty="0" err="1"/>
              <a:t>funciones</a:t>
            </a:r>
            <a:r>
              <a:rPr lang="en-US" dirty="0"/>
              <a:t> </a:t>
            </a:r>
          </a:p>
        </p:txBody>
      </p:sp>
      <p:sp>
        <p:nvSpPr>
          <p:cNvPr id="4" name="Slide Number Placeholder 3"/>
          <p:cNvSpPr>
            <a:spLocks noGrp="1"/>
          </p:cNvSpPr>
          <p:nvPr>
            <p:ph type="sldNum" sz="quarter" idx="10"/>
          </p:nvPr>
        </p:nvSpPr>
        <p:spPr/>
        <p:txBody>
          <a:bodyPr/>
          <a:lstStyle/>
          <a:p>
            <a:fld id="{602C4E94-3DB4-C84A-925E-628A397D8BB4}" type="slidenum">
              <a:rPr lang="en-US" smtClean="0"/>
              <a:t>64</a:t>
            </a:fld>
            <a:endParaRPr lang="en-US"/>
          </a:p>
        </p:txBody>
      </p:sp>
    </p:spTree>
    <p:extLst>
      <p:ext uri="{BB962C8B-B14F-4D97-AF65-F5344CB8AC3E}">
        <p14:creationId xmlns:p14="http://schemas.microsoft.com/office/powerpoint/2010/main" val="17398684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65</a:t>
            </a:fld>
            <a:endParaRPr lang="en-US"/>
          </a:p>
        </p:txBody>
      </p:sp>
    </p:spTree>
    <p:extLst>
      <p:ext uri="{BB962C8B-B14F-4D97-AF65-F5344CB8AC3E}">
        <p14:creationId xmlns:p14="http://schemas.microsoft.com/office/powerpoint/2010/main" val="14903643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77</a:t>
            </a:fld>
            <a:endParaRPr lang="en-US"/>
          </a:p>
        </p:txBody>
      </p:sp>
    </p:spTree>
    <p:extLst>
      <p:ext uri="{BB962C8B-B14F-4D97-AF65-F5344CB8AC3E}">
        <p14:creationId xmlns:p14="http://schemas.microsoft.com/office/powerpoint/2010/main" val="21347005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79</a:t>
            </a:fld>
            <a:endParaRPr lang="en-US"/>
          </a:p>
        </p:txBody>
      </p:sp>
    </p:spTree>
    <p:extLst>
      <p:ext uri="{BB962C8B-B14F-4D97-AF65-F5344CB8AC3E}">
        <p14:creationId xmlns:p14="http://schemas.microsoft.com/office/powerpoint/2010/main" val="395905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9/1/26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9/1/26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9/1/26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9/1/26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9/1/26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7.emf"/></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8.emf"/><Relationship Id="rId7"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2.emf"/><Relationship Id="rId4" Type="http://schemas.openxmlformats.org/officeDocument/2006/relationships/image" Target="../media/image21.emf"/></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90.png"/><Relationship Id="rId4" Type="http://schemas.openxmlformats.org/officeDocument/2006/relationships/image" Target="../media/image80.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0.png"/></Relationships>
</file>

<file path=ppt/slides/_rels/slide8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0.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emf"/></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INDICADORES DE BONDAD FINANCIERA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367D-8C8F-AAD5-1864-CE320F7283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1D85B3-4663-C10F-6E56-4A2EBACDEAF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3A6E94E3-0050-66EC-4451-C82447C4430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FFA423B0-D2A5-9FFD-E2A6-8DAF9B40D69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3197CFDB-FADD-C806-5AA8-E29E6DC2FBC6}"/>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0F9C9B59-DA32-6A0A-E76B-D27ADAAC8F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25EEB89-2A5B-BCD0-7578-337DE5C0C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F98DC1-F76B-2BC0-2A3F-2ED052686DC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9856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79321"/>
            <a:ext cx="11029615" cy="2357755"/>
          </a:xfrm>
        </p:spPr>
        <p:txBody>
          <a:bodyPr>
            <a:normAutofit/>
          </a:bodyPr>
          <a:lstStyle/>
          <a:p>
            <a:pPr marL="0" indent="0" algn="ctr">
              <a:buNone/>
            </a:pPr>
            <a:r>
              <a:rPr lang="es-ES_tradnl" sz="2400">
                <a:solidFill>
                  <a:srgbClr val="800000"/>
                </a:solidFill>
              </a:rPr>
              <a:t>¿Cuándo un proyecto de inversión es una buena decisión de inversión?</a:t>
            </a:r>
          </a:p>
          <a:p>
            <a:pPr marL="0" indent="0" algn="ctr">
              <a:buNone/>
            </a:pPr>
            <a:endParaRPr lang="es-ES_tradnl" sz="2400">
              <a:solidFill>
                <a:srgbClr val="800000"/>
              </a:solidFill>
            </a:endParaRPr>
          </a:p>
          <a:p>
            <a:pPr marL="0" indent="0" algn="ctr">
              <a:buNone/>
            </a:pPr>
            <a:r>
              <a:rPr lang="es-ES_tradnl" sz="2400">
                <a:solidFill>
                  <a:srgbClr val="800000"/>
                </a:solidFill>
              </a:rPr>
              <a:t>¿Cómo tomar decisiones de inversión cuando disponemos de distintas alternativas de inversión?</a:t>
            </a:r>
          </a:p>
        </p:txBody>
      </p:sp>
      <p:sp>
        <p:nvSpPr>
          <p:cNvPr id="8" name="Título 1">
            <a:extLst>
              <a:ext uri="{FF2B5EF4-FFF2-40B4-BE49-F238E27FC236}">
                <a16:creationId xmlns:a16="http://schemas.microsoft.com/office/drawing/2014/main" id="{4BEE794C-3F7F-96AB-EFDC-609B24EB2D3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9" name="Rectángulo 8">
            <a:extLst>
              <a:ext uri="{FF2B5EF4-FFF2-40B4-BE49-F238E27FC236}">
                <a16:creationId xmlns:a16="http://schemas.microsoft.com/office/drawing/2014/main" id="{42E2BBBA-842C-D5AD-F8A7-923576D87A4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E3769E5-7AF7-9A28-E14A-741EF0D03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05A0067-3460-15FD-6322-08248B569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EEE7747A-9C20-23E6-1B91-69C68C24AE5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297593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8800"/>
            <a:ext cx="11029616" cy="3889837"/>
          </a:xfrm>
        </p:spPr>
        <p:txBody>
          <a:bodyPr>
            <a:noAutofit/>
          </a:bodyPr>
          <a:lstStyle/>
          <a:p>
            <a:pPr marL="0" indent="0" algn="just">
              <a:buNone/>
            </a:pPr>
            <a:r>
              <a:rPr lang="es-ES_tradnl" sz="2400"/>
              <a:t>¿Cuál es el objetivo de toda inversión, desde un punto de vista económico y racional?</a:t>
            </a:r>
          </a:p>
          <a:p>
            <a:pPr marL="0" indent="0" algn="just">
              <a:buNone/>
            </a:pPr>
            <a:endParaRPr lang="es-ES_tradnl" sz="2400"/>
          </a:p>
          <a:p>
            <a:pPr marL="0" indent="0" algn="ctr">
              <a:buNone/>
            </a:pPr>
            <a:r>
              <a:rPr lang="es-ES_tradnl" sz="2400" i="1">
                <a:solidFill>
                  <a:srgbClr val="800000"/>
                </a:solidFill>
              </a:rPr>
              <a:t>Creación de valor (acumulación de capital)</a:t>
            </a:r>
          </a:p>
          <a:p>
            <a:pPr marL="0" indent="0" algn="ctr">
              <a:buNone/>
            </a:pPr>
            <a:endParaRPr lang="es-ES_tradnl" sz="2400"/>
          </a:p>
          <a:p>
            <a:pPr marL="0" indent="0" algn="just">
              <a:buNone/>
            </a:pPr>
            <a:r>
              <a:rPr lang="es-ES_tradnl" sz="2400"/>
              <a:t>El objetivo de los indicadores de bondad financiera (IBF) es medir la conveniencia de una inversión a la luz del concepto de creación de valor.</a:t>
            </a:r>
          </a:p>
          <a:p>
            <a:pPr marL="0" indent="0" algn="just">
              <a:buNone/>
            </a:pPr>
            <a:r>
              <a:rPr lang="es-ES_tradnl" sz="2400"/>
              <a:t>Los IBF no sólo nos indicarán si se genera valor o no en un proyecto. También permitirán establecer el ordenamiento preferencial entre los mismos.</a:t>
            </a:r>
          </a:p>
        </p:txBody>
      </p:sp>
      <p:sp>
        <p:nvSpPr>
          <p:cNvPr id="6" name="Rectángulo 5">
            <a:extLst>
              <a:ext uri="{FF2B5EF4-FFF2-40B4-BE49-F238E27FC236}">
                <a16:creationId xmlns:a16="http://schemas.microsoft.com/office/drawing/2014/main" id="{AFCFF31E-F868-B25A-6F36-086DFE675A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CFA7C8-F673-93E3-E5CF-64304FD66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D2AFAF7-6990-6BD7-EAF5-41A2AFE581B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4968FBF-E204-E2EA-BA9C-D8B9DD787CD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67C8C082-1BF3-53CE-37CE-36D0C4CED1D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241589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0968843" cy="5040086"/>
          </a:xfrm>
        </p:spPr>
        <p:txBody>
          <a:bodyPr>
            <a:noAutofit/>
          </a:bodyPr>
          <a:lstStyle/>
          <a:p>
            <a:pPr marL="0" indent="0" algn="just">
              <a:buNone/>
            </a:pPr>
            <a:r>
              <a:rPr lang="es-ES_tradnl" sz="2400"/>
              <a:t>¿Por qué es importante el ordenamiento de las alternativas?</a:t>
            </a:r>
          </a:p>
          <a:p>
            <a:pPr marL="457200" indent="-457200" algn="just">
              <a:buFont typeface="+mj-lt"/>
              <a:buAutoNum type="arabicPeriod"/>
            </a:pPr>
            <a:r>
              <a:rPr lang="es-ES_tradnl" sz="2400"/>
              <a:t>Existen recursos limitados en la economía, por ende se debe optimizar su utilización (desde la perspectiva económica).</a:t>
            </a:r>
          </a:p>
          <a:p>
            <a:pPr marL="457200" indent="-457200" algn="just">
              <a:buFont typeface="+mj-lt"/>
              <a:buAutoNum type="arabicPeriod"/>
            </a:pPr>
            <a:endParaRPr lang="es-ES_tradnl" sz="2400"/>
          </a:p>
          <a:p>
            <a:pPr marL="457200" indent="-457200" algn="just">
              <a:buFont typeface="+mj-lt"/>
              <a:buAutoNum type="arabicPeriod"/>
            </a:pPr>
            <a:endParaRPr lang="es-ES_tradnl" sz="2400"/>
          </a:p>
          <a:p>
            <a:pPr marL="457200" indent="-457200" algn="just">
              <a:buFont typeface="+mj-lt"/>
              <a:buAutoNum type="arabicPeriod"/>
            </a:pPr>
            <a:endParaRPr lang="es-ES_tradnl" sz="2400"/>
          </a:p>
          <a:p>
            <a:pPr marL="457200" indent="-457200" algn="just">
              <a:buFont typeface="+mj-lt"/>
              <a:buAutoNum type="arabicPeriod"/>
            </a:pPr>
            <a:r>
              <a:rPr lang="es-ES_tradnl" sz="2400"/>
              <a:t>Existen proyectos mutuamente excluyentes; proyectos que de realizarse excluyen la realización de las otras alternativas.</a:t>
            </a:r>
          </a:p>
          <a:p>
            <a:pPr marL="457200" indent="-457200" algn="just">
              <a:buFont typeface="+mj-lt"/>
              <a:buAutoNum type="arabicPeriod"/>
            </a:pPr>
            <a:r>
              <a:rPr lang="es-ES_tradnl" sz="2400"/>
              <a:t>Existen restricciones técnicas, legales y demás que pueden forzar a la selección de proyectos.</a:t>
            </a:r>
          </a:p>
        </p:txBody>
      </p:sp>
      <p:pic>
        <p:nvPicPr>
          <p:cNvPr id="6146" name="Picture 2" descr="Resultado de imagen para billetes colombianos"/>
          <p:cNvPicPr>
            <a:picLocks noChangeAspect="1" noChangeArrowheads="1"/>
          </p:cNvPicPr>
          <p:nvPr/>
        </p:nvPicPr>
        <p:blipFill rotWithShape="1">
          <a:blip r:embed="rId3">
            <a:extLst>
              <a:ext uri="{28A0092B-C50C-407E-A947-70E740481C1C}">
                <a14:useLocalDpi xmlns:a14="http://schemas.microsoft.com/office/drawing/2010/main" val="0"/>
              </a:ext>
            </a:extLst>
          </a:blip>
          <a:srcRect l="10947"/>
          <a:stretch/>
        </p:blipFill>
        <p:spPr bwMode="auto">
          <a:xfrm>
            <a:off x="5185896" y="3429000"/>
            <a:ext cx="1759434" cy="150732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5F36EF5-3331-D2EE-7F58-B2A0295403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607F79CC-DB6E-4C66-195D-B670C450DD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D1B5F41-53CB-4084-35C5-350350E3F1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D2A67A66-5E56-06FA-3889-FB13F2E0648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D209B1C4-070B-0CB2-E288-66506830CFC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26329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6907"/>
            <a:ext cx="11029616" cy="3071782"/>
          </a:xfrm>
        </p:spPr>
        <p:txBody>
          <a:bodyPr>
            <a:noAutofit/>
          </a:bodyPr>
          <a:lstStyle/>
          <a:p>
            <a:pPr marL="0" indent="0" algn="just">
              <a:buNone/>
            </a:pPr>
            <a:r>
              <a:rPr lang="es-ES_tradnl" sz="2600"/>
              <a:t>Para todo análisis de un proyecto de inversión se requiere:</a:t>
            </a:r>
          </a:p>
          <a:p>
            <a:pPr marL="0" indent="0" algn="just">
              <a:buNone/>
            </a:pPr>
            <a:endParaRPr lang="es-ES_tradnl" sz="2600"/>
          </a:p>
          <a:p>
            <a:pPr marL="457200" indent="-457200" algn="just">
              <a:buFont typeface="+mj-lt"/>
              <a:buAutoNum type="arabicPeriod"/>
            </a:pPr>
            <a:r>
              <a:rPr lang="es-ES_tradnl" sz="2600"/>
              <a:t>Horizonte temporal del análisis</a:t>
            </a:r>
          </a:p>
          <a:p>
            <a:pPr marL="457200" indent="-457200" algn="just">
              <a:buFont typeface="+mj-lt"/>
              <a:buAutoNum type="arabicPeriod"/>
            </a:pPr>
            <a:r>
              <a:rPr lang="es-ES_tradnl" sz="2600"/>
              <a:t>Flujos de caja futuros generados por el proyecto (FCL)</a:t>
            </a:r>
          </a:p>
          <a:p>
            <a:pPr marL="457200" indent="-457200" algn="just">
              <a:buFont typeface="+mj-lt"/>
              <a:buAutoNum type="arabicPeriod"/>
            </a:pPr>
            <a:r>
              <a:rPr lang="es-ES_tradnl" sz="2600"/>
              <a:t>Tasa de descuento apropiada (Costo de oportunidad)</a:t>
            </a:r>
          </a:p>
        </p:txBody>
      </p:sp>
      <p:sp>
        <p:nvSpPr>
          <p:cNvPr id="6" name="Rectángulo 5">
            <a:extLst>
              <a:ext uri="{FF2B5EF4-FFF2-40B4-BE49-F238E27FC236}">
                <a16:creationId xmlns:a16="http://schemas.microsoft.com/office/drawing/2014/main" id="{02E6149C-AE17-DAB8-B7A5-12A03CEF6D8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E63B7CA-A96B-049F-3CBF-41AA98F96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3240F6E-43E6-EB6E-98B5-F6C16A2E4CD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0EA55F5-366F-707B-1C97-37767EA68DF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7393E0E7-3AB6-03F0-24AB-7090D53A30C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291725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61457"/>
            <a:ext cx="11029615" cy="4996542"/>
          </a:xfrm>
        </p:spPr>
        <p:txBody>
          <a:bodyPr>
            <a:normAutofit lnSpcReduction="10000"/>
          </a:bodyPr>
          <a:lstStyle/>
          <a:p>
            <a:pPr marL="0" indent="0">
              <a:buNone/>
            </a:pPr>
            <a:endParaRPr lang="es-ES_tradnl" sz="2800"/>
          </a:p>
          <a:p>
            <a:pPr marL="0" indent="0" algn="ctr">
              <a:buNone/>
            </a:pPr>
            <a:r>
              <a:rPr lang="es-ES_tradnl" sz="2800"/>
              <a:t>Los IBF más comúnmente utilizados son:</a:t>
            </a:r>
          </a:p>
          <a:p>
            <a:pPr marL="0" indent="0" algn="ctr">
              <a:buNone/>
            </a:pPr>
            <a:endParaRPr lang="es-ES_tradnl" sz="2800"/>
          </a:p>
          <a:p>
            <a:pPr marL="457200" indent="-457200" algn="ctr">
              <a:buFont typeface="+mj-lt"/>
              <a:buAutoNum type="arabicPeriod"/>
            </a:pPr>
            <a:r>
              <a:rPr lang="es-ES_tradnl" sz="2800"/>
              <a:t>VPN (El Valor Presente Neto)</a:t>
            </a:r>
          </a:p>
          <a:p>
            <a:pPr marL="457200" indent="-457200" algn="ctr">
              <a:buFont typeface="+mj-lt"/>
              <a:buAutoNum type="arabicPeriod"/>
            </a:pPr>
            <a:r>
              <a:rPr lang="es-ES_tradnl" sz="2800"/>
              <a:t>TIR (Tasa Interna de Retorno)</a:t>
            </a:r>
          </a:p>
          <a:p>
            <a:pPr marL="457200" indent="-457200" algn="ctr">
              <a:buFont typeface="+mj-lt"/>
              <a:buAutoNum type="arabicPeriod"/>
            </a:pPr>
            <a:r>
              <a:rPr lang="es-ES_tradnl" sz="2800"/>
              <a:t>TVR (Tasa Verdadera de Retorno)</a:t>
            </a:r>
          </a:p>
          <a:p>
            <a:pPr marL="457200" indent="-457200" algn="ctr">
              <a:buFont typeface="+mj-lt"/>
              <a:buAutoNum type="arabicPeriod"/>
            </a:pPr>
            <a:r>
              <a:rPr lang="es-ES_tradnl" sz="2800"/>
              <a:t>VAE (Valor Anual Equivalente)</a:t>
            </a:r>
          </a:p>
          <a:p>
            <a:pPr marL="457200" indent="-457200" algn="ctr">
              <a:buFont typeface="+mj-lt"/>
              <a:buAutoNum type="arabicPeriod"/>
            </a:pPr>
            <a:r>
              <a:rPr lang="es-ES_tradnl" sz="2800"/>
              <a:t>B/C (La Relación Beneficio – Costo)</a:t>
            </a:r>
          </a:p>
          <a:p>
            <a:pPr marL="457200" indent="-457200" algn="ctr">
              <a:buFont typeface="+mj-lt"/>
              <a:buAutoNum type="arabicPeriod"/>
            </a:pPr>
            <a:r>
              <a:rPr lang="es-ES_tradnl" sz="2800" err="1"/>
              <a:t>Payback</a:t>
            </a:r>
            <a:r>
              <a:rPr lang="es-ES_tradnl" sz="2800"/>
              <a:t> (Periodo de Pago)</a:t>
            </a:r>
          </a:p>
          <a:p>
            <a:pPr marL="0" indent="0">
              <a:buNone/>
            </a:pPr>
            <a:endParaRPr lang="es-ES_tradnl" sz="2800"/>
          </a:p>
        </p:txBody>
      </p:sp>
      <p:sp>
        <p:nvSpPr>
          <p:cNvPr id="6" name="Rectángulo 5">
            <a:extLst>
              <a:ext uri="{FF2B5EF4-FFF2-40B4-BE49-F238E27FC236}">
                <a16:creationId xmlns:a16="http://schemas.microsoft.com/office/drawing/2014/main" id="{C2597E6A-4833-818F-5675-CD59367A3A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33840E5-8FAF-F998-FB5B-92AEF19F4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F9AB4AF-541F-6462-3EBB-A7F1DD24C6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181DC73-F3D8-A893-EF35-34656C48B81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57ACF342-87BE-A8CB-D124-97D51DB7A8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27794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07029"/>
            <a:ext cx="11029615" cy="4377872"/>
          </a:xfrm>
        </p:spPr>
        <p:txBody>
          <a:bodyPr>
            <a:noAutofit/>
          </a:bodyPr>
          <a:lstStyle/>
          <a:p>
            <a:pPr marL="0" indent="0" algn="just">
              <a:buNone/>
            </a:pPr>
            <a:r>
              <a:rPr lang="es-ES_tradnl" sz="2400"/>
              <a:t>¿Cuál es la diferencia entre los distintos IBF?</a:t>
            </a:r>
          </a:p>
          <a:p>
            <a:pPr marL="0" indent="0" algn="just">
              <a:buNone/>
            </a:pPr>
            <a:endParaRPr lang="es-ES_tradnl" sz="2400"/>
          </a:p>
          <a:p>
            <a:pPr marL="0" indent="0" algn="just">
              <a:buNone/>
            </a:pPr>
            <a:r>
              <a:rPr lang="es-ES_tradnl" sz="2400"/>
              <a:t>En términos generales, todos los indicadores cumplen el mismo propósito; responder la pertinencia económica de realizar un proyecto y/o sobre el ordenamiento de un portafolio de alternativas de inversión.</a:t>
            </a:r>
          </a:p>
          <a:p>
            <a:pPr marL="0" indent="0" algn="just">
              <a:buNone/>
            </a:pPr>
            <a:endParaRPr lang="es-ES_tradnl" sz="2400"/>
          </a:p>
          <a:p>
            <a:pPr marL="0" indent="0" algn="just">
              <a:buNone/>
            </a:pPr>
            <a:r>
              <a:rPr lang="es-ES_tradnl" sz="2400"/>
              <a:t>No obstante, pese a que todos buscan lo mismo, cada uno utiliza distintos supuestos y miden la creación de valor desde perspectivas diferentes. Por ende, se complementan entre sí.</a:t>
            </a:r>
          </a:p>
        </p:txBody>
      </p:sp>
      <p:sp>
        <p:nvSpPr>
          <p:cNvPr id="6" name="Rectángulo 5">
            <a:extLst>
              <a:ext uri="{FF2B5EF4-FFF2-40B4-BE49-F238E27FC236}">
                <a16:creationId xmlns:a16="http://schemas.microsoft.com/office/drawing/2014/main" id="{5DE7F265-1231-C6A7-D3EC-71C1AD5475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511910E-FA91-2A4D-DAEF-BABB3EE60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4A260F8-B8E2-8951-70B6-EF515CA4B6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2B88D9C0-D629-8EA7-5108-3B651A6E89B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C10D5E15-C7D9-0AF7-9750-9A868E37DB0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158608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2427-860F-FB60-E045-E01D4EE704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751AAE-71A3-B6AC-B7A4-2F70FA70B525}"/>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73596350-2B0A-F110-FC87-2A15D891B3B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DC5F761E-5664-6A1B-F100-55C5ADCF7F2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8A9F2DD-7B8A-DB90-F5AE-B274BD788F72}"/>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CA15CF73-706A-9186-7411-80F12A5CAD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6DA69B-9D52-3AAF-EAC8-D02820AD6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2C1076B-CC20-FFD8-5DD4-5DF5F1BFD4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2285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33319"/>
            <a:ext cx="9144000" cy="1191362"/>
          </a:xfrm>
        </p:spPr>
        <p:txBody>
          <a:bodyPr>
            <a:normAutofit/>
          </a:bodyPr>
          <a:lstStyle/>
          <a:p>
            <a:pPr marL="0" indent="0" algn="ctr">
              <a:buNone/>
            </a:pPr>
            <a:r>
              <a:rPr lang="es-ES_tradnl" sz="2800" b="1">
                <a:solidFill>
                  <a:srgbClr val="800000"/>
                </a:solidFill>
              </a:rPr>
              <a:t>VPN</a:t>
            </a:r>
          </a:p>
          <a:p>
            <a:pPr marL="0" indent="0" algn="ctr">
              <a:buNone/>
            </a:pPr>
            <a:r>
              <a:rPr lang="es-ES_tradnl" sz="2800" b="1">
                <a:solidFill>
                  <a:srgbClr val="800000"/>
                </a:solidFill>
              </a:rPr>
              <a:t>(El Valor Presente Neto)</a:t>
            </a:r>
          </a:p>
        </p:txBody>
      </p:sp>
      <p:sp>
        <p:nvSpPr>
          <p:cNvPr id="3" name="Rectángulo 2">
            <a:extLst>
              <a:ext uri="{FF2B5EF4-FFF2-40B4-BE49-F238E27FC236}">
                <a16:creationId xmlns:a16="http://schemas.microsoft.com/office/drawing/2014/main" id="{B0C10946-9949-3FA0-ADCA-2EF421121F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447BF76F-9AFE-7C7A-7967-BE99ADE45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D993F3C-72AC-6FA9-FBFD-5DF449A9886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5F0096-B957-7ED8-A849-BD8AF8B2689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93648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633"/>
            <a:ext cx="11029615" cy="4662459"/>
          </a:xfrm>
        </p:spPr>
        <p:txBody>
          <a:bodyPr>
            <a:normAutofit/>
          </a:bodyPr>
          <a:lstStyle/>
          <a:p>
            <a:pPr marL="0" indent="0" algn="just">
              <a:buNone/>
            </a:pPr>
            <a:r>
              <a:rPr lang="es-ES_tradnl" sz="2400"/>
              <a:t>Es el equivalente algebraico, en pesos de hoy, de la suma de todos los ingresos y egresos, presentes y futuros, que constituyen un proyecto, dada una tasa de descuento apropiada (Costo de Oportunidad).</a:t>
            </a:r>
          </a:p>
          <a:p>
            <a:pPr marL="0" indent="0" algn="just">
              <a:buNone/>
            </a:pPr>
            <a:endParaRPr lang="es-ES_tradnl" sz="2400"/>
          </a:p>
          <a:p>
            <a:pPr marL="0" indent="0" algn="just">
              <a:buNone/>
            </a:pPr>
            <a:r>
              <a:rPr lang="es-ES_tradnl" sz="2400"/>
              <a:t>En otras palabras, es el valor monetario del proyecto medido en pesos de hoy (momento cero).</a:t>
            </a:r>
          </a:p>
          <a:p>
            <a:pPr marL="0" indent="0" algn="just">
              <a:buNone/>
            </a:pPr>
            <a:endParaRPr lang="es-ES_tradnl" sz="2400"/>
          </a:p>
          <a:p>
            <a:pPr marL="0" indent="0" algn="just">
              <a:buNone/>
            </a:pPr>
            <a:r>
              <a:rPr lang="es-ES_tradnl" sz="2400"/>
              <a:t>Como se trata de una suma en valor presente (pesos de t=0) se requieren: </a:t>
            </a:r>
            <a:r>
              <a:rPr lang="es-ES_tradnl" sz="2400" i="1">
                <a:solidFill>
                  <a:srgbClr val="C00000"/>
                </a:solidFill>
              </a:rPr>
              <a:t>1) Los flujos de caja del proyecto; y 2) El costo de oportunidad pertinente.</a:t>
            </a:r>
          </a:p>
          <a:p>
            <a:pPr marL="0" indent="0" algn="just">
              <a:buNone/>
            </a:pPr>
            <a:endParaRPr lang="es-ES_tradnl" sz="2400"/>
          </a:p>
        </p:txBody>
      </p:sp>
      <p:sp>
        <p:nvSpPr>
          <p:cNvPr id="8" name="Rectángulo 7">
            <a:extLst>
              <a:ext uri="{FF2B5EF4-FFF2-40B4-BE49-F238E27FC236}">
                <a16:creationId xmlns:a16="http://schemas.microsoft.com/office/drawing/2014/main" id="{CC862D80-220E-B476-8CEE-8210C15352E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91A97D9-4C7C-4D49-91B2-95209150C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CBDC996-CA47-C569-A337-0480BAC087A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45466656-327B-3622-AAD4-CFB351A6687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191C005B-CAD4-D722-1E6D-DACB2CDE90D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137770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3584137" y="3420230"/>
            <a:ext cx="5132118"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3584137" y="342023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504061" y="296150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577490" y="296150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636964"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7642826"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8716255" y="2477298"/>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3498536" y="304623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320472"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15"/>
          <p:cNvSpPr>
            <a:spLocks/>
          </p:cNvSpPr>
          <p:nvPr/>
        </p:nvSpPr>
        <p:spPr bwMode="auto">
          <a:xfrm>
            <a:off x="5408960"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16"/>
          <p:cNvSpPr>
            <a:spLocks/>
          </p:cNvSpPr>
          <p:nvPr/>
        </p:nvSpPr>
        <p:spPr bwMode="auto">
          <a:xfrm>
            <a:off x="6468434" y="35265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17"/>
          <p:cNvSpPr>
            <a:spLocks/>
          </p:cNvSpPr>
          <p:nvPr/>
        </p:nvSpPr>
        <p:spPr bwMode="auto">
          <a:xfrm>
            <a:off x="7474296" y="35429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18"/>
          <p:cNvSpPr>
            <a:spLocks/>
          </p:cNvSpPr>
          <p:nvPr/>
        </p:nvSpPr>
        <p:spPr bwMode="auto">
          <a:xfrm>
            <a:off x="8547725"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1" name="Rectangle 20"/>
          <p:cNvSpPr>
            <a:spLocks/>
          </p:cNvSpPr>
          <p:nvPr/>
        </p:nvSpPr>
        <p:spPr bwMode="auto">
          <a:xfrm>
            <a:off x="2640554" y="4428631"/>
            <a:ext cx="18871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I</a:t>
            </a:r>
          </a:p>
        </p:txBody>
      </p:sp>
      <p:sp>
        <p:nvSpPr>
          <p:cNvPr id="22" name="Rectangle 21"/>
          <p:cNvSpPr>
            <a:spLocks/>
          </p:cNvSpPr>
          <p:nvPr/>
        </p:nvSpPr>
        <p:spPr bwMode="auto">
          <a:xfrm>
            <a:off x="3865335" y="257935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X1</a:t>
            </a:r>
          </a:p>
        </p:txBody>
      </p:sp>
      <p:sp>
        <p:nvSpPr>
          <p:cNvPr id="23" name="Rectangle 22"/>
          <p:cNvSpPr>
            <a:spLocks/>
          </p:cNvSpPr>
          <p:nvPr/>
        </p:nvSpPr>
        <p:spPr bwMode="auto">
          <a:xfrm>
            <a:off x="5894409"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X3</a:t>
            </a:r>
          </a:p>
        </p:txBody>
      </p:sp>
      <p:sp>
        <p:nvSpPr>
          <p:cNvPr id="24" name="Rectangle 23"/>
          <p:cNvSpPr>
            <a:spLocks/>
          </p:cNvSpPr>
          <p:nvPr/>
        </p:nvSpPr>
        <p:spPr bwMode="auto">
          <a:xfrm>
            <a:off x="6829775"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X4</a:t>
            </a:r>
          </a:p>
        </p:txBody>
      </p:sp>
      <p:sp>
        <p:nvSpPr>
          <p:cNvPr id="25" name="Rectangle 24"/>
          <p:cNvSpPr>
            <a:spLocks/>
          </p:cNvSpPr>
          <p:nvPr/>
        </p:nvSpPr>
        <p:spPr bwMode="auto">
          <a:xfrm>
            <a:off x="7933289" y="2119549"/>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X5</a:t>
            </a:r>
          </a:p>
        </p:txBody>
      </p:sp>
      <p:sp>
        <p:nvSpPr>
          <p:cNvPr id="27" name="Rectangle 26"/>
          <p:cNvSpPr>
            <a:spLocks/>
          </p:cNvSpPr>
          <p:nvPr/>
        </p:nvSpPr>
        <p:spPr bwMode="auto">
          <a:xfrm>
            <a:off x="4938764" y="257148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X2</a:t>
            </a:r>
          </a:p>
        </p:txBody>
      </p:sp>
      <p:pic>
        <p:nvPicPr>
          <p:cNvPr id="31" name="Picture 30"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5340" y="5799231"/>
            <a:ext cx="4081319" cy="798519"/>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581192" y="4760462"/>
                <a:ext cx="11029616" cy="720325"/>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 </m:t>
                      </m:r>
                      <m:d>
                        <m:dPr>
                          <m:ctrlPr>
                            <a:rPr lang="es-CO" sz="2000" i="1">
                              <a:latin typeface="Cambria Math" panose="02040503050406030204" pitchFamily="18" charset="0"/>
                            </a:rPr>
                          </m:ctrlPr>
                        </m:dPr>
                        <m:e>
                          <m:r>
                            <a:rPr lang="es-CO" sz="2000" i="1">
                              <a:latin typeface="Cambria Math" panose="02040503050406030204" pitchFamily="18" charset="0"/>
                            </a:rPr>
                            <m:t>𝐶</m:t>
                          </m:r>
                          <m:r>
                            <a:rPr lang="es-CO" sz="2000">
                              <a:latin typeface="Cambria Math" panose="02040503050406030204" pitchFamily="18" charset="0"/>
                            </a:rPr>
                            <m:t>.</m:t>
                          </m:r>
                          <m:r>
                            <a:rPr lang="es-CO" sz="2000" i="1">
                              <a:latin typeface="Cambria Math" panose="02040503050406030204" pitchFamily="18" charset="0"/>
                            </a:rPr>
                            <m:t>𝑂</m:t>
                          </m:r>
                        </m:e>
                      </m:d>
                      <m:r>
                        <a:rPr lang="es-CO" sz="2000">
                          <a:latin typeface="Cambria Math" panose="02040503050406030204" pitchFamily="18" charset="0"/>
                        </a:rPr>
                        <m:t>=−</m:t>
                      </m:r>
                      <m:r>
                        <a:rPr lang="es-CO" sz="2000" i="1">
                          <a:latin typeface="Cambria Math" panose="02040503050406030204" pitchFamily="18" charset="0"/>
                        </a:rPr>
                        <m:t>𝐼</m:t>
                      </m:r>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1</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1</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2</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3</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3</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4</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4</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5</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5</m:t>
                              </m:r>
                            </m:sup>
                          </m:sSup>
                        </m:den>
                      </m:f>
                    </m:oMath>
                  </m:oMathPara>
                </a14:m>
                <a:endParaRPr lang="es-CO" sz="2000"/>
              </a:p>
            </p:txBody>
          </p:sp>
        </mc:Choice>
        <mc:Fallback xmlns="">
          <p:sp>
            <p:nvSpPr>
              <p:cNvPr id="5" name="Rectángulo 4"/>
              <p:cNvSpPr>
                <a:spLocks noRot="1" noChangeAspect="1" noMove="1" noResize="1" noEditPoints="1" noAdjustHandles="1" noChangeArrowheads="1" noChangeShapeType="1" noTextEdit="1"/>
              </p:cNvSpPr>
              <p:nvPr/>
            </p:nvSpPr>
            <p:spPr>
              <a:xfrm>
                <a:off x="581192" y="4760462"/>
                <a:ext cx="11029616" cy="720325"/>
              </a:xfrm>
              <a:prstGeom prst="rect">
                <a:avLst/>
              </a:prstGeom>
              <a:blipFill>
                <a:blip r:embed="rId4"/>
                <a:stretch>
                  <a:fillRect/>
                </a:stretch>
              </a:blipFill>
            </p:spPr>
            <p:txBody>
              <a:bodyPr/>
              <a:lstStyle/>
              <a:p>
                <a:r>
                  <a:rPr lang="es-ES_tradnl">
                    <a:noFill/>
                  </a:rPr>
                  <a:t> </a:t>
                </a:r>
              </a:p>
            </p:txBody>
          </p:sp>
        </mc:Fallback>
      </mc:AlternateContent>
      <p:sp>
        <p:nvSpPr>
          <p:cNvPr id="20" name="Rectángulo 19">
            <a:extLst>
              <a:ext uri="{FF2B5EF4-FFF2-40B4-BE49-F238E27FC236}">
                <a16:creationId xmlns:a16="http://schemas.microsoft.com/office/drawing/2014/main" id="{D0B9EB3D-D2A9-E290-0520-097A5C48332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6" name="Picture 2" descr="Clientes y aliados | Centro de Evaluación | Uniandes">
            <a:extLst>
              <a:ext uri="{FF2B5EF4-FFF2-40B4-BE49-F238E27FC236}">
                <a16:creationId xmlns:a16="http://schemas.microsoft.com/office/drawing/2014/main" id="{C7E1F80F-25EC-74CD-84CB-09A6663118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FBC21821-1D2A-D526-96F8-78C71073A7E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0" name="Título 1">
            <a:extLst>
              <a:ext uri="{FF2B5EF4-FFF2-40B4-BE49-F238E27FC236}">
                <a16:creationId xmlns:a16="http://schemas.microsoft.com/office/drawing/2014/main" id="{4902F01A-C6A1-FEF1-3479-029AA4D326EB}"/>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AD6B94AD-D276-41DF-41FA-66105B5C8C6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71397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8800"/>
            <a:ext cx="11029615" cy="4492462"/>
          </a:xfrm>
        </p:spPr>
        <p:txBody>
          <a:bodyPr>
            <a:noAutofit/>
          </a:bodyPr>
          <a:lstStyle/>
          <a:p>
            <a:pPr marL="0" indent="0" algn="just">
              <a:buNone/>
            </a:pPr>
            <a:r>
              <a:rPr lang="es-ES_tradnl" sz="2400" b="1"/>
              <a:t>Ejemplo 1: </a:t>
            </a:r>
            <a:r>
              <a:rPr lang="es-ES_tradnl" sz="2400"/>
              <a:t>Suponga que, con todo el BOOM tecnológico en sistemas de transporte público, un amigo suyo decide comprarse un carro para trabajar con </a:t>
            </a:r>
            <a:r>
              <a:rPr lang="es-ES_tradnl" sz="2400" b="1"/>
              <a:t>UPER</a:t>
            </a:r>
            <a:r>
              <a:rPr lang="es-ES_tradnl" sz="2400"/>
              <a:t>. El carro hoy tiene un costo (inversión) de $80’000.000 COP.</a:t>
            </a:r>
          </a:p>
          <a:p>
            <a:pPr marL="0" indent="0" algn="just">
              <a:buNone/>
            </a:pPr>
            <a:endParaRPr lang="es-ES_tradnl" sz="2400"/>
          </a:p>
          <a:p>
            <a:pPr marL="0" indent="0" algn="just">
              <a:buNone/>
            </a:pPr>
            <a:r>
              <a:rPr lang="es-ES_tradnl" sz="2400"/>
              <a:t>Su amigo espera operar en </a:t>
            </a:r>
            <a:r>
              <a:rPr lang="es-ES_tradnl" sz="2400" b="1"/>
              <a:t>UPER</a:t>
            </a:r>
            <a:r>
              <a:rPr lang="es-ES_tradnl" sz="2400"/>
              <a:t> por 3 años donde espera recibir $15.000.000 COP cada año para luego vender el carro en $60’000.000 COP en el último año. Si el costo de oportunidad de su amigo es del 0,41% M.V. ¿qué tan buen negocio será trabajar para </a:t>
            </a:r>
            <a:r>
              <a:rPr lang="es-ES_tradnl" sz="2400" b="1"/>
              <a:t>UPER</a:t>
            </a:r>
            <a:r>
              <a:rPr lang="es-ES_tradnl" sz="2400"/>
              <a:t>?</a:t>
            </a:r>
          </a:p>
        </p:txBody>
      </p:sp>
      <p:sp>
        <p:nvSpPr>
          <p:cNvPr id="8" name="Rectángulo 7">
            <a:extLst>
              <a:ext uri="{FF2B5EF4-FFF2-40B4-BE49-F238E27FC236}">
                <a16:creationId xmlns:a16="http://schemas.microsoft.com/office/drawing/2014/main" id="{083E4175-AE8F-8E4C-3195-C137AFC91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28FD42-EAC4-6680-E9FB-CD7A313DF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1CCC5C9-F9E6-48F6-E113-2E1FF52C497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8780332-6640-B34C-F836-E1251F1FA6C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CFD592B-CE43-730F-DA0E-596E99A5F80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45585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mc:AlternateContent xmlns:mc="http://schemas.openxmlformats.org/markup-compatibility/2006" xmlns:a14="http://schemas.microsoft.com/office/drawing/2010/main">
        <mc:Choice Requires="a14">
          <p:sp>
            <p:nvSpPr>
              <p:cNvPr id="17" name="Rectángulo 16"/>
              <p:cNvSpPr/>
              <p:nvPr/>
            </p:nvSpPr>
            <p:spPr>
              <a:xfrm>
                <a:off x="8213090" y="3146177"/>
                <a:ext cx="3978910"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a:solidFill>
                    <a:schemeClr val="accent1">
                      <a:lumMod val="75000"/>
                    </a:schemeClr>
                  </a:solidFill>
                </a:endParaRPr>
              </a:p>
            </p:txBody>
          </p:sp>
        </mc:Choice>
        <mc:Fallback xmlns="">
          <p:sp>
            <p:nvSpPr>
              <p:cNvPr id="17" name="Rectángulo 16"/>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9295391" y="3581615"/>
                <a:ext cx="1922257"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a:solidFill>
                    <a:schemeClr val="accent1">
                      <a:lumMod val="75000"/>
                    </a:schemeClr>
                  </a:solidFill>
                </a:endParaRPr>
              </a:p>
            </p:txBody>
          </p:sp>
        </mc:Choice>
        <mc:Fallback xmlns="">
          <p:sp>
            <p:nvSpPr>
              <p:cNvPr id="18" name="Rectángulo 17"/>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270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581192" y="4705990"/>
                <a:ext cx="11029616" cy="732573"/>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a:latin typeface="Cambria Math" panose="02040503050406030204" pitchFamily="18" charset="0"/>
                            </a:rPr>
                          </m:ctrlPr>
                        </m:fPr>
                        <m:num>
                          <m:r>
                            <a:rPr lang="es-CO" sz="2000">
                              <a:latin typeface="Cambria Math" panose="02040503050406030204" pitchFamily="18" charset="0"/>
                            </a:rPr>
                            <m:t>$15.000</m:t>
                          </m:r>
                        </m:num>
                        <m:den>
                          <m:d>
                            <m:dPr>
                              <m:ctrlPr>
                                <a:rPr lang="es-CO" sz="2000">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a:p>
            </p:txBody>
          </p:sp>
        </mc:Choice>
        <mc:Fallback xmlns="">
          <p:sp>
            <p:nvSpPr>
              <p:cNvPr id="21" name="Rectángulo 20"/>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b="-169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4895082" y="5535405"/>
                <a:ext cx="2467021" cy="400110"/>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a:p>
            </p:txBody>
          </p:sp>
        </mc:Choice>
        <mc:Fallback xmlns="">
          <p:sp>
            <p:nvSpPr>
              <p:cNvPr id="22" name="Rectángulo 21"/>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3030"/>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4F57F667-E0A2-ED44-B9C9-EEFC91820C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BD9CF25-F6EF-6F13-744D-BA8CFA985A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C8C452C9-9DDD-FC21-9C5E-819A904280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2209FD0D-494A-E990-3171-B6BF39F1C1A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F3DF1665-F1B6-7341-6C5F-2E6A5BBBDC1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204704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99F183-99EE-4B1F-BA64-21A07922A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12" name="Rectangle 11">
            <a:extLst>
              <a:ext uri="{FF2B5EF4-FFF2-40B4-BE49-F238E27FC236}">
                <a16:creationId xmlns:a16="http://schemas.microsoft.com/office/drawing/2014/main" id="{B783A767-5AFC-40D0-A72C-09036EA1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14" name="Rectangle 13">
            <a:extLst>
              <a:ext uri="{FF2B5EF4-FFF2-40B4-BE49-F238E27FC236}">
                <a16:creationId xmlns:a16="http://schemas.microsoft.com/office/drawing/2014/main" id="{41262CAC-6BC8-43F9-9113-770A2772F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16" name="Rectangle 15">
            <a:extLst>
              <a:ext uri="{FF2B5EF4-FFF2-40B4-BE49-F238E27FC236}">
                <a16:creationId xmlns:a16="http://schemas.microsoft.com/office/drawing/2014/main" id="{1AA2CCB6-DFD2-41CD-96FE-0140B7935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useBgFill="1">
        <p:nvSpPr>
          <p:cNvPr id="18" name="Rectangle 17">
            <a:extLst>
              <a:ext uri="{FF2B5EF4-FFF2-40B4-BE49-F238E27FC236}">
                <a16:creationId xmlns:a16="http://schemas.microsoft.com/office/drawing/2014/main" id="{6A225C9B-755F-4F91-9681-5E07AFAA7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FC282B6-A12B-5CBD-F664-C463206D64CC}"/>
              </a:ext>
            </a:extLst>
          </p:cNvPr>
          <p:cNvPicPr>
            <a:picLocks noGrp="1" noChangeAspect="1"/>
          </p:cNvPicPr>
          <p:nvPr>
            <p:ph idx="1"/>
          </p:nvPr>
        </p:nvPicPr>
        <p:blipFill>
          <a:blip r:embed="rId2"/>
          <a:stretch>
            <a:fillRect/>
          </a:stretch>
        </p:blipFill>
        <p:spPr>
          <a:xfrm>
            <a:off x="1799648" y="1208531"/>
            <a:ext cx="4781835" cy="4735069"/>
          </a:xfrm>
          <a:prstGeom prst="rect">
            <a:avLst/>
          </a:prstGeom>
        </p:spPr>
      </p:pic>
      <p:sp>
        <p:nvSpPr>
          <p:cNvPr id="20" name="Rectangle 19">
            <a:extLst>
              <a:ext uri="{FF2B5EF4-FFF2-40B4-BE49-F238E27FC236}">
                <a16:creationId xmlns:a16="http://schemas.microsoft.com/office/drawing/2014/main" id="{932CD2CD-6CF3-4EE9-A24A-A41D45DCF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 name="Title 1">
            <a:extLst>
              <a:ext uri="{FF2B5EF4-FFF2-40B4-BE49-F238E27FC236}">
                <a16:creationId xmlns:a16="http://schemas.microsoft.com/office/drawing/2014/main" id="{9EF9259B-2FA3-2391-DA78-045F253DFCCE}"/>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dirty="0">
                <a:solidFill>
                  <a:srgbClr val="FFFFFF"/>
                </a:solidFill>
              </a:rPr>
              <a:t>Excel de </a:t>
            </a:r>
            <a:r>
              <a:rPr lang="en-US" sz="3600" dirty="0" err="1">
                <a:solidFill>
                  <a:srgbClr val="FFFFFF"/>
                </a:solidFill>
              </a:rPr>
              <a:t>repaso</a:t>
            </a:r>
            <a:endParaRPr lang="en-US" sz="3600" dirty="0">
              <a:solidFill>
                <a:srgbClr val="FFFFFF"/>
              </a:solidFill>
            </a:endParaRPr>
          </a:p>
        </p:txBody>
      </p:sp>
      <p:sp>
        <p:nvSpPr>
          <p:cNvPr id="4" name="Slide Number Placeholder 3">
            <a:extLst>
              <a:ext uri="{FF2B5EF4-FFF2-40B4-BE49-F238E27FC236}">
                <a16:creationId xmlns:a16="http://schemas.microsoft.com/office/drawing/2014/main" id="{7281F94D-94B1-6EFF-DCC0-3990DC7DC2A1}"/>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D57F1E4F-1CFF-5643-939E-217C01CDF565}" type="slidenum">
              <a:rPr lang="en-US" smtClean="0">
                <a:solidFill>
                  <a:schemeClr val="accent1">
                    <a:lumMod val="75000"/>
                    <a:lumOff val="25000"/>
                  </a:schemeClr>
                </a:solidFill>
              </a:rPr>
              <a:pPr defTabSz="914400">
                <a:spcAft>
                  <a:spcPts val="600"/>
                </a:spcAft>
              </a:pPr>
              <a:t>16</a:t>
            </a:fld>
            <a:endParaRPr lang="en-US">
              <a:solidFill>
                <a:schemeClr val="accent1">
                  <a:lumMod val="75000"/>
                  <a:lumOff val="25000"/>
                </a:schemeClr>
              </a:solidFill>
            </a:endParaRPr>
          </a:p>
        </p:txBody>
      </p:sp>
      <p:sp>
        <p:nvSpPr>
          <p:cNvPr id="7" name="TextBox 6">
            <a:extLst>
              <a:ext uri="{FF2B5EF4-FFF2-40B4-BE49-F238E27FC236}">
                <a16:creationId xmlns:a16="http://schemas.microsoft.com/office/drawing/2014/main" id="{55AD2813-2CD2-004C-5C78-8D1127F4C32D}"/>
              </a:ext>
            </a:extLst>
          </p:cNvPr>
          <p:cNvSpPr txBox="1"/>
          <p:nvPr/>
        </p:nvSpPr>
        <p:spPr>
          <a:xfrm>
            <a:off x="8182723" y="4361633"/>
            <a:ext cx="3973211" cy="461665"/>
          </a:xfrm>
          <a:prstGeom prst="rect">
            <a:avLst/>
          </a:prstGeom>
          <a:noFill/>
        </p:spPr>
        <p:txBody>
          <a:bodyPr wrap="square">
            <a:spAutoFit/>
          </a:bodyPr>
          <a:lstStyle/>
          <a:p>
            <a:r>
              <a:rPr lang="es-ES_tradnl" sz="2400" dirty="0"/>
              <a:t>https://</a:t>
            </a:r>
            <a:r>
              <a:rPr lang="es-ES_tradnl" sz="2400" dirty="0" err="1"/>
              <a:t>shorturl.at</a:t>
            </a:r>
            <a:r>
              <a:rPr lang="es-ES_tradnl" sz="2400" dirty="0"/>
              <a:t>/6UqWE</a:t>
            </a:r>
          </a:p>
        </p:txBody>
      </p:sp>
    </p:spTree>
    <p:extLst>
      <p:ext uri="{BB962C8B-B14F-4D97-AF65-F5344CB8AC3E}">
        <p14:creationId xmlns:p14="http://schemas.microsoft.com/office/powerpoint/2010/main" val="2188429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80493"/>
            <a:ext cx="11029615" cy="5010613"/>
          </a:xfrm>
        </p:spPr>
        <p:txBody>
          <a:bodyPr>
            <a:noAutofit/>
          </a:bodyPr>
          <a:lstStyle/>
          <a:p>
            <a:pPr marL="0" indent="0" algn="just">
              <a:buNone/>
            </a:pPr>
            <a:r>
              <a:rPr lang="es-ES_tradnl" sz="2400" b="1" dirty="0"/>
              <a:t>Ejemplo 1: </a:t>
            </a:r>
            <a:r>
              <a:rPr lang="es-ES_tradnl" sz="2400" dirty="0"/>
              <a:t>Suponga que, con todo el BOOM tecnológico en sistemas de transporte público, un amigo suyo decide comprarse un carro para trabajar con </a:t>
            </a:r>
            <a:r>
              <a:rPr lang="es-ES_tradnl" sz="2400" b="1" dirty="0"/>
              <a:t>UPER</a:t>
            </a:r>
            <a:r>
              <a:rPr lang="es-ES_tradnl" sz="2400" dirty="0"/>
              <a:t>. El carro hoy tiene un costo (inversión) de $80’000.000 COP.</a:t>
            </a:r>
          </a:p>
          <a:p>
            <a:pPr marL="0" indent="0" algn="just">
              <a:buNone/>
            </a:pPr>
            <a:endParaRPr lang="es-ES_tradnl" sz="2400" dirty="0"/>
          </a:p>
          <a:p>
            <a:pPr marL="0" indent="0" algn="just">
              <a:buNone/>
            </a:pPr>
            <a:r>
              <a:rPr lang="es-ES_tradnl" sz="2400" dirty="0"/>
              <a:t>Su amigo espera operar en </a:t>
            </a:r>
            <a:r>
              <a:rPr lang="es-ES_tradnl" sz="2400" b="1" dirty="0"/>
              <a:t>UPER</a:t>
            </a:r>
            <a:r>
              <a:rPr lang="es-ES_tradnl" sz="2400" dirty="0"/>
              <a:t> por 3 años donde espera recibir $1’250.000 COP cada mes para luego vender el carro en $60’000.000 COP en el último año. Si el costo de oportunidad de su amigo es del 0,41% M.V. ¿qué tan buen negocio será trabajar para </a:t>
            </a:r>
            <a:r>
              <a:rPr lang="es-ES_tradnl" sz="2400" b="1" dirty="0"/>
              <a:t>UPER</a:t>
            </a:r>
            <a:r>
              <a:rPr lang="es-ES_tradnl" sz="2400" dirty="0"/>
              <a:t>?</a:t>
            </a:r>
          </a:p>
          <a:p>
            <a:pPr marL="0" indent="0" algn="just">
              <a:buNone/>
            </a:pPr>
            <a:endParaRPr lang="es-ES_tradnl" sz="2400" dirty="0"/>
          </a:p>
          <a:p>
            <a:pPr marL="0" indent="0" algn="ctr">
              <a:buNone/>
            </a:pPr>
            <a:r>
              <a:rPr lang="es-ES_tradnl" sz="2400" b="1" dirty="0"/>
              <a:t>Nota</a:t>
            </a:r>
            <a:r>
              <a:rPr lang="es-ES_tradnl" sz="2400" dirty="0"/>
              <a:t>: </a:t>
            </a:r>
            <a:r>
              <a:rPr lang="es-ES_tradnl" sz="2400" i="1" dirty="0"/>
              <a:t>Desprecie el valor del dinero en el tiempo para periodos inferiores a un año.</a:t>
            </a:r>
          </a:p>
        </p:txBody>
      </p:sp>
      <p:sp>
        <p:nvSpPr>
          <p:cNvPr id="8" name="Rectángulo 7">
            <a:extLst>
              <a:ext uri="{FF2B5EF4-FFF2-40B4-BE49-F238E27FC236}">
                <a16:creationId xmlns:a16="http://schemas.microsoft.com/office/drawing/2014/main" id="{D8F39369-EE9C-5CC5-C89C-7DCC8AA783D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DC0290-7844-5ACC-66E7-3A6D041AB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7BFB1CE-A55E-F5D4-30A9-1744D0A495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B6B1026-8CCB-00C6-CD9D-5B308D2D5D9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DD2EFF59-D879-98EC-BAEB-E154D6833E6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349449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EEED-8B27-5E3E-56E5-7B813D0009A3}"/>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AA52363-A5CE-4EB2-AB95-C85248F8015D}"/>
              </a:ext>
            </a:extLst>
          </p:cNvPr>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A64D6F0-4D8E-9FE4-9214-5F8CDBD1168C}"/>
              </a:ext>
            </a:extLst>
          </p:cNvPr>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0B861B9-BA1D-5871-89B3-0E582BA074DA}"/>
              </a:ext>
            </a:extLst>
          </p:cNvPr>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B4094CC-A6AD-1514-9632-09737E5E9CD3}"/>
              </a:ext>
            </a:extLst>
          </p:cNvPr>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3DDE24B-4DE4-BEC3-9ADB-A6E13DAF534F}"/>
              </a:ext>
            </a:extLst>
          </p:cNvPr>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9CEE8EA-F77E-DB1A-A842-8E70CD7B3770}"/>
              </a:ext>
            </a:extLst>
          </p:cNvPr>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a:extLst>
              <a:ext uri="{FF2B5EF4-FFF2-40B4-BE49-F238E27FC236}">
                <a16:creationId xmlns:a16="http://schemas.microsoft.com/office/drawing/2014/main" id="{E7CDB70C-5A46-E44C-1398-2C246286A038}"/>
              </a:ext>
            </a:extLst>
          </p:cNvPr>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a:extLst>
              <a:ext uri="{FF2B5EF4-FFF2-40B4-BE49-F238E27FC236}">
                <a16:creationId xmlns:a16="http://schemas.microsoft.com/office/drawing/2014/main" id="{833BA442-1AD9-FAF1-25A1-7D00B8D0346C}"/>
              </a:ext>
            </a:extLst>
          </p:cNvPr>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a:extLst>
              <a:ext uri="{FF2B5EF4-FFF2-40B4-BE49-F238E27FC236}">
                <a16:creationId xmlns:a16="http://schemas.microsoft.com/office/drawing/2014/main" id="{A5246BCF-0A65-045D-30C3-5BA76E9362AD}"/>
              </a:ext>
            </a:extLst>
          </p:cNvPr>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a:extLst>
              <a:ext uri="{FF2B5EF4-FFF2-40B4-BE49-F238E27FC236}">
                <a16:creationId xmlns:a16="http://schemas.microsoft.com/office/drawing/2014/main" id="{B190F5EF-859D-208F-8265-14ACCA5E14B7}"/>
              </a:ext>
            </a:extLst>
          </p:cNvPr>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a:extLst>
              <a:ext uri="{FF2B5EF4-FFF2-40B4-BE49-F238E27FC236}">
                <a16:creationId xmlns:a16="http://schemas.microsoft.com/office/drawing/2014/main" id="{3DF88387-E6F2-E23D-EE45-7C88128938D9}"/>
              </a:ext>
            </a:extLst>
          </p:cNvPr>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a:extLst>
              <a:ext uri="{FF2B5EF4-FFF2-40B4-BE49-F238E27FC236}">
                <a16:creationId xmlns:a16="http://schemas.microsoft.com/office/drawing/2014/main" id="{D65BA8FA-9B32-3D5F-9466-53BCECD02EDA}"/>
              </a:ext>
            </a:extLst>
          </p:cNvPr>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a:extLst>
              <a:ext uri="{FF2B5EF4-FFF2-40B4-BE49-F238E27FC236}">
                <a16:creationId xmlns:a16="http://schemas.microsoft.com/office/drawing/2014/main" id="{7A43BC97-62EC-5F65-21E3-4CE407584924}"/>
              </a:ext>
            </a:extLst>
          </p:cNvPr>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A88C98DE-0F06-F521-ED3A-710F1017657C}"/>
                  </a:ext>
                </a:extLst>
              </p:cNvPr>
              <p:cNvSpPr/>
              <p:nvPr/>
            </p:nvSpPr>
            <p:spPr>
              <a:xfrm>
                <a:off x="8213090" y="3146177"/>
                <a:ext cx="3978910"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a:solidFill>
                    <a:schemeClr val="accent1">
                      <a:lumMod val="75000"/>
                    </a:schemeClr>
                  </a:solidFill>
                </a:endParaRPr>
              </a:p>
            </p:txBody>
          </p:sp>
        </mc:Choice>
        <mc:Fallback xmlns="">
          <p:sp>
            <p:nvSpPr>
              <p:cNvPr id="17" name="Rectángulo 16">
                <a:extLst>
                  <a:ext uri="{FF2B5EF4-FFF2-40B4-BE49-F238E27FC236}">
                    <a16:creationId xmlns:a16="http://schemas.microsoft.com/office/drawing/2014/main" id="{A88C98DE-0F06-F521-ED3A-710F1017657C}"/>
                  </a:ext>
                </a:extLst>
              </p:cNvPr>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96DE9280-F5B8-3776-BA59-CFE1C75208DF}"/>
                  </a:ext>
                </a:extLst>
              </p:cNvPr>
              <p:cNvSpPr/>
              <p:nvPr/>
            </p:nvSpPr>
            <p:spPr>
              <a:xfrm>
                <a:off x="9295391" y="3581615"/>
                <a:ext cx="1922257"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a:solidFill>
                    <a:schemeClr val="accent1">
                      <a:lumMod val="75000"/>
                    </a:schemeClr>
                  </a:solidFill>
                </a:endParaRPr>
              </a:p>
            </p:txBody>
          </p:sp>
        </mc:Choice>
        <mc:Fallback xmlns="">
          <p:sp>
            <p:nvSpPr>
              <p:cNvPr id="18" name="Rectángulo 17">
                <a:extLst>
                  <a:ext uri="{FF2B5EF4-FFF2-40B4-BE49-F238E27FC236}">
                    <a16:creationId xmlns:a16="http://schemas.microsoft.com/office/drawing/2014/main" id="{96DE9280-F5B8-3776-BA59-CFE1C75208DF}"/>
                  </a:ext>
                </a:extLst>
              </p:cNvPr>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270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a:extLst>
                  <a:ext uri="{FF2B5EF4-FFF2-40B4-BE49-F238E27FC236}">
                    <a16:creationId xmlns:a16="http://schemas.microsoft.com/office/drawing/2014/main" id="{DCF3740A-0820-C880-2E93-FF82016DFEF5}"/>
                  </a:ext>
                </a:extLst>
              </p:cNvPr>
              <p:cNvSpPr/>
              <p:nvPr/>
            </p:nvSpPr>
            <p:spPr>
              <a:xfrm>
                <a:off x="581192" y="4705990"/>
                <a:ext cx="11029616" cy="732573"/>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a:latin typeface="Cambria Math" panose="02040503050406030204" pitchFamily="18" charset="0"/>
                            </a:rPr>
                          </m:ctrlPr>
                        </m:fPr>
                        <m:num>
                          <m:r>
                            <a:rPr lang="es-CO" sz="2000">
                              <a:latin typeface="Cambria Math" panose="02040503050406030204" pitchFamily="18" charset="0"/>
                            </a:rPr>
                            <m:t>$15.000</m:t>
                          </m:r>
                        </m:num>
                        <m:den>
                          <m:d>
                            <m:dPr>
                              <m:ctrlPr>
                                <a:rPr lang="es-CO" sz="2000">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a:p>
            </p:txBody>
          </p:sp>
        </mc:Choice>
        <mc:Fallback xmlns="">
          <p:sp>
            <p:nvSpPr>
              <p:cNvPr id="21" name="Rectángulo 20">
                <a:extLst>
                  <a:ext uri="{FF2B5EF4-FFF2-40B4-BE49-F238E27FC236}">
                    <a16:creationId xmlns:a16="http://schemas.microsoft.com/office/drawing/2014/main" id="{DCF3740A-0820-C880-2E93-FF82016DFEF5}"/>
                  </a:ext>
                </a:extLst>
              </p:cNvPr>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b="-169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E2607FF5-BA59-65AC-A7F4-6D9F60B10998}"/>
                  </a:ext>
                </a:extLst>
              </p:cNvPr>
              <p:cNvSpPr/>
              <p:nvPr/>
            </p:nvSpPr>
            <p:spPr>
              <a:xfrm>
                <a:off x="4895082" y="5535405"/>
                <a:ext cx="2467021" cy="400110"/>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a:p>
            </p:txBody>
          </p:sp>
        </mc:Choice>
        <mc:Fallback xmlns="">
          <p:sp>
            <p:nvSpPr>
              <p:cNvPr id="22" name="Rectángulo 21">
                <a:extLst>
                  <a:ext uri="{FF2B5EF4-FFF2-40B4-BE49-F238E27FC236}">
                    <a16:creationId xmlns:a16="http://schemas.microsoft.com/office/drawing/2014/main" id="{E2607FF5-BA59-65AC-A7F4-6D9F60B10998}"/>
                  </a:ext>
                </a:extLst>
              </p:cNvPr>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3030"/>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598691B3-C2C2-1760-6AA8-34787DD84B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6099517-6BCE-4E67-EF87-296A71F0E5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F98CC633-3DA8-2627-9441-37F9BF8611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CC662199-D0F2-FC46-7A6F-2F3542F73A8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Elipse 1">
            <a:extLst>
              <a:ext uri="{FF2B5EF4-FFF2-40B4-BE49-F238E27FC236}">
                <a16:creationId xmlns:a16="http://schemas.microsoft.com/office/drawing/2014/main" id="{29C53BFF-34DC-B7C9-7637-585D2A2EF206}"/>
              </a:ext>
            </a:extLst>
          </p:cNvPr>
          <p:cNvSpPr/>
          <p:nvPr/>
        </p:nvSpPr>
        <p:spPr>
          <a:xfrm>
            <a:off x="4364843" y="2327569"/>
            <a:ext cx="1277453" cy="564957"/>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3" name="Rectángulo 2">
                <a:extLst>
                  <a:ext uri="{FF2B5EF4-FFF2-40B4-BE49-F238E27FC236}">
                    <a16:creationId xmlns:a16="http://schemas.microsoft.com/office/drawing/2014/main" id="{A43775DE-B991-0C2A-3752-B147BF4B7270}"/>
                  </a:ext>
                </a:extLst>
              </p:cNvPr>
              <p:cNvSpPr/>
              <p:nvPr/>
            </p:nvSpPr>
            <p:spPr>
              <a:xfrm>
                <a:off x="1560808" y="1807285"/>
                <a:ext cx="4049250" cy="369332"/>
              </a:xfrm>
              <a:prstGeom prst="rect">
                <a:avLst/>
              </a:prstGeom>
            </p:spPr>
            <p:txBody>
              <a:bodyPr wrap="none">
                <a:spAutoFit/>
              </a:bodyPr>
              <a:lstStyle/>
              <a:p>
                <a:pPr/>
                <a14:m>
                  <m:oMathPara xmlns:m="http://schemas.openxmlformats.org/officeDocument/2006/math">
                    <m:oMath>
                      <m:r>
                        <a:rPr lang="es-CO" i="1">
                          <a:latin typeface="Cambria Math" panose="02040503050406030204" pitchFamily="18" charset="0"/>
                        </a:rPr>
                        <m:t>𝐹</m:t>
                      </m:r>
                      <m:sSub>
                        <m:sSubPr>
                          <m:ctrlPr>
                            <a:rPr lang="es-CO" i="1">
                              <a:latin typeface="Cambria Math" panose="02040503050406030204" pitchFamily="18" charset="0"/>
                            </a:rPr>
                          </m:ctrlPr>
                        </m:sSubPr>
                        <m:e>
                          <m:r>
                            <a:rPr lang="es-CO" i="1">
                              <a:latin typeface="Cambria Math" panose="02040503050406030204" pitchFamily="18" charset="0"/>
                            </a:rPr>
                            <m:t>𝐶</m:t>
                          </m:r>
                        </m:e>
                        <m:sub>
                          <m:r>
                            <a:rPr lang="es-CO">
                              <a:latin typeface="Cambria Math" panose="02040503050406030204" pitchFamily="18" charset="0"/>
                            </a:rPr>
                            <m:t>1</m:t>
                          </m:r>
                        </m:sub>
                      </m:sSub>
                      <m:r>
                        <a:rPr lang="es-CO">
                          <a:latin typeface="Cambria Math" panose="02040503050406030204" pitchFamily="18" charset="0"/>
                        </a:rPr>
                        <m:t>=$1.250.000∗12=$15.000.000</m:t>
                      </m:r>
                    </m:oMath>
                  </m:oMathPara>
                </a14:m>
                <a:endParaRPr lang="es-CO"/>
              </a:p>
            </p:txBody>
          </p:sp>
        </mc:Choice>
        <mc:Fallback xmlns="">
          <p:sp>
            <p:nvSpPr>
              <p:cNvPr id="3" name="Rectángulo 2">
                <a:extLst>
                  <a:ext uri="{FF2B5EF4-FFF2-40B4-BE49-F238E27FC236}">
                    <a16:creationId xmlns:a16="http://schemas.microsoft.com/office/drawing/2014/main" id="{A43775DE-B991-0C2A-3752-B147BF4B7270}"/>
                  </a:ext>
                </a:extLst>
              </p:cNvPr>
              <p:cNvSpPr>
                <a:spLocks noRot="1" noChangeAspect="1" noMove="1" noResize="1" noEditPoints="1" noAdjustHandles="1" noChangeArrowheads="1" noChangeShapeType="1" noTextEdit="1"/>
              </p:cNvSpPr>
              <p:nvPr/>
            </p:nvSpPr>
            <p:spPr>
              <a:xfrm>
                <a:off x="1560808" y="1807285"/>
                <a:ext cx="4049250" cy="369332"/>
              </a:xfrm>
              <a:prstGeom prst="rect">
                <a:avLst/>
              </a:prstGeom>
              <a:blipFill>
                <a:blip r:embed="rId8"/>
                <a:stretch>
                  <a:fillRect/>
                </a:stretch>
              </a:blipFill>
            </p:spPr>
            <p:txBody>
              <a:bodyPr/>
              <a:lstStyle/>
              <a:p>
                <a:r>
                  <a:rPr lang="es-ES_tradnl">
                    <a:noFill/>
                  </a:rPr>
                  <a:t> </a:t>
                </a:r>
              </a:p>
            </p:txBody>
          </p:sp>
        </mc:Fallback>
      </mc:AlternateContent>
      <p:cxnSp>
        <p:nvCxnSpPr>
          <p:cNvPr id="5" name="Conector curvado 11">
            <a:extLst>
              <a:ext uri="{FF2B5EF4-FFF2-40B4-BE49-F238E27FC236}">
                <a16:creationId xmlns:a16="http://schemas.microsoft.com/office/drawing/2014/main" id="{BCD16F55-6913-A870-8823-6FAFB4588C67}"/>
              </a:ext>
            </a:extLst>
          </p:cNvPr>
          <p:cNvCxnSpPr>
            <a:stCxn id="2" idx="2"/>
            <a:endCxn id="3" idx="2"/>
          </p:cNvCxnSpPr>
          <p:nvPr/>
        </p:nvCxnSpPr>
        <p:spPr>
          <a:xfrm rot="10800000">
            <a:off x="3585435" y="2176617"/>
            <a:ext cx="779409" cy="43343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Marcador de número de diapositiva 3">
            <a:extLst>
              <a:ext uri="{FF2B5EF4-FFF2-40B4-BE49-F238E27FC236}">
                <a16:creationId xmlns:a16="http://schemas.microsoft.com/office/drawing/2014/main" id="{61335E68-DFCB-9B96-B438-D7D2CC565FE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374320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5"/>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P spid="2" grpId="0" animBg="1"/>
      <p:bldP spid="2" grpId="1" animBg="1"/>
      <p:bldP spid="3" grpId="0"/>
      <p:bldP spid="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50570"/>
            <a:ext cx="11029615" cy="4305273"/>
          </a:xfrm>
        </p:spPr>
        <p:txBody>
          <a:bodyPr>
            <a:normAutofit/>
          </a:bodyPr>
          <a:lstStyle/>
          <a:p>
            <a:pPr marL="0" indent="0" algn="just">
              <a:buNone/>
            </a:pPr>
            <a:r>
              <a:rPr lang="es-ES_tradnl" sz="2400" b="1" dirty="0"/>
              <a:t>Ejemplo 2: </a:t>
            </a:r>
            <a:r>
              <a:rPr lang="es-ES_tradnl" sz="2400" dirty="0"/>
              <a:t>Usted desea imitar la idea de negocio del </a:t>
            </a:r>
            <a:r>
              <a:rPr lang="es-ES_tradnl" sz="2400" b="1" dirty="0"/>
              <a:t> UPER </a:t>
            </a:r>
            <a:r>
              <a:rPr lang="es-ES_tradnl" sz="2400" dirty="0"/>
              <a:t>anteriormente expuesta. Dependiendo de con cuál banco usted decida financiar parte del negocio, usted tendrá los siguientes costos de oportunidad. ¿Cambia la viabilidad del proyecto?</a:t>
            </a:r>
          </a:p>
          <a:p>
            <a:pPr marL="0" indent="0" algn="just">
              <a:buNone/>
            </a:pPr>
            <a:endParaRPr lang="es-ES_tradnl" sz="2400" dirty="0"/>
          </a:p>
          <a:p>
            <a:pPr algn="just">
              <a:buFont typeface="Courier New" panose="02070309020205020404" pitchFamily="49" charset="0"/>
              <a:buChar char="o"/>
            </a:pPr>
            <a:r>
              <a:rPr lang="es-ES_tradnl" sz="2400" dirty="0"/>
              <a:t>Bancolombia			8% E.A. </a:t>
            </a:r>
          </a:p>
          <a:p>
            <a:pPr algn="just">
              <a:buFont typeface="Courier New" panose="02070309020205020404" pitchFamily="49" charset="0"/>
              <a:buChar char="o"/>
            </a:pPr>
            <a:r>
              <a:rPr lang="es-ES_tradnl" sz="2400" dirty="0"/>
              <a:t>Banco de Bogotá		10% E.A.</a:t>
            </a:r>
          </a:p>
          <a:p>
            <a:pPr algn="just">
              <a:buFont typeface="Courier New" panose="02070309020205020404" pitchFamily="49" charset="0"/>
              <a:buChar char="o"/>
            </a:pPr>
            <a:r>
              <a:rPr lang="es-ES_tradnl" sz="2400" dirty="0"/>
              <a:t>Pichincha				12% E.A.</a:t>
            </a:r>
          </a:p>
          <a:p>
            <a:pPr marL="0" indent="0" algn="just">
              <a:buNone/>
            </a:pPr>
            <a:endParaRPr lang="es-ES_tradnl" sz="2400" dirty="0"/>
          </a:p>
          <a:p>
            <a:pPr marL="0" indent="0" algn="just">
              <a:buNone/>
            </a:pPr>
            <a:r>
              <a:rPr lang="es-ES_tradnl" sz="2400" dirty="0"/>
              <a:t>Nota: </a:t>
            </a:r>
            <a:r>
              <a:rPr lang="es-ES_tradnl" sz="2400" i="1" dirty="0"/>
              <a:t>Desprecie el valor del dinero en el tiempo para periodos inferiores a un año.</a:t>
            </a:r>
          </a:p>
        </p:txBody>
      </p:sp>
      <p:sp>
        <p:nvSpPr>
          <p:cNvPr id="8" name="Rectángulo 7">
            <a:extLst>
              <a:ext uri="{FF2B5EF4-FFF2-40B4-BE49-F238E27FC236}">
                <a16:creationId xmlns:a16="http://schemas.microsoft.com/office/drawing/2014/main" id="{9A8D0D84-EAC5-D469-BFFA-0E92807945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A275FD1-F3A3-7755-37B6-1F7C07F0D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FC7FE3B-B8C7-3D3D-EC78-7179436A10D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0E44F13-8B7A-C22D-593A-EBCC873A53F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0E02764-5825-200E-5AAE-85A72A5176C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292457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607985" y="3086521"/>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607984" y="308652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527908" y="262779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601337" y="26277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660811" y="239480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522383" y="271252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5344319"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6432807"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7492281" y="319281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p:cNvSpPr>
            <a:spLocks/>
          </p:cNvSpPr>
          <p:nvPr/>
        </p:nvSpPr>
        <p:spPr bwMode="auto">
          <a:xfrm>
            <a:off x="4889182" y="224564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p:cNvSpPr>
            <a:spLocks/>
          </p:cNvSpPr>
          <p:nvPr/>
        </p:nvSpPr>
        <p:spPr bwMode="auto">
          <a:xfrm>
            <a:off x="7278699" y="2032060"/>
            <a:ext cx="21592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p:cNvSpPr>
            <a:spLocks/>
          </p:cNvSpPr>
          <p:nvPr/>
        </p:nvSpPr>
        <p:spPr bwMode="auto">
          <a:xfrm>
            <a:off x="5962611" y="22377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p:cNvSpPr>
            <a:spLocks/>
          </p:cNvSpPr>
          <p:nvPr/>
        </p:nvSpPr>
        <p:spPr bwMode="auto">
          <a:xfrm>
            <a:off x="3739416" y="395185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12" name="11 Elipse"/>
          <p:cNvSpPr/>
          <p:nvPr/>
        </p:nvSpPr>
        <p:spPr>
          <a:xfrm>
            <a:off x="9328338" y="5995211"/>
            <a:ext cx="1293943" cy="515686"/>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7" name="Rectángulo 16"/>
              <p:cNvSpPr/>
              <p:nvPr/>
            </p:nvSpPr>
            <p:spPr>
              <a:xfrm>
                <a:off x="1579028" y="4421846"/>
                <a:ext cx="9191297"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(8%)=−$80.000+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1+8%</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3</m:t>
                              </m:r>
                            </m:sup>
                          </m:sSup>
                        </m:den>
                      </m:f>
                      <m:r>
                        <a:rPr lang="es-CO">
                          <a:latin typeface="Cambria Math" panose="02040503050406030204" pitchFamily="18" charset="0"/>
                        </a:rPr>
                        <m:t>=$6.286,39</m:t>
                      </m:r>
                    </m:oMath>
                  </m:oMathPara>
                </a14:m>
                <a:endParaRPr lang="es-CO"/>
              </a:p>
            </p:txBody>
          </p:sp>
        </mc:Choice>
        <mc:Fallback xmlns="">
          <p:sp>
            <p:nvSpPr>
              <p:cNvPr id="17" name="Rectángulo 16"/>
              <p:cNvSpPr>
                <a:spLocks noRot="1" noChangeAspect="1" noMove="1" noResize="1" noEditPoints="1" noAdjustHandles="1" noChangeArrowheads="1" noChangeShapeType="1" noTextEdit="1"/>
              </p:cNvSpPr>
              <p:nvPr/>
            </p:nvSpPr>
            <p:spPr>
              <a:xfrm>
                <a:off x="1579028" y="4421846"/>
                <a:ext cx="9191297" cy="668645"/>
              </a:xfrm>
              <a:prstGeom prst="rect">
                <a:avLst/>
              </a:prstGeom>
              <a:blipFill>
                <a:blip r:embed="rId3"/>
                <a:stretch>
                  <a:fillRect b="-188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1742965" y="5158554"/>
                <a:ext cx="8853925"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(10%)=−$80.000+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1+10%</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3</m:t>
                              </m:r>
                            </m:sup>
                          </m:sSup>
                        </m:den>
                      </m:f>
                      <m:r>
                        <a:rPr lang="es-CO">
                          <a:latin typeface="Cambria Math" panose="02040503050406030204" pitchFamily="18" charset="0"/>
                        </a:rPr>
                        <m:t>=$2.381,67</m:t>
                      </m:r>
                    </m:oMath>
                  </m:oMathPara>
                </a14:m>
                <a:endParaRPr lang="es-CO"/>
              </a:p>
            </p:txBody>
          </p:sp>
        </mc:Choice>
        <mc:Fallback xmlns="">
          <p:sp>
            <p:nvSpPr>
              <p:cNvPr id="18" name="Rectángulo 17"/>
              <p:cNvSpPr>
                <a:spLocks noRot="1" noChangeAspect="1" noMove="1" noResize="1" noEditPoints="1" noAdjustHandles="1" noChangeArrowheads="1" noChangeShapeType="1" noTextEdit="1"/>
              </p:cNvSpPr>
              <p:nvPr/>
            </p:nvSpPr>
            <p:spPr>
              <a:xfrm>
                <a:off x="1742965" y="5158554"/>
                <a:ext cx="8853925" cy="668645"/>
              </a:xfrm>
              <a:prstGeom prst="rect">
                <a:avLst/>
              </a:prstGeom>
              <a:blipFill>
                <a:blip r:embed="rId4"/>
                <a:stretch>
                  <a:fillRect b="-188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1672172" y="5918733"/>
                <a:ext cx="8970579"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(12%)=−$80.000+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1+12%</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3</m:t>
                              </m:r>
                            </m:sup>
                          </m:sSup>
                        </m:den>
                      </m:f>
                      <m:r>
                        <a:rPr lang="es-CO">
                          <a:latin typeface="Cambria Math" panose="02040503050406030204" pitchFamily="18" charset="0"/>
                        </a:rPr>
                        <m:t>=−$1.265,72</m:t>
                      </m:r>
                    </m:oMath>
                  </m:oMathPara>
                </a14:m>
                <a:endParaRPr lang="es-CO"/>
              </a:p>
            </p:txBody>
          </p:sp>
        </mc:Choice>
        <mc:Fallback xmlns="">
          <p:sp>
            <p:nvSpPr>
              <p:cNvPr id="21" name="Rectángulo 20"/>
              <p:cNvSpPr>
                <a:spLocks noRot="1" noChangeAspect="1" noMove="1" noResize="1" noEditPoints="1" noAdjustHandles="1" noChangeArrowheads="1" noChangeShapeType="1" noTextEdit="1"/>
              </p:cNvSpPr>
              <p:nvPr/>
            </p:nvSpPr>
            <p:spPr>
              <a:xfrm>
                <a:off x="1672172" y="5918733"/>
                <a:ext cx="8970579" cy="668645"/>
              </a:xfrm>
              <a:prstGeom prst="rect">
                <a:avLst/>
              </a:prstGeom>
              <a:blipFill>
                <a:blip r:embed="rId5"/>
                <a:stretch>
                  <a:fillRect b="-1887"/>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D9955658-E36F-B7DE-E7F8-AB1D82A4A1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2" name="Picture 2" descr="Clientes y aliados | Centro de Evaluación | Uniandes">
            <a:extLst>
              <a:ext uri="{FF2B5EF4-FFF2-40B4-BE49-F238E27FC236}">
                <a16:creationId xmlns:a16="http://schemas.microsoft.com/office/drawing/2014/main" id="{11991C36-9953-BE32-6227-3C04C5D861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4B4BE4C7-9DEC-B8E9-178B-7DF162E98E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B56A3198-00E4-3F55-4578-9674754A5D1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9783F645-F64B-4511-0832-ECE4250EB81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10153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5"/>
            <a:ext cx="11186265" cy="4234542"/>
          </a:xfrm>
        </p:spPr>
        <p:txBody>
          <a:bodyPr>
            <a:normAutofit/>
          </a:bodyPr>
          <a:lstStyle/>
          <a:p>
            <a:pPr marL="0" indent="0" algn="just">
              <a:buNone/>
            </a:pPr>
            <a:r>
              <a:rPr lang="es-ES_tradnl" sz="2400"/>
              <a:t>Como se pudo observar, el resultado del VPN es una función directa de dos elementos: </a:t>
            </a:r>
            <a:r>
              <a:rPr lang="es-ES_tradnl" sz="2400" b="1"/>
              <a:t>los flujos de caja </a:t>
            </a:r>
            <a:r>
              <a:rPr lang="es-ES_tradnl" sz="2400"/>
              <a:t>y </a:t>
            </a:r>
            <a:r>
              <a:rPr lang="es-ES_tradnl" sz="2400" b="1"/>
              <a:t>la tasa de descuento</a:t>
            </a:r>
            <a:r>
              <a:rPr lang="es-ES_tradnl" sz="2400"/>
              <a:t>.</a:t>
            </a:r>
          </a:p>
          <a:p>
            <a:pPr marL="0" indent="0" algn="just">
              <a:buNone/>
            </a:pPr>
            <a:endParaRPr lang="es-ES_tradnl" sz="2400"/>
          </a:p>
          <a:p>
            <a:pPr algn="just"/>
            <a:r>
              <a:rPr lang="es-ES_tradnl" sz="2400"/>
              <a:t>¿Qué pasa con el VPN si aumenta el valor los flujos de caja positivos (ceteris paribus)?</a:t>
            </a:r>
          </a:p>
          <a:p>
            <a:pPr algn="just"/>
            <a:r>
              <a:rPr lang="es-ES_tradnl" sz="2400"/>
              <a:t>¿Qué pasa con el VPN si aumenta la tasa de descuento (ceteris paribus)?</a:t>
            </a:r>
          </a:p>
          <a:p>
            <a:pPr algn="just"/>
            <a:r>
              <a:rPr lang="es-ES_tradnl" sz="2400"/>
              <a:t>¿Qué pasa con el VPN si se desplazan los flujos de caja en el tiempo (ceteris paribus)?</a:t>
            </a:r>
          </a:p>
          <a:p>
            <a:pPr algn="just"/>
            <a:endParaRPr lang="es-ES_tradnl" sz="2400"/>
          </a:p>
        </p:txBody>
      </p:sp>
      <p:sp>
        <p:nvSpPr>
          <p:cNvPr id="8" name="Rectángulo 7">
            <a:extLst>
              <a:ext uri="{FF2B5EF4-FFF2-40B4-BE49-F238E27FC236}">
                <a16:creationId xmlns:a16="http://schemas.microsoft.com/office/drawing/2014/main" id="{B4CFEAF4-51AE-5C6B-9209-71A456813C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80DB6FA-3897-8349-7B5A-97E341CFA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ADA6AF5-BD08-38DD-88C7-2B03C00D809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DAB6EF-E5FF-D724-14D2-A5F887CC5E8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4A62481D-002F-7C0E-652B-85E5775E04D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29320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5">
            <a:extLst>
              <a:ext uri="{FF2B5EF4-FFF2-40B4-BE49-F238E27FC236}">
                <a16:creationId xmlns:a16="http://schemas.microsoft.com/office/drawing/2014/main" id="{3FCA5356-424B-42A1-6EC6-BB173E5E6110}"/>
              </a:ext>
            </a:extLst>
          </p:cNvPr>
          <p:cNvGraphicFramePr>
            <a:graphicFrameLocks/>
          </p:cNvGraphicFramePr>
          <p:nvPr>
            <p:extLst>
              <p:ext uri="{D42A27DB-BD31-4B8C-83A1-F6EECF244321}">
                <p14:modId xmlns:p14="http://schemas.microsoft.com/office/powerpoint/2010/main" val="2260016739"/>
              </p:ext>
            </p:extLst>
          </p:nvPr>
        </p:nvGraphicFramePr>
        <p:xfrm>
          <a:off x="597520" y="2117092"/>
          <a:ext cx="10996959" cy="420417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ángulo 7">
            <a:extLst>
              <a:ext uri="{FF2B5EF4-FFF2-40B4-BE49-F238E27FC236}">
                <a16:creationId xmlns:a16="http://schemas.microsoft.com/office/drawing/2014/main" id="{5EE8F9F1-7968-DB53-991F-38E4F16F0D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F405C21-824A-C0B3-3797-D9B2FB602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8AEBC40-0FDB-D03B-C4E3-2258E5E875C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01DF44-0C70-ADCB-796E-DCEAA5E8F3C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3" name="Marcador de número de diapositiva 3">
            <a:extLst>
              <a:ext uri="{FF2B5EF4-FFF2-40B4-BE49-F238E27FC236}">
                <a16:creationId xmlns:a16="http://schemas.microsoft.com/office/drawing/2014/main" id="{89CBECBC-8BB3-8270-EA50-800D2C782CE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1128719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6143"/>
            <a:ext cx="11029615" cy="1524505"/>
          </a:xfrm>
        </p:spPr>
        <p:txBody>
          <a:bodyPr>
            <a:normAutofit/>
          </a:bodyPr>
          <a:lstStyle/>
          <a:p>
            <a:pPr marL="0" indent="0" algn="just">
              <a:buNone/>
            </a:pPr>
            <a:r>
              <a:rPr lang="es-ES_tradnl" sz="2600"/>
              <a:t>Ahora bien, es necesario responder la pregunta más relevante respecto al VPN.</a:t>
            </a:r>
          </a:p>
          <a:p>
            <a:pPr marL="457200" indent="-457200" algn="just">
              <a:buFont typeface="+mj-lt"/>
              <a:buAutoNum type="arabicPeriod"/>
            </a:pPr>
            <a:r>
              <a:rPr lang="es-ES_tradnl" sz="2600"/>
              <a:t>¿Cuál es la regla de decisión del VPN como IBF?</a:t>
            </a:r>
          </a:p>
        </p:txBody>
      </p:sp>
      <p:sp>
        <p:nvSpPr>
          <p:cNvPr id="7" name="Rectángulo 6">
            <a:extLst>
              <a:ext uri="{FF2B5EF4-FFF2-40B4-BE49-F238E27FC236}">
                <a16:creationId xmlns:a16="http://schemas.microsoft.com/office/drawing/2014/main" id="{AB63C574-161D-17FE-1E0E-B3AA55B276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57BC7F4-D72C-41DF-D13D-8A4C160A5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B0F2AFE-FF18-AF1A-ADCA-6EA624C869C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9A8A7DD7-1DFB-9A7A-60B0-B27671DCB9B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5950967A-D997-0B0C-53FD-5F1C566FF78A}"/>
              </a:ext>
            </a:extLst>
          </p:cNvPr>
          <p:cNvGraphicFramePr>
            <a:graphicFrameLocks noGrp="1"/>
          </p:cNvGraphicFramePr>
          <p:nvPr>
            <p:extLst>
              <p:ext uri="{D42A27DB-BD31-4B8C-83A1-F6EECF244321}">
                <p14:modId xmlns:p14="http://schemas.microsoft.com/office/powerpoint/2010/main" val="3049388433"/>
              </p:ext>
            </p:extLst>
          </p:nvPr>
        </p:nvGraphicFramePr>
        <p:xfrm>
          <a:off x="3779310" y="3429000"/>
          <a:ext cx="4633381" cy="2781439"/>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473381">
                  <a:extLst>
                    <a:ext uri="{9D8B030D-6E8A-4147-A177-3AD203B41FA5}">
                      <a16:colId xmlns:a16="http://schemas.microsoft.com/office/drawing/2014/main" val="200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D92B2E96-D374-E14B-1B9A-D6373CC4683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3362860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0ACA-AA72-0DA5-C3F0-F84AA0B5B30F}"/>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95D582B6-AFA3-FCAA-30D9-3B69162E8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387EE22-DD1F-D2ED-5FC1-6B50E7F5F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F5E1AFA-9F7B-8FB0-1DC0-588937007EB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E63290D-37DD-8892-F4BF-17F6226B7AF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F5DBB2B3-E680-E0C7-1572-2D9394E95134}"/>
              </a:ext>
            </a:extLst>
          </p:cNvPr>
          <p:cNvGraphicFramePr>
            <a:graphicFrameLocks noGrp="1"/>
          </p:cNvGraphicFramePr>
          <p:nvPr>
            <p:extLst>
              <p:ext uri="{D42A27DB-BD31-4B8C-83A1-F6EECF244321}">
                <p14:modId xmlns:p14="http://schemas.microsoft.com/office/powerpoint/2010/main" val="168370886"/>
              </p:ext>
            </p:extLst>
          </p:nvPr>
        </p:nvGraphicFramePr>
        <p:xfrm>
          <a:off x="2824843" y="2885930"/>
          <a:ext cx="6542314" cy="3039201"/>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F2654235-CA1E-1E70-5ED5-E32B71CA38C8}"/>
              </a:ext>
            </a:extLst>
          </p:cNvPr>
          <p:cNvSpPr>
            <a:spLocks noGrp="1"/>
          </p:cNvSpPr>
          <p:nvPr>
            <p:ph idx="1"/>
          </p:nvPr>
        </p:nvSpPr>
        <p:spPr>
          <a:xfrm>
            <a:off x="581191" y="1828799"/>
            <a:ext cx="10968843" cy="534357"/>
          </a:xfrm>
        </p:spPr>
        <p:txBody>
          <a:bodyPr>
            <a:normAutofit/>
          </a:bodyPr>
          <a:lstStyle/>
          <a:p>
            <a:pPr marL="0" indent="0" algn="ctr">
              <a:buNone/>
            </a:pPr>
            <a:r>
              <a:rPr lang="es-ES_tradnl" sz="2800"/>
              <a:t>¿Cuándo el proyecto </a:t>
            </a:r>
            <a:r>
              <a:rPr lang="es-ES_tradnl" sz="2800" i="1">
                <a:solidFill>
                  <a:srgbClr val="800000"/>
                </a:solidFill>
              </a:rPr>
              <a:t>crea valor</a:t>
            </a:r>
            <a:r>
              <a:rPr lang="es-ES_tradnl" sz="2800"/>
              <a:t>?</a:t>
            </a:r>
          </a:p>
        </p:txBody>
      </p:sp>
      <p:sp>
        <p:nvSpPr>
          <p:cNvPr id="2" name="Marcador de número de diapositiva 3">
            <a:extLst>
              <a:ext uri="{FF2B5EF4-FFF2-40B4-BE49-F238E27FC236}">
                <a16:creationId xmlns:a16="http://schemas.microsoft.com/office/drawing/2014/main" id="{684EA3FB-BDBA-CF14-0231-B0D657B15EE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411073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E4D3-6BEC-4299-D715-BCAB3FB8D73B}"/>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FFCD1B41-FA59-01ED-655D-12FC18C1E6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AFE1A1A-8997-EE83-1A9E-6EE574391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245AF12-8974-A03A-5E4B-C62B30EC27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A52AAA4E-7748-02BF-A2AA-4CA790A5097B}"/>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012EF3FA-45E6-DCB9-FB91-977D7C9F880D}"/>
              </a:ext>
            </a:extLst>
          </p:cNvPr>
          <p:cNvGraphicFramePr>
            <a:graphicFrameLocks noGrp="1"/>
          </p:cNvGraphicFramePr>
          <p:nvPr>
            <p:extLst>
              <p:ext uri="{D42A27DB-BD31-4B8C-83A1-F6EECF244321}">
                <p14:modId xmlns:p14="http://schemas.microsoft.com/office/powerpoint/2010/main" val="1767401175"/>
              </p:ext>
            </p:extLst>
          </p:nvPr>
        </p:nvGraphicFramePr>
        <p:xfrm>
          <a:off x="2824843" y="2885930"/>
          <a:ext cx="6542314" cy="3169920"/>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crea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No hay efecto sobre el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47BF1AF3-CEC0-3A27-9B31-892B2A988D81}"/>
              </a:ext>
            </a:extLst>
          </p:cNvPr>
          <p:cNvSpPr>
            <a:spLocks noGrp="1"/>
          </p:cNvSpPr>
          <p:nvPr>
            <p:ph idx="1"/>
          </p:nvPr>
        </p:nvSpPr>
        <p:spPr>
          <a:xfrm>
            <a:off x="581191" y="1828799"/>
            <a:ext cx="10968843" cy="534357"/>
          </a:xfrm>
        </p:spPr>
        <p:txBody>
          <a:bodyPr>
            <a:normAutofit/>
          </a:bodyPr>
          <a:lstStyle/>
          <a:p>
            <a:pPr marL="0" indent="0" algn="ctr">
              <a:buNone/>
            </a:pPr>
            <a:r>
              <a:rPr lang="es-ES_tradnl" sz="2800"/>
              <a:t>¿Cuándo el proyecto </a:t>
            </a:r>
            <a:r>
              <a:rPr lang="es-ES_tradnl" sz="2800" i="1">
                <a:solidFill>
                  <a:srgbClr val="800000"/>
                </a:solidFill>
              </a:rPr>
              <a:t>crea valor</a:t>
            </a:r>
            <a:r>
              <a:rPr lang="es-ES_tradnl" sz="2800"/>
              <a:t>?</a:t>
            </a:r>
          </a:p>
        </p:txBody>
      </p:sp>
      <p:sp>
        <p:nvSpPr>
          <p:cNvPr id="2" name="Marcador de número de diapositiva 3">
            <a:extLst>
              <a:ext uri="{FF2B5EF4-FFF2-40B4-BE49-F238E27FC236}">
                <a16:creationId xmlns:a16="http://schemas.microsoft.com/office/drawing/2014/main" id="{5D204398-E2EA-46E0-4992-C83D9B266D8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598593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27105"/>
            <a:ext cx="11029615" cy="3829031"/>
          </a:xfrm>
        </p:spPr>
        <p:txBody>
          <a:bodyPr>
            <a:normAutofit/>
          </a:bodyPr>
          <a:lstStyle/>
          <a:p>
            <a:pPr marL="0" indent="0" algn="ctr">
              <a:buNone/>
            </a:pPr>
            <a:r>
              <a:rPr lang="es-ES_tradnl" sz="2400" i="1">
                <a:solidFill>
                  <a:srgbClr val="800000"/>
                </a:solidFill>
              </a:rPr>
              <a:t>¿Qué significa en términos financieros el VPN?</a:t>
            </a:r>
          </a:p>
          <a:p>
            <a:pPr marL="0" indent="0" algn="ctr">
              <a:buNone/>
            </a:pPr>
            <a:endParaRPr lang="es-ES_tradnl" sz="2400" i="1">
              <a:solidFill>
                <a:srgbClr val="800000"/>
              </a:solidFill>
            </a:endParaRPr>
          </a:p>
          <a:p>
            <a:pPr marL="0" indent="0" algn="ctr">
              <a:buNone/>
            </a:pPr>
            <a:r>
              <a:rPr lang="es-ES_tradnl" sz="2400" i="1">
                <a:solidFill>
                  <a:srgbClr val="800000"/>
                </a:solidFill>
              </a:rPr>
              <a:t>El VPN será la medición en pesos de hoy del </a:t>
            </a:r>
            <a:r>
              <a:rPr lang="es-ES_tradnl" sz="2400" b="1" i="1">
                <a:solidFill>
                  <a:srgbClr val="800000"/>
                </a:solidFill>
              </a:rPr>
              <a:t>“spread”</a:t>
            </a:r>
            <a:r>
              <a:rPr lang="es-ES_tradnl" sz="2400" i="1">
                <a:solidFill>
                  <a:srgbClr val="800000"/>
                </a:solidFill>
              </a:rPr>
              <a:t> o diferencial de la </a:t>
            </a:r>
            <a:r>
              <a:rPr lang="es-ES_tradnl" sz="2400" b="1" i="1">
                <a:solidFill>
                  <a:srgbClr val="800000"/>
                </a:solidFill>
              </a:rPr>
              <a:t>rentabilidad del proyecto</a:t>
            </a:r>
            <a:r>
              <a:rPr lang="es-ES_tradnl" sz="2400" i="1">
                <a:solidFill>
                  <a:srgbClr val="800000"/>
                </a:solidFill>
              </a:rPr>
              <a:t> respecto al </a:t>
            </a:r>
            <a:r>
              <a:rPr lang="es-ES_tradnl" sz="2400" b="1" i="1">
                <a:solidFill>
                  <a:srgbClr val="800000"/>
                </a:solidFill>
              </a:rPr>
              <a:t>C.O.</a:t>
            </a:r>
            <a:r>
              <a:rPr lang="es-ES_tradnl" sz="2400" i="1">
                <a:solidFill>
                  <a:srgbClr val="800000"/>
                </a:solidFill>
              </a:rPr>
              <a:t> Es decir, el </a:t>
            </a:r>
            <a:r>
              <a:rPr lang="es-ES_tradnl" sz="2400" b="1" i="1">
                <a:solidFill>
                  <a:srgbClr val="800000"/>
                </a:solidFill>
              </a:rPr>
              <a:t>VALOR AGREGADO</a:t>
            </a:r>
            <a:r>
              <a:rPr lang="es-ES_tradnl" sz="2400" i="1">
                <a:solidFill>
                  <a:srgbClr val="800000"/>
                </a:solidFill>
              </a:rPr>
              <a:t> del proyecto en pesos del momento cero.</a:t>
            </a:r>
          </a:p>
          <a:p>
            <a:pPr marL="0" indent="0" algn="just">
              <a:buNone/>
            </a:pPr>
            <a:endParaRPr lang="es-ES_tradnl" sz="2400"/>
          </a:p>
          <a:p>
            <a:pPr algn="just"/>
            <a:endParaRPr lang="es-ES_tradnl" sz="2400"/>
          </a:p>
        </p:txBody>
      </p:sp>
      <p:sp>
        <p:nvSpPr>
          <p:cNvPr id="8" name="Rectángulo 7">
            <a:extLst>
              <a:ext uri="{FF2B5EF4-FFF2-40B4-BE49-F238E27FC236}">
                <a16:creationId xmlns:a16="http://schemas.microsoft.com/office/drawing/2014/main" id="{DC7ED423-70B2-B1DB-A4BF-8DCA20E462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3162535-C97C-24F7-840B-42BDEE9BF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B432A83-214C-A3B6-63FB-3381244AAE8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D63FB49F-8E94-8DA6-2715-34001DD9ADB8}"/>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6C8484C-722D-7E34-7F48-FF1DCA94D7C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281759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58917"/>
            <a:ext cx="11029616" cy="1159266"/>
          </a:xfrm>
        </p:spPr>
        <p:txBody>
          <a:bodyPr>
            <a:normAutofit/>
          </a:bodyPr>
          <a:lstStyle/>
          <a:p>
            <a:pPr marL="0" indent="0" algn="just">
              <a:buNone/>
            </a:pPr>
            <a:r>
              <a:rPr lang="es-ES_tradnl" sz="2400"/>
              <a:t>Para dar claridad a lo anterior, tomemos el siguiente proyecto de inversión que tiene una rentabilidad del 9% E.A. Para el análisis su C.O. = 5% E.A.</a:t>
            </a:r>
          </a:p>
        </p:txBody>
      </p:sp>
      <p:cxnSp>
        <p:nvCxnSpPr>
          <p:cNvPr id="18" name="Straight Connector 17"/>
          <p:cNvCxnSpPr/>
          <p:nvPr/>
        </p:nvCxnSpPr>
        <p:spPr>
          <a:xfrm>
            <a:off x="4116808" y="4260414"/>
            <a:ext cx="4236648"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116808" y="426041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5036732" y="380168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6110161" y="380168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7169635" y="3801687"/>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031207" y="388641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4853143"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5941631"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7001105" y="436670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4398006" y="34195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28" name="Rectangle 27"/>
          <p:cNvSpPr>
            <a:spLocks/>
          </p:cNvSpPr>
          <p:nvPr/>
        </p:nvSpPr>
        <p:spPr bwMode="auto">
          <a:xfrm>
            <a:off x="7670364" y="308284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29" name="Rectangle 28"/>
          <p:cNvSpPr>
            <a:spLocks/>
          </p:cNvSpPr>
          <p:nvPr/>
        </p:nvSpPr>
        <p:spPr bwMode="auto">
          <a:xfrm>
            <a:off x="5471435" y="341166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30" name="Rectangle 29"/>
          <p:cNvSpPr>
            <a:spLocks/>
          </p:cNvSpPr>
          <p:nvPr/>
        </p:nvSpPr>
        <p:spPr bwMode="auto">
          <a:xfrm>
            <a:off x="3248240" y="512574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32" name="Rectangle 31"/>
          <p:cNvSpPr>
            <a:spLocks/>
          </p:cNvSpPr>
          <p:nvPr/>
        </p:nvSpPr>
        <p:spPr bwMode="auto">
          <a:xfrm>
            <a:off x="8116270" y="434871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3" name="Straight Arrow Connector 32"/>
          <p:cNvCxnSpPr/>
          <p:nvPr/>
        </p:nvCxnSpPr>
        <p:spPr>
          <a:xfrm flipV="1">
            <a:off x="8329681" y="3568701"/>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p:cNvSpPr>
            <a:spLocks/>
          </p:cNvSpPr>
          <p:nvPr/>
        </p:nvSpPr>
        <p:spPr bwMode="auto">
          <a:xfrm>
            <a:off x="6530909" y="339450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pic>
        <p:nvPicPr>
          <p:cNvPr id="31" name="Imagen 30"/>
          <p:cNvPicPr>
            <a:picLocks noChangeAspect="1"/>
          </p:cNvPicPr>
          <p:nvPr/>
        </p:nvPicPr>
        <p:blipFill>
          <a:blip r:embed="rId3"/>
          <a:stretch>
            <a:fillRect/>
          </a:stretch>
        </p:blipFill>
        <p:spPr>
          <a:xfrm>
            <a:off x="1615440" y="5768125"/>
            <a:ext cx="8961120" cy="604452"/>
          </a:xfrm>
          <a:prstGeom prst="rect">
            <a:avLst/>
          </a:prstGeom>
        </p:spPr>
      </p:pic>
      <p:sp>
        <p:nvSpPr>
          <p:cNvPr id="7" name="Rectángulo 6">
            <a:extLst>
              <a:ext uri="{FF2B5EF4-FFF2-40B4-BE49-F238E27FC236}">
                <a16:creationId xmlns:a16="http://schemas.microsoft.com/office/drawing/2014/main" id="{48CEAA96-1E16-5D7E-32FC-837D92F24BB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1A65076-8C0C-59B1-FAA1-605924390E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5CC0E57F-CD87-7568-E20F-1E821C53E1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5F3607F3-89BA-4D7B-D066-37619075847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818FFE7-1CB9-2F3B-AC04-AAB39A558CB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18630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4214"/>
            <a:ext cx="11029615" cy="798960"/>
          </a:xfrm>
        </p:spPr>
        <p:txBody>
          <a:bodyPr>
            <a:normAutofit fontScale="92500" lnSpcReduction="10000"/>
          </a:bodyPr>
          <a:lstStyle/>
          <a:p>
            <a:pPr marL="0" indent="0" algn="just">
              <a:buNone/>
            </a:pPr>
            <a:r>
              <a:rPr lang="es-ES_tradnl" sz="2600"/>
              <a:t>Podemos comparar los flujos del proyecto con los que se obtendría si el inversionista invirtiera a su costo de oportunidad. La diferencia de flujos serán los </a:t>
            </a:r>
            <a:r>
              <a:rPr lang="es-ES_tradnl" sz="2600" i="1">
                <a:solidFill>
                  <a:srgbClr val="800000"/>
                </a:solidFill>
              </a:rPr>
              <a:t>flujos marginales.</a:t>
            </a:r>
          </a:p>
        </p:txBody>
      </p:sp>
      <p:cxnSp>
        <p:nvCxnSpPr>
          <p:cNvPr id="18" name="Straight Connector 17"/>
          <p:cNvCxnSpPr/>
          <p:nvPr/>
        </p:nvCxnSpPr>
        <p:spPr>
          <a:xfrm>
            <a:off x="2597962" y="403630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597961" y="403630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3140282" y="357757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3736048" y="35775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4422784" y="357758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2512360" y="366230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2971752"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3567518"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4219926" y="41291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3098507" y="299818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28" name="Rectangle 27"/>
          <p:cNvSpPr>
            <a:spLocks/>
          </p:cNvSpPr>
          <p:nvPr/>
        </p:nvSpPr>
        <p:spPr bwMode="auto">
          <a:xfrm>
            <a:off x="4447074" y="29818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30" name="Rectangle 29"/>
          <p:cNvSpPr>
            <a:spLocks/>
          </p:cNvSpPr>
          <p:nvPr/>
        </p:nvSpPr>
        <p:spPr bwMode="auto">
          <a:xfrm>
            <a:off x="1729393" y="490163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32" name="Rectangle 31"/>
          <p:cNvSpPr>
            <a:spLocks/>
          </p:cNvSpPr>
          <p:nvPr/>
        </p:nvSpPr>
        <p:spPr bwMode="auto">
          <a:xfrm>
            <a:off x="5044346"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3" name="Straight Arrow Connector 32"/>
          <p:cNvCxnSpPr/>
          <p:nvPr/>
        </p:nvCxnSpPr>
        <p:spPr>
          <a:xfrm flipV="1">
            <a:off x="5230040" y="334722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3598703" y="272756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1" name="Straight Connector 30"/>
          <p:cNvCxnSpPr/>
          <p:nvPr/>
        </p:nvCxnSpPr>
        <p:spPr>
          <a:xfrm>
            <a:off x="6832753" y="3947919"/>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832752" y="394792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7375073" y="348919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7970839" y="34891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8657575" y="348919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39"/>
          <p:cNvSpPr>
            <a:spLocks/>
          </p:cNvSpPr>
          <p:nvPr/>
        </p:nvSpPr>
        <p:spPr bwMode="auto">
          <a:xfrm flipH="1">
            <a:off x="6747151" y="357392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1" name="Rectangle 40"/>
          <p:cNvSpPr>
            <a:spLocks/>
          </p:cNvSpPr>
          <p:nvPr/>
        </p:nvSpPr>
        <p:spPr bwMode="auto">
          <a:xfrm>
            <a:off x="7206543"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2" name="Rectangle 41"/>
          <p:cNvSpPr>
            <a:spLocks/>
          </p:cNvSpPr>
          <p:nvPr/>
        </p:nvSpPr>
        <p:spPr bwMode="auto">
          <a:xfrm>
            <a:off x="7802309"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3" name="Rectangle 42"/>
          <p:cNvSpPr>
            <a:spLocks/>
          </p:cNvSpPr>
          <p:nvPr/>
        </p:nvSpPr>
        <p:spPr bwMode="auto">
          <a:xfrm>
            <a:off x="8454717" y="404079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4" name="Rectangle 43"/>
          <p:cNvSpPr>
            <a:spLocks/>
          </p:cNvSpPr>
          <p:nvPr/>
        </p:nvSpPr>
        <p:spPr bwMode="auto">
          <a:xfrm>
            <a:off x="7333298" y="290979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50.000</a:t>
            </a:r>
          </a:p>
        </p:txBody>
      </p:sp>
      <p:sp>
        <p:nvSpPr>
          <p:cNvPr id="45" name="Rectangle 44"/>
          <p:cNvSpPr>
            <a:spLocks/>
          </p:cNvSpPr>
          <p:nvPr/>
        </p:nvSpPr>
        <p:spPr bwMode="auto">
          <a:xfrm>
            <a:off x="8681865" y="289345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1.050.000</a:t>
            </a:r>
          </a:p>
        </p:txBody>
      </p:sp>
      <p:sp>
        <p:nvSpPr>
          <p:cNvPr id="46" name="Rectangle 45"/>
          <p:cNvSpPr>
            <a:spLocks/>
          </p:cNvSpPr>
          <p:nvPr/>
        </p:nvSpPr>
        <p:spPr bwMode="auto">
          <a:xfrm>
            <a:off x="9279137"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7" name="Straight Arrow Connector 46"/>
          <p:cNvCxnSpPr/>
          <p:nvPr/>
        </p:nvCxnSpPr>
        <p:spPr>
          <a:xfrm flipV="1">
            <a:off x="9464831" y="325884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ight Brace 47"/>
          <p:cNvSpPr/>
          <p:nvPr/>
        </p:nvSpPr>
        <p:spPr>
          <a:xfrm rot="16200000">
            <a:off x="7833494" y="2639176"/>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34" name="Rectangle 33"/>
          <p:cNvSpPr>
            <a:spLocks/>
          </p:cNvSpPr>
          <p:nvPr/>
        </p:nvSpPr>
        <p:spPr bwMode="auto">
          <a:xfrm>
            <a:off x="5934441" y="484534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5" name="4 Abrir llave"/>
          <p:cNvSpPr/>
          <p:nvPr/>
        </p:nvSpPr>
        <p:spPr>
          <a:xfrm rot="16200000">
            <a:off x="3438848" y="3818985"/>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36" name="35 Abrir llave"/>
          <p:cNvSpPr/>
          <p:nvPr/>
        </p:nvSpPr>
        <p:spPr>
          <a:xfrm rot="16200000">
            <a:off x="7780024" y="3799566"/>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49" name="Rectangle 29"/>
          <p:cNvSpPr>
            <a:spLocks/>
          </p:cNvSpPr>
          <p:nvPr/>
        </p:nvSpPr>
        <p:spPr bwMode="auto">
          <a:xfrm>
            <a:off x="2158944" y="5920855"/>
            <a:ext cx="30710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a:t>Invertir en el proyecto</a:t>
            </a:r>
          </a:p>
        </p:txBody>
      </p:sp>
      <p:sp>
        <p:nvSpPr>
          <p:cNvPr id="50" name="Rectangle 29"/>
          <p:cNvSpPr>
            <a:spLocks/>
          </p:cNvSpPr>
          <p:nvPr/>
        </p:nvSpPr>
        <p:spPr bwMode="auto">
          <a:xfrm>
            <a:off x="6280710" y="5935546"/>
            <a:ext cx="35299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a:t>Invertir al costo de oportunidad</a:t>
            </a:r>
          </a:p>
        </p:txBody>
      </p:sp>
      <p:sp>
        <p:nvSpPr>
          <p:cNvPr id="51" name="Menos 50"/>
          <p:cNvSpPr/>
          <p:nvPr/>
        </p:nvSpPr>
        <p:spPr>
          <a:xfrm>
            <a:off x="5839809" y="3939307"/>
            <a:ext cx="440900" cy="216077"/>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8" name="Rectángulo 7">
            <a:extLst>
              <a:ext uri="{FF2B5EF4-FFF2-40B4-BE49-F238E27FC236}">
                <a16:creationId xmlns:a16="http://schemas.microsoft.com/office/drawing/2014/main" id="{40D115B0-CB97-8D47-411E-7D087E4CF5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1C33779-EC71-0519-785D-55BFDC550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426555A5-91BC-5929-9F3D-0647A8C384E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DF5CF24-F666-969D-47B0-6F1892FA601A}"/>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17CC341-8D58-1BB1-DC0A-3EBC5D83814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260805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30" grpId="0"/>
      <p:bldP spid="32" grpId="0"/>
      <p:bldP spid="12" grpId="0" animBg="1"/>
      <p:bldP spid="40" grpId="0"/>
      <p:bldP spid="41" grpId="0"/>
      <p:bldP spid="42" grpId="0"/>
      <p:bldP spid="43" grpId="0"/>
      <p:bldP spid="44" grpId="0"/>
      <p:bldP spid="45" grpId="0"/>
      <p:bldP spid="46" grpId="0"/>
      <p:bldP spid="48" grpId="0" animBg="1"/>
      <p:bldP spid="34" grpId="0"/>
      <p:bldP spid="34" grpId="1"/>
      <p:bldP spid="5" grpId="0" animBg="1"/>
      <p:bldP spid="36" grpId="0" animBg="1"/>
      <p:bldP spid="49" grpId="0"/>
      <p:bldP spid="50" grpId="0"/>
      <p:bldP spid="5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9" cy="1132752"/>
          </a:xfrm>
        </p:spPr>
        <p:txBody>
          <a:bodyPr>
            <a:noAutofit/>
          </a:bodyPr>
          <a:lstStyle/>
          <a:p>
            <a:pPr marL="0" indent="0" algn="just">
              <a:buNone/>
            </a:pPr>
            <a:r>
              <a:rPr lang="es-ES_tradnl" sz="2400"/>
              <a:t>Podemos comparar los flujos del proyecto con los que se obtendría si el inversionista invirtiera a su costo de oportunidad. La diferencia de flujos serán los </a:t>
            </a:r>
            <a:r>
              <a:rPr lang="es-ES_tradnl" sz="2400" i="1">
                <a:solidFill>
                  <a:srgbClr val="800000"/>
                </a:solidFill>
              </a:rPr>
              <a:t>flujos marginales.</a:t>
            </a:r>
          </a:p>
        </p:txBody>
      </p:sp>
      <p:cxnSp>
        <p:nvCxnSpPr>
          <p:cNvPr id="18" name="Straight Connector 17"/>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32" name="Rectangle 31"/>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2" name="Right Brace 11"/>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7651F772-38C1-2A3E-148A-BCFFA67FBF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B049C85-AE9A-FE0A-58AE-A1289608B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34571F-1C24-80A2-9143-5C9C7817463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F6754D1-A78B-D203-D2A1-1DB97D079AA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5B753D6-5BAB-A09B-56B5-4FB46304158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34466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7" cy="887186"/>
          </a:xfrm>
        </p:spPr>
        <p:txBody>
          <a:bodyPr>
            <a:normAutofit/>
          </a:bodyPr>
          <a:lstStyle/>
          <a:p>
            <a:pPr marL="0" indent="0" algn="just">
              <a:buNone/>
            </a:pPr>
            <a:r>
              <a:rPr lang="es-ES_tradnl" sz="2400"/>
              <a:t>¿Cuál es el valor presente, al 5% E.A., de los flujos de caja marginales?</a:t>
            </a:r>
            <a:endParaRPr lang="es-ES_tradnl" sz="2400" i="1">
              <a:solidFill>
                <a:srgbClr val="800000"/>
              </a:solidFill>
            </a:endParaRPr>
          </a:p>
        </p:txBody>
      </p:sp>
      <p:pic>
        <p:nvPicPr>
          <p:cNvPr id="18" name="Imagen 17"/>
          <p:cNvPicPr>
            <a:picLocks noChangeAspect="1"/>
          </p:cNvPicPr>
          <p:nvPr/>
        </p:nvPicPr>
        <p:blipFill>
          <a:blip r:embed="rId3"/>
          <a:stretch>
            <a:fillRect/>
          </a:stretch>
        </p:blipFill>
        <p:spPr>
          <a:xfrm>
            <a:off x="1604127" y="5689232"/>
            <a:ext cx="8758323" cy="757250"/>
          </a:xfrm>
          <a:prstGeom prst="rect">
            <a:avLst/>
          </a:prstGeom>
        </p:spPr>
      </p:pic>
      <p:sp>
        <p:nvSpPr>
          <p:cNvPr id="5" name="Rectángulo 4">
            <a:extLst>
              <a:ext uri="{FF2B5EF4-FFF2-40B4-BE49-F238E27FC236}">
                <a16:creationId xmlns:a16="http://schemas.microsoft.com/office/drawing/2014/main" id="{A90BAB69-7E1F-DA34-F16B-39D59D1650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460F81F-3CDE-C232-3ED1-366DCFD7F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7FA84BD-6B79-B84F-E729-90C1AD196ED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BA5A0CBE-77B5-717D-8CCB-2EDE3698A41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cxnSp>
        <p:nvCxnSpPr>
          <p:cNvPr id="9" name="Straight Connector 17">
            <a:extLst>
              <a:ext uri="{FF2B5EF4-FFF2-40B4-BE49-F238E27FC236}">
                <a16:creationId xmlns:a16="http://schemas.microsoft.com/office/drawing/2014/main" id="{A414E34D-898E-DFA1-3832-7A3C917FB11B}"/>
              </a:ext>
            </a:extLst>
          </p:cNvPr>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19">
            <a:extLst>
              <a:ext uri="{FF2B5EF4-FFF2-40B4-BE49-F238E27FC236}">
                <a16:creationId xmlns:a16="http://schemas.microsoft.com/office/drawing/2014/main" id="{871AEEB7-01AF-5394-2001-B1AE19D011AE}"/>
              </a:ext>
            </a:extLst>
          </p:cNvPr>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20">
            <a:extLst>
              <a:ext uri="{FF2B5EF4-FFF2-40B4-BE49-F238E27FC236}">
                <a16:creationId xmlns:a16="http://schemas.microsoft.com/office/drawing/2014/main" id="{5A14C983-9434-02F3-0AE8-C6B44729D8F4}"/>
              </a:ext>
            </a:extLst>
          </p:cNvPr>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21">
            <a:extLst>
              <a:ext uri="{FF2B5EF4-FFF2-40B4-BE49-F238E27FC236}">
                <a16:creationId xmlns:a16="http://schemas.microsoft.com/office/drawing/2014/main" id="{80C2E88E-F321-280B-5C38-32DDC171A0D9}"/>
              </a:ext>
            </a:extLst>
          </p:cNvPr>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22">
            <a:extLst>
              <a:ext uri="{FF2B5EF4-FFF2-40B4-BE49-F238E27FC236}">
                <a16:creationId xmlns:a16="http://schemas.microsoft.com/office/drawing/2014/main" id="{2465981E-079B-9C0A-F333-43BAC7C6651E}"/>
              </a:ext>
            </a:extLst>
          </p:cNvPr>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23">
            <a:extLst>
              <a:ext uri="{FF2B5EF4-FFF2-40B4-BE49-F238E27FC236}">
                <a16:creationId xmlns:a16="http://schemas.microsoft.com/office/drawing/2014/main" id="{C710F580-540A-198D-1D58-62AAF40EBBD7}"/>
              </a:ext>
            </a:extLst>
          </p:cNvPr>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24">
            <a:extLst>
              <a:ext uri="{FF2B5EF4-FFF2-40B4-BE49-F238E27FC236}">
                <a16:creationId xmlns:a16="http://schemas.microsoft.com/office/drawing/2014/main" id="{C948483E-E0CB-F161-893A-E8F32F6A9130}"/>
              </a:ext>
            </a:extLst>
          </p:cNvPr>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25">
            <a:extLst>
              <a:ext uri="{FF2B5EF4-FFF2-40B4-BE49-F238E27FC236}">
                <a16:creationId xmlns:a16="http://schemas.microsoft.com/office/drawing/2014/main" id="{E782DB74-090D-AB57-3703-B2CB7FA088DA}"/>
              </a:ext>
            </a:extLst>
          </p:cNvPr>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26">
            <a:extLst>
              <a:ext uri="{FF2B5EF4-FFF2-40B4-BE49-F238E27FC236}">
                <a16:creationId xmlns:a16="http://schemas.microsoft.com/office/drawing/2014/main" id="{BD7E08A0-2F38-B2CA-F925-0D14AAF33DF0}"/>
              </a:ext>
            </a:extLst>
          </p:cNvPr>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19" name="Rectangle 31">
            <a:extLst>
              <a:ext uri="{FF2B5EF4-FFF2-40B4-BE49-F238E27FC236}">
                <a16:creationId xmlns:a16="http://schemas.microsoft.com/office/drawing/2014/main" id="{3E81ED56-5B02-46B6-37D5-582B37445250}"/>
              </a:ext>
            </a:extLst>
          </p:cNvPr>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3" name="Right Brace 11">
            <a:extLst>
              <a:ext uri="{FF2B5EF4-FFF2-40B4-BE49-F238E27FC236}">
                <a16:creationId xmlns:a16="http://schemas.microsoft.com/office/drawing/2014/main" id="{62DA6DDD-2E1E-A32C-EDC7-3D9618EC4D4C}"/>
              </a:ext>
            </a:extLst>
          </p:cNvPr>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a:extLst>
              <a:ext uri="{FF2B5EF4-FFF2-40B4-BE49-F238E27FC236}">
                <a16:creationId xmlns:a16="http://schemas.microsoft.com/office/drawing/2014/main" id="{F7698D0F-BB4A-0275-B4F9-8D5048EBF8ED}"/>
              </a:ext>
            </a:extLst>
          </p:cNvPr>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 name="Marcador de número de diapositiva 3">
            <a:extLst>
              <a:ext uri="{FF2B5EF4-FFF2-40B4-BE49-F238E27FC236}">
                <a16:creationId xmlns:a16="http://schemas.microsoft.com/office/drawing/2014/main" id="{D99EA3EB-F17B-030F-7F27-E1A33946902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134190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2890"/>
            <a:ext cx="11029615" cy="4166523"/>
          </a:xfrm>
        </p:spPr>
        <p:txBody>
          <a:bodyPr>
            <a:normAutofit/>
          </a:bodyPr>
          <a:lstStyle/>
          <a:p>
            <a:pPr marL="0" indent="0" algn="just">
              <a:buNone/>
            </a:pPr>
            <a:r>
              <a:rPr lang="es-ES_tradnl" sz="2400"/>
              <a:t>Es claro entonces como, cuando el VPN es positivo, se está obteniendo una medición, en pesos de hoy, del rendimiento </a:t>
            </a:r>
            <a:r>
              <a:rPr lang="es-ES_tradnl" sz="2400" i="1">
                <a:solidFill>
                  <a:srgbClr val="800000"/>
                </a:solidFill>
              </a:rPr>
              <a:t>MARGINAL</a:t>
            </a:r>
            <a:r>
              <a:rPr lang="es-ES_tradnl" sz="2400"/>
              <a:t> que se obtiene al invertir en un proyecto respecto al costo de oportunidad.</a:t>
            </a:r>
          </a:p>
          <a:p>
            <a:pPr marL="0" indent="0" algn="just">
              <a:buNone/>
            </a:pPr>
            <a:endParaRPr lang="es-ES_tradnl" sz="2400"/>
          </a:p>
          <a:p>
            <a:pPr marL="0" indent="0" algn="just">
              <a:buNone/>
            </a:pPr>
            <a:r>
              <a:rPr lang="es-ES_tradnl" sz="2400"/>
              <a:t>Es importante recordar que el VPN es un criterio de evaluación </a:t>
            </a:r>
            <a:r>
              <a:rPr lang="es-ES_tradnl" sz="2400" i="1">
                <a:solidFill>
                  <a:srgbClr val="800000"/>
                </a:solidFill>
              </a:rPr>
              <a:t>RELATIVO </a:t>
            </a:r>
            <a:r>
              <a:rPr lang="es-ES_tradnl" sz="2400"/>
              <a:t>(depende del C.O.).</a:t>
            </a:r>
          </a:p>
          <a:p>
            <a:pPr marL="0" indent="0" algn="just">
              <a:buNone/>
            </a:pPr>
            <a:endParaRPr lang="es-ES_tradnl" sz="2400"/>
          </a:p>
          <a:p>
            <a:pPr marL="0" indent="0" algn="just">
              <a:buNone/>
            </a:pPr>
            <a:r>
              <a:rPr lang="es-ES_tradnl" sz="2400"/>
              <a:t>El VPN es un indicador que indica generación de </a:t>
            </a:r>
            <a:r>
              <a:rPr lang="es-ES_tradnl" sz="2400" i="1">
                <a:solidFill>
                  <a:srgbClr val="800000"/>
                </a:solidFill>
              </a:rPr>
              <a:t>VALOR</a:t>
            </a:r>
            <a:r>
              <a:rPr lang="es-ES_tradnl" sz="2400"/>
              <a:t>, no rentabilidad.</a:t>
            </a:r>
          </a:p>
        </p:txBody>
      </p:sp>
      <p:sp>
        <p:nvSpPr>
          <p:cNvPr id="8" name="Rectángulo 7">
            <a:extLst>
              <a:ext uri="{FF2B5EF4-FFF2-40B4-BE49-F238E27FC236}">
                <a16:creationId xmlns:a16="http://schemas.microsoft.com/office/drawing/2014/main" id="{225D6DB2-6C2C-ED73-73FC-C34497F1DF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3D40DE4-193F-EBD7-C079-2CB20D7CC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7DEAD90-3036-DBDE-C377-4810CC5DB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83FF0254-DE5F-6776-3C08-8BD52DD8179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EB27E382-EE18-E5EB-2ECC-406F65F4AEB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39762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1029616" cy="4400006"/>
          </a:xfrm>
        </p:spPr>
        <p:txBody>
          <a:bodyPr>
            <a:noAutofit/>
          </a:bodyPr>
          <a:lstStyle/>
          <a:p>
            <a:pPr marL="0" indent="0" algn="just">
              <a:buNone/>
            </a:pPr>
            <a:r>
              <a:rPr lang="es-ES_tradnl" sz="2400"/>
              <a:t>¿Cuál es el objetivo de la gerencia de una compañía?</a:t>
            </a:r>
          </a:p>
          <a:p>
            <a:pPr marL="0" indent="0" algn="just">
              <a:buNone/>
            </a:pPr>
            <a:endParaRPr lang="es-ES_tradnl" sz="2400"/>
          </a:p>
          <a:p>
            <a:pPr marL="0" indent="0" algn="ctr">
              <a:buNone/>
            </a:pPr>
            <a:r>
              <a:rPr lang="es-ES_tradnl" sz="2400" i="1">
                <a:solidFill>
                  <a:srgbClr val="800000"/>
                </a:solidFill>
              </a:rPr>
              <a:t>Creación de valor</a:t>
            </a:r>
          </a:p>
          <a:p>
            <a:pPr marL="0" indent="0" algn="ctr">
              <a:buNone/>
            </a:pPr>
            <a:endParaRPr lang="es-ES_tradnl" sz="2400" i="1">
              <a:solidFill>
                <a:srgbClr val="800000"/>
              </a:solidFill>
            </a:endParaRPr>
          </a:p>
          <a:p>
            <a:pPr marL="0" indent="0" algn="just">
              <a:buNone/>
            </a:pPr>
            <a:r>
              <a:rPr lang="es-ES_tradnl" sz="2400"/>
              <a:t>El VPN se vuelve entonces un </a:t>
            </a:r>
            <a:r>
              <a:rPr lang="es-ES_tradnl" sz="2400" b="1"/>
              <a:t>MUY BUEN IBF</a:t>
            </a:r>
            <a:r>
              <a:rPr lang="es-ES_tradnl" sz="2400"/>
              <a:t>, pues mide el impacto y la creación de valor de los inversionistas.</a:t>
            </a:r>
          </a:p>
        </p:txBody>
      </p:sp>
      <p:sp>
        <p:nvSpPr>
          <p:cNvPr id="8" name="Rectángulo 7">
            <a:extLst>
              <a:ext uri="{FF2B5EF4-FFF2-40B4-BE49-F238E27FC236}">
                <a16:creationId xmlns:a16="http://schemas.microsoft.com/office/drawing/2014/main" id="{8BDCCF35-B90B-C110-0A0A-5671681488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DD7593A-5670-C089-E179-78E7FEF636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283003EB-DA46-B374-FDCE-D24D375C89D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1E7749A-56AE-484C-5076-445FD3EE6DB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B59075F-3788-9864-DF44-A83A3EA3635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52549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EA5E-1F64-B511-9A59-098689969F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872301-5D89-F99C-325E-F5BDDFCDCC5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4BC2B519-9DB0-9BC4-6160-87170DACB4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3D6DC173-76C0-A71B-4666-6A40D024A3B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26F967E-5B0B-2D3F-B913-7781F518A78F}"/>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Tasa Interna de Retorno (TIR)</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a:cs typeface="Arial"/>
            </a:endParaRPr>
          </a:p>
        </p:txBody>
      </p:sp>
      <p:sp>
        <p:nvSpPr>
          <p:cNvPr id="3" name="Rectángulo 2">
            <a:extLst>
              <a:ext uri="{FF2B5EF4-FFF2-40B4-BE49-F238E27FC236}">
                <a16:creationId xmlns:a16="http://schemas.microsoft.com/office/drawing/2014/main" id="{DFB5EF67-480C-4845-4DC5-5BBFE92579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65B851-8D6F-207B-F316-4636A5F5D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26D1B1C-9371-EC47-A9DA-436630B629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068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6288"/>
            <a:ext cx="9144000" cy="2076492"/>
          </a:xfrm>
        </p:spPr>
        <p:txBody>
          <a:bodyPr>
            <a:normAutofit/>
          </a:bodyPr>
          <a:lstStyle/>
          <a:p>
            <a:pPr marL="0" indent="0" algn="ctr">
              <a:buNone/>
            </a:pPr>
            <a:r>
              <a:rPr lang="es-ES_tradnl" sz="3200" b="1">
                <a:solidFill>
                  <a:srgbClr val="800000"/>
                </a:solidFill>
              </a:rPr>
              <a:t>TIR</a:t>
            </a:r>
          </a:p>
          <a:p>
            <a:pPr marL="0" indent="0" algn="ctr">
              <a:buNone/>
            </a:pPr>
            <a:r>
              <a:rPr lang="es-ES_tradnl" sz="3200" b="1">
                <a:solidFill>
                  <a:srgbClr val="800000"/>
                </a:solidFill>
              </a:rPr>
              <a:t>(Tasa Interna de Retorno)</a:t>
            </a:r>
          </a:p>
        </p:txBody>
      </p:sp>
      <p:sp>
        <p:nvSpPr>
          <p:cNvPr id="3" name="Rectángulo 2">
            <a:extLst>
              <a:ext uri="{FF2B5EF4-FFF2-40B4-BE49-F238E27FC236}">
                <a16:creationId xmlns:a16="http://schemas.microsoft.com/office/drawing/2014/main" id="{A9E04554-C55E-BA90-328C-E7BC9B4E9E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61BC8E17-3C71-717E-938F-1ABBC8797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02C79EE-A7B5-78B5-C430-82AE84F78E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A56E74-55A5-40EA-44A9-311E051CD2F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1163574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021819"/>
          </a:xfrm>
        </p:spPr>
        <p:txBody>
          <a:bodyPr>
            <a:normAutofit/>
          </a:bodyPr>
          <a:lstStyle/>
          <a:p>
            <a:pPr marL="0" indent="0" algn="just">
              <a:buNone/>
            </a:pPr>
            <a:r>
              <a:rPr lang="es-ES_tradnl" sz="2400"/>
              <a:t>Junto con el VPN, es el IBF más conocido. No obstante, pese a su uso generalizado y la valiosa información que posee, es el más difícil de interpretar y el más inadecuadamente utilizado.</a:t>
            </a:r>
          </a:p>
          <a:p>
            <a:pPr marL="0" indent="0" algn="just">
              <a:buNone/>
            </a:pPr>
            <a:endParaRPr lang="es-ES_tradnl" sz="2400"/>
          </a:p>
          <a:p>
            <a:pPr marL="0" indent="0" algn="just">
              <a:buNone/>
            </a:pPr>
            <a:r>
              <a:rPr lang="es-ES_tradnl" sz="2400"/>
              <a:t>La TIR busca responder: ¿Cuál es la rentabilidad efectiva periódica de un proyecto de inversión? </a:t>
            </a:r>
            <a:r>
              <a:rPr lang="es-ES_tradnl" sz="2400" i="1">
                <a:solidFill>
                  <a:srgbClr val="800000"/>
                </a:solidFill>
              </a:rPr>
              <a:t>En otras palabras, cuál es la rentabilidad que obtienen los dineros que permanecen invertidos durante la vida útil del proyecto.</a:t>
            </a:r>
          </a:p>
        </p:txBody>
      </p:sp>
      <p:sp>
        <p:nvSpPr>
          <p:cNvPr id="8" name="Rectángulo 7">
            <a:extLst>
              <a:ext uri="{FF2B5EF4-FFF2-40B4-BE49-F238E27FC236}">
                <a16:creationId xmlns:a16="http://schemas.microsoft.com/office/drawing/2014/main" id="{A2E0B567-43D1-116E-E403-5FDBF32865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4EFB266-AED3-10DF-693F-141CEF9A8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91A5006-987C-03AA-47CE-B82746599C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7EF21B9-CC85-D2BA-A08A-B1FEC5B07CD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DCA5A9D8-242E-306D-0784-1171ED861BA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2667313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9010"/>
            <a:ext cx="11029615" cy="4528800"/>
          </a:xfrm>
        </p:spPr>
        <p:txBody>
          <a:bodyPr>
            <a:normAutofit/>
          </a:bodyPr>
          <a:lstStyle/>
          <a:p>
            <a:pPr marL="0" indent="0" algn="just">
              <a:buNone/>
            </a:pPr>
            <a:r>
              <a:rPr lang="es-ES_tradnl" sz="2400"/>
              <a:t>Para entender lo anterior, veamos un ejemplo sencillo de flujos trimestrales. ¿Cuál es la TIR del siguiente proyecto?</a:t>
            </a: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r>
              <a:rPr lang="es-ES_tradnl" sz="2400"/>
              <a:t>¿Cuál es la tasa que hace que ese millón se convierta en 1.090.000? O dicho de otra manera ¿Cuál es la tasa que hace equivalente los egresos e ingresos? </a:t>
            </a:r>
            <a:endParaRPr lang="es-ES_tradnl" sz="2400" i="1">
              <a:solidFill>
                <a:srgbClr val="800000"/>
              </a:solidFill>
            </a:endParaRPr>
          </a:p>
        </p:txBody>
      </p:sp>
      <p:cxnSp>
        <p:nvCxnSpPr>
          <p:cNvPr id="5" name="Straight Arrow Connector 4"/>
          <p:cNvCxnSpPr/>
          <p:nvPr/>
        </p:nvCxnSpPr>
        <p:spPr>
          <a:xfrm>
            <a:off x="4711145" y="3999578"/>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V="1">
            <a:off x="7343224" y="3416098"/>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p:cNvSpPr>
            <a:spLocks/>
          </p:cNvSpPr>
          <p:nvPr/>
        </p:nvSpPr>
        <p:spPr bwMode="auto">
          <a:xfrm flipH="1">
            <a:off x="4625544" y="362557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8" name="Rectangle 7"/>
          <p:cNvSpPr>
            <a:spLocks/>
          </p:cNvSpPr>
          <p:nvPr/>
        </p:nvSpPr>
        <p:spPr bwMode="auto">
          <a:xfrm>
            <a:off x="7174694" y="4087879"/>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 </a:t>
            </a:r>
            <a:r>
              <a:rPr lang="es-CO" sz="2000"/>
              <a:t>trimestre</a:t>
            </a:r>
          </a:p>
        </p:txBody>
      </p:sp>
      <p:cxnSp>
        <p:nvCxnSpPr>
          <p:cNvPr id="9" name="Straight Connector 8"/>
          <p:cNvCxnSpPr/>
          <p:nvPr/>
        </p:nvCxnSpPr>
        <p:spPr>
          <a:xfrm>
            <a:off x="4711146" y="399957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p:cNvSpPr>
            <a:spLocks/>
          </p:cNvSpPr>
          <p:nvPr/>
        </p:nvSpPr>
        <p:spPr bwMode="auto">
          <a:xfrm>
            <a:off x="6704498" y="3098957"/>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12" name="Rectangle 11"/>
          <p:cNvSpPr>
            <a:spLocks/>
          </p:cNvSpPr>
          <p:nvPr/>
        </p:nvSpPr>
        <p:spPr bwMode="auto">
          <a:xfrm>
            <a:off x="4072419" y="444930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10" name="Rectángulo 9">
            <a:extLst>
              <a:ext uri="{FF2B5EF4-FFF2-40B4-BE49-F238E27FC236}">
                <a16:creationId xmlns:a16="http://schemas.microsoft.com/office/drawing/2014/main" id="{54C3CFE0-6621-2ACD-F154-F0CB12D6EB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9E8852C9-41AD-8038-84A7-63F0F3529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7AEDF12B-799A-2205-6933-E425A44449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6" name="Título 1">
            <a:extLst>
              <a:ext uri="{FF2B5EF4-FFF2-40B4-BE49-F238E27FC236}">
                <a16:creationId xmlns:a16="http://schemas.microsoft.com/office/drawing/2014/main" id="{4B5B4771-AEC6-5F61-7EA7-1A9B9AE0DAF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93DB3E75-D299-753C-3A4B-22118AD07D5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414679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8730-124C-266B-D63D-7019AB5978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0CFBC-0CC8-B054-AF85-6DA40F3173F8}"/>
              </a:ext>
            </a:extLst>
          </p:cNvPr>
          <p:cNvSpPr>
            <a:spLocks noGrp="1"/>
          </p:cNvSpPr>
          <p:nvPr>
            <p:ph idx="1"/>
          </p:nvPr>
        </p:nvSpPr>
        <p:spPr>
          <a:xfrm>
            <a:off x="581192" y="1800385"/>
            <a:ext cx="11029616" cy="1192676"/>
          </a:xfrm>
        </p:spPr>
        <p:txBody>
          <a:bodyPr>
            <a:normAutofit/>
          </a:bodyPr>
          <a:lstStyle/>
          <a:p>
            <a:pPr marL="0" indent="0" algn="just">
              <a:buNone/>
            </a:pPr>
            <a:r>
              <a:rPr lang="es-ES_tradnl" sz="2400"/>
              <a:t>Para entender lo anterior, veamos un ejemplo sencillo de flujos trimestrales. ¿Cuál es la TIR del siguiente proyecto?</a:t>
            </a:r>
          </a:p>
        </p:txBody>
      </p:sp>
      <p:cxnSp>
        <p:nvCxnSpPr>
          <p:cNvPr id="5" name="Straight Arrow Connector 4">
            <a:extLst>
              <a:ext uri="{FF2B5EF4-FFF2-40B4-BE49-F238E27FC236}">
                <a16:creationId xmlns:a16="http://schemas.microsoft.com/office/drawing/2014/main" id="{F4013C0A-789B-8AAA-2C41-A9CC1EAE4B29}"/>
              </a:ext>
            </a:extLst>
          </p:cNvPr>
          <p:cNvCxnSpPr/>
          <p:nvPr/>
        </p:nvCxnSpPr>
        <p:spPr>
          <a:xfrm>
            <a:off x="1789449" y="4117706"/>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BEA0235F-FDC4-14C7-077A-88F061979579}"/>
              </a:ext>
            </a:extLst>
          </p:cNvPr>
          <p:cNvCxnSpPr/>
          <p:nvPr/>
        </p:nvCxnSpPr>
        <p:spPr>
          <a:xfrm flipV="1">
            <a:off x="4421528" y="3534226"/>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FBDEAF4-7E40-98D8-3EE3-B10EC35F97E6}"/>
              </a:ext>
            </a:extLst>
          </p:cNvPr>
          <p:cNvSpPr>
            <a:spLocks/>
          </p:cNvSpPr>
          <p:nvPr/>
        </p:nvSpPr>
        <p:spPr bwMode="auto">
          <a:xfrm flipH="1">
            <a:off x="1703848" y="374370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cxnSp>
        <p:nvCxnSpPr>
          <p:cNvPr id="9" name="Straight Connector 8">
            <a:extLst>
              <a:ext uri="{FF2B5EF4-FFF2-40B4-BE49-F238E27FC236}">
                <a16:creationId xmlns:a16="http://schemas.microsoft.com/office/drawing/2014/main" id="{51FD8F1A-13D1-F01E-BA2C-DC064DD572DA}"/>
              </a:ext>
            </a:extLst>
          </p:cNvPr>
          <p:cNvCxnSpPr/>
          <p:nvPr/>
        </p:nvCxnSpPr>
        <p:spPr>
          <a:xfrm>
            <a:off x="1789450" y="4117704"/>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774365E-4FAD-D148-F3E1-56B39B56C13C}"/>
              </a:ext>
            </a:extLst>
          </p:cNvPr>
          <p:cNvSpPr>
            <a:spLocks/>
          </p:cNvSpPr>
          <p:nvPr/>
        </p:nvSpPr>
        <p:spPr bwMode="auto">
          <a:xfrm>
            <a:off x="3782802" y="321708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12" name="Rectangle 11">
            <a:extLst>
              <a:ext uri="{FF2B5EF4-FFF2-40B4-BE49-F238E27FC236}">
                <a16:creationId xmlns:a16="http://schemas.microsoft.com/office/drawing/2014/main" id="{310640B6-E36A-C1F6-6073-32F7B5535957}"/>
              </a:ext>
            </a:extLst>
          </p:cNvPr>
          <p:cNvSpPr>
            <a:spLocks/>
          </p:cNvSpPr>
          <p:nvPr/>
        </p:nvSpPr>
        <p:spPr bwMode="auto">
          <a:xfrm>
            <a:off x="1150723" y="45674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6F746CC-8B2B-A9BD-B778-F4E0D38A5C98}"/>
                  </a:ext>
                </a:extLst>
              </p:cNvPr>
              <p:cNvSpPr txBox="1"/>
              <p:nvPr/>
            </p:nvSpPr>
            <p:spPr>
              <a:xfrm>
                <a:off x="8802207" y="5142925"/>
                <a:ext cx="683585" cy="307777"/>
              </a:xfrm>
              <a:prstGeom prst="rect">
                <a:avLst/>
              </a:prstGeom>
              <a:noFill/>
            </p:spPr>
            <p:txBody>
              <a:bodyPr wrap="none" lIns="0" tIns="0" rIns="0" bIns="0" rtlCol="0">
                <a:spAutoFit/>
              </a:bodyPr>
              <a:lstStyle/>
              <a:p>
                <a14:m>
                  <m:oMath xmlns:m="http://schemas.openxmlformats.org/officeDocument/2006/math">
                    <m:r>
                      <a:rPr lang="es-MX" sz="2000" b="1" i="1">
                        <a:latin typeface="Cambria Math" panose="02040503050406030204" pitchFamily="18" charset="0"/>
                      </a:rPr>
                      <m:t>𝒊</m:t>
                    </m:r>
                    <m:r>
                      <a:rPr lang="es-MX" sz="2000" b="1" i="1">
                        <a:latin typeface="Cambria Math" panose="02040503050406030204" pitchFamily="18" charset="0"/>
                      </a:rPr>
                      <m:t>=</m:t>
                    </m:r>
                  </m:oMath>
                </a14:m>
                <a:r>
                  <a:rPr lang="es-CO" sz="2000" b="1"/>
                  <a:t>9%</a:t>
                </a:r>
              </a:p>
            </p:txBody>
          </p:sp>
        </mc:Choice>
        <mc:Fallback xmlns="">
          <p:sp>
            <p:nvSpPr>
              <p:cNvPr id="15" name="CuadroTexto 14">
                <a:extLst>
                  <a:ext uri="{FF2B5EF4-FFF2-40B4-BE49-F238E27FC236}">
                    <a16:creationId xmlns:a16="http://schemas.microsoft.com/office/drawing/2014/main" id="{A6F746CC-8B2B-A9BD-B778-F4E0D38A5C98}"/>
                  </a:ext>
                </a:extLst>
              </p:cNvPr>
              <p:cNvSpPr txBox="1">
                <a:spLocks noRot="1" noChangeAspect="1" noMove="1" noResize="1" noEditPoints="1" noAdjustHandles="1" noChangeArrowheads="1" noChangeShapeType="1" noTextEdit="1"/>
              </p:cNvSpPr>
              <p:nvPr/>
            </p:nvSpPr>
            <p:spPr>
              <a:xfrm>
                <a:off x="8802207" y="5142925"/>
                <a:ext cx="683585" cy="307777"/>
              </a:xfrm>
              <a:prstGeom prst="rect">
                <a:avLst/>
              </a:prstGeom>
              <a:blipFill>
                <a:blip r:embed="rId3"/>
                <a:stretch>
                  <a:fillRect l="-14815" t="-28000" r="-22222" b="-4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DCE24D-60B3-459E-988D-F560794DA566}"/>
                  </a:ext>
                </a:extLst>
              </p:cNvPr>
              <p:cNvSpPr txBox="1"/>
              <p:nvPr/>
            </p:nvSpPr>
            <p:spPr>
              <a:xfrm>
                <a:off x="6096000" y="4324916"/>
                <a:ext cx="6096000" cy="578235"/>
              </a:xfrm>
              <a:prstGeom prst="rect">
                <a:avLst/>
              </a:prstGeom>
              <a:noFill/>
            </p:spPr>
            <p:txBody>
              <a:bodyPr wrap="square" lIns="0" tIns="0" rIns="0" bIns="0" rtlCol="0">
                <a:spAutoFit/>
              </a:bodyPr>
              <a:lstStyle/>
              <a:p>
                <a:pPr/>
                <a14:m>
                  <m:oMathPara xmlns:m="http://schemas.openxmlformats.org/officeDocument/2006/math">
                    <m:oMath>
                      <m:r>
                        <a:rPr lang="es-ES" sz="2000" i="1">
                          <a:latin typeface="Cambria Math" panose="02040503050406030204" pitchFamily="18" charset="0"/>
                        </a:rPr>
                        <m:t>𝑖</m:t>
                      </m:r>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1.090.000</m:t>
                          </m:r>
                        </m:num>
                        <m:den>
                          <m:r>
                            <a:rPr lang="es-ES" sz="2000" i="1">
                              <a:latin typeface="Cambria Math" panose="02040503050406030204" pitchFamily="18" charset="0"/>
                            </a:rPr>
                            <m:t>1.000.000</m:t>
                          </m:r>
                        </m:den>
                      </m:f>
                      <m:r>
                        <a:rPr lang="es-ES" sz="2000" i="1">
                          <a:latin typeface="Cambria Math" panose="02040503050406030204" pitchFamily="18" charset="0"/>
                        </a:rPr>
                        <m:t>−1=</m:t>
                      </m:r>
                      <m:f>
                        <m:fPr>
                          <m:ctrlPr>
                            <a:rPr lang="es-ES" sz="2000" i="1">
                              <a:latin typeface="Cambria Math" panose="02040503050406030204" pitchFamily="18" charset="0"/>
                            </a:rPr>
                          </m:ctrlPr>
                        </m:fPr>
                        <m:num>
                          <m:r>
                            <a:rPr lang="es-ES" sz="2000" i="1">
                              <a:latin typeface="Cambria Math" panose="02040503050406030204" pitchFamily="18" charset="0"/>
                            </a:rPr>
                            <m:t>1.090.000−1.000.000</m:t>
                          </m:r>
                        </m:num>
                        <m:den>
                          <m:r>
                            <a:rPr lang="es-ES" sz="2000" i="1">
                              <a:latin typeface="Cambria Math" panose="02040503050406030204" pitchFamily="18" charset="0"/>
                            </a:rPr>
                            <m:t>1.000.000</m:t>
                          </m:r>
                        </m:den>
                      </m:f>
                    </m:oMath>
                  </m:oMathPara>
                </a14:m>
                <a:endParaRPr lang="es-CO" sz="2000"/>
              </a:p>
            </p:txBody>
          </p:sp>
        </mc:Choice>
        <mc:Fallback xmlns="">
          <p:sp>
            <p:nvSpPr>
              <p:cNvPr id="17" name="TextBox 16">
                <a:extLst>
                  <a:ext uri="{FF2B5EF4-FFF2-40B4-BE49-F238E27FC236}">
                    <a16:creationId xmlns:a16="http://schemas.microsoft.com/office/drawing/2014/main" id="{B7DCE24D-60B3-459E-988D-F560794DA566}"/>
                  </a:ext>
                </a:extLst>
              </p:cNvPr>
              <p:cNvSpPr txBox="1">
                <a:spLocks noRot="1" noChangeAspect="1" noMove="1" noResize="1" noEditPoints="1" noAdjustHandles="1" noChangeArrowheads="1" noChangeShapeType="1" noTextEdit="1"/>
              </p:cNvSpPr>
              <p:nvPr/>
            </p:nvSpPr>
            <p:spPr>
              <a:xfrm>
                <a:off x="6096000" y="4324916"/>
                <a:ext cx="6096000" cy="578235"/>
              </a:xfrm>
              <a:prstGeom prst="rect">
                <a:avLst/>
              </a:prstGeom>
              <a:blipFill>
                <a:blip r:embed="rId4"/>
                <a:stretch>
                  <a:fillRect b="-17391"/>
                </a:stretch>
              </a:blipFill>
            </p:spPr>
            <p:txBody>
              <a:bodyPr/>
              <a:lstStyle/>
              <a:p>
                <a:r>
                  <a:rPr lang="es-ES_tradnl">
                    <a:noFill/>
                  </a:rPr>
                  <a:t> </a:t>
                </a:r>
              </a:p>
            </p:txBody>
          </p:sp>
        </mc:Fallback>
      </mc:AlternateContent>
      <p:sp>
        <p:nvSpPr>
          <p:cNvPr id="18" name="Rectangle 17">
            <a:extLst>
              <a:ext uri="{FF2B5EF4-FFF2-40B4-BE49-F238E27FC236}">
                <a16:creationId xmlns:a16="http://schemas.microsoft.com/office/drawing/2014/main" id="{268C0A27-FCC4-431A-8483-AFC01514B55F}"/>
              </a:ext>
            </a:extLst>
          </p:cNvPr>
          <p:cNvSpPr>
            <a:spLocks/>
          </p:cNvSpPr>
          <p:nvPr/>
        </p:nvSpPr>
        <p:spPr bwMode="auto">
          <a:xfrm>
            <a:off x="3768882" y="4192570"/>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 </a:t>
            </a:r>
            <a:r>
              <a:rPr lang="es-CO" sz="2000"/>
              <a:t>trimestre</a:t>
            </a:r>
          </a:p>
        </p:txBody>
      </p:sp>
      <p:sp>
        <p:nvSpPr>
          <p:cNvPr id="8" name="Rectángulo 7">
            <a:extLst>
              <a:ext uri="{FF2B5EF4-FFF2-40B4-BE49-F238E27FC236}">
                <a16:creationId xmlns:a16="http://schemas.microsoft.com/office/drawing/2014/main" id="{697C510A-475B-7CCD-AEF1-4302A212BE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C796EF7C-75A6-5D54-88BD-6BB5731B3B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C769D4AE-0291-FC64-CA23-F0B133C005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0" name="Título 1">
            <a:extLst>
              <a:ext uri="{FF2B5EF4-FFF2-40B4-BE49-F238E27FC236}">
                <a16:creationId xmlns:a16="http://schemas.microsoft.com/office/drawing/2014/main" id="{79C32043-AA21-7321-E450-F634E390E2C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2" name="CuadroTexto 21">
            <a:extLst>
              <a:ext uri="{FF2B5EF4-FFF2-40B4-BE49-F238E27FC236}">
                <a16:creationId xmlns:a16="http://schemas.microsoft.com/office/drawing/2014/main" id="{69E60498-6281-28EA-6223-5D19DDA5471B}"/>
              </a:ext>
            </a:extLst>
          </p:cNvPr>
          <p:cNvSpPr txBox="1"/>
          <p:nvPr/>
        </p:nvSpPr>
        <p:spPr>
          <a:xfrm>
            <a:off x="581191" y="5610730"/>
            <a:ext cx="10211059" cy="830997"/>
          </a:xfrm>
          <a:prstGeom prst="rect">
            <a:avLst/>
          </a:prstGeom>
          <a:noFill/>
        </p:spPr>
        <p:txBody>
          <a:bodyPr wrap="square">
            <a:spAutoFit/>
          </a:bodyPr>
          <a:lstStyle/>
          <a:p>
            <a:pPr marL="0" indent="0" algn="just">
              <a:buNone/>
            </a:pPr>
            <a:r>
              <a:rPr lang="es-ES_tradnl" sz="2400"/>
              <a:t>El millón de pesos que permanece invertido tiene un </a:t>
            </a:r>
            <a:r>
              <a:rPr lang="es-ES_tradnl" sz="2400" i="1">
                <a:solidFill>
                  <a:srgbClr val="800000"/>
                </a:solidFill>
              </a:rPr>
              <a:t>RENDIMIENTO EFECTIVO</a:t>
            </a:r>
            <a:r>
              <a:rPr lang="es-ES_tradnl" sz="2400">
                <a:solidFill>
                  <a:schemeClr val="tx1"/>
                </a:solidFill>
              </a:rPr>
              <a:t> </a:t>
            </a:r>
            <a:r>
              <a:rPr lang="es-ES_tradnl" sz="2400"/>
              <a:t>del 9% por periodo. La TIR será 9% para un trimestre.</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14E9A061-77E9-B0EA-E949-10F7374020DF}"/>
                  </a:ext>
                </a:extLst>
              </p:cNvPr>
              <p:cNvSpPr txBox="1"/>
              <p:nvPr/>
            </p:nvSpPr>
            <p:spPr>
              <a:xfrm>
                <a:off x="6096000" y="2674175"/>
                <a:ext cx="6096000" cy="632802"/>
              </a:xfrm>
              <a:prstGeom prst="rect">
                <a:avLst/>
              </a:prstGeom>
              <a:noFill/>
            </p:spPr>
            <p:txBody>
              <a:bodyPr wrap="square" lIns="0" tIns="0" rIns="0" bIns="0" rtlCol="0">
                <a:spAutoFit/>
              </a:bodyPr>
              <a:lstStyle/>
              <a:p>
                <a:pPr/>
                <a14:m>
                  <m:oMathPara xmlns:m="http://schemas.openxmlformats.org/officeDocument/2006/math">
                    <m:oMath>
                      <m:r>
                        <a:rPr lang="es-ES" sz="2000" i="1" smtClean="0">
                          <a:latin typeface="Cambria Math" panose="02040503050406030204" pitchFamily="18" charset="0"/>
                        </a:rPr>
                        <m:t>−</m:t>
                      </m:r>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r>
                        <a:rPr lang="es-ES" sz="2000" b="0" i="1" smtClean="0">
                          <a:latin typeface="Cambria Math" panose="02040503050406030204" pitchFamily="18" charset="0"/>
                        </a:rPr>
                        <m:t>=0</m:t>
                      </m:r>
                    </m:oMath>
                  </m:oMathPara>
                </a14:m>
                <a:endParaRPr lang="es-CO" sz="2000"/>
              </a:p>
            </p:txBody>
          </p:sp>
        </mc:Choice>
        <mc:Fallback xmlns="">
          <p:sp>
            <p:nvSpPr>
              <p:cNvPr id="23" name="CuadroTexto 22">
                <a:extLst>
                  <a:ext uri="{FF2B5EF4-FFF2-40B4-BE49-F238E27FC236}">
                    <a16:creationId xmlns:a16="http://schemas.microsoft.com/office/drawing/2014/main" id="{14E9A061-77E9-B0EA-E949-10F7374020DF}"/>
                  </a:ext>
                </a:extLst>
              </p:cNvPr>
              <p:cNvSpPr txBox="1">
                <a:spLocks noRot="1" noChangeAspect="1" noMove="1" noResize="1" noEditPoints="1" noAdjustHandles="1" noChangeArrowheads="1" noChangeShapeType="1" noTextEdit="1"/>
              </p:cNvSpPr>
              <p:nvPr/>
            </p:nvSpPr>
            <p:spPr>
              <a:xfrm>
                <a:off x="6096000" y="2674175"/>
                <a:ext cx="6096000" cy="632802"/>
              </a:xfrm>
              <a:prstGeom prst="rect">
                <a:avLst/>
              </a:prstGeom>
              <a:blipFill>
                <a:blip r:embed="rId6"/>
                <a:stretch>
                  <a:fillRect b="-1764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C38D8C0-5182-3564-C059-97769D25C18D}"/>
                  </a:ext>
                </a:extLst>
              </p:cNvPr>
              <p:cNvSpPr txBox="1"/>
              <p:nvPr/>
            </p:nvSpPr>
            <p:spPr>
              <a:xfrm>
                <a:off x="6096000" y="3488675"/>
                <a:ext cx="6096000" cy="632802"/>
              </a:xfrm>
              <a:prstGeom prst="rect">
                <a:avLst/>
              </a:prstGeom>
              <a:noFill/>
            </p:spPr>
            <p:txBody>
              <a:bodyPr wrap="square" lIns="0" tIns="0" rIns="0" bIns="0" rtlCol="0">
                <a:spAutoFit/>
              </a:bodyPr>
              <a:lstStyle/>
              <a:p>
                <a:pPr/>
                <a14:m>
                  <m:oMathPara xmlns:m="http://schemas.openxmlformats.org/officeDocument/2006/math">
                    <m:oMath>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oMath>
                  </m:oMathPara>
                </a14:m>
                <a:endParaRPr lang="es-CO" sz="2000"/>
              </a:p>
            </p:txBody>
          </p:sp>
        </mc:Choice>
        <mc:Fallback xmlns="">
          <p:sp>
            <p:nvSpPr>
              <p:cNvPr id="24" name="CuadroTexto 23">
                <a:extLst>
                  <a:ext uri="{FF2B5EF4-FFF2-40B4-BE49-F238E27FC236}">
                    <a16:creationId xmlns:a16="http://schemas.microsoft.com/office/drawing/2014/main" id="{4C38D8C0-5182-3564-C059-97769D25C18D}"/>
                  </a:ext>
                </a:extLst>
              </p:cNvPr>
              <p:cNvSpPr txBox="1">
                <a:spLocks noRot="1" noChangeAspect="1" noMove="1" noResize="1" noEditPoints="1" noAdjustHandles="1" noChangeArrowheads="1" noChangeShapeType="1" noTextEdit="1"/>
              </p:cNvSpPr>
              <p:nvPr/>
            </p:nvSpPr>
            <p:spPr>
              <a:xfrm>
                <a:off x="6096000" y="3488675"/>
                <a:ext cx="6096000" cy="632802"/>
              </a:xfrm>
              <a:prstGeom prst="rect">
                <a:avLst/>
              </a:prstGeom>
              <a:blipFill>
                <a:blip r:embed="rId7"/>
                <a:stretch>
                  <a:fillRect b="-17647"/>
                </a:stretch>
              </a:blipFill>
            </p:spPr>
            <p:txBody>
              <a:bodyPr/>
              <a:lstStyle/>
              <a:p>
                <a:r>
                  <a:rPr lang="es-ES_tradnl">
                    <a:noFill/>
                  </a:rPr>
                  <a:t> </a:t>
                </a:r>
              </a:p>
            </p:txBody>
          </p:sp>
        </mc:Fallback>
      </mc:AlternateContent>
      <p:sp>
        <p:nvSpPr>
          <p:cNvPr id="2" name="Marcador de número de diapositiva 3">
            <a:extLst>
              <a:ext uri="{FF2B5EF4-FFF2-40B4-BE49-F238E27FC236}">
                <a16:creationId xmlns:a16="http://schemas.microsoft.com/office/drawing/2014/main" id="{8EEC422A-5365-0160-02DB-14374196D3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2075114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062B5DF4-B989-FCD0-12F3-311069902680}"/>
              </a:ext>
            </a:extLst>
          </p:cNvPr>
          <p:cNvSpPr txBox="1"/>
          <p:nvPr/>
        </p:nvSpPr>
        <p:spPr>
          <a:xfrm>
            <a:off x="581191" y="5661703"/>
            <a:ext cx="11029615" cy="461665"/>
          </a:xfrm>
          <a:prstGeom prst="rect">
            <a:avLst/>
          </a:prstGeom>
          <a:noFill/>
        </p:spPr>
        <p:txBody>
          <a:bodyPr wrap="square">
            <a:spAutoFit/>
          </a:bodyPr>
          <a:lstStyle/>
          <a:p>
            <a:pPr marL="0" indent="0" algn="ctr">
              <a:buNone/>
            </a:pPr>
            <a:r>
              <a:rPr lang="es-ES_tradnl" sz="2400"/>
              <a:t>¿Cuál es la </a:t>
            </a:r>
            <a:r>
              <a:rPr lang="es-ES_tradnl" sz="2400" i="1">
                <a:solidFill>
                  <a:srgbClr val="800000"/>
                </a:solidFill>
              </a:rPr>
              <a:t>RENTABILIDAD EFECTIVA</a:t>
            </a:r>
            <a:r>
              <a:rPr lang="es-ES_tradnl" sz="2400">
                <a:solidFill>
                  <a:schemeClr val="tx1"/>
                </a:solidFill>
              </a:rPr>
              <a:t> </a:t>
            </a:r>
            <a:r>
              <a:rPr lang="es-ES_tradnl" sz="2400"/>
              <a:t>del proyecto por periodo?</a:t>
            </a:r>
          </a:p>
        </p:txBody>
      </p:sp>
      <p:sp>
        <p:nvSpPr>
          <p:cNvPr id="3" name="Content Placeholder 2"/>
          <p:cNvSpPr>
            <a:spLocks noGrp="1"/>
          </p:cNvSpPr>
          <p:nvPr>
            <p:ph idx="1"/>
          </p:nvPr>
        </p:nvSpPr>
        <p:spPr>
          <a:xfrm>
            <a:off x="581191" y="1817684"/>
            <a:ext cx="11029615" cy="796558"/>
          </a:xfrm>
        </p:spPr>
        <p:txBody>
          <a:bodyPr>
            <a:normAutofit/>
          </a:bodyPr>
          <a:lstStyle/>
          <a:p>
            <a:pPr marL="0" indent="0" algn="just">
              <a:buNone/>
            </a:pPr>
            <a:r>
              <a:rPr lang="es-ES_tradnl" sz="2400"/>
              <a:t>Suponga ahora que los flujos son los siguientes. ¿Cuál es la TIR del siguiente proyecto?</a:t>
            </a:r>
            <a:endParaRPr lang="es-ES_tradnl" sz="2400" i="1">
              <a:solidFill>
                <a:srgbClr val="800000"/>
              </a:solidFill>
            </a:endParaRPr>
          </a:p>
        </p:txBody>
      </p:sp>
      <p:cxnSp>
        <p:nvCxnSpPr>
          <p:cNvPr id="13" name="Straight Connector 12"/>
          <p:cNvCxnSpPr/>
          <p:nvPr/>
        </p:nvCxnSpPr>
        <p:spPr>
          <a:xfrm>
            <a:off x="4387550" y="37814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4387549" y="37814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6062689" y="33227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7136118" y="33227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8195592" y="30897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4301948" y="3407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9" name="Rectangle 18"/>
          <p:cNvSpPr>
            <a:spLocks/>
          </p:cNvSpPr>
          <p:nvPr/>
        </p:nvSpPr>
        <p:spPr bwMode="auto">
          <a:xfrm>
            <a:off x="5879100"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6967588"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20"/>
          <p:cNvSpPr>
            <a:spLocks/>
          </p:cNvSpPr>
          <p:nvPr/>
        </p:nvSpPr>
        <p:spPr bwMode="auto">
          <a:xfrm>
            <a:off x="8027062" y="38877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2" name="Rectangle 21"/>
          <p:cNvSpPr>
            <a:spLocks/>
          </p:cNvSpPr>
          <p:nvPr/>
        </p:nvSpPr>
        <p:spPr bwMode="auto">
          <a:xfrm>
            <a:off x="7412626" y="27556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23" name="Rectangle 22"/>
          <p:cNvSpPr>
            <a:spLocks/>
          </p:cNvSpPr>
          <p:nvPr/>
        </p:nvSpPr>
        <p:spPr bwMode="auto">
          <a:xfrm>
            <a:off x="3518981" y="46467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24" name="Rectangle 23"/>
          <p:cNvSpPr>
            <a:spLocks/>
          </p:cNvSpPr>
          <p:nvPr/>
        </p:nvSpPr>
        <p:spPr bwMode="auto">
          <a:xfrm>
            <a:off x="4916383" y="34074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cxnSp>
        <p:nvCxnSpPr>
          <p:cNvPr id="25" name="Straight Arrow Connector 24"/>
          <p:cNvCxnSpPr/>
          <p:nvPr/>
        </p:nvCxnSpPr>
        <p:spPr>
          <a:xfrm>
            <a:off x="5096079" y="37944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4313168" y="43894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28" name="Rectangle 27"/>
          <p:cNvSpPr>
            <a:spLocks/>
          </p:cNvSpPr>
          <p:nvPr/>
        </p:nvSpPr>
        <p:spPr bwMode="auto">
          <a:xfrm>
            <a:off x="5279723" y="30018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60.000</a:t>
            </a:r>
          </a:p>
        </p:txBody>
      </p:sp>
      <p:sp>
        <p:nvSpPr>
          <p:cNvPr id="29" name="Rectangle 28"/>
          <p:cNvSpPr>
            <a:spLocks/>
          </p:cNvSpPr>
          <p:nvPr/>
        </p:nvSpPr>
        <p:spPr bwMode="auto">
          <a:xfrm>
            <a:off x="6353472" y="29997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60.000</a:t>
            </a:r>
          </a:p>
        </p:txBody>
      </p:sp>
      <p:sp>
        <p:nvSpPr>
          <p:cNvPr id="5" name="Rectángulo 4">
            <a:extLst>
              <a:ext uri="{FF2B5EF4-FFF2-40B4-BE49-F238E27FC236}">
                <a16:creationId xmlns:a16="http://schemas.microsoft.com/office/drawing/2014/main" id="{CC4763D6-3EE0-3C9D-FE76-1D966ED1C5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C48DCEF-0C39-D524-A555-760FC42B6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4F1259D-7534-742B-07A7-DA92C96F9F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53540E76-3CE2-F39B-CCAB-2B29F589EED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528378F1-FFA3-F5B0-52F5-8885C71A258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2738415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1303"/>
            <a:ext cx="11029615" cy="3331628"/>
          </a:xfrm>
        </p:spPr>
        <p:txBody>
          <a:bodyPr>
            <a:normAutofit/>
          </a:bodyPr>
          <a:lstStyle/>
          <a:p>
            <a:pPr marL="0" indent="0" algn="just">
              <a:buNone/>
            </a:pPr>
            <a:r>
              <a:rPr lang="es-ES_tradnl" sz="2400"/>
              <a:t>Para responder la pregunta, recordemos que estamos buscando la tasa o rentabilidad que logra los egresos sean equivalentes a los egresos.</a:t>
            </a:r>
          </a:p>
          <a:p>
            <a:pPr marL="0" indent="0" algn="just">
              <a:buNone/>
            </a:pPr>
            <a:endParaRPr lang="es-ES_tradnl" sz="2400"/>
          </a:p>
          <a:p>
            <a:pPr marL="0" indent="0" algn="ctr">
              <a:buNone/>
            </a:pPr>
            <a:r>
              <a:rPr lang="es-ES_tradnl" sz="2400"/>
              <a:t> </a:t>
            </a:r>
            <a:r>
              <a:rPr lang="es-ES_tradnl" sz="2400" b="1">
                <a:solidFill>
                  <a:schemeClr val="accent6">
                    <a:lumMod val="75000"/>
                  </a:schemeClr>
                </a:solidFill>
              </a:rPr>
              <a:t>¿Qué pasa con el VPN si los egresos son equivalentes a los ingresos? </a:t>
            </a:r>
          </a:p>
        </p:txBody>
      </p:sp>
      <p:sp>
        <p:nvSpPr>
          <p:cNvPr id="6" name="Rectángulo 5">
            <a:extLst>
              <a:ext uri="{FF2B5EF4-FFF2-40B4-BE49-F238E27FC236}">
                <a16:creationId xmlns:a16="http://schemas.microsoft.com/office/drawing/2014/main" id="{E2DE5EEC-A27D-8FA0-E812-50F303836A0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3D77E69-6CEB-2478-C81C-8257D03D0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4D135F6-EFC2-960F-5EFD-435BAACC237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D944FA3-37A8-DC50-E254-C56E5EC1A17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1714FB87-BF43-5A3E-4737-11893C7B5C0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744397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1726-E165-6919-F55D-C52FE33136F2}"/>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D51B7B1-A2A9-77AE-0A30-830E4CDD8B68}"/>
              </a:ext>
            </a:extLst>
          </p:cNvPr>
          <p:cNvSpPr>
            <a:spLocks noGrp="1"/>
          </p:cNvSpPr>
          <p:nvPr>
            <p:ph idx="1"/>
          </p:nvPr>
        </p:nvSpPr>
        <p:spPr>
          <a:xfrm>
            <a:off x="3078813" y="5867852"/>
            <a:ext cx="7610476" cy="907933"/>
          </a:xfrm>
        </p:spPr>
        <p:txBody>
          <a:bodyPr>
            <a:noAutofit/>
          </a:bodyPr>
          <a:lstStyle/>
          <a:p>
            <a:pPr marL="0" indent="0" algn="ctr">
              <a:buNone/>
            </a:pPr>
            <a:r>
              <a:rPr lang="es-ES_tradnl" sz="2400" b="1">
                <a:solidFill>
                  <a:schemeClr val="accent6">
                    <a:lumMod val="75000"/>
                  </a:schemeClr>
                </a:solidFill>
              </a:rPr>
              <a:t>¿Qué vendría siendo esa tasa que hace que el VPN sea igual a 0?</a:t>
            </a:r>
          </a:p>
        </p:txBody>
      </p:sp>
      <p:sp>
        <p:nvSpPr>
          <p:cNvPr id="6" name="Oval 5">
            <a:extLst>
              <a:ext uri="{FF2B5EF4-FFF2-40B4-BE49-F238E27FC236}">
                <a16:creationId xmlns:a16="http://schemas.microsoft.com/office/drawing/2014/main" id="{E7F15CD4-D27A-EAFF-35F8-11C6E31EE5E6}"/>
              </a:ext>
            </a:extLst>
          </p:cNvPr>
          <p:cNvSpPr/>
          <p:nvPr/>
        </p:nvSpPr>
        <p:spPr>
          <a:xfrm>
            <a:off x="6283298" y="3844224"/>
            <a:ext cx="1201464" cy="772249"/>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61E1BA0C-DD93-F135-AC96-41A85BC675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E8C77DC-6D95-7CF8-3E40-A1D2D9BDC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C5F9FAE-59B9-19E4-78DA-B7FEFBB2ECD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2277D162-DF8E-7585-5E89-9D403FC6BE2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37B2B837-9997-C0B2-9E7B-846A9C95AAB2}"/>
              </a:ext>
            </a:extLst>
          </p:cNvPr>
          <p:cNvGraphicFramePr>
            <a:graphicFrameLocks/>
          </p:cNvGraphicFramePr>
          <p:nvPr>
            <p:extLst>
              <p:ext uri="{D42A27DB-BD31-4B8C-83A1-F6EECF244321}">
                <p14:modId xmlns:p14="http://schemas.microsoft.com/office/powerpoint/2010/main" val="622286549"/>
              </p:ext>
            </p:extLst>
          </p:nvPr>
        </p:nvGraphicFramePr>
        <p:xfrm>
          <a:off x="597520" y="1834061"/>
          <a:ext cx="10996959" cy="4204170"/>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95C9183D-FBA5-E62E-F424-2E5A87DDF4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90684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964" y="1913653"/>
            <a:ext cx="10968841" cy="878434"/>
          </a:xfrm>
        </p:spPr>
        <p:txBody>
          <a:bodyPr>
            <a:normAutofit/>
          </a:bodyPr>
          <a:lstStyle/>
          <a:p>
            <a:pPr marL="0" indent="0" algn="just">
              <a:buNone/>
            </a:pPr>
            <a:r>
              <a:rPr lang="es-ES_tradnl" sz="2400"/>
              <a:t>Consecuentemente, la TIR no es más que la tasa de descuento que hace que el VPN sea igual a cero.</a:t>
            </a:r>
            <a:endParaRPr lang="es-ES_tradnl" sz="2400" i="1">
              <a:solidFill>
                <a:srgbClr val="800000"/>
              </a:solidFill>
            </a:endParaRPr>
          </a:p>
        </p:txBody>
      </p:sp>
      <p:pic>
        <p:nvPicPr>
          <p:cNvPr id="8" name="Picture 7"/>
          <p:cNvPicPr>
            <a:picLocks noChangeAspect="1"/>
          </p:cNvPicPr>
          <p:nvPr/>
        </p:nvPicPr>
        <p:blipFill>
          <a:blip r:embed="rId3"/>
          <a:stretch>
            <a:fillRect/>
          </a:stretch>
        </p:blipFill>
        <p:spPr>
          <a:xfrm>
            <a:off x="4418191" y="3272436"/>
            <a:ext cx="3355614" cy="878433"/>
          </a:xfrm>
          <a:prstGeom prst="rect">
            <a:avLst/>
          </a:prstGeom>
        </p:spPr>
      </p:pic>
      <p:sp>
        <p:nvSpPr>
          <p:cNvPr id="5" name="Content Placeholder 2">
            <a:extLst>
              <a:ext uri="{FF2B5EF4-FFF2-40B4-BE49-F238E27FC236}">
                <a16:creationId xmlns:a16="http://schemas.microsoft.com/office/drawing/2014/main" id="{CDC8CE55-E1BD-0362-4469-E3279FCD6664}"/>
              </a:ext>
            </a:extLst>
          </p:cNvPr>
          <p:cNvSpPr txBox="1">
            <a:spLocks/>
          </p:cNvSpPr>
          <p:nvPr/>
        </p:nvSpPr>
        <p:spPr>
          <a:xfrm>
            <a:off x="581191" y="4787784"/>
            <a:ext cx="11029615" cy="1175848"/>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_tradnl" sz="2400"/>
              <a:t>Entonces, si encontramos la </a:t>
            </a:r>
            <a:r>
              <a:rPr lang="es-ES_tradnl" sz="2400" i="1">
                <a:solidFill>
                  <a:srgbClr val="800000"/>
                </a:solidFill>
              </a:rPr>
              <a:t>tasa de descuento que hace el VPN cero</a:t>
            </a:r>
            <a:r>
              <a:rPr lang="es-ES_tradnl" sz="2400"/>
              <a:t>, sabemos que esa tasa será </a:t>
            </a:r>
            <a:r>
              <a:rPr lang="es-ES_tradnl" sz="2400" i="1">
                <a:solidFill>
                  <a:srgbClr val="800000"/>
                </a:solidFill>
              </a:rPr>
              <a:t>IGUAL</a:t>
            </a:r>
            <a:r>
              <a:rPr lang="es-ES_tradnl" sz="2400">
                <a:solidFill>
                  <a:srgbClr val="800000"/>
                </a:solidFill>
              </a:rPr>
              <a:t> </a:t>
            </a:r>
            <a:r>
              <a:rPr lang="es-ES_tradnl" sz="2400"/>
              <a:t>al retorno efectivo por periodo del proyecto. Es decir, la TIR.</a:t>
            </a:r>
          </a:p>
        </p:txBody>
      </p:sp>
      <p:sp>
        <p:nvSpPr>
          <p:cNvPr id="6" name="Rectángulo 5">
            <a:extLst>
              <a:ext uri="{FF2B5EF4-FFF2-40B4-BE49-F238E27FC236}">
                <a16:creationId xmlns:a16="http://schemas.microsoft.com/office/drawing/2014/main" id="{3D7EA3D2-941E-06BB-A714-76ED958B24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DF86237-D155-21F5-596F-162D5EE59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0075DC5D-5096-D369-5638-30975DFEE61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5330EFE-7955-F587-EF37-7D1CE8F6200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7D0D8F32-9930-79E4-BDB1-17E42CAF6E1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142221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680" y="1828554"/>
            <a:ext cx="11029615" cy="526882"/>
          </a:xfrm>
        </p:spPr>
        <p:txBody>
          <a:bodyPr>
            <a:normAutofit/>
          </a:bodyPr>
          <a:lstStyle/>
          <a:p>
            <a:pPr marL="0" indent="0" algn="just">
              <a:buNone/>
            </a:pPr>
            <a:r>
              <a:rPr lang="es-ES_tradnl" sz="2400"/>
              <a:t>Suponga ahora que los flujos son los siguientes. ¿Cuál es la TIR del siguiente proyecto?</a:t>
            </a:r>
            <a:endParaRPr lang="es-ES_tradnl" sz="2400" i="1">
              <a:solidFill>
                <a:srgbClr val="800000"/>
              </a:solidFill>
            </a:endParaRPr>
          </a:p>
        </p:txBody>
      </p:sp>
      <p:cxnSp>
        <p:nvCxnSpPr>
          <p:cNvPr id="13" name="Straight Connector 12"/>
          <p:cNvCxnSpPr/>
          <p:nvPr/>
        </p:nvCxnSpPr>
        <p:spPr>
          <a:xfrm>
            <a:off x="3854149" y="35528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3854148" y="35528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5529288" y="30941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6602717" y="30941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7662191" y="28611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3768547" y="31788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0</a:t>
            </a:r>
          </a:p>
        </p:txBody>
      </p:sp>
      <p:sp>
        <p:nvSpPr>
          <p:cNvPr id="19" name="Rectangle 18"/>
          <p:cNvSpPr>
            <a:spLocks/>
          </p:cNvSpPr>
          <p:nvPr/>
        </p:nvSpPr>
        <p:spPr bwMode="auto">
          <a:xfrm>
            <a:off x="5345699"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2</a:t>
            </a:r>
          </a:p>
        </p:txBody>
      </p:sp>
      <p:sp>
        <p:nvSpPr>
          <p:cNvPr id="20" name="Rectangle 19"/>
          <p:cNvSpPr>
            <a:spLocks/>
          </p:cNvSpPr>
          <p:nvPr/>
        </p:nvSpPr>
        <p:spPr bwMode="auto">
          <a:xfrm>
            <a:off x="6434187"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3</a:t>
            </a:r>
          </a:p>
        </p:txBody>
      </p:sp>
      <p:sp>
        <p:nvSpPr>
          <p:cNvPr id="21" name="Rectangle 20"/>
          <p:cNvSpPr>
            <a:spLocks/>
          </p:cNvSpPr>
          <p:nvPr/>
        </p:nvSpPr>
        <p:spPr bwMode="auto">
          <a:xfrm>
            <a:off x="7493661" y="36591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4</a:t>
            </a:r>
          </a:p>
        </p:txBody>
      </p:sp>
      <p:sp>
        <p:nvSpPr>
          <p:cNvPr id="22" name="Rectangle 21"/>
          <p:cNvSpPr>
            <a:spLocks/>
          </p:cNvSpPr>
          <p:nvPr/>
        </p:nvSpPr>
        <p:spPr bwMode="auto">
          <a:xfrm>
            <a:off x="6879225" y="25270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80.000</a:t>
            </a:r>
          </a:p>
        </p:txBody>
      </p:sp>
      <p:sp>
        <p:nvSpPr>
          <p:cNvPr id="23" name="Rectangle 22"/>
          <p:cNvSpPr>
            <a:spLocks/>
          </p:cNvSpPr>
          <p:nvPr/>
        </p:nvSpPr>
        <p:spPr bwMode="auto">
          <a:xfrm>
            <a:off x="2985580" y="44181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80.000</a:t>
            </a:r>
          </a:p>
        </p:txBody>
      </p:sp>
      <p:sp>
        <p:nvSpPr>
          <p:cNvPr id="24" name="Rectangle 23"/>
          <p:cNvSpPr>
            <a:spLocks/>
          </p:cNvSpPr>
          <p:nvPr/>
        </p:nvSpPr>
        <p:spPr bwMode="auto">
          <a:xfrm>
            <a:off x="4382982" y="31788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a:t>
            </a:r>
          </a:p>
        </p:txBody>
      </p:sp>
      <p:cxnSp>
        <p:nvCxnSpPr>
          <p:cNvPr id="25" name="Straight Arrow Connector 24"/>
          <p:cNvCxnSpPr/>
          <p:nvPr/>
        </p:nvCxnSpPr>
        <p:spPr>
          <a:xfrm>
            <a:off x="4562678" y="35658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3779767" y="41608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40.000</a:t>
            </a:r>
          </a:p>
        </p:txBody>
      </p:sp>
      <p:sp>
        <p:nvSpPr>
          <p:cNvPr id="28" name="Rectangle 27"/>
          <p:cNvSpPr>
            <a:spLocks/>
          </p:cNvSpPr>
          <p:nvPr/>
        </p:nvSpPr>
        <p:spPr bwMode="auto">
          <a:xfrm>
            <a:off x="4746322" y="27732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60.000</a:t>
            </a:r>
          </a:p>
        </p:txBody>
      </p:sp>
      <p:sp>
        <p:nvSpPr>
          <p:cNvPr id="29" name="Rectangle 28"/>
          <p:cNvSpPr>
            <a:spLocks/>
          </p:cNvSpPr>
          <p:nvPr/>
        </p:nvSpPr>
        <p:spPr bwMode="auto">
          <a:xfrm>
            <a:off x="5820071" y="27711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60.000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EFD64E-346C-4584-8E63-DCEC58293543}"/>
                  </a:ext>
                </a:extLst>
              </p:cNvPr>
              <p:cNvSpPr txBox="1"/>
              <p:nvPr/>
            </p:nvSpPr>
            <p:spPr>
              <a:xfrm>
                <a:off x="2633050" y="5057983"/>
                <a:ext cx="6852877" cy="621709"/>
              </a:xfrm>
              <a:prstGeom prst="rect">
                <a:avLst/>
              </a:prstGeom>
              <a:noFill/>
            </p:spPr>
            <p:txBody>
              <a:bodyPr wrap="square" lIns="0" tIns="0" rIns="0" bIns="0" rtlCol="0">
                <a:spAutoFit/>
              </a:bodyPr>
              <a:lstStyle/>
              <a:p>
                <a:pPr/>
                <a14:m>
                  <m:oMathPara xmlns:m="http://schemas.openxmlformats.org/officeDocument/2006/math">
                    <m:oMath>
                      <m:r>
                        <a:rPr lang="es-ES" sz="2000" i="1">
                          <a:latin typeface="Cambria Math" panose="02040503050406030204" pitchFamily="18" charset="0"/>
                        </a:rPr>
                        <m:t>−80.000−</m:t>
                      </m:r>
                      <m:f>
                        <m:fPr>
                          <m:ctrlPr>
                            <a:rPr lang="es-ES" sz="2000" i="1">
                              <a:latin typeface="Cambria Math" panose="02040503050406030204" pitchFamily="18" charset="0"/>
                            </a:rPr>
                          </m:ctrlPr>
                        </m:fPr>
                        <m:num>
                          <m:r>
                            <a:rPr lang="es-ES" sz="2000" i="1">
                              <a:latin typeface="Cambria Math" panose="02040503050406030204" pitchFamily="18" charset="0"/>
                            </a:rPr>
                            <m:t>40.000</m:t>
                          </m:r>
                        </m:num>
                        <m:den>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2</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3</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80.000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4</m:t>
                              </m:r>
                            </m:sup>
                          </m:sSup>
                        </m:den>
                      </m:f>
                      <m:r>
                        <a:rPr lang="es-ES" sz="2000" i="1">
                          <a:latin typeface="Cambria Math" panose="02040503050406030204" pitchFamily="18" charset="0"/>
                        </a:rPr>
                        <m:t>=0</m:t>
                      </m:r>
                    </m:oMath>
                  </m:oMathPara>
                </a14:m>
                <a:endParaRPr lang="es-CO" sz="2000"/>
              </a:p>
            </p:txBody>
          </p:sp>
        </mc:Choice>
        <mc:Fallback xmlns="">
          <p:sp>
            <p:nvSpPr>
              <p:cNvPr id="5" name="TextBox 4">
                <a:extLst>
                  <a:ext uri="{FF2B5EF4-FFF2-40B4-BE49-F238E27FC236}">
                    <a16:creationId xmlns:a16="http://schemas.microsoft.com/office/drawing/2014/main" id="{B3EFD64E-346C-4584-8E63-DCEC58293543}"/>
                  </a:ext>
                </a:extLst>
              </p:cNvPr>
              <p:cNvSpPr txBox="1">
                <a:spLocks noRot="1" noChangeAspect="1" noMove="1" noResize="1" noEditPoints="1" noAdjustHandles="1" noChangeArrowheads="1" noChangeShapeType="1" noTextEdit="1"/>
              </p:cNvSpPr>
              <p:nvPr/>
            </p:nvSpPr>
            <p:spPr>
              <a:xfrm>
                <a:off x="2633050" y="5057983"/>
                <a:ext cx="6852877" cy="621709"/>
              </a:xfrm>
              <a:prstGeom prst="rect">
                <a:avLst/>
              </a:prstGeom>
              <a:blipFill>
                <a:blip r:embed="rId3"/>
                <a:stretch>
                  <a:fillRect b="-6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E080FC2-F8D2-4D07-848F-10A77EFA6134}"/>
                  </a:ext>
                </a:extLst>
              </p:cNvPr>
              <p:cNvSpPr txBox="1"/>
              <p:nvPr/>
            </p:nvSpPr>
            <p:spPr>
              <a:xfrm>
                <a:off x="3726454" y="5979806"/>
                <a:ext cx="4572000" cy="461665"/>
              </a:xfrm>
              <a:prstGeom prst="rect">
                <a:avLst/>
              </a:prstGeom>
              <a:noFill/>
            </p:spPr>
            <p:txBody>
              <a:bodyPr wrap="square">
                <a:spAutoFit/>
              </a:bodyPr>
              <a:lstStyle/>
              <a:p>
                <a:pPr algn="ctr"/>
                <a:r>
                  <a:rPr lang="es-ES_tradnl" sz="2400"/>
                  <a:t>¿Cómo despeja </a:t>
                </a:r>
                <a14:m>
                  <m:oMath xmlns:m="http://schemas.openxmlformats.org/officeDocument/2006/math">
                    <m:r>
                      <a:rPr lang="es-ES" sz="2400" i="1">
                        <a:latin typeface="Cambria Math" panose="02040503050406030204" pitchFamily="18" charset="0"/>
                      </a:rPr>
                      <m:t>𝑖</m:t>
                    </m:r>
                  </m:oMath>
                </a14:m>
                <a:r>
                  <a:rPr lang="es-ES_tradnl" sz="2400"/>
                  <a:t>?</a:t>
                </a:r>
              </a:p>
            </p:txBody>
          </p:sp>
        </mc:Choice>
        <mc:Fallback xmlns="">
          <p:sp>
            <p:nvSpPr>
              <p:cNvPr id="30" name="TextBox 29">
                <a:extLst>
                  <a:ext uri="{FF2B5EF4-FFF2-40B4-BE49-F238E27FC236}">
                    <a16:creationId xmlns:a16="http://schemas.microsoft.com/office/drawing/2014/main" id="{1E080FC2-F8D2-4D07-848F-10A77EFA6134}"/>
                  </a:ext>
                </a:extLst>
              </p:cNvPr>
              <p:cNvSpPr txBox="1">
                <a:spLocks noRot="1" noChangeAspect="1" noMove="1" noResize="1" noEditPoints="1" noAdjustHandles="1" noChangeArrowheads="1" noChangeShapeType="1" noTextEdit="1"/>
              </p:cNvSpPr>
              <p:nvPr/>
            </p:nvSpPr>
            <p:spPr>
              <a:xfrm>
                <a:off x="3726454" y="5979806"/>
                <a:ext cx="4572000" cy="461665"/>
              </a:xfrm>
              <a:prstGeom prst="rect">
                <a:avLst/>
              </a:prstGeom>
              <a:blipFill>
                <a:blip r:embed="rId4"/>
                <a:stretch>
                  <a:fillRect t="-7895" b="-28947"/>
                </a:stretch>
              </a:blipFill>
            </p:spPr>
            <p:txBody>
              <a:bodyPr/>
              <a:lstStyle/>
              <a:p>
                <a:r>
                  <a:rPr lang="es-ES_tradnl">
                    <a:noFill/>
                  </a:rPr>
                  <a:t> </a:t>
                </a:r>
              </a:p>
            </p:txBody>
          </p:sp>
        </mc:Fallback>
      </mc:AlternateContent>
      <p:sp>
        <p:nvSpPr>
          <p:cNvPr id="6" name="Rectángulo 5">
            <a:extLst>
              <a:ext uri="{FF2B5EF4-FFF2-40B4-BE49-F238E27FC236}">
                <a16:creationId xmlns:a16="http://schemas.microsoft.com/office/drawing/2014/main" id="{600D6A37-1A7A-912E-C6C3-DFE695A40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4CCFC4C-24F0-5111-D54C-93CA8D384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C21A803-7C93-A34D-2AF0-F515F1A8DC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48271AC-6AD0-77FA-19C9-4F8365A7143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3631F80-E675-0178-FA09-3404B5B17F44}"/>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3457005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471058"/>
          </a:xfrm>
        </p:spPr>
        <p:txBody>
          <a:bodyPr>
            <a:normAutofit/>
          </a:bodyPr>
          <a:lstStyle/>
          <a:p>
            <a:pPr marL="0" indent="0" algn="just">
              <a:buNone/>
            </a:pPr>
            <a:r>
              <a:rPr lang="es-ES_tradnl" sz="2400"/>
              <a:t>Ahora:</a:t>
            </a:r>
          </a:p>
          <a:p>
            <a:pPr marL="0" indent="0" algn="just">
              <a:buNone/>
            </a:pPr>
            <a:endParaRPr lang="es-ES_tradnl" sz="2400"/>
          </a:p>
          <a:p>
            <a:pPr marL="781200" lvl="1" indent="-457200" algn="just">
              <a:buFont typeface="+mj-lt"/>
              <a:buAutoNum type="arabicPeriod"/>
            </a:pPr>
            <a:r>
              <a:rPr lang="es-ES_tradnl" sz="2400"/>
              <a:t>¿Cuál es la regla de decisión de la TIR?</a:t>
            </a:r>
          </a:p>
          <a:p>
            <a:pPr marL="781200" lvl="1" indent="-457200" algn="just">
              <a:buFont typeface="+mj-lt"/>
              <a:buAutoNum type="arabicPeriod"/>
            </a:pPr>
            <a:r>
              <a:rPr lang="es-ES_tradnl" sz="2400"/>
              <a:t>¿Qué significa en términos financieros la TIR? </a:t>
            </a:r>
          </a:p>
        </p:txBody>
      </p:sp>
      <p:sp>
        <p:nvSpPr>
          <p:cNvPr id="6" name="Rectángulo 5">
            <a:extLst>
              <a:ext uri="{FF2B5EF4-FFF2-40B4-BE49-F238E27FC236}">
                <a16:creationId xmlns:a16="http://schemas.microsoft.com/office/drawing/2014/main" id="{245208F7-9B32-B40B-3B69-7AA8BA8D8B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85A7350-9130-C012-D2AB-419A55CFD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F9467E5-5D5D-1D23-6EB6-8E52876507B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D3E0369-330C-D586-F3F5-087FE70DD618}"/>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29BE095-1057-AB55-05ED-B3841AE44AD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981683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829"/>
            <a:ext cx="11029615" cy="4507433"/>
          </a:xfrm>
        </p:spPr>
        <p:txBody>
          <a:bodyPr>
            <a:noAutofit/>
          </a:bodyPr>
          <a:lstStyle/>
          <a:p>
            <a:pPr marL="0" indent="0" algn="ctr">
              <a:buNone/>
            </a:pPr>
            <a:r>
              <a:rPr lang="es-ES_tradnl" sz="2400" b="1"/>
              <a:t>¿Cuál es la regla de decisión de la TIR?</a:t>
            </a:r>
          </a:p>
          <a:p>
            <a:pPr marL="0" indent="0" algn="just">
              <a:buNone/>
            </a:pPr>
            <a:endParaRPr lang="es-ES_tradnl" sz="2400"/>
          </a:p>
          <a:p>
            <a:pPr marL="0" indent="0" algn="ctr">
              <a:buNone/>
            </a:pPr>
            <a:r>
              <a:rPr lang="es-ES_tradnl" sz="2400" i="1">
                <a:solidFill>
                  <a:srgbClr val="800000"/>
                </a:solidFill>
              </a:rPr>
              <a:t>La TIR NO incorpora una regla de decisión automática como el VPN. Esto se debe a que la conveniencia de un proyecto se basa en la capacidad de generar VALOR.</a:t>
            </a:r>
          </a:p>
          <a:p>
            <a:pPr marL="0" indent="0" algn="ctr">
              <a:buNone/>
            </a:pPr>
            <a:endParaRPr lang="es-ES_tradnl" sz="2400" i="1">
              <a:solidFill>
                <a:srgbClr val="800000"/>
              </a:solidFill>
            </a:endParaRPr>
          </a:p>
          <a:p>
            <a:pPr marL="0" indent="0" algn="just">
              <a:buNone/>
            </a:pPr>
            <a:r>
              <a:rPr lang="es-ES_tradnl" sz="2400"/>
              <a:t>Recordemos que la TIR es un indicador de rentabilidad, no de valor. Por ende, por si sola no permite concluir sobre viabilidad de un proyecto.</a:t>
            </a:r>
          </a:p>
          <a:p>
            <a:pPr marL="0" indent="0" algn="just">
              <a:buNone/>
            </a:pPr>
            <a:endParaRPr lang="es-ES_tradnl" sz="2400"/>
          </a:p>
          <a:p>
            <a:pPr marL="0" indent="0" algn="ctr">
              <a:buNone/>
            </a:pPr>
            <a:r>
              <a:rPr lang="es-ES_tradnl" sz="2400" b="1"/>
              <a:t>Empero, preguntémonos: ¿cuándo un proyecto genera valor?</a:t>
            </a:r>
          </a:p>
        </p:txBody>
      </p:sp>
      <p:sp>
        <p:nvSpPr>
          <p:cNvPr id="6" name="Rectángulo 5">
            <a:extLst>
              <a:ext uri="{FF2B5EF4-FFF2-40B4-BE49-F238E27FC236}">
                <a16:creationId xmlns:a16="http://schemas.microsoft.com/office/drawing/2014/main" id="{50B011AB-A013-6196-3F59-FE2CA67537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A8B1A1B-113F-AF2D-02DD-6120FD343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3C904FA-09CA-0725-967B-0554DCA3FC5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E23F7AB-C4A5-F2FB-A02A-A8605BB969C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69CF9AA4-07A4-C009-6A23-896256C54B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303565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89" y="1762086"/>
            <a:ext cx="11029615" cy="970227"/>
          </a:xfrm>
        </p:spPr>
        <p:txBody>
          <a:bodyPr>
            <a:normAutofit lnSpcReduction="10000"/>
          </a:bodyPr>
          <a:lstStyle/>
          <a:p>
            <a:pPr marL="0" indent="0" algn="ctr">
              <a:buNone/>
            </a:pPr>
            <a:r>
              <a:rPr lang="es-ES_tradnl" sz="2400"/>
              <a:t>¿Cuál es la TIR?</a:t>
            </a:r>
          </a:p>
          <a:p>
            <a:pPr marL="0" indent="0" algn="ctr">
              <a:buNone/>
            </a:pPr>
            <a:r>
              <a:rPr lang="es-ES_tradnl" sz="2400"/>
              <a:t>¿en que escenarios de CO el proyecto genera y no genera valor?</a:t>
            </a:r>
          </a:p>
        </p:txBody>
      </p:sp>
      <p:sp>
        <p:nvSpPr>
          <p:cNvPr id="6" name="Oval 5"/>
          <p:cNvSpPr/>
          <p:nvPr/>
        </p:nvSpPr>
        <p:spPr>
          <a:xfrm>
            <a:off x="6023093" y="4702631"/>
            <a:ext cx="1266483" cy="833818"/>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5" name="Rectángulo 4">
            <a:extLst>
              <a:ext uri="{FF2B5EF4-FFF2-40B4-BE49-F238E27FC236}">
                <a16:creationId xmlns:a16="http://schemas.microsoft.com/office/drawing/2014/main" id="{11B34367-CB8E-4BB0-BADE-6B5C102BB8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E82D9B9-5343-F495-4C4C-222ABE000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8E1AB041-BD01-8535-5592-4E64DF76166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2204204-D9E2-95A4-AD73-F17152E9878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B3FB8A9C-3D01-D93A-643E-7EB0A2DF3FC1}"/>
              </a:ext>
            </a:extLst>
          </p:cNvPr>
          <p:cNvGraphicFramePr>
            <a:graphicFrameLocks/>
          </p:cNvGraphicFramePr>
          <p:nvPr>
            <p:extLst>
              <p:ext uri="{D42A27DB-BD31-4B8C-83A1-F6EECF244321}">
                <p14:modId xmlns:p14="http://schemas.microsoft.com/office/powerpoint/2010/main" val="66538826"/>
              </p:ext>
            </p:extLst>
          </p:nvPr>
        </p:nvGraphicFramePr>
        <p:xfrm>
          <a:off x="553077" y="2778442"/>
          <a:ext cx="10483789" cy="4079557"/>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1DA8B6A3-4D61-EA61-5C8E-D4074F54984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34366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5188"/>
            <a:ext cx="11029615" cy="1026448"/>
          </a:xfrm>
        </p:spPr>
        <p:txBody>
          <a:bodyPr>
            <a:normAutofit/>
          </a:bodyPr>
          <a:lstStyle/>
          <a:p>
            <a:pPr marL="0" indent="0" algn="just">
              <a:buNone/>
            </a:pPr>
            <a:r>
              <a:rPr lang="es-ES_tradnl" sz="2400"/>
              <a:t>Es decir, si se conoce la TIR y el C.O., se puede decidir sobre la conveniencia del proyecto.</a:t>
            </a:r>
          </a:p>
        </p:txBody>
      </p:sp>
      <p:sp>
        <p:nvSpPr>
          <p:cNvPr id="7" name="Rectángulo 6">
            <a:extLst>
              <a:ext uri="{FF2B5EF4-FFF2-40B4-BE49-F238E27FC236}">
                <a16:creationId xmlns:a16="http://schemas.microsoft.com/office/drawing/2014/main" id="{77139525-3862-0030-0993-BADA7E6ABA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77A5146-5E13-5042-A177-ED97AFC6B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6DA1DA6-B474-2BC7-E780-740838DE33D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FF5DBD21-A5DF-C337-A999-6DED412134F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ABA84EA7-631C-CCB3-516D-61496E68C60D}"/>
              </a:ext>
            </a:extLst>
          </p:cNvPr>
          <p:cNvGraphicFramePr>
            <a:graphicFrameLocks noGrp="1"/>
          </p:cNvGraphicFramePr>
          <p:nvPr>
            <p:extLst>
              <p:ext uri="{D42A27DB-BD31-4B8C-83A1-F6EECF244321}">
                <p14:modId xmlns:p14="http://schemas.microsoft.com/office/powerpoint/2010/main" val="1175635348"/>
              </p:ext>
            </p:extLst>
          </p:nvPr>
        </p:nvGraphicFramePr>
        <p:xfrm>
          <a:off x="2549979" y="2851636"/>
          <a:ext cx="7092042" cy="2520001"/>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TIR &lt;</a:t>
                      </a:r>
                      <a:r>
                        <a:rPr lang="es-ES_tradnl" sz="2000" baseline="0" noProof="0">
                          <a:solidFill>
                            <a:sysClr val="windowText" lastClr="000000"/>
                          </a:solidFill>
                        </a:rPr>
                        <a:t> C.O.</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E87500DA-E29F-B2AF-B66C-5CD9BDEB7D2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3181401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F81C-0AF1-7ABA-5818-AE648063CB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0F600-C84B-5838-687B-0468F48C36BC}"/>
              </a:ext>
            </a:extLst>
          </p:cNvPr>
          <p:cNvSpPr>
            <a:spLocks noGrp="1"/>
          </p:cNvSpPr>
          <p:nvPr>
            <p:ph idx="1"/>
          </p:nvPr>
        </p:nvSpPr>
        <p:spPr>
          <a:xfrm>
            <a:off x="581191" y="1825188"/>
            <a:ext cx="11029615" cy="1026448"/>
          </a:xfrm>
        </p:spPr>
        <p:txBody>
          <a:bodyPr>
            <a:normAutofit/>
          </a:bodyPr>
          <a:lstStyle/>
          <a:p>
            <a:pPr marL="0" indent="0" algn="just">
              <a:buNone/>
            </a:pPr>
            <a:r>
              <a:rPr lang="es-ES_tradnl" sz="2400"/>
              <a:t>Es decir, si se conoce la TIR y el C.O., se puede decidir sobre la conveniencia del proyecto.</a:t>
            </a:r>
          </a:p>
        </p:txBody>
      </p:sp>
      <p:sp>
        <p:nvSpPr>
          <p:cNvPr id="7" name="Rectángulo 6">
            <a:extLst>
              <a:ext uri="{FF2B5EF4-FFF2-40B4-BE49-F238E27FC236}">
                <a16:creationId xmlns:a16="http://schemas.microsoft.com/office/drawing/2014/main" id="{DF4EA11D-723F-716F-3302-07A09663EB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F87B1F1-7A88-DA51-37AA-3D940636D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392306F-D422-0FF1-6267-CC9032E224C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053A999F-64E3-CD83-657C-0AD3B31352A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80358C65-2123-D57B-42FC-ED0C33AB9385}"/>
              </a:ext>
            </a:extLst>
          </p:cNvPr>
          <p:cNvGraphicFramePr>
            <a:graphicFrameLocks noGrp="1"/>
          </p:cNvGraphicFramePr>
          <p:nvPr>
            <p:extLst>
              <p:ext uri="{D42A27DB-BD31-4B8C-83A1-F6EECF244321}">
                <p14:modId xmlns:p14="http://schemas.microsoft.com/office/powerpoint/2010/main" val="834551656"/>
              </p:ext>
            </p:extLst>
          </p:nvPr>
        </p:nvGraphicFramePr>
        <p:xfrm>
          <a:off x="2549979" y="2851636"/>
          <a:ext cx="7092042" cy="2790238"/>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TIR &lt;</a:t>
                      </a:r>
                      <a:r>
                        <a:rPr lang="es-ES_tradnl" sz="2000" baseline="0" noProof="0">
                          <a:solidFill>
                            <a:sysClr val="windowText" lastClr="000000"/>
                          </a:solidFill>
                        </a:rPr>
                        <a:t> C.O.</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chemeClr val="tx1"/>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chemeClr val="tx1"/>
                          </a:solidFill>
                        </a:rPr>
                        <a:t>No hay</a:t>
                      </a:r>
                      <a:r>
                        <a:rPr lang="es-ES_tradnl" sz="2000" baseline="0" noProof="0">
                          <a:solidFill>
                            <a:schemeClr val="tx1"/>
                          </a:solidFill>
                        </a:rPr>
                        <a:t> efecto sobre el valor</a:t>
                      </a:r>
                      <a:endParaRPr lang="es-ES_tradnl" sz="20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B2736F86-4F18-2375-4046-9D0C908D49B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164785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37338"/>
            <a:ext cx="11029615" cy="4183924"/>
          </a:xfrm>
        </p:spPr>
        <p:txBody>
          <a:bodyPr>
            <a:normAutofit lnSpcReduction="10000"/>
          </a:bodyPr>
          <a:lstStyle/>
          <a:p>
            <a:pPr marL="0" indent="0" algn="ctr">
              <a:buNone/>
            </a:pPr>
            <a:r>
              <a:rPr lang="es-ES_tradnl" sz="4000" b="1" dirty="0"/>
              <a:t>¿</a:t>
            </a:r>
            <a:r>
              <a:rPr lang="es-ES_tradnl" sz="3600" b="1" dirty="0"/>
              <a:t>Qué significa en términos financieros la TIR? </a:t>
            </a:r>
            <a:endParaRPr lang="es-ES_tradnl" sz="4000" b="1" dirty="0"/>
          </a:p>
          <a:p>
            <a:pPr marL="0" indent="0" algn="ctr">
              <a:buNone/>
            </a:pPr>
            <a:endParaRPr lang="es-ES_tradnl" sz="2400" dirty="0"/>
          </a:p>
          <a:p>
            <a:pPr marL="0" indent="0" algn="ctr">
              <a:buNone/>
            </a:pPr>
            <a:r>
              <a:rPr lang="es-ES_tradnl" sz="2400" dirty="0"/>
              <a:t>Es la rentabilidad de los fondos o flujos que </a:t>
            </a:r>
            <a:r>
              <a:rPr lang="es-ES_tradnl" sz="2400" b="1" u="sng" dirty="0"/>
              <a:t>permanecen</a:t>
            </a:r>
            <a:r>
              <a:rPr lang="es-ES_tradnl" sz="2400" dirty="0"/>
              <a:t> invertidos dentro del proyecto cada periodo.</a:t>
            </a:r>
          </a:p>
          <a:p>
            <a:pPr marL="0" indent="0" algn="ctr">
              <a:buNone/>
            </a:pPr>
            <a:endParaRPr lang="es-ES_tradnl" sz="2400" dirty="0"/>
          </a:p>
          <a:p>
            <a:pPr marL="0" indent="0" algn="ctr">
              <a:buNone/>
            </a:pPr>
            <a:r>
              <a:rPr lang="en-CO" sz="2400" dirty="0"/>
              <a:t>Si tengo dos </a:t>
            </a:r>
            <a:r>
              <a:rPr lang="en-US" sz="2400" dirty="0" err="1"/>
              <a:t>proyectos</a:t>
            </a:r>
            <a:r>
              <a:rPr lang="en-CO" sz="2400" dirty="0"/>
              <a:t> con diferentes estructuras de flujos (uno devuelve la inversión poco a poco y el otro te la devuelve toda al final), es posible que tengan la misma rentabilidad?</a:t>
            </a:r>
          </a:p>
          <a:p>
            <a:pPr marL="0" indent="0" algn="ctr">
              <a:buNone/>
            </a:pPr>
            <a:r>
              <a:rPr lang="es-ES_tradnl" sz="2400" dirty="0"/>
              <a:t>Para ilustrarlo, veamos los siguientes ejemplos:</a:t>
            </a:r>
          </a:p>
          <a:p>
            <a:pPr marL="0" indent="0" algn="just">
              <a:buNone/>
            </a:pPr>
            <a:endParaRPr lang="es-ES_tradnl" sz="2400" dirty="0"/>
          </a:p>
        </p:txBody>
      </p:sp>
      <p:sp>
        <p:nvSpPr>
          <p:cNvPr id="6" name="Rectángulo 5">
            <a:extLst>
              <a:ext uri="{FF2B5EF4-FFF2-40B4-BE49-F238E27FC236}">
                <a16:creationId xmlns:a16="http://schemas.microsoft.com/office/drawing/2014/main" id="{74CDF13A-6358-7122-6D05-BE1F09970A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7448A00-3CA4-9B96-5180-3D8F4AA29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A07FA06-60F7-768E-260C-018CB6F2644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B839BD6-EDDC-A25A-5236-5FADFF46B22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854022E-AD2E-5A05-04BE-D958AFF108C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532397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2612"/>
            <a:ext cx="11029615" cy="756947"/>
          </a:xfrm>
        </p:spPr>
        <p:txBody>
          <a:bodyPr>
            <a:normAutofit/>
          </a:bodyPr>
          <a:lstStyle/>
          <a:p>
            <a:pPr marL="0" indent="0" algn="just">
              <a:buNone/>
            </a:pPr>
            <a:r>
              <a:rPr lang="es-ES_tradnl" sz="2400" b="1" dirty="0"/>
              <a:t>Proyecto 1</a:t>
            </a:r>
            <a:r>
              <a:rPr lang="es-ES_tradnl" sz="2400" dirty="0"/>
              <a:t>: Este es el flujo trimestral de un proyecto. ¿Cuál es la TIR?</a:t>
            </a:r>
          </a:p>
        </p:txBody>
      </p:sp>
      <p:cxnSp>
        <p:nvCxnSpPr>
          <p:cNvPr id="18" name="Straight Connector 17"/>
          <p:cNvCxnSpPr>
            <a:cxnSpLocks/>
          </p:cNvCxnSpPr>
          <p:nvPr/>
        </p:nvCxnSpPr>
        <p:spPr>
          <a:xfrm>
            <a:off x="4417825" y="3977825"/>
            <a:ext cx="2305506"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417824" y="397782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4960145" y="351909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5555911" y="351910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144673" y="351910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332223" y="360382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0</a:t>
            </a:r>
          </a:p>
        </p:txBody>
      </p:sp>
      <p:sp>
        <p:nvSpPr>
          <p:cNvPr id="24" name="Rectangle 23"/>
          <p:cNvSpPr>
            <a:spLocks/>
          </p:cNvSpPr>
          <p:nvPr/>
        </p:nvSpPr>
        <p:spPr bwMode="auto">
          <a:xfrm>
            <a:off x="4791615"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a:t>
            </a:r>
          </a:p>
        </p:txBody>
      </p:sp>
      <p:sp>
        <p:nvSpPr>
          <p:cNvPr id="25" name="Rectangle 24"/>
          <p:cNvSpPr>
            <a:spLocks/>
          </p:cNvSpPr>
          <p:nvPr/>
        </p:nvSpPr>
        <p:spPr bwMode="auto">
          <a:xfrm>
            <a:off x="5387381"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2</a:t>
            </a:r>
          </a:p>
        </p:txBody>
      </p:sp>
      <p:sp>
        <p:nvSpPr>
          <p:cNvPr id="26" name="Rectangle 25"/>
          <p:cNvSpPr>
            <a:spLocks/>
          </p:cNvSpPr>
          <p:nvPr/>
        </p:nvSpPr>
        <p:spPr bwMode="auto">
          <a:xfrm>
            <a:off x="6039789" y="407069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a:t>
            </a:r>
          </a:p>
        </p:txBody>
      </p:sp>
      <p:sp>
        <p:nvSpPr>
          <p:cNvPr id="27" name="Rectangle 26"/>
          <p:cNvSpPr>
            <a:spLocks/>
          </p:cNvSpPr>
          <p:nvPr/>
        </p:nvSpPr>
        <p:spPr bwMode="auto">
          <a:xfrm>
            <a:off x="4896764" y="28127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90.000</a:t>
            </a:r>
          </a:p>
        </p:txBody>
      </p:sp>
      <p:sp>
        <p:nvSpPr>
          <p:cNvPr id="28" name="Rectangle 27"/>
          <p:cNvSpPr>
            <a:spLocks/>
          </p:cNvSpPr>
          <p:nvPr/>
        </p:nvSpPr>
        <p:spPr bwMode="auto">
          <a:xfrm>
            <a:off x="6266937" y="292336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1.090.000</a:t>
            </a:r>
          </a:p>
        </p:txBody>
      </p:sp>
      <p:sp>
        <p:nvSpPr>
          <p:cNvPr id="30" name="Rectangle 29"/>
          <p:cNvSpPr>
            <a:spLocks/>
          </p:cNvSpPr>
          <p:nvPr/>
        </p:nvSpPr>
        <p:spPr bwMode="auto">
          <a:xfrm>
            <a:off x="3680985" y="479791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1.000.000</a:t>
            </a:r>
          </a:p>
        </p:txBody>
      </p:sp>
      <p:sp>
        <p:nvSpPr>
          <p:cNvPr id="32" name="Rectangle 31"/>
          <p:cNvSpPr>
            <a:spLocks/>
          </p:cNvSpPr>
          <p:nvPr/>
        </p:nvSpPr>
        <p:spPr bwMode="auto">
          <a:xfrm>
            <a:off x="6864209"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4</a:t>
            </a:r>
          </a:p>
        </p:txBody>
      </p:sp>
      <p:cxnSp>
        <p:nvCxnSpPr>
          <p:cNvPr id="33" name="Straight Arrow Connector 32"/>
          <p:cNvCxnSpPr/>
          <p:nvPr/>
        </p:nvCxnSpPr>
        <p:spPr>
          <a:xfrm flipV="1">
            <a:off x="6723331" y="32887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5385908" y="266908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6" name="Picture 5"/>
          <p:cNvPicPr>
            <a:picLocks noChangeAspect="1"/>
          </p:cNvPicPr>
          <p:nvPr/>
        </p:nvPicPr>
        <p:blipFill>
          <a:blip r:embed="rId3"/>
          <a:stretch>
            <a:fillRect/>
          </a:stretch>
        </p:blipFill>
        <p:spPr>
          <a:xfrm>
            <a:off x="2081210" y="5503097"/>
            <a:ext cx="8029576" cy="65274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8029720" y="3411858"/>
                <a:ext cx="1842877" cy="461665"/>
              </a:xfrm>
              <a:prstGeom prst="rect">
                <a:avLst/>
              </a:prstGeom>
              <a:noFill/>
            </p:spPr>
            <p:txBody>
              <a:bodyPr wrap="none" rtlCol="0">
                <a:spAutoFit/>
              </a:bodyPr>
              <a:lstStyle/>
              <a:p>
                <a:pPr>
                  <a:defRPr/>
                </a:pPr>
                <a14:m>
                  <m:oMathPara xmlns:m="http://schemas.openxmlformats.org/officeDocument/2006/math">
                    <m:oMath>
                      <m:r>
                        <a:rPr lang="es-CO" sz="2400" i="1">
                          <a:solidFill>
                            <a:prstClr val="black"/>
                          </a:solidFill>
                          <a:latin typeface="Cambria Math"/>
                        </a:rPr>
                        <m:t>𝑖</m:t>
                      </m:r>
                      <m:r>
                        <a:rPr lang="es-CO" sz="2400" i="1">
                          <a:solidFill>
                            <a:prstClr val="black"/>
                          </a:solidFill>
                          <a:latin typeface="Cambria Math"/>
                        </a:rPr>
                        <m:t>=9% </m:t>
                      </m:r>
                      <m:r>
                        <a:rPr lang="es-CO" sz="2400" i="1">
                          <a:solidFill>
                            <a:prstClr val="black"/>
                          </a:solidFill>
                          <a:latin typeface="Cambria Math"/>
                        </a:rPr>
                        <m:t>𝐸</m:t>
                      </m:r>
                      <m:r>
                        <a:rPr lang="es-CO" sz="2400" i="1">
                          <a:solidFill>
                            <a:prstClr val="black"/>
                          </a:solidFill>
                          <a:latin typeface="Cambria Math"/>
                        </a:rPr>
                        <m:t>.</m:t>
                      </m:r>
                      <m:r>
                        <a:rPr lang="es-CO" sz="2400" i="1">
                          <a:solidFill>
                            <a:prstClr val="black"/>
                          </a:solidFill>
                          <a:latin typeface="Cambria Math"/>
                        </a:rPr>
                        <m:t>𝑇</m:t>
                      </m:r>
                      <m:r>
                        <a:rPr lang="es-CO" sz="2400" i="1">
                          <a:solidFill>
                            <a:prstClr val="black"/>
                          </a:solidFill>
                          <a:latin typeface="Cambria Math"/>
                        </a:rPr>
                        <m:t>.</m:t>
                      </m:r>
                    </m:oMath>
                  </m:oMathPara>
                </a14:m>
                <a:endParaRPr lang="es-CO" sz="2400">
                  <a:solidFill>
                    <a:prstClr val="black"/>
                  </a:solidFill>
                  <a:latin typeface="Calibri" panose="020F0502020204030204"/>
                </a:endParaRPr>
              </a:p>
            </p:txBody>
          </p:sp>
        </mc:Choice>
        <mc:Fallback xmlns="">
          <p:sp>
            <p:nvSpPr>
              <p:cNvPr id="5" name="4 CuadroTexto"/>
              <p:cNvSpPr txBox="1">
                <a:spLocks noRot="1" noChangeAspect="1" noMove="1" noResize="1" noEditPoints="1" noAdjustHandles="1" noChangeArrowheads="1" noChangeShapeType="1" noTextEdit="1"/>
              </p:cNvSpPr>
              <p:nvPr/>
            </p:nvSpPr>
            <p:spPr>
              <a:xfrm>
                <a:off x="8029720" y="3411858"/>
                <a:ext cx="1842877" cy="461665"/>
              </a:xfrm>
              <a:prstGeom prst="rect">
                <a:avLst/>
              </a:prstGeom>
              <a:blipFill>
                <a:blip r:embed="rId4"/>
                <a:stretch>
                  <a:fillRect b="-21622"/>
                </a:stretch>
              </a:blipFill>
            </p:spPr>
            <p:txBody>
              <a:bodyPr/>
              <a:lstStyle/>
              <a:p>
                <a:r>
                  <a:rPr lang="es-ES_tradnl">
                    <a:noFill/>
                  </a:rPr>
                  <a:t> </a:t>
                </a:r>
              </a:p>
            </p:txBody>
          </p:sp>
        </mc:Fallback>
      </mc:AlternateContent>
      <p:sp>
        <p:nvSpPr>
          <p:cNvPr id="7" name="Rectángulo 6">
            <a:extLst>
              <a:ext uri="{FF2B5EF4-FFF2-40B4-BE49-F238E27FC236}">
                <a16:creationId xmlns:a16="http://schemas.microsoft.com/office/drawing/2014/main" id="{42E1CF4A-327F-416A-2C50-6E0B394B0D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50E60E5-6FB6-09D7-CE3D-47CE485E1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DEECABD-CF11-86EB-02E2-39E896FFF2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BEC9FB4-26B7-61FC-7753-59D69C20FED7}"/>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30B8D2-3C15-26D4-B06B-C5965F585FE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223212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9714"/>
            <a:ext cx="11029616" cy="735397"/>
          </a:xfrm>
        </p:spPr>
        <p:txBody>
          <a:bodyPr>
            <a:noAutofit/>
          </a:bodyPr>
          <a:lstStyle/>
          <a:p>
            <a:pPr marL="0" indent="0" algn="just">
              <a:buNone/>
            </a:pPr>
            <a:r>
              <a:rPr lang="es-ES_tradnl" sz="2400" b="1"/>
              <a:t>Proyecto 2</a:t>
            </a:r>
            <a:r>
              <a:rPr lang="es-ES_tradnl" sz="2400"/>
              <a:t>: Se invierte en activos 1.000.000 para generar flujos de caja de 308.668,7 por los próximos 4 trimestres.</a:t>
            </a:r>
          </a:p>
        </p:txBody>
      </p:sp>
      <p:cxnSp>
        <p:nvCxnSpPr>
          <p:cNvPr id="5" name="Straight Connector 4"/>
          <p:cNvCxnSpPr/>
          <p:nvPr/>
        </p:nvCxnSpPr>
        <p:spPr>
          <a:xfrm>
            <a:off x="4415638" y="393807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415637" y="393807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6090777" y="347934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64206" y="347934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223680" y="347934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30036" y="356407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0</a:t>
            </a:r>
          </a:p>
        </p:txBody>
      </p:sp>
      <p:sp>
        <p:nvSpPr>
          <p:cNvPr id="11" name="Rectangle 10"/>
          <p:cNvSpPr>
            <a:spLocks/>
          </p:cNvSpPr>
          <p:nvPr/>
        </p:nvSpPr>
        <p:spPr bwMode="auto">
          <a:xfrm>
            <a:off x="5907188"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2</a:t>
            </a:r>
          </a:p>
        </p:txBody>
      </p:sp>
      <p:sp>
        <p:nvSpPr>
          <p:cNvPr id="12" name="Rectangle 11"/>
          <p:cNvSpPr>
            <a:spLocks/>
          </p:cNvSpPr>
          <p:nvPr/>
        </p:nvSpPr>
        <p:spPr bwMode="auto">
          <a:xfrm>
            <a:off x="6995676"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a:t>
            </a:r>
          </a:p>
        </p:txBody>
      </p:sp>
      <p:sp>
        <p:nvSpPr>
          <p:cNvPr id="13" name="Rectangle 12"/>
          <p:cNvSpPr>
            <a:spLocks/>
          </p:cNvSpPr>
          <p:nvPr/>
        </p:nvSpPr>
        <p:spPr bwMode="auto">
          <a:xfrm>
            <a:off x="8055150"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4</a:t>
            </a:r>
          </a:p>
        </p:txBody>
      </p:sp>
      <p:sp>
        <p:nvSpPr>
          <p:cNvPr id="15" name="Rectangle 14"/>
          <p:cNvSpPr>
            <a:spLocks/>
          </p:cNvSpPr>
          <p:nvPr/>
        </p:nvSpPr>
        <p:spPr bwMode="auto">
          <a:xfrm>
            <a:off x="3547069" y="480340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1.000.000</a:t>
            </a:r>
          </a:p>
        </p:txBody>
      </p:sp>
      <p:sp>
        <p:nvSpPr>
          <p:cNvPr id="16" name="Rectangle 15"/>
          <p:cNvSpPr>
            <a:spLocks/>
          </p:cNvSpPr>
          <p:nvPr/>
        </p:nvSpPr>
        <p:spPr bwMode="auto">
          <a:xfrm>
            <a:off x="4944471"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a:t>
            </a:r>
          </a:p>
        </p:txBody>
      </p:sp>
      <p:sp>
        <p:nvSpPr>
          <p:cNvPr id="19" name="Rectangle 18"/>
          <p:cNvSpPr>
            <a:spLocks/>
          </p:cNvSpPr>
          <p:nvPr/>
        </p:nvSpPr>
        <p:spPr bwMode="auto">
          <a:xfrm>
            <a:off x="5911749" y="267948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308.668,7</a:t>
            </a:r>
          </a:p>
        </p:txBody>
      </p:sp>
      <p:cxnSp>
        <p:nvCxnSpPr>
          <p:cNvPr id="22" name="Straight Arrow Connector 21"/>
          <p:cNvCxnSpPr/>
          <p:nvPr/>
        </p:nvCxnSpPr>
        <p:spPr>
          <a:xfrm flipV="1">
            <a:off x="5113001" y="3479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Left Brace 22"/>
          <p:cNvSpPr/>
          <p:nvPr/>
        </p:nvSpPr>
        <p:spPr>
          <a:xfrm rot="5400000">
            <a:off x="6408674" y="1701746"/>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17" name="Picture 16"/>
          <p:cNvPicPr>
            <a:picLocks noChangeAspect="1"/>
          </p:cNvPicPr>
          <p:nvPr/>
        </p:nvPicPr>
        <p:blipFill>
          <a:blip r:embed="rId3"/>
          <a:stretch>
            <a:fillRect/>
          </a:stretch>
        </p:blipFill>
        <p:spPr>
          <a:xfrm>
            <a:off x="9974646" y="3557074"/>
            <a:ext cx="1346200" cy="381000"/>
          </a:xfrm>
          <a:prstGeom prst="rect">
            <a:avLst/>
          </a:prstGeom>
        </p:spPr>
      </p:pic>
      <p:pic>
        <p:nvPicPr>
          <p:cNvPr id="18" name="Picture 17"/>
          <p:cNvPicPr>
            <a:picLocks noChangeAspect="1"/>
          </p:cNvPicPr>
          <p:nvPr/>
        </p:nvPicPr>
        <p:blipFill>
          <a:blip r:embed="rId4"/>
          <a:stretch>
            <a:fillRect/>
          </a:stretch>
        </p:blipFill>
        <p:spPr>
          <a:xfrm>
            <a:off x="2210495" y="5516598"/>
            <a:ext cx="7771010" cy="631728"/>
          </a:xfrm>
          <a:prstGeom prst="rect">
            <a:avLst/>
          </a:prstGeom>
        </p:spPr>
      </p:pic>
      <p:sp>
        <p:nvSpPr>
          <p:cNvPr id="14" name="Rectángulo 13">
            <a:extLst>
              <a:ext uri="{FF2B5EF4-FFF2-40B4-BE49-F238E27FC236}">
                <a16:creationId xmlns:a16="http://schemas.microsoft.com/office/drawing/2014/main" id="{E5AC027D-D9F3-4155-11F6-D19BA0415E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5706E475-8B1B-4850-793D-608726CC46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2DFC4CB2-66DA-A810-7009-1E0616B05D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789E804F-19AF-0007-3B2C-9A9A10F120A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DEDD665-3107-E863-9034-3862745128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103200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6" grpId="0"/>
      <p:bldP spid="19" grpId="0"/>
      <p:bldP spid="2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038392"/>
            <a:ext cx="11029616" cy="2478764"/>
          </a:xfrm>
        </p:spPr>
        <p:txBody>
          <a:bodyPr>
            <a:normAutofit/>
          </a:bodyPr>
          <a:lstStyle/>
          <a:p>
            <a:pPr marL="0" indent="0" algn="just">
              <a:buNone/>
            </a:pPr>
            <a:r>
              <a:rPr lang="es-ES_tradnl" sz="2400" dirty="0"/>
              <a:t>En conclusión, los dos proyectos aunque cuentan con estructuras de flujos muy diferentes  cuentan con una misma rentabilidad (TIR).</a:t>
            </a:r>
          </a:p>
          <a:p>
            <a:pPr marL="0" indent="0" algn="just">
              <a:buNone/>
            </a:pPr>
            <a:endParaRPr lang="es-ES_tradnl" sz="2400" dirty="0"/>
          </a:p>
          <a:p>
            <a:pPr marL="0" indent="0" algn="just">
              <a:buNone/>
            </a:pPr>
            <a:r>
              <a:rPr lang="es-ES_tradnl" sz="2400" dirty="0"/>
              <a:t>Esto se debe a que la TIR es la rentabilidad de los recursos que</a:t>
            </a:r>
            <a:r>
              <a:rPr lang="es-ES_tradnl" sz="2400" b="1" dirty="0"/>
              <a:t> permanecen en el proyecto. </a:t>
            </a:r>
            <a:endParaRPr lang="es-ES_tradnl" sz="2400" dirty="0"/>
          </a:p>
        </p:txBody>
      </p:sp>
      <p:sp>
        <p:nvSpPr>
          <p:cNvPr id="6" name="Rectángulo 5">
            <a:extLst>
              <a:ext uri="{FF2B5EF4-FFF2-40B4-BE49-F238E27FC236}">
                <a16:creationId xmlns:a16="http://schemas.microsoft.com/office/drawing/2014/main" id="{6CA2F824-25BE-B488-7683-C44300C511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05C33AF6-AA43-4CB4-1C89-9E6804C1A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7A96DF7-5AA8-D7F7-2BAD-298A16FC9CE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6FC5D49-042C-69A0-C98A-F510CA138337}"/>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C9AF633F-F6D2-1E62-17A4-EB2BB3A40B4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
        <p:nvSpPr>
          <p:cNvPr id="11" name="TextBox 10">
            <a:extLst>
              <a:ext uri="{FF2B5EF4-FFF2-40B4-BE49-F238E27FC236}">
                <a16:creationId xmlns:a16="http://schemas.microsoft.com/office/drawing/2014/main" id="{B389FE84-284F-12CF-7A0E-5A8F9F241547}"/>
              </a:ext>
            </a:extLst>
          </p:cNvPr>
          <p:cNvSpPr txBox="1"/>
          <p:nvPr/>
        </p:nvSpPr>
        <p:spPr>
          <a:xfrm>
            <a:off x="641965" y="5018676"/>
            <a:ext cx="11029615" cy="830997"/>
          </a:xfrm>
          <a:prstGeom prst="rect">
            <a:avLst/>
          </a:prstGeom>
          <a:noFill/>
        </p:spPr>
        <p:txBody>
          <a:bodyPr wrap="square">
            <a:spAutoFit/>
          </a:bodyPr>
          <a:lstStyle/>
          <a:p>
            <a:pPr marL="0" indent="0" algn="ctr">
              <a:buNone/>
            </a:pPr>
            <a:r>
              <a:rPr lang="en-CO" sz="2400" b="1" dirty="0">
                <a:solidFill>
                  <a:schemeClr val="tx2"/>
                </a:solidFill>
              </a:rPr>
              <a:t>¿Qué hace el inversionista con el dinero que el proyecto le va devolviendo trimestre a trimestre?</a:t>
            </a:r>
          </a:p>
        </p:txBody>
      </p:sp>
    </p:spTree>
    <p:extLst>
      <p:ext uri="{BB962C8B-B14F-4D97-AF65-F5344CB8AC3E}">
        <p14:creationId xmlns:p14="http://schemas.microsoft.com/office/powerpoint/2010/main" val="382307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930"/>
            <a:ext cx="11029615" cy="3979822"/>
          </a:xfrm>
        </p:spPr>
        <p:txBody>
          <a:bodyPr>
            <a:normAutofit/>
          </a:bodyPr>
          <a:lstStyle/>
          <a:p>
            <a:pPr marL="0" indent="0" algn="just">
              <a:buNone/>
            </a:pPr>
            <a:r>
              <a:rPr lang="es-ES_tradnl" sz="2600"/>
              <a:t>Es importante recordar que la utilización de la TIR implica la aceptación de sus </a:t>
            </a:r>
            <a:r>
              <a:rPr lang="es-ES_tradnl" sz="2600" i="1">
                <a:solidFill>
                  <a:srgbClr val="800000"/>
                </a:solidFill>
              </a:rPr>
              <a:t>supuestos</a:t>
            </a:r>
            <a:r>
              <a:rPr lang="es-ES_tradnl" sz="2600"/>
              <a:t>. En particular el supuesto de REINVERSIÓN de los flujos.</a:t>
            </a:r>
          </a:p>
          <a:p>
            <a:pPr marL="0" indent="0" algn="just">
              <a:buNone/>
            </a:pPr>
            <a:endParaRPr lang="es-ES_tradnl" sz="2600"/>
          </a:p>
          <a:p>
            <a:pPr marL="0" indent="0" algn="just">
              <a:buNone/>
            </a:pPr>
            <a:r>
              <a:rPr lang="es-ES_tradnl" sz="2600"/>
              <a:t>Adicionalmente, la TIR tiene las “</a:t>
            </a:r>
            <a:r>
              <a:rPr lang="es-ES_tradnl" sz="2600" i="1">
                <a:solidFill>
                  <a:srgbClr val="800000"/>
                </a:solidFill>
              </a:rPr>
              <a:t>complicaciones</a:t>
            </a:r>
            <a:r>
              <a:rPr lang="es-ES_tradnl" sz="2600"/>
              <a:t>” asociadas a las raíces de los polinomios; es decir puede tener tantas soluciones como raíces tenga la ecuación. Lo anterior impediría encontrar la TIR para ciertos proyectos.</a:t>
            </a:r>
          </a:p>
          <a:p>
            <a:pPr marL="0" indent="0" algn="just">
              <a:buNone/>
            </a:pPr>
            <a:endParaRPr lang="es-ES_tradnl" sz="2600"/>
          </a:p>
          <a:p>
            <a:pPr marL="0" indent="0" algn="ctr">
              <a:buNone/>
            </a:pPr>
            <a:r>
              <a:rPr lang="es-ES_tradnl" sz="2600"/>
              <a:t>Veamos el VPN de un proyecto así.</a:t>
            </a:r>
          </a:p>
        </p:txBody>
      </p:sp>
      <p:sp>
        <p:nvSpPr>
          <p:cNvPr id="6" name="Rectángulo 5">
            <a:extLst>
              <a:ext uri="{FF2B5EF4-FFF2-40B4-BE49-F238E27FC236}">
                <a16:creationId xmlns:a16="http://schemas.microsoft.com/office/drawing/2014/main" id="{60AAD51E-DB66-6703-4618-65DA4702C5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10B7922-6964-7D7F-6336-049B598CD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28569D9-7BAD-63F7-2135-77319118EA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A545B6EC-96D3-4130-A95F-CCD5A236F81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570D78A-A1AD-B8E0-A068-593DEDE3213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214126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áfico 7">
            <a:extLst>
              <a:ext uri="{FF2B5EF4-FFF2-40B4-BE49-F238E27FC236}">
                <a16:creationId xmlns:a16="http://schemas.microsoft.com/office/drawing/2014/main" id="{C72B0BA3-769F-3BDC-D8B0-D3329D64E57A}"/>
              </a:ext>
            </a:extLst>
          </p:cNvPr>
          <p:cNvGraphicFramePr>
            <a:graphicFrameLocks/>
          </p:cNvGraphicFramePr>
          <p:nvPr>
            <p:extLst>
              <p:ext uri="{D42A27DB-BD31-4B8C-83A1-F6EECF244321}">
                <p14:modId xmlns:p14="http://schemas.microsoft.com/office/powerpoint/2010/main" val="3492361940"/>
              </p:ext>
            </p:extLst>
          </p:nvPr>
        </p:nvGraphicFramePr>
        <p:xfrm>
          <a:off x="581191" y="1905002"/>
          <a:ext cx="10612929" cy="4503348"/>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AD7556AF-2DAF-7ED0-ADC5-7F885FB82E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20C7C68-B395-D36E-1539-308938BE2E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426B318-534E-08F0-6190-11C42CA8E71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76E5E54-FC92-BBA5-9AF2-DF64A93F889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081563-3679-E8B2-5FA2-B0B5CE048C0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6199325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F56BFC92-7D77-4055-92BB-139CC9F3284A}"/>
              </a:ext>
            </a:extLst>
          </p:cNvPr>
          <p:cNvGraphicFramePr>
            <a:graphicFrameLocks/>
          </p:cNvGraphicFramePr>
          <p:nvPr>
            <p:extLst>
              <p:ext uri="{D42A27DB-BD31-4B8C-83A1-F6EECF244321}">
                <p14:modId xmlns:p14="http://schemas.microsoft.com/office/powerpoint/2010/main" val="3398539277"/>
              </p:ext>
            </p:extLst>
          </p:nvPr>
        </p:nvGraphicFramePr>
        <p:xfrm>
          <a:off x="581191" y="1817914"/>
          <a:ext cx="10968843" cy="4626429"/>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90502B9D-BF35-E52F-FA88-20182F96B9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594CE4E3-0B17-26F7-B9A0-21DA9EE0E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56615DD-8418-39D1-5081-5F4BEF5B6B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3442FF81-9F59-D72F-87DB-D990EDB1B01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5" name="Marcador de número de diapositiva 3">
            <a:extLst>
              <a:ext uri="{FF2B5EF4-FFF2-40B4-BE49-F238E27FC236}">
                <a16:creationId xmlns:a16="http://schemas.microsoft.com/office/drawing/2014/main" id="{936BCF46-025E-0249-B748-8510A25BEA5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1405728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4"/>
          <p:cNvCxnSpPr/>
          <p:nvPr/>
        </p:nvCxnSpPr>
        <p:spPr>
          <a:xfrm>
            <a:off x="4430045" y="279931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6"/>
          <p:cNvCxnSpPr/>
          <p:nvPr/>
        </p:nvCxnSpPr>
        <p:spPr>
          <a:xfrm flipV="1">
            <a:off x="6105184" y="23405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7"/>
          <p:cNvCxnSpPr/>
          <p:nvPr/>
        </p:nvCxnSpPr>
        <p:spPr>
          <a:xfrm flipV="1">
            <a:off x="7178613" y="23405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8"/>
          <p:cNvCxnSpPr/>
          <p:nvPr/>
        </p:nvCxnSpPr>
        <p:spPr>
          <a:xfrm flipV="1">
            <a:off x="8238087" y="234058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9"/>
          <p:cNvSpPr>
            <a:spLocks/>
          </p:cNvSpPr>
          <p:nvPr/>
        </p:nvSpPr>
        <p:spPr bwMode="auto">
          <a:xfrm flipH="1">
            <a:off x="4344443" y="2394539"/>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0</a:t>
            </a:r>
          </a:p>
        </p:txBody>
      </p:sp>
      <p:sp>
        <p:nvSpPr>
          <p:cNvPr id="12" name="Rectangle 10"/>
          <p:cNvSpPr>
            <a:spLocks/>
          </p:cNvSpPr>
          <p:nvPr/>
        </p:nvSpPr>
        <p:spPr bwMode="auto">
          <a:xfrm>
            <a:off x="5921595"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2</a:t>
            </a:r>
          </a:p>
        </p:txBody>
      </p:sp>
      <p:sp>
        <p:nvSpPr>
          <p:cNvPr id="13" name="Rectangle 11"/>
          <p:cNvSpPr>
            <a:spLocks/>
          </p:cNvSpPr>
          <p:nvPr/>
        </p:nvSpPr>
        <p:spPr bwMode="auto">
          <a:xfrm>
            <a:off x="7010083"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3</a:t>
            </a:r>
          </a:p>
        </p:txBody>
      </p:sp>
      <p:sp>
        <p:nvSpPr>
          <p:cNvPr id="14" name="Rectangle 12"/>
          <p:cNvSpPr>
            <a:spLocks/>
          </p:cNvSpPr>
          <p:nvPr/>
        </p:nvSpPr>
        <p:spPr bwMode="auto">
          <a:xfrm>
            <a:off x="8069557"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4</a:t>
            </a:r>
          </a:p>
        </p:txBody>
      </p:sp>
      <p:sp>
        <p:nvSpPr>
          <p:cNvPr id="16" name="Rectangle 14"/>
          <p:cNvSpPr>
            <a:spLocks/>
          </p:cNvSpPr>
          <p:nvPr/>
        </p:nvSpPr>
        <p:spPr bwMode="auto">
          <a:xfrm>
            <a:off x="4958878"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1</a:t>
            </a:r>
          </a:p>
        </p:txBody>
      </p:sp>
      <p:cxnSp>
        <p:nvCxnSpPr>
          <p:cNvPr id="18" name="Straight Arrow Connector 16"/>
          <p:cNvCxnSpPr/>
          <p:nvPr/>
        </p:nvCxnSpPr>
        <p:spPr>
          <a:xfrm flipV="1">
            <a:off x="5127408" y="234059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4"/>
          <p:cNvCxnSpPr/>
          <p:nvPr/>
        </p:nvCxnSpPr>
        <p:spPr>
          <a:xfrm>
            <a:off x="4428572" y="4950996"/>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p:nvPr/>
        </p:nvCxnSpPr>
        <p:spPr>
          <a:xfrm>
            <a:off x="4428571" y="495099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6"/>
          <p:cNvCxnSpPr/>
          <p:nvPr/>
        </p:nvCxnSpPr>
        <p:spPr>
          <a:xfrm>
            <a:off x="6103711" y="4950996"/>
            <a:ext cx="0" cy="84353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7"/>
          <p:cNvCxnSpPr/>
          <p:nvPr/>
        </p:nvCxnSpPr>
        <p:spPr>
          <a:xfrm flipV="1">
            <a:off x="7177140" y="449227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8"/>
          <p:cNvCxnSpPr/>
          <p:nvPr/>
        </p:nvCxnSpPr>
        <p:spPr>
          <a:xfrm flipV="1">
            <a:off x="8236614" y="4492269"/>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9"/>
          <p:cNvSpPr>
            <a:spLocks/>
          </p:cNvSpPr>
          <p:nvPr/>
        </p:nvSpPr>
        <p:spPr bwMode="auto">
          <a:xfrm flipH="1">
            <a:off x="4342970" y="4546220"/>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0</a:t>
            </a:r>
          </a:p>
        </p:txBody>
      </p:sp>
      <p:sp>
        <p:nvSpPr>
          <p:cNvPr id="28" name="Rectangle 10"/>
          <p:cNvSpPr>
            <a:spLocks/>
          </p:cNvSpPr>
          <p:nvPr/>
        </p:nvSpPr>
        <p:spPr bwMode="auto">
          <a:xfrm>
            <a:off x="5936654" y="454622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2</a:t>
            </a:r>
          </a:p>
        </p:txBody>
      </p:sp>
      <p:sp>
        <p:nvSpPr>
          <p:cNvPr id="29" name="Rectangle 11"/>
          <p:cNvSpPr>
            <a:spLocks/>
          </p:cNvSpPr>
          <p:nvPr/>
        </p:nvSpPr>
        <p:spPr bwMode="auto">
          <a:xfrm>
            <a:off x="7008610" y="501255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3</a:t>
            </a:r>
          </a:p>
        </p:txBody>
      </p:sp>
      <p:sp>
        <p:nvSpPr>
          <p:cNvPr id="30" name="Rectangle 12"/>
          <p:cNvSpPr>
            <a:spLocks/>
          </p:cNvSpPr>
          <p:nvPr/>
        </p:nvSpPr>
        <p:spPr bwMode="auto">
          <a:xfrm>
            <a:off x="8068084"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4</a:t>
            </a:r>
          </a:p>
        </p:txBody>
      </p:sp>
      <p:sp>
        <p:nvSpPr>
          <p:cNvPr id="31" name="Rectangle 14"/>
          <p:cNvSpPr>
            <a:spLocks/>
          </p:cNvSpPr>
          <p:nvPr/>
        </p:nvSpPr>
        <p:spPr bwMode="auto">
          <a:xfrm>
            <a:off x="4957405"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1</a:t>
            </a:r>
          </a:p>
        </p:txBody>
      </p:sp>
      <p:cxnSp>
        <p:nvCxnSpPr>
          <p:cNvPr id="32" name="Straight Arrow Connector 16"/>
          <p:cNvCxnSpPr/>
          <p:nvPr/>
        </p:nvCxnSpPr>
        <p:spPr>
          <a:xfrm flipV="1">
            <a:off x="5125935" y="4492271"/>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4"/>
          <p:cNvSpPr>
            <a:spLocks/>
          </p:cNvSpPr>
          <p:nvPr/>
        </p:nvSpPr>
        <p:spPr bwMode="auto">
          <a:xfrm>
            <a:off x="5214241" y="3614018"/>
            <a:ext cx="19643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3200" b="1" i="1">
                <a:solidFill>
                  <a:schemeClr val="accent6">
                    <a:lumMod val="50000"/>
                  </a:schemeClr>
                </a:solidFill>
              </a:rPr>
              <a:t>TIR = ????</a:t>
            </a:r>
          </a:p>
        </p:txBody>
      </p:sp>
      <p:sp>
        <p:nvSpPr>
          <p:cNvPr id="3" name="Rectángulo 2">
            <a:extLst>
              <a:ext uri="{FF2B5EF4-FFF2-40B4-BE49-F238E27FC236}">
                <a16:creationId xmlns:a16="http://schemas.microsoft.com/office/drawing/2014/main" id="{3419166A-4B89-E44D-D3C7-F6A2FB4302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02B2F1-FD35-BB22-80CA-290C5EDCD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4CC6DBF-FBC6-24A7-ED21-5E14C9441F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91BB89D4-E0C0-A00D-CC24-EE0DB904418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08FB929-4EFA-0CC7-E073-8E67A828CF1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a:latin typeface="Century Gothic" panose="020B0502020202020204" pitchFamily="34" charset="0"/>
            </a:endParaRPr>
          </a:p>
        </p:txBody>
      </p:sp>
    </p:spTree>
    <p:extLst>
      <p:ext uri="{BB962C8B-B14F-4D97-AF65-F5344CB8AC3E}">
        <p14:creationId xmlns:p14="http://schemas.microsoft.com/office/powerpoint/2010/main" val="35452490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61457"/>
            <a:ext cx="11029615" cy="4094680"/>
          </a:xfrm>
        </p:spPr>
        <p:txBody>
          <a:bodyPr>
            <a:normAutofit/>
          </a:bodyPr>
          <a:lstStyle/>
          <a:p>
            <a:pPr marL="0" indent="0" algn="ctr">
              <a:buNone/>
            </a:pPr>
            <a:r>
              <a:rPr lang="es-CO" sz="4400">
                <a:solidFill>
                  <a:srgbClr val="C00000"/>
                </a:solidFill>
              </a:rPr>
              <a:t>¿Qué hacemos en estos casos?</a:t>
            </a:r>
          </a:p>
        </p:txBody>
      </p:sp>
      <p:sp>
        <p:nvSpPr>
          <p:cNvPr id="6" name="Rectángulo 5">
            <a:extLst>
              <a:ext uri="{FF2B5EF4-FFF2-40B4-BE49-F238E27FC236}">
                <a16:creationId xmlns:a16="http://schemas.microsoft.com/office/drawing/2014/main" id="{6070ECE1-5F74-2AA0-260B-626F631CB9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08027CA-742A-D678-EA2D-28456D129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2E5AEBF-22C9-2527-1FDF-93527146787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25AC0B3-2228-6276-7E24-66FCBE774C7A}"/>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F8665161-1DD5-ECCC-B669-3053C8BBD3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spTree>
    <p:extLst>
      <p:ext uri="{BB962C8B-B14F-4D97-AF65-F5344CB8AC3E}">
        <p14:creationId xmlns:p14="http://schemas.microsoft.com/office/powerpoint/2010/main" val="2518596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45B8-70CF-0F7D-AA1C-4F16270648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29ED62-DEFA-90B3-99E4-D56C9D4260E7}"/>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13D55BDB-8666-D6C4-4423-5915D9C812F8}"/>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57</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D15BAD4-B7FC-ADF5-1841-2A7648D1B7D9}"/>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0B37203-F030-F41E-682B-A5362826BB31}"/>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a:cs typeface="Arial"/>
            </a:endParaRPr>
          </a:p>
        </p:txBody>
      </p:sp>
      <p:sp>
        <p:nvSpPr>
          <p:cNvPr id="3" name="Rectángulo 2">
            <a:extLst>
              <a:ext uri="{FF2B5EF4-FFF2-40B4-BE49-F238E27FC236}">
                <a16:creationId xmlns:a16="http://schemas.microsoft.com/office/drawing/2014/main" id="{DC940EB7-5EF5-ECEF-1985-4ADC5BAD07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556DA81-A2E3-984D-216A-E83F122B8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7F01F85-916C-C6B0-BBB6-5FA44936C5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4825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F2C6-DE3D-1FAF-D05F-3A426006414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DBD1D67-191E-75DD-8360-DD81CBCEC9B5}"/>
              </a:ext>
            </a:extLst>
          </p:cNvPr>
          <p:cNvSpPr>
            <a:spLocks noGrp="1"/>
          </p:cNvSpPr>
          <p:nvPr>
            <p:ph idx="1"/>
          </p:nvPr>
        </p:nvSpPr>
        <p:spPr>
          <a:xfrm>
            <a:off x="1524000" y="2948158"/>
            <a:ext cx="9144000" cy="2076492"/>
          </a:xfrm>
        </p:spPr>
        <p:txBody>
          <a:bodyPr>
            <a:normAutofit/>
          </a:bodyPr>
          <a:lstStyle/>
          <a:p>
            <a:pPr marL="0" indent="0" algn="ctr">
              <a:buNone/>
            </a:pPr>
            <a:r>
              <a:rPr lang="es-ES_tradnl" sz="2800" b="1" dirty="0">
                <a:solidFill>
                  <a:srgbClr val="800000"/>
                </a:solidFill>
              </a:rPr>
              <a:t>TVR</a:t>
            </a:r>
          </a:p>
          <a:p>
            <a:pPr marL="0" indent="0" algn="ctr">
              <a:buNone/>
            </a:pPr>
            <a:r>
              <a:rPr lang="es-ES_tradnl" sz="2800" b="1" dirty="0">
                <a:solidFill>
                  <a:srgbClr val="800000"/>
                </a:solidFill>
              </a:rPr>
              <a:t>(Tasa Verdadera de Rentabilidad)</a:t>
            </a:r>
          </a:p>
        </p:txBody>
      </p:sp>
      <p:sp>
        <p:nvSpPr>
          <p:cNvPr id="3" name="Rectángulo 2">
            <a:extLst>
              <a:ext uri="{FF2B5EF4-FFF2-40B4-BE49-F238E27FC236}">
                <a16:creationId xmlns:a16="http://schemas.microsoft.com/office/drawing/2014/main" id="{458EE6E5-24C9-30AE-B7E4-E70AF2B3848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61C0F56-BFC7-981E-EDF0-607B5C918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A103D642-6241-4B0D-0021-592CB29F85C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AA1384B0-042B-29E7-A53C-F231C46263F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37901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780216"/>
          </a:xfrm>
        </p:spPr>
        <p:txBody>
          <a:bodyPr>
            <a:noAutofit/>
          </a:bodyPr>
          <a:lstStyle/>
          <a:p>
            <a:pPr marL="0" indent="0" algn="just">
              <a:buNone/>
            </a:pPr>
            <a:r>
              <a:rPr lang="es-ES" sz="2400" dirty="0"/>
              <a:t>La suposición de reinversión del método de la TIR que se mencionó con anterioridad podría no ser válida en un estudio de ingeniería económica. Por ejemplo, si el C.O. de una empresa es del 20% anual y la TIR de un proyecto es del 42.4% podría no ser posible para la compañía reinvertir el flujo de efectivo que se produce a una tasa superior al 20%.</a:t>
            </a:r>
            <a:endParaRPr lang="es-ES_tradnl" sz="2400" i="1" dirty="0">
              <a:solidFill>
                <a:srgbClr val="800000"/>
              </a:solidFill>
            </a:endParaRPr>
          </a:p>
        </p:txBody>
      </p:sp>
      <p:sp>
        <p:nvSpPr>
          <p:cNvPr id="7" name="TextBox 6">
            <a:extLst>
              <a:ext uri="{FF2B5EF4-FFF2-40B4-BE49-F238E27FC236}">
                <a16:creationId xmlns:a16="http://schemas.microsoft.com/office/drawing/2014/main" id="{061E55FF-ECCE-43CA-A8DA-A286753F5FB2}"/>
              </a:ext>
            </a:extLst>
          </p:cNvPr>
          <p:cNvSpPr txBox="1"/>
          <p:nvPr/>
        </p:nvSpPr>
        <p:spPr>
          <a:xfrm>
            <a:off x="2394857" y="4724771"/>
            <a:ext cx="7785099" cy="1200329"/>
          </a:xfrm>
          <a:prstGeom prst="rect">
            <a:avLst/>
          </a:prstGeom>
          <a:noFill/>
        </p:spPr>
        <p:txBody>
          <a:bodyPr wrap="square">
            <a:spAutoFit/>
          </a:bodyPr>
          <a:lstStyle/>
          <a:p>
            <a:pPr algn="ctr"/>
            <a:r>
              <a:rPr lang="es-ES_tradnl" sz="2400" i="1" dirty="0">
                <a:solidFill>
                  <a:srgbClr val="800000"/>
                </a:solidFill>
              </a:rPr>
              <a:t>¿Cómo podríamos calcular el rendimiento de un proyecto si el efectivo producido por el mismo se reinvierte a una tasa diferente a la de la TIR?</a:t>
            </a:r>
          </a:p>
        </p:txBody>
      </p:sp>
      <p:sp>
        <p:nvSpPr>
          <p:cNvPr id="9" name="Rectángulo 8">
            <a:extLst>
              <a:ext uri="{FF2B5EF4-FFF2-40B4-BE49-F238E27FC236}">
                <a16:creationId xmlns:a16="http://schemas.microsoft.com/office/drawing/2014/main" id="{83E9FB71-115C-3A96-5781-AADB0D36EB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6A6864F-583D-D258-0CFC-CF1AF9937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F56B8CB-5C1C-A26D-9D1E-10BB9A53B4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E2142B93-A286-E5DB-8658-CECC785173E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3D6FBC51-5190-34C8-5C28-B19C459D97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516604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138223"/>
          </a:xfrm>
        </p:spPr>
        <p:txBody>
          <a:bodyPr>
            <a:normAutofit/>
          </a:bodyPr>
          <a:lstStyle/>
          <a:p>
            <a:pPr marL="0" indent="0" algn="just">
              <a:buNone/>
            </a:pPr>
            <a:r>
              <a:rPr lang="es-ES_tradnl" sz="2400" dirty="0"/>
              <a:t>La TVR, también conocida como Tasa Externa de Retorno o TIR Modificada (TER/TIRM), representa la </a:t>
            </a:r>
            <a:r>
              <a:rPr lang="es-ES_tradnl" sz="2400" b="1" dirty="0"/>
              <a:t>rentabilidad propia del inversionista (no del proyecto, como es el caso de la TIR</a:t>
            </a:r>
            <a:r>
              <a:rPr lang="es-ES_tradnl" sz="2400" dirty="0"/>
              <a:t>).</a:t>
            </a:r>
          </a:p>
          <a:p>
            <a:pPr marL="0" indent="0" algn="just">
              <a:buNone/>
            </a:pPr>
            <a:endParaRPr lang="es-ES_tradnl" sz="2400" dirty="0"/>
          </a:p>
          <a:p>
            <a:pPr marL="0" indent="0" algn="just">
              <a:buNone/>
            </a:pPr>
            <a:r>
              <a:rPr lang="es-ES_tradnl" sz="2400" i="1" dirty="0">
                <a:solidFill>
                  <a:srgbClr val="800000"/>
                </a:solidFill>
              </a:rPr>
              <a:t>La TVR se utiliza pues permite evitar la existencia de las dos limitaciones de la TIR:</a:t>
            </a:r>
          </a:p>
          <a:p>
            <a:pPr marL="781200" lvl="1" indent="-457200" algn="just">
              <a:buAutoNum type="arabicPeriod"/>
            </a:pPr>
            <a:r>
              <a:rPr lang="es-ES_tradnl" sz="2400" i="1" dirty="0">
                <a:solidFill>
                  <a:srgbClr val="800000"/>
                </a:solidFill>
              </a:rPr>
              <a:t>No requiere asumir la reinversión de los flujos a la TIR del proyecto.</a:t>
            </a:r>
          </a:p>
          <a:p>
            <a:pPr marL="781200" lvl="1" indent="-457200" algn="just">
              <a:buAutoNum type="arabicPeriod"/>
            </a:pPr>
            <a:r>
              <a:rPr lang="es-ES_tradnl" sz="2400" i="1" dirty="0">
                <a:solidFill>
                  <a:srgbClr val="800000"/>
                </a:solidFill>
              </a:rPr>
              <a:t>Permite solucionar la existencia de más de un cambio de signo.</a:t>
            </a:r>
          </a:p>
        </p:txBody>
      </p:sp>
      <p:sp>
        <p:nvSpPr>
          <p:cNvPr id="8" name="Rectángulo 7">
            <a:extLst>
              <a:ext uri="{FF2B5EF4-FFF2-40B4-BE49-F238E27FC236}">
                <a16:creationId xmlns:a16="http://schemas.microsoft.com/office/drawing/2014/main" id="{47F016AA-DF76-BD93-9146-D6D63ABEA50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6F07519-3CD7-E23F-F464-F6F6B071D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A5C4667-E760-B264-836B-BB503B0C811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59F4A1E3-AFAD-27A5-DA5D-DA2967F9AA9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CCE9F504-3317-74ED-DCAF-970DBA43536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9853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871"/>
            <a:ext cx="11029615" cy="1326050"/>
          </a:xfrm>
        </p:spPr>
        <p:txBody>
          <a:bodyPr>
            <a:normAutofit/>
          </a:bodyPr>
          <a:lstStyle/>
          <a:p>
            <a:pPr marL="0" indent="0" algn="just">
              <a:buNone/>
            </a:pPr>
            <a:r>
              <a:rPr lang="es-ES_tradnl" sz="2400" dirty="0"/>
              <a:t>Como ya sabemos, la TIR implica reinversión de los flujos a la TIR del proyecto. No obstante, es más realista asumir que dichos flujos no se invierten a la TIR sino al C.O. Retomemos nuestro ejemplo anterior y asuma que C.O. = 5%.</a:t>
            </a:r>
            <a:endParaRPr lang="es-ES_tradnl" sz="2400" i="1" dirty="0">
              <a:solidFill>
                <a:srgbClr val="800000"/>
              </a:solidFill>
            </a:endParaRPr>
          </a:p>
        </p:txBody>
      </p:sp>
      <p:cxnSp>
        <p:nvCxnSpPr>
          <p:cNvPr id="5" name="Straight Connector 4"/>
          <p:cNvCxnSpPr/>
          <p:nvPr/>
        </p:nvCxnSpPr>
        <p:spPr>
          <a:xfrm>
            <a:off x="4342438" y="459014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42437" y="459014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17577" y="459014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091006" y="413141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50480" y="393683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256836" y="421614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33988"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22476"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7981950"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871271"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28099"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16" name="Straight Arrow Connector 15"/>
          <p:cNvCxnSpPr/>
          <p:nvPr/>
        </p:nvCxnSpPr>
        <p:spPr>
          <a:xfrm flipV="1">
            <a:off x="5039801" y="413141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08040"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19" name="Rectangle 14"/>
          <p:cNvSpPr>
            <a:spLocks/>
          </p:cNvSpPr>
          <p:nvPr/>
        </p:nvSpPr>
        <p:spPr bwMode="auto">
          <a:xfrm>
            <a:off x="7367514" y="360242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22" name="Rectangle 14"/>
          <p:cNvSpPr>
            <a:spLocks/>
          </p:cNvSpPr>
          <p:nvPr/>
        </p:nvSpPr>
        <p:spPr bwMode="auto">
          <a:xfrm>
            <a:off x="3539733" y="551311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252984" y="524460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Rectángulo 16">
            <a:extLst>
              <a:ext uri="{FF2B5EF4-FFF2-40B4-BE49-F238E27FC236}">
                <a16:creationId xmlns:a16="http://schemas.microsoft.com/office/drawing/2014/main" id="{45E011C9-80E5-28EB-3A6A-89E5368A02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FF67199A-C039-091A-D1D2-C0E67FC01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AFF4805E-8488-5795-4109-1758374F81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A41C4546-5487-4047-7598-7B9E287A0EB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BBE0DA29-33BA-54CE-AE33-0DBB09ACA69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3044670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44093"/>
            <a:ext cx="11029615" cy="845647"/>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grpSp>
        <p:nvGrpSpPr>
          <p:cNvPr id="5" name="Grupo 4"/>
          <p:cNvGrpSpPr/>
          <p:nvPr/>
        </p:nvGrpSpPr>
        <p:grpSpPr>
          <a:xfrm>
            <a:off x="550652" y="3509574"/>
            <a:ext cx="4896393" cy="2042509"/>
            <a:chOff x="1896374" y="3949056"/>
            <a:chExt cx="5393713" cy="2249685"/>
          </a:xfrm>
        </p:grpSpPr>
        <p:cxnSp>
          <p:nvCxnSpPr>
            <p:cNvPr id="36"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5"/>
            <p:cNvCxnSpPr/>
            <p:nvPr/>
          </p:nvCxnSpPr>
          <p:spPr>
            <a:xfrm>
              <a:off x="2699078" y="495237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6"/>
            <p:cNvCxnSpPr/>
            <p:nvPr/>
          </p:nvCxnSpPr>
          <p:spPr>
            <a:xfrm>
              <a:off x="4374218" y="4952378"/>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7"/>
            <p:cNvCxnSpPr/>
            <p:nvPr/>
          </p:nvCxnSpPr>
          <p:spPr>
            <a:xfrm flipV="1">
              <a:off x="5447647" y="4493652"/>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8"/>
            <p:cNvCxnSpPr/>
            <p:nvPr/>
          </p:nvCxnSpPr>
          <p:spPr>
            <a:xfrm flipV="1">
              <a:off x="6507121" y="4299069"/>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9"/>
            <p:cNvSpPr>
              <a:spLocks/>
            </p:cNvSpPr>
            <p:nvPr/>
          </p:nvSpPr>
          <p:spPr bwMode="auto">
            <a:xfrm flipH="1">
              <a:off x="2613476" y="4562771"/>
              <a:ext cx="131729"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9" name="Rectangle 10"/>
            <p:cNvSpPr>
              <a:spLocks/>
            </p:cNvSpPr>
            <p:nvPr/>
          </p:nvSpPr>
          <p:spPr bwMode="auto">
            <a:xfrm>
              <a:off x="4190629"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50" name="Rectangle 11"/>
            <p:cNvSpPr>
              <a:spLocks/>
            </p:cNvSpPr>
            <p:nvPr/>
          </p:nvSpPr>
          <p:spPr bwMode="auto">
            <a:xfrm>
              <a:off x="5279117"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52" name="Rectangle 12"/>
            <p:cNvSpPr>
              <a:spLocks/>
            </p:cNvSpPr>
            <p:nvPr/>
          </p:nvSpPr>
          <p:spPr bwMode="auto">
            <a:xfrm>
              <a:off x="6338591"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53" name="Rectangle 13"/>
            <p:cNvSpPr>
              <a:spLocks/>
            </p:cNvSpPr>
            <p:nvPr/>
          </p:nvSpPr>
          <p:spPr bwMode="auto">
            <a:xfrm>
              <a:off x="3227912"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54" name="Rectangle 14"/>
            <p:cNvSpPr>
              <a:spLocks/>
            </p:cNvSpPr>
            <p:nvPr/>
          </p:nvSpPr>
          <p:spPr bwMode="auto">
            <a:xfrm>
              <a:off x="2584740"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55" name="Straight Arrow Connector 15"/>
            <p:cNvCxnSpPr/>
            <p:nvPr/>
          </p:nvCxnSpPr>
          <p:spPr>
            <a:xfrm flipV="1">
              <a:off x="3396442" y="449365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6" name="Rectangle 14"/>
            <p:cNvSpPr>
              <a:spLocks/>
            </p:cNvSpPr>
            <p:nvPr/>
          </p:nvSpPr>
          <p:spPr bwMode="auto">
            <a:xfrm>
              <a:off x="4664681"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57" name="Rectangle 14"/>
            <p:cNvSpPr>
              <a:spLocks/>
            </p:cNvSpPr>
            <p:nvPr/>
          </p:nvSpPr>
          <p:spPr bwMode="auto">
            <a:xfrm>
              <a:off x="5724155" y="394905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58" name="Rectangle 14"/>
            <p:cNvSpPr>
              <a:spLocks/>
            </p:cNvSpPr>
            <p:nvPr/>
          </p:nvSpPr>
          <p:spPr bwMode="auto">
            <a:xfrm>
              <a:off x="1896374" y="585974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59" name="Rectangle 14"/>
            <p:cNvSpPr>
              <a:spLocks/>
            </p:cNvSpPr>
            <p:nvPr/>
          </p:nvSpPr>
          <p:spPr bwMode="auto">
            <a:xfrm>
              <a:off x="3609625" y="5591230"/>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grpSp>
      <p:grpSp>
        <p:nvGrpSpPr>
          <p:cNvPr id="60" name="Grupo 59"/>
          <p:cNvGrpSpPr/>
          <p:nvPr/>
        </p:nvGrpSpPr>
        <p:grpSpPr>
          <a:xfrm>
            <a:off x="6760934" y="3213081"/>
            <a:ext cx="4323620" cy="2542848"/>
            <a:chOff x="1912887" y="3612602"/>
            <a:chExt cx="4762764" cy="2800777"/>
          </a:xfrm>
        </p:grpSpPr>
        <p:cxnSp>
          <p:nvCxnSpPr>
            <p:cNvPr id="61"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Arrow Connector 5"/>
            <p:cNvCxnSpPr>
              <a:endCxn id="75"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6"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67"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68"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69"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70"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75"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cxnSp>
        <p:nvCxnSpPr>
          <p:cNvPr id="8" name="Conector curvado 7"/>
          <p:cNvCxnSpPr>
            <a:cxnSpLocks/>
            <a:stCxn id="54" idx="0"/>
            <a:endCxn id="57" idx="0"/>
          </p:cNvCxnSpPr>
          <p:nvPr/>
        </p:nvCxnSpPr>
        <p:spPr>
          <a:xfrm rot="5400000" flipH="1" flipV="1">
            <a:off x="3229350" y="2166544"/>
            <a:ext cx="163892" cy="2849950"/>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ector curvado 9"/>
          <p:cNvCxnSpPr>
            <a:cxnSpLocks/>
            <a:stCxn id="56" idx="0"/>
            <a:endCxn id="57" idx="0"/>
          </p:cNvCxnSpPr>
          <p:nvPr/>
        </p:nvCxnSpPr>
        <p:spPr>
          <a:xfrm rot="5400000" flipH="1" flipV="1">
            <a:off x="4173431" y="3110627"/>
            <a:ext cx="163892" cy="961787"/>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ector curvado 11"/>
          <p:cNvCxnSpPr>
            <a:cxnSpLocks/>
            <a:stCxn id="59" idx="2"/>
            <a:endCxn id="58" idx="2"/>
          </p:cNvCxnSpPr>
          <p:nvPr/>
        </p:nvCxnSpPr>
        <p:spPr>
          <a:xfrm rot="5400000">
            <a:off x="1917173" y="4652548"/>
            <a:ext cx="243788" cy="1555283"/>
          </a:xfrm>
          <a:prstGeom prst="curvedConnector3">
            <a:avLst>
              <a:gd name="adj1" fmla="val 193770"/>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7" name="Rectangle 14"/>
          <p:cNvSpPr>
            <a:spLocks/>
          </p:cNvSpPr>
          <p:nvPr/>
        </p:nvSpPr>
        <p:spPr bwMode="auto">
          <a:xfrm>
            <a:off x="10189258" y="2839350"/>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p:sp>
        <p:nvSpPr>
          <p:cNvPr id="6" name="Rectángulo 5">
            <a:extLst>
              <a:ext uri="{FF2B5EF4-FFF2-40B4-BE49-F238E27FC236}">
                <a16:creationId xmlns:a16="http://schemas.microsoft.com/office/drawing/2014/main" id="{CE7C9AE0-1C89-AAA9-2F3C-BAB04B6DC3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006C290-7E78-A7E4-E63D-A02EF7CCE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547BA74-8161-2064-4144-F6AF64B187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F054823E-0385-C138-5830-05CE8A40D51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3C8FFA7B-547C-235E-0BA4-8EA4920D101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13632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551"/>
            <a:ext cx="11029616" cy="977609"/>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pic>
        <p:nvPicPr>
          <p:cNvPr id="6" name="Picture 5"/>
          <p:cNvPicPr>
            <a:picLocks noChangeAspect="1"/>
          </p:cNvPicPr>
          <p:nvPr/>
        </p:nvPicPr>
        <p:blipFill>
          <a:blip r:embed="rId3"/>
          <a:stretch>
            <a:fillRect/>
          </a:stretch>
        </p:blipFill>
        <p:spPr>
          <a:xfrm>
            <a:off x="1584199" y="3314754"/>
            <a:ext cx="2962132" cy="31403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1865453" y="5852452"/>
                <a:ext cx="2451377" cy="400110"/>
              </a:xfrm>
              <a:prstGeom prst="rect">
                <a:avLst/>
              </a:prstGeom>
              <a:noFill/>
            </p:spPr>
            <p:txBody>
              <a:bodyPr wrap="none" rtlCol="0">
                <a:spAutoFit/>
              </a:bodyPr>
              <a:lstStyle/>
              <a:p>
                <a:pPr/>
                <a14:m>
                  <m:oMathPara xmlns:m="http://schemas.openxmlformats.org/officeDocument/2006/math">
                    <m:oMath>
                      <m:r>
                        <a:rPr lang="es-CO" sz="2000" i="1">
                          <a:latin typeface="Cambria Math" panose="02040503050406030204" pitchFamily="18" charset="0"/>
                        </a:rPr>
                        <m:t>𝑇𝑉𝑅</m:t>
                      </m:r>
                      <m:r>
                        <a:rPr lang="es-CO" sz="2000" i="1">
                          <a:latin typeface="Cambria Math"/>
                        </a:rPr>
                        <m:t>=</m:t>
                      </m:r>
                      <m:r>
                        <a:rPr lang="es-CO" sz="2000" i="1">
                          <a:latin typeface="Cambria Math" panose="02040503050406030204" pitchFamily="18" charset="0"/>
                        </a:rPr>
                        <m:t>36,21</m:t>
                      </m:r>
                      <m:r>
                        <a:rPr lang="es-CO" sz="2000" i="1">
                          <a:latin typeface="Cambria Math"/>
                        </a:rPr>
                        <m:t>% </m:t>
                      </m:r>
                      <m:r>
                        <a:rPr lang="es-CO" sz="2000" i="1">
                          <a:latin typeface="Cambria Math"/>
                        </a:rPr>
                        <m:t>𝐸</m:t>
                      </m:r>
                      <m:r>
                        <a:rPr lang="es-CO" sz="2000" i="1">
                          <a:latin typeface="Cambria Math"/>
                        </a:rPr>
                        <m:t>.</m:t>
                      </m:r>
                      <m:r>
                        <a:rPr lang="es-CO" sz="2000" i="1">
                          <a:latin typeface="Cambria Math"/>
                        </a:rPr>
                        <m:t>𝐴</m:t>
                      </m:r>
                      <m:r>
                        <a:rPr lang="es-CO" sz="2000" i="1">
                          <a:latin typeface="Cambria Math"/>
                        </a:rPr>
                        <m:t>.</m:t>
                      </m:r>
                    </m:oMath>
                  </m:oMathPara>
                </a14:m>
                <a:endParaRPr lang="es-CO" sz="2000" dirty="0"/>
              </a:p>
            </p:txBody>
          </p:sp>
        </mc:Choice>
        <mc:Fallback xmlns="">
          <p:sp>
            <p:nvSpPr>
              <p:cNvPr id="5" name="4 CuadroTexto"/>
              <p:cNvSpPr txBox="1">
                <a:spLocks noRot="1" noChangeAspect="1" noMove="1" noResize="1" noEditPoints="1" noAdjustHandles="1" noChangeArrowheads="1" noChangeShapeType="1" noTextEdit="1"/>
              </p:cNvSpPr>
              <p:nvPr/>
            </p:nvSpPr>
            <p:spPr>
              <a:xfrm>
                <a:off x="1865453" y="5852452"/>
                <a:ext cx="2451377" cy="400110"/>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20 CuadroTexto"/>
              <p:cNvSpPr txBox="1"/>
              <p:nvPr/>
            </p:nvSpPr>
            <p:spPr>
              <a:xfrm>
                <a:off x="2015749" y="5335653"/>
                <a:ext cx="2154308" cy="400110"/>
              </a:xfrm>
              <a:prstGeom prst="rect">
                <a:avLst/>
              </a:prstGeom>
              <a:noFill/>
            </p:spPr>
            <p:txBody>
              <a:bodyPr wrap="none" rtlCol="0">
                <a:spAutoFit/>
              </a:bodyPr>
              <a:lstStyle/>
              <a:p>
                <a:r>
                  <a:rPr lang="es-CO" sz="2000" dirty="0"/>
                  <a:t>TVR</a:t>
                </a:r>
                <a14:m>
                  <m:oMath xmlns:m="http://schemas.openxmlformats.org/officeDocument/2006/math">
                    <m:r>
                      <a:rPr lang="es-CO" sz="2000" i="1">
                        <a:latin typeface="Cambria Math"/>
                      </a:rPr>
                      <m:t>=</m:t>
                    </m:r>
                    <m:r>
                      <a:rPr lang="es-CO" sz="2000" i="1">
                        <a:latin typeface="Cambria Math" panose="02040503050406030204" pitchFamily="18" charset="0"/>
                      </a:rPr>
                      <m:t>8,03</m:t>
                    </m:r>
                    <m:r>
                      <a:rPr lang="es-CO" sz="2000" i="1">
                        <a:latin typeface="Cambria Math"/>
                      </a:rPr>
                      <m:t>% </m:t>
                    </m:r>
                    <m:r>
                      <a:rPr lang="es-CO" sz="2000" i="1">
                        <a:latin typeface="Cambria Math"/>
                      </a:rPr>
                      <m:t>𝑇</m:t>
                    </m:r>
                    <m:r>
                      <a:rPr lang="es-CO" sz="2000" i="1">
                        <a:latin typeface="Cambria Math"/>
                      </a:rPr>
                      <m:t>.</m:t>
                    </m:r>
                    <m:r>
                      <a:rPr lang="es-CO" sz="2000" i="1">
                        <a:latin typeface="Cambria Math"/>
                      </a:rPr>
                      <m:t>𝑉</m:t>
                    </m:r>
                    <m:r>
                      <a:rPr lang="es-CO" sz="2000" i="1">
                        <a:latin typeface="Cambria Math"/>
                      </a:rPr>
                      <m:t>.</m:t>
                    </m:r>
                  </m:oMath>
                </a14:m>
                <a:endParaRPr lang="es-CO" sz="2000" dirty="0"/>
              </a:p>
            </p:txBody>
          </p:sp>
        </mc:Choice>
        <mc:Fallback xmlns="">
          <p:sp>
            <p:nvSpPr>
              <p:cNvPr id="21" name="20 CuadroTexto"/>
              <p:cNvSpPr txBox="1">
                <a:spLocks noRot="1" noChangeAspect="1" noMove="1" noResize="1" noEditPoints="1" noAdjustHandles="1" noChangeArrowheads="1" noChangeShapeType="1" noTextEdit="1"/>
              </p:cNvSpPr>
              <p:nvPr/>
            </p:nvSpPr>
            <p:spPr>
              <a:xfrm>
                <a:off x="2015749" y="5335653"/>
                <a:ext cx="2154308" cy="400110"/>
              </a:xfrm>
              <a:prstGeom prst="rect">
                <a:avLst/>
              </a:prstGeom>
              <a:blipFill>
                <a:blip r:embed="rId5"/>
                <a:stretch>
                  <a:fillRect l="-3116" t="-7576" b="-25758"/>
                </a:stretch>
              </a:blipFill>
            </p:spPr>
            <p:txBody>
              <a:bodyPr/>
              <a:lstStyle/>
              <a:p>
                <a:r>
                  <a:rPr lang="es-CO">
                    <a:noFill/>
                  </a:rPr>
                  <a:t> </a:t>
                </a:r>
              </a:p>
            </p:txBody>
          </p:sp>
        </mc:Fallback>
      </mc:AlternateContent>
      <p:grpSp>
        <p:nvGrpSpPr>
          <p:cNvPr id="20" name="Grupo 19"/>
          <p:cNvGrpSpPr/>
          <p:nvPr/>
        </p:nvGrpSpPr>
        <p:grpSpPr>
          <a:xfrm>
            <a:off x="6690192" y="3192915"/>
            <a:ext cx="4323620" cy="2542848"/>
            <a:chOff x="1912887" y="3612602"/>
            <a:chExt cx="4762764" cy="2800777"/>
          </a:xfrm>
        </p:grpSpPr>
        <p:cxnSp>
          <p:nvCxnSpPr>
            <p:cNvPr id="22"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a:endCxn id="30"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6"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8"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29"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sp>
        <p:nvSpPr>
          <p:cNvPr id="31" name="Rectangle 14"/>
          <p:cNvSpPr>
            <a:spLocks/>
          </p:cNvSpPr>
          <p:nvPr/>
        </p:nvSpPr>
        <p:spPr bwMode="auto">
          <a:xfrm>
            <a:off x="10128487" y="2896964"/>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mc:AlternateContent xmlns:mc="http://schemas.openxmlformats.org/markup-compatibility/2006" xmlns:a14="http://schemas.microsoft.com/office/drawing/2010/main">
        <mc:Choice Requires="a14">
          <p:sp>
            <p:nvSpPr>
              <p:cNvPr id="8" name="Rectángulo 7"/>
              <p:cNvSpPr/>
              <p:nvPr/>
            </p:nvSpPr>
            <p:spPr>
              <a:xfrm>
                <a:off x="1157472" y="3788884"/>
                <a:ext cx="4336636" cy="400110"/>
              </a:xfrm>
              <a:prstGeom prst="rect">
                <a:avLst/>
              </a:prstGeom>
            </p:spPr>
            <p:txBody>
              <a:bodyPr wrap="none">
                <a:spAutoFit/>
              </a:bodyPr>
              <a:lstStyle/>
              <a:p>
                <a:pPr/>
                <a14:m>
                  <m:oMathPara xmlns:m="http://schemas.openxmlformats.org/officeDocument/2006/math">
                    <m:oMath>
                      <m:r>
                        <a:rPr lang="es-CO" sz="2000">
                          <a:latin typeface="Cambria Math" panose="02040503050406030204" pitchFamily="18" charset="0"/>
                        </a:rPr>
                        <m:t>501.143,75=367.913,83</m:t>
                      </m:r>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𝑇𝑉𝑅</m:t>
                              </m:r>
                            </m:e>
                          </m:d>
                        </m:e>
                        <m:sup>
                          <m:r>
                            <a:rPr lang="es-CO" sz="2000">
                              <a:latin typeface="Cambria Math" panose="02040503050406030204" pitchFamily="18" charset="0"/>
                            </a:rPr>
                            <m:t>4</m:t>
                          </m:r>
                        </m:sup>
                      </m:sSup>
                    </m:oMath>
                  </m:oMathPara>
                </a14:m>
                <a:endParaRPr lang="es-CO" sz="2000" dirty="0"/>
              </a:p>
            </p:txBody>
          </p:sp>
        </mc:Choice>
        <mc:Fallback xmlns="">
          <p:sp>
            <p:nvSpPr>
              <p:cNvPr id="8" name="Rectángulo 7"/>
              <p:cNvSpPr>
                <a:spLocks noRot="1" noChangeAspect="1" noMove="1" noResize="1" noEditPoints="1" noAdjustHandles="1" noChangeArrowheads="1" noChangeShapeType="1" noTextEdit="1"/>
              </p:cNvSpPr>
              <p:nvPr/>
            </p:nvSpPr>
            <p:spPr>
              <a:xfrm>
                <a:off x="1157472" y="3788884"/>
                <a:ext cx="4336636" cy="400110"/>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1584200" y="4219436"/>
                <a:ext cx="3170933" cy="953723"/>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𝑇𝑉𝑅</m:t>
                      </m:r>
                      <m:r>
                        <a:rPr lang="es-CO" sz="2000">
                          <a:latin typeface="Cambria Math" panose="02040503050406030204" pitchFamily="18" charset="0"/>
                        </a:rPr>
                        <m:t>=</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a:latin typeface="Cambria Math" panose="02040503050406030204" pitchFamily="18" charset="0"/>
                                    </a:rPr>
                                  </m:ctrlPr>
                                </m:fPr>
                                <m:num>
                                  <m:r>
                                    <a:rPr lang="es-CO" sz="2000">
                                      <a:latin typeface="Cambria Math" panose="02040503050406030204" pitchFamily="18" charset="0"/>
                                    </a:rPr>
                                    <m:t>501.143,75</m:t>
                                  </m:r>
                                </m:num>
                                <m:den>
                                  <m:r>
                                    <a:rPr lang="es-CO" sz="2000">
                                      <a:latin typeface="Cambria Math" panose="02040503050406030204" pitchFamily="18" charset="0"/>
                                    </a:rPr>
                                    <m:t>367.913,83</m:t>
                                  </m:r>
                                </m:den>
                              </m:f>
                            </m:e>
                          </m:d>
                        </m:e>
                        <m:sup>
                          <m:f>
                            <m:fPr>
                              <m:ctrlPr>
                                <a:rPr lang="es-CO" sz="2000">
                                  <a:latin typeface="Cambria Math" panose="02040503050406030204" pitchFamily="18" charset="0"/>
                                </a:rPr>
                              </m:ctrlPr>
                            </m:fPr>
                            <m:num>
                              <m:r>
                                <a:rPr lang="es-CO" sz="2000">
                                  <a:latin typeface="Cambria Math" panose="02040503050406030204" pitchFamily="18" charset="0"/>
                                </a:rPr>
                                <m:t>1</m:t>
                              </m:r>
                            </m:num>
                            <m:den>
                              <m:r>
                                <a:rPr lang="es-CO" sz="2000">
                                  <a:latin typeface="Cambria Math" panose="02040503050406030204" pitchFamily="18" charset="0"/>
                                </a:rPr>
                                <m:t>4</m:t>
                              </m:r>
                            </m:den>
                          </m:f>
                        </m:sup>
                      </m:sSup>
                      <m:r>
                        <a:rPr lang="es-CO" sz="2000">
                          <a:latin typeface="Cambria Math" panose="02040503050406030204" pitchFamily="18" charset="0"/>
                        </a:rPr>
                        <m:t>−1</m:t>
                      </m:r>
                    </m:oMath>
                  </m:oMathPara>
                </a14:m>
                <a:endParaRPr lang="es-CO" sz="2000" dirty="0"/>
              </a:p>
            </p:txBody>
          </p:sp>
        </mc:Choice>
        <mc:Fallback xmlns="">
          <p:sp>
            <p:nvSpPr>
              <p:cNvPr id="10" name="Rectángulo 9"/>
              <p:cNvSpPr>
                <a:spLocks noRot="1" noChangeAspect="1" noMove="1" noResize="1" noEditPoints="1" noAdjustHandles="1" noChangeArrowheads="1" noChangeShapeType="1" noTextEdit="1"/>
              </p:cNvSpPr>
              <p:nvPr/>
            </p:nvSpPr>
            <p:spPr>
              <a:xfrm>
                <a:off x="1584200" y="4219436"/>
                <a:ext cx="3170933" cy="953723"/>
              </a:xfrm>
              <a:prstGeom prst="rect">
                <a:avLst/>
              </a:prstGeom>
              <a:blipFill>
                <a:blip r:embed="rId7"/>
                <a:stretch>
                  <a:fillRect/>
                </a:stretch>
              </a:blipFill>
            </p:spPr>
            <p:txBody>
              <a:bodyPr/>
              <a:lstStyle/>
              <a:p>
                <a:r>
                  <a:rPr lang="es-CO">
                    <a:noFill/>
                  </a:rPr>
                  <a:t> </a:t>
                </a:r>
              </a:p>
            </p:txBody>
          </p:sp>
        </mc:Fallback>
      </mc:AlternateContent>
      <p:sp>
        <p:nvSpPr>
          <p:cNvPr id="7" name="Rectángulo 6">
            <a:extLst>
              <a:ext uri="{FF2B5EF4-FFF2-40B4-BE49-F238E27FC236}">
                <a16:creationId xmlns:a16="http://schemas.microsoft.com/office/drawing/2014/main" id="{493E3280-2567-41F8-AF45-B3BE30FD5C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F4CD889-158C-25EE-74A9-46B06D5015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82C0EAF-7AF9-A442-7CA6-3B41343A5E0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5EACD311-3A63-B6F3-D68B-B95850632FE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F4A5CBCB-8583-F05E-9894-3046CBE9D12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191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8" grpId="0"/>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3890"/>
            <a:ext cx="11029616" cy="1957186"/>
          </a:xfrm>
        </p:spPr>
        <p:txBody>
          <a:bodyPr>
            <a:noAutofit/>
          </a:bodyPr>
          <a:lstStyle/>
          <a:p>
            <a:pPr marL="0" indent="0" algn="just">
              <a:buNone/>
            </a:pPr>
            <a:r>
              <a:rPr lang="es-ES_tradnl" sz="2200" b="1" i="1" dirty="0">
                <a:solidFill>
                  <a:schemeClr val="tx1"/>
                </a:solidFill>
              </a:rPr>
              <a:t>Ejemplo 1.</a:t>
            </a:r>
            <a:r>
              <a:rPr lang="es-ES_tradnl" sz="2200" i="1" dirty="0">
                <a:solidFill>
                  <a:schemeClr val="tx1"/>
                </a:solidFill>
              </a:rPr>
              <a:t> Usted piensa montar una venta de trufas en la universidad, para ello debe comprar elementos de cocina e insumos por $250.000 en el periodo cero, las ganancias se estiman en $50.000 mensuales durante los cuatro meses del semestre. Al final asuma que vende los elementos de cocina en 250.000. Las ganancias de las trufas usted piensa invertirlas en una fiducia que le produce una rentabilidad del 14% EA</a:t>
            </a:r>
          </a:p>
        </p:txBody>
      </p:sp>
      <p:cxnSp>
        <p:nvCxnSpPr>
          <p:cNvPr id="5" name="Straight Connector 4"/>
          <p:cNvCxnSpPr/>
          <p:nvPr/>
        </p:nvCxnSpPr>
        <p:spPr>
          <a:xfrm>
            <a:off x="4391609" y="4613607"/>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61360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41548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960298"/>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423960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41548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6258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553658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cxnSp>
        <p:nvCxnSpPr>
          <p:cNvPr id="20" name="Straight Arrow Connector 7">
            <a:extLst>
              <a:ext uri="{FF2B5EF4-FFF2-40B4-BE49-F238E27FC236}">
                <a16:creationId xmlns:a16="http://schemas.microsoft.com/office/drawing/2014/main" id="{77B0FEB4-C842-8402-2BB4-168E93889163}"/>
              </a:ext>
            </a:extLst>
          </p:cNvPr>
          <p:cNvCxnSpPr/>
          <p:nvPr/>
        </p:nvCxnSpPr>
        <p:spPr>
          <a:xfrm flipV="1">
            <a:off x="6066748" y="417407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14">
            <a:extLst>
              <a:ext uri="{FF2B5EF4-FFF2-40B4-BE49-F238E27FC236}">
                <a16:creationId xmlns:a16="http://schemas.microsoft.com/office/drawing/2014/main" id="{C2910596-AC76-C6CE-6058-B423A1631B0E}"/>
              </a:ext>
            </a:extLst>
          </p:cNvPr>
          <p:cNvSpPr>
            <a:spLocks/>
          </p:cNvSpPr>
          <p:nvPr/>
        </p:nvSpPr>
        <p:spPr bwMode="auto">
          <a:xfrm>
            <a:off x="5283782" y="382560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7" name="Rectángulo 6">
            <a:extLst>
              <a:ext uri="{FF2B5EF4-FFF2-40B4-BE49-F238E27FC236}">
                <a16:creationId xmlns:a16="http://schemas.microsoft.com/office/drawing/2014/main" id="{CC4BE12E-FC55-E7F4-7F76-5A5D9B71BCC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0B777FB2-3DF1-48E6-8BED-C0CA7C32D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EE48CB20-9064-B133-32D2-9BDC986301D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F0A37434-A89C-D5E1-504E-E27793BA5C7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Content Placeholder 2">
            <a:extLst>
              <a:ext uri="{FF2B5EF4-FFF2-40B4-BE49-F238E27FC236}">
                <a16:creationId xmlns:a16="http://schemas.microsoft.com/office/drawing/2014/main" id="{4822D773-5847-869C-5D7E-998ED66851F1}"/>
              </a:ext>
            </a:extLst>
          </p:cNvPr>
          <p:cNvSpPr txBox="1">
            <a:spLocks/>
          </p:cNvSpPr>
          <p:nvPr/>
        </p:nvSpPr>
        <p:spPr>
          <a:xfrm>
            <a:off x="641965" y="5829062"/>
            <a:ext cx="10263329" cy="910828"/>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
        <p:nvSpPr>
          <p:cNvPr id="17" name="Marcador de número de diapositiva 3">
            <a:extLst>
              <a:ext uri="{FF2B5EF4-FFF2-40B4-BE49-F238E27FC236}">
                <a16:creationId xmlns:a16="http://schemas.microsoft.com/office/drawing/2014/main" id="{29C3AC24-93D0-1A4D-4B62-6742DD8325B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337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1" grpId="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3465"/>
            <a:ext cx="11029615" cy="1207674"/>
          </a:xfrm>
        </p:spPr>
        <p:txBody>
          <a:bodyPr>
            <a:noAutofit/>
          </a:bodyPr>
          <a:lstStyle/>
          <a:p>
            <a:pPr marL="0" indent="0" algn="just">
              <a:buNone/>
            </a:pPr>
            <a:r>
              <a:rPr lang="es-ES_tradnl" sz="2400" b="1" i="1" dirty="0">
                <a:solidFill>
                  <a:schemeClr val="tx1"/>
                </a:solidFill>
              </a:rPr>
              <a:t>Ejemplo 2.</a:t>
            </a:r>
            <a:r>
              <a:rPr lang="es-ES_tradnl" sz="2400" i="1" dirty="0">
                <a:solidFill>
                  <a:schemeClr val="tx1"/>
                </a:solidFill>
              </a:rPr>
              <a:t> Usted realizo su venta de trufas durante el semestre, pero en el mes 2 algunos de sus elementos de cocina se dañaron, por lo cual no pudo vender trufas y tuvo que comprar nuevos elementos por 130.000</a:t>
            </a:r>
          </a:p>
        </p:txBody>
      </p:sp>
      <p:cxnSp>
        <p:nvCxnSpPr>
          <p:cNvPr id="5" name="Straight Connector 4"/>
          <p:cNvCxnSpPr/>
          <p:nvPr/>
        </p:nvCxnSpPr>
        <p:spPr>
          <a:xfrm>
            <a:off x="4391609" y="404641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04641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66748" y="404641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358768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39310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367241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358768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05869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496938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302155" y="470087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Content Placeholder 2">
            <a:extLst>
              <a:ext uri="{FF2B5EF4-FFF2-40B4-BE49-F238E27FC236}">
                <a16:creationId xmlns:a16="http://schemas.microsoft.com/office/drawing/2014/main" id="{0EEDD0F8-6FCD-3172-C549-9F3630855D67}"/>
              </a:ext>
            </a:extLst>
          </p:cNvPr>
          <p:cNvSpPr txBox="1">
            <a:spLocks/>
          </p:cNvSpPr>
          <p:nvPr/>
        </p:nvSpPr>
        <p:spPr>
          <a:xfrm>
            <a:off x="641965" y="5544400"/>
            <a:ext cx="10968841" cy="1104199"/>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
        <p:nvSpPr>
          <p:cNvPr id="20" name="Rectángulo 19">
            <a:extLst>
              <a:ext uri="{FF2B5EF4-FFF2-40B4-BE49-F238E27FC236}">
                <a16:creationId xmlns:a16="http://schemas.microsoft.com/office/drawing/2014/main" id="{6C0FA56C-9257-F045-FCC7-7D7A0E8EA8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53112852-531C-89CB-EC40-BBE153C27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92D3F6AC-AA47-4CB5-64CB-84C64C340FD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3C6A757B-9F61-C7EB-376A-4F840E7378E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460D3F3C-709D-DA1A-1B89-10F2758EAAC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65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74398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4" grpId="0"/>
      <p:bldP spid="1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F9222-0EDD-70C1-8A4F-76DA35A083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4AC470-009B-E68D-A0D2-7EB68FCC0839}"/>
              </a:ext>
            </a:extLst>
          </p:cNvPr>
          <p:cNvSpPr>
            <a:spLocks noGrp="1"/>
          </p:cNvSpPr>
          <p:nvPr>
            <p:ph type="ctrTitle"/>
          </p:nvPr>
        </p:nvSpPr>
        <p:spPr>
          <a:xfrm>
            <a:off x="470868" y="1814732"/>
            <a:ext cx="10359896" cy="826833"/>
          </a:xfrm>
        </p:spPr>
        <p:txBody>
          <a:bodyPr>
            <a:noAutofit/>
          </a:bodyPr>
          <a:lstStyle/>
          <a:p>
            <a:r>
              <a:rPr lang="es-CO" sz="4000">
                <a:latin typeface="Century Gothic"/>
              </a:rPr>
              <a:t>INDICADORES DE BONDAD FINANCIERA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71D9463E-F61A-BC30-494A-075F88A4735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4834E1C8-7D06-ECE9-A7C8-DCD4032A7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AA02EDE2-C52E-22FF-2C65-E12F746CE6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F6F6C8-9637-A5FF-DFA2-28F4ED06F34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A5947856-1971-6C7B-ADA2-D4F8AA20C247}"/>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9506227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317479" cy="826833"/>
          </a:xfrm>
        </p:spPr>
        <p:txBody>
          <a:bodyPr>
            <a:noAutofit/>
          </a:bodyPr>
          <a:lstStyle/>
          <a:p>
            <a:r>
              <a:rPr lang="es-CO" sz="4000">
                <a:latin typeface="Century Gothic"/>
              </a:rPr>
              <a:t>INDICADORES DE BONDAD FINANCIERA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3816514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318042"/>
            <a:ext cx="8540907" cy="1938992"/>
          </a:xfrm>
          <a:prstGeom prst="rect">
            <a:avLst/>
          </a:prstGeom>
        </p:spPr>
        <p:txBody>
          <a:bodyPr wrap="square" lIns="91440" tIns="45720" rIns="91440" bIns="45720" anchor="t">
            <a:spAutoFit/>
          </a:bodyPr>
          <a:lstStyle/>
          <a:p>
            <a:pPr>
              <a:buClr>
                <a:srgbClr val="48BE7A"/>
              </a:buClr>
            </a:pPr>
            <a:endParaRPr lang="es-CO" sz="200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panose="020B0502020202020204" pitchFamily="34" charset="0"/>
                <a:cs typeface="Arial"/>
              </a:rPr>
              <a:t>Valor Anual Equivalente (VAE)</a:t>
            </a:r>
          </a:p>
          <a:p>
            <a:pPr marL="342900" indent="-342900">
              <a:buClr>
                <a:srgbClr val="48BE7A"/>
              </a:buClr>
              <a:buAutoNum type="arabicPeriod"/>
            </a:pPr>
            <a:endParaRPr lang="es-CO" sz="200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panose="020B0502020202020204" pitchFamily="34" charset="0"/>
                <a:cs typeface="Arial"/>
              </a:rPr>
              <a:t>Relación Beneficio/Costo (B/C)</a:t>
            </a:r>
          </a:p>
          <a:p>
            <a:pPr marL="342900" indent="-342900">
              <a:buClr>
                <a:srgbClr val="48BE7A"/>
              </a:buClr>
              <a:buAutoNum type="arabicPeriod"/>
            </a:pPr>
            <a:endParaRPr lang="es-CO" sz="200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5893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7044-AD22-1F7F-DDE3-8B7174B704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7D568-CB00-E00C-2C81-0D6F1288F8B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94CC9A06-6C58-0649-AC5D-BBC62E3BF23C}"/>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69</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0F77C52-D640-2EAE-5BC1-253332348933}"/>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530B4015-CACF-C85B-5792-6E119D3599F5}"/>
              </a:ext>
            </a:extLst>
          </p:cNvPr>
          <p:cNvSpPr/>
          <p:nvPr/>
        </p:nvSpPr>
        <p:spPr>
          <a:xfrm>
            <a:off x="3173020" y="2318042"/>
            <a:ext cx="8540907" cy="1938992"/>
          </a:xfrm>
          <a:prstGeom prst="rect">
            <a:avLst/>
          </a:prstGeom>
        </p:spPr>
        <p:txBody>
          <a:bodyPr wrap="square" lIns="91440" tIns="45720" rIns="91440" bIns="45720" anchor="t">
            <a:spAutoFit/>
          </a:bodyPr>
          <a:lstStyle/>
          <a:p>
            <a:pPr>
              <a:buClr>
                <a:srgbClr val="48BE7A"/>
              </a:buClr>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a:cs typeface="Arial"/>
              </a:rPr>
              <a:t>Valor Anual Equivalente (VAE)</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8212397-5334-13B4-07C0-A2D027AF1D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E5CCF2-8521-1CC3-EEDD-91C5F76C9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9337DA5-08F1-BE8B-FB90-7C77B18FE5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1324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948158"/>
            <a:ext cx="9144000" cy="2076492"/>
          </a:xfrm>
        </p:spPr>
        <p:txBody>
          <a:bodyPr>
            <a:normAutofit/>
          </a:bodyPr>
          <a:lstStyle/>
          <a:p>
            <a:pPr marL="0" indent="0" algn="ctr">
              <a:buNone/>
            </a:pPr>
            <a:r>
              <a:rPr lang="es-ES_tradnl" sz="2800" b="1">
                <a:solidFill>
                  <a:srgbClr val="800000"/>
                </a:solidFill>
              </a:rPr>
              <a:t>VAE</a:t>
            </a:r>
          </a:p>
          <a:p>
            <a:pPr marL="0" indent="0" algn="ctr">
              <a:buNone/>
            </a:pPr>
            <a:r>
              <a:rPr lang="es-ES_tradnl" sz="2800" b="1">
                <a:solidFill>
                  <a:srgbClr val="800000"/>
                </a:solidFill>
              </a:rPr>
              <a:t>(Valor Anual Equivalente)</a:t>
            </a:r>
          </a:p>
        </p:txBody>
      </p:sp>
      <p:sp>
        <p:nvSpPr>
          <p:cNvPr id="3" name="Rectángulo 2">
            <a:extLst>
              <a:ext uri="{FF2B5EF4-FFF2-40B4-BE49-F238E27FC236}">
                <a16:creationId xmlns:a16="http://schemas.microsoft.com/office/drawing/2014/main" id="{855A590E-0615-7A68-BEF5-D2BAD91967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B2C1B5F-BD96-77DD-9351-99960CAB1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9F0BCDF-CFBC-F541-965C-6812A5F717B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3866CC03-0098-F2C4-42FA-5C0BBF16AA6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70</a:t>
            </a:fld>
            <a:endParaRPr lang="en-US" sz="2000" b="1">
              <a:latin typeface="Century Gothic" panose="020B0502020202020204" pitchFamily="34" charset="0"/>
            </a:endParaRPr>
          </a:p>
        </p:txBody>
      </p:sp>
    </p:spTree>
    <p:extLst>
      <p:ext uri="{BB962C8B-B14F-4D97-AF65-F5344CB8AC3E}">
        <p14:creationId xmlns:p14="http://schemas.microsoft.com/office/powerpoint/2010/main" val="36127868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0676"/>
            <a:ext cx="11029615" cy="4500586"/>
          </a:xfrm>
        </p:spPr>
        <p:txBody>
          <a:bodyPr>
            <a:noAutofit/>
          </a:bodyPr>
          <a:lstStyle/>
          <a:p>
            <a:pPr algn="just"/>
            <a:r>
              <a:rPr lang="es-ES" sz="2400"/>
              <a:t>El VAE o Valor Anual Equivalente, es un indicador de creación de valor que guarda una estrecha relación con el VPN.</a:t>
            </a:r>
          </a:p>
          <a:p>
            <a:pPr algn="just"/>
            <a:r>
              <a:rPr lang="es-ES" sz="2400"/>
              <a:t>El VAE es un indicador utilizado para evaluar la suma equivalente periódico (como serie uniforme) de los flujos generados por un proyecto de inversión.</a:t>
            </a:r>
          </a:p>
          <a:p>
            <a:pPr algn="just"/>
            <a:endParaRPr lang="es-ES" sz="2400"/>
          </a:p>
          <a:p>
            <a:pPr marL="0" indent="0" algn="ctr">
              <a:buNone/>
            </a:pPr>
            <a:r>
              <a:rPr lang="es-ES" sz="2400">
                <a:solidFill>
                  <a:srgbClr val="800000"/>
                </a:solidFill>
              </a:rPr>
              <a:t>¿Alguna idea de cómo calcular dicho indicador con lo visto hasta el momento?</a:t>
            </a:r>
          </a:p>
          <a:p>
            <a:pPr marL="0" indent="0" algn="ctr">
              <a:buNone/>
            </a:pPr>
            <a:endParaRPr lang="es-ES" sz="2400"/>
          </a:p>
          <a:p>
            <a:pPr algn="just"/>
            <a:r>
              <a:rPr lang="es-ES" sz="2400"/>
              <a:t>Cuando se está evaluando </a:t>
            </a:r>
            <a:r>
              <a:rPr lang="es-ES" sz="2400" i="1">
                <a:solidFill>
                  <a:schemeClr val="accent6"/>
                </a:solidFill>
              </a:rPr>
              <a:t>un único proyecto</a:t>
            </a:r>
            <a:r>
              <a:rPr lang="es-ES" sz="2400"/>
              <a:t>, el resultado del VAE es consistente con el VPN; sin embargo, como veremos más adelante, el VAE muestra algunas desventajas a la hora de comparar varias alternativas de inversión.</a:t>
            </a:r>
            <a:endParaRPr lang="es-ES_tradnl" sz="2400" i="1">
              <a:solidFill>
                <a:srgbClr val="800000"/>
              </a:solidFill>
            </a:endParaRPr>
          </a:p>
        </p:txBody>
      </p:sp>
      <p:sp>
        <p:nvSpPr>
          <p:cNvPr id="8" name="Rectángulo 7">
            <a:extLst>
              <a:ext uri="{FF2B5EF4-FFF2-40B4-BE49-F238E27FC236}">
                <a16:creationId xmlns:a16="http://schemas.microsoft.com/office/drawing/2014/main" id="{1F12B3C5-05E8-0D21-15DE-5A184CE459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5D7A6BED-9E9E-10A9-D8B3-51DC39BD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FA2A306A-7B53-5288-96E7-A4799F59AD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9CC1292-A5B4-2A3B-713E-5C1BA2787912}"/>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43836321-4E45-A9BF-2EE3-A2926B951CA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71</a:t>
            </a:fld>
            <a:endParaRPr lang="en-US" sz="2000" b="1">
              <a:latin typeface="Century Gothic" panose="020B0502020202020204" pitchFamily="34" charset="0"/>
            </a:endParaRPr>
          </a:p>
        </p:txBody>
      </p:sp>
    </p:spTree>
    <p:extLst>
      <p:ext uri="{BB962C8B-B14F-4D97-AF65-F5344CB8AC3E}">
        <p14:creationId xmlns:p14="http://schemas.microsoft.com/office/powerpoint/2010/main" val="11625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4090"/>
            <a:ext cx="11029611" cy="582946"/>
          </a:xfrm>
        </p:spPr>
        <p:txBody>
          <a:bodyPr>
            <a:normAutofit/>
          </a:bodyPr>
          <a:lstStyle/>
          <a:p>
            <a:pPr marL="0" indent="0">
              <a:buNone/>
            </a:pPr>
            <a:r>
              <a:rPr lang="es-ES" sz="2400"/>
              <a:t>Gráficamente, el objetivo del VAE es el siguiente:</a:t>
            </a:r>
          </a:p>
        </p:txBody>
      </p:sp>
      <p:cxnSp>
        <p:nvCxnSpPr>
          <p:cNvPr id="5" name="Straight Connector 17"/>
          <p:cNvCxnSpPr/>
          <p:nvPr/>
        </p:nvCxnSpPr>
        <p:spPr>
          <a:xfrm>
            <a:off x="1438170" y="347216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p:cNvCxnSpPr/>
          <p:nvPr/>
        </p:nvCxnSpPr>
        <p:spPr>
          <a:xfrm>
            <a:off x="1450998" y="34849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p:cNvCxnSpPr/>
          <p:nvPr/>
        </p:nvCxnSpPr>
        <p:spPr>
          <a:xfrm flipV="1">
            <a:off x="1993319" y="30262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p:cNvCxnSpPr/>
          <p:nvPr/>
        </p:nvCxnSpPr>
        <p:spPr>
          <a:xfrm>
            <a:off x="2589085" y="3484996"/>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p:cNvCxnSpPr/>
          <p:nvPr/>
        </p:nvCxnSpPr>
        <p:spPr>
          <a:xfrm flipV="1">
            <a:off x="3275821" y="302626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p:cNvSpPr>
            <a:spLocks/>
          </p:cNvSpPr>
          <p:nvPr/>
        </p:nvSpPr>
        <p:spPr bwMode="auto">
          <a:xfrm flipH="1">
            <a:off x="1438170" y="31951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1" name="Rectangle 23"/>
          <p:cNvSpPr>
            <a:spLocks/>
          </p:cNvSpPr>
          <p:nvPr/>
        </p:nvSpPr>
        <p:spPr bwMode="auto">
          <a:xfrm>
            <a:off x="1824789"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2" name="Rectangle 24"/>
          <p:cNvSpPr>
            <a:spLocks/>
          </p:cNvSpPr>
          <p:nvPr/>
        </p:nvSpPr>
        <p:spPr bwMode="auto">
          <a:xfrm>
            <a:off x="2420555" y="319516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3" name="Rectangle 25"/>
          <p:cNvSpPr>
            <a:spLocks/>
          </p:cNvSpPr>
          <p:nvPr/>
        </p:nvSpPr>
        <p:spPr bwMode="auto">
          <a:xfrm>
            <a:off x="3072963" y="348806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31"/>
          <p:cNvSpPr>
            <a:spLocks/>
          </p:cNvSpPr>
          <p:nvPr/>
        </p:nvSpPr>
        <p:spPr bwMode="auto">
          <a:xfrm>
            <a:off x="3897383"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18" name="Straight Arrow Connector 32"/>
          <p:cNvCxnSpPr/>
          <p:nvPr/>
        </p:nvCxnSpPr>
        <p:spPr>
          <a:xfrm flipV="1">
            <a:off x="4065913" y="282713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17"/>
          <p:cNvCxnSpPr/>
          <p:nvPr/>
        </p:nvCxnSpPr>
        <p:spPr>
          <a:xfrm>
            <a:off x="7684131" y="5799771"/>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9"/>
          <p:cNvCxnSpPr/>
          <p:nvPr/>
        </p:nvCxnSpPr>
        <p:spPr>
          <a:xfrm flipV="1">
            <a:off x="8239280" y="535387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0"/>
          <p:cNvCxnSpPr/>
          <p:nvPr/>
        </p:nvCxnSpPr>
        <p:spPr>
          <a:xfrm flipV="1">
            <a:off x="8835046"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1"/>
          <p:cNvCxnSpPr/>
          <p:nvPr/>
        </p:nvCxnSpPr>
        <p:spPr>
          <a:xfrm flipV="1">
            <a:off x="9521782"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2"/>
          <p:cNvSpPr>
            <a:spLocks/>
          </p:cNvSpPr>
          <p:nvPr/>
        </p:nvSpPr>
        <p:spPr bwMode="auto">
          <a:xfrm flipH="1">
            <a:off x="7684131" y="579827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8" name="Rectangle 23"/>
          <p:cNvSpPr>
            <a:spLocks/>
          </p:cNvSpPr>
          <p:nvPr/>
        </p:nvSpPr>
        <p:spPr bwMode="auto">
          <a:xfrm>
            <a:off x="8070750"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9" name="Rectangle 24"/>
          <p:cNvSpPr>
            <a:spLocks/>
          </p:cNvSpPr>
          <p:nvPr/>
        </p:nvSpPr>
        <p:spPr bwMode="auto">
          <a:xfrm>
            <a:off x="8666516"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0" name="Rectangle 25"/>
          <p:cNvSpPr>
            <a:spLocks/>
          </p:cNvSpPr>
          <p:nvPr/>
        </p:nvSpPr>
        <p:spPr bwMode="auto">
          <a:xfrm>
            <a:off x="9318924" y="58156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1" name="Rectangle 31"/>
          <p:cNvSpPr>
            <a:spLocks/>
          </p:cNvSpPr>
          <p:nvPr/>
        </p:nvSpPr>
        <p:spPr bwMode="auto">
          <a:xfrm>
            <a:off x="10143344"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2" name="Straight Arrow Connector 32"/>
          <p:cNvCxnSpPr/>
          <p:nvPr/>
        </p:nvCxnSpPr>
        <p:spPr>
          <a:xfrm flipH="1" flipV="1">
            <a:off x="10311704" y="5353874"/>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Flecha abajo 34"/>
          <p:cNvSpPr/>
          <p:nvPr/>
        </p:nvSpPr>
        <p:spPr>
          <a:xfrm>
            <a:off x="8739421" y="4462355"/>
            <a:ext cx="465734" cy="456580"/>
          </a:xfrm>
          <a:prstGeom prst="downArrow">
            <a:avLst>
              <a:gd name="adj1" fmla="val 33258"/>
              <a:gd name="adj2" fmla="val 2347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
        <p:nvSpPr>
          <p:cNvPr id="36" name="Abrir llave 35"/>
          <p:cNvSpPr/>
          <p:nvPr/>
        </p:nvSpPr>
        <p:spPr>
          <a:xfrm rot="16200000">
            <a:off x="8702290" y="2547118"/>
            <a:ext cx="461849" cy="3028075"/>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400"/>
          </a:p>
        </p:txBody>
      </p:sp>
      <p:cxnSp>
        <p:nvCxnSpPr>
          <p:cNvPr id="33" name="Straight Connector 17"/>
          <p:cNvCxnSpPr/>
          <p:nvPr/>
        </p:nvCxnSpPr>
        <p:spPr>
          <a:xfrm>
            <a:off x="7652843" y="343339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18"/>
          <p:cNvCxnSpPr/>
          <p:nvPr/>
        </p:nvCxnSpPr>
        <p:spPr>
          <a:xfrm flipV="1">
            <a:off x="7665671" y="2987499"/>
            <a:ext cx="0" cy="458726"/>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22"/>
          <p:cNvSpPr>
            <a:spLocks/>
          </p:cNvSpPr>
          <p:nvPr/>
        </p:nvSpPr>
        <p:spPr bwMode="auto">
          <a:xfrm flipH="1">
            <a:off x="7599807" y="3470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1" name="Rectangle 23"/>
          <p:cNvSpPr>
            <a:spLocks/>
          </p:cNvSpPr>
          <p:nvPr/>
        </p:nvSpPr>
        <p:spPr bwMode="auto">
          <a:xfrm>
            <a:off x="8039462"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2" name="Rectangle 24"/>
          <p:cNvSpPr>
            <a:spLocks/>
          </p:cNvSpPr>
          <p:nvPr/>
        </p:nvSpPr>
        <p:spPr bwMode="auto">
          <a:xfrm>
            <a:off x="8635228" y="346998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3" name="Rectangle 25"/>
          <p:cNvSpPr>
            <a:spLocks/>
          </p:cNvSpPr>
          <p:nvPr/>
        </p:nvSpPr>
        <p:spPr bwMode="auto">
          <a:xfrm>
            <a:off x="9287636" y="34493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4" name="Rectangle 31"/>
          <p:cNvSpPr>
            <a:spLocks/>
          </p:cNvSpPr>
          <p:nvPr/>
        </p:nvSpPr>
        <p:spPr bwMode="auto">
          <a:xfrm>
            <a:off x="10112056"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6" name="Rectangle 22"/>
          <p:cNvSpPr>
            <a:spLocks/>
          </p:cNvSpPr>
          <p:nvPr/>
        </p:nvSpPr>
        <p:spPr bwMode="auto">
          <a:xfrm flipH="1">
            <a:off x="7423732" y="264613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VPN</a:t>
            </a:r>
          </a:p>
        </p:txBody>
      </p:sp>
      <p:sp>
        <p:nvSpPr>
          <p:cNvPr id="15" name="14 Flecha derecha"/>
          <p:cNvSpPr/>
          <p:nvPr/>
        </p:nvSpPr>
        <p:spPr>
          <a:xfrm>
            <a:off x="5564642" y="3275481"/>
            <a:ext cx="1062716" cy="24335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400"/>
          </a:p>
        </p:txBody>
      </p:sp>
      <p:sp>
        <p:nvSpPr>
          <p:cNvPr id="14" name="Título 1">
            <a:extLst>
              <a:ext uri="{FF2B5EF4-FFF2-40B4-BE49-F238E27FC236}">
                <a16:creationId xmlns:a16="http://schemas.microsoft.com/office/drawing/2014/main" id="{FDEE3519-44A7-5F95-3A3D-ADDA2D78020C}"/>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16" name="Rectangle 22">
            <a:extLst>
              <a:ext uri="{FF2B5EF4-FFF2-40B4-BE49-F238E27FC236}">
                <a16:creationId xmlns:a16="http://schemas.microsoft.com/office/drawing/2014/main" id="{707D10F6-87EE-DF9E-078B-9C010B44422B}"/>
              </a:ext>
            </a:extLst>
          </p:cNvPr>
          <p:cNvSpPr>
            <a:spLocks/>
          </p:cNvSpPr>
          <p:nvPr/>
        </p:nvSpPr>
        <p:spPr bwMode="auto">
          <a:xfrm flipH="1">
            <a:off x="6953517" y="535387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VAE</a:t>
            </a:r>
          </a:p>
        </p:txBody>
      </p:sp>
      <p:sp>
        <p:nvSpPr>
          <p:cNvPr id="2" name="Marcador de número de diapositiva 3">
            <a:extLst>
              <a:ext uri="{FF2B5EF4-FFF2-40B4-BE49-F238E27FC236}">
                <a16:creationId xmlns:a16="http://schemas.microsoft.com/office/drawing/2014/main" id="{8B44A1FF-48EE-A8E0-0D3B-4F41D48FE4D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72</a:t>
            </a:fld>
            <a:endParaRPr lang="en-US" sz="2000" b="1">
              <a:latin typeface="Century Gothic" panose="020B0502020202020204" pitchFamily="34" charset="0"/>
            </a:endParaRPr>
          </a:p>
        </p:txBody>
      </p:sp>
    </p:spTree>
    <p:extLst>
      <p:ext uri="{BB962C8B-B14F-4D97-AF65-F5344CB8AC3E}">
        <p14:creationId xmlns:p14="http://schemas.microsoft.com/office/powerpoint/2010/main" val="307818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5" grpId="0" animBg="1"/>
      <p:bldP spid="36" grpId="0" animBg="1"/>
      <p:bldP spid="40" grpId="0"/>
      <p:bldP spid="41" grpId="0"/>
      <p:bldP spid="42" grpId="0"/>
      <p:bldP spid="43" grpId="0"/>
      <p:bldP spid="44" grpId="0"/>
      <p:bldP spid="46" grpId="0"/>
      <p:bldP spid="15" grpId="0" animBg="1"/>
      <p:bldP spid="1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799"/>
            <a:ext cx="11029615" cy="1230086"/>
          </a:xfrm>
        </p:spPr>
        <p:txBody>
          <a:bodyPr>
            <a:normAutofit/>
          </a:bodyPr>
          <a:lstStyle/>
          <a:p>
            <a:pPr marL="0" indent="0" algn="just">
              <a:buNone/>
            </a:pPr>
            <a:r>
              <a:rPr lang="es-ES" sz="2400"/>
              <a:t>Dado el objetivo mostrado en la gráfica anterior, existen diversas formas de hacerlo. Sin embargo, lo más conveniente es </a:t>
            </a:r>
            <a:r>
              <a:rPr lang="es-ES" sz="2400" b="1"/>
              <a:t>anualizar el valor presente</a:t>
            </a:r>
            <a:r>
              <a:rPr lang="es-ES" sz="2400"/>
              <a:t>. Para ello basta con utilizar la relación de equivalencia “serie uniforme equivalente a un valor presente”.</a:t>
            </a:r>
          </a:p>
        </p:txBody>
      </p:sp>
      <p:pic>
        <p:nvPicPr>
          <p:cNvPr id="5" name="Picture 2"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170" y="3945301"/>
            <a:ext cx="3478195" cy="895275"/>
          </a:xfrm>
          <a:prstGeom prst="rect">
            <a:avLst/>
          </a:prstGeom>
        </p:spPr>
      </p:pic>
      <p:pic>
        <p:nvPicPr>
          <p:cNvPr id="6" name="Imagen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683" y="5064037"/>
            <a:ext cx="2728848" cy="408253"/>
          </a:xfrm>
          <a:prstGeom prst="rect">
            <a:avLst/>
          </a:prstGeom>
        </p:spPr>
      </p:pic>
      <p:sp>
        <p:nvSpPr>
          <p:cNvPr id="7" name="Flecha derecha 6"/>
          <p:cNvSpPr/>
          <p:nvPr/>
        </p:nvSpPr>
        <p:spPr>
          <a:xfrm>
            <a:off x="5837318" y="4607724"/>
            <a:ext cx="517363" cy="2951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225" y="3951063"/>
            <a:ext cx="4132125" cy="804239"/>
          </a:xfrm>
          <a:prstGeom prst="rect">
            <a:avLst/>
          </a:prstGeom>
        </p:spPr>
      </p:pic>
      <p:pic>
        <p:nvPicPr>
          <p:cNvPr id="9" name="Imagen 8"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4303" y="5090005"/>
            <a:ext cx="3719527" cy="382285"/>
          </a:xfrm>
          <a:prstGeom prst="rect">
            <a:avLst/>
          </a:prstGeom>
        </p:spPr>
      </p:pic>
      <p:sp>
        <p:nvSpPr>
          <p:cNvPr id="11" name="Rectángulo 10">
            <a:extLst>
              <a:ext uri="{FF2B5EF4-FFF2-40B4-BE49-F238E27FC236}">
                <a16:creationId xmlns:a16="http://schemas.microsoft.com/office/drawing/2014/main" id="{BD80D735-627E-9357-C75F-20BD49BE9D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5A3681B-A607-D95C-33DE-76D54DD358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510C27B-A7F2-88B0-3A97-48A9580AEC8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7" name="Título 1">
            <a:extLst>
              <a:ext uri="{FF2B5EF4-FFF2-40B4-BE49-F238E27FC236}">
                <a16:creationId xmlns:a16="http://schemas.microsoft.com/office/drawing/2014/main" id="{C421107C-C6E3-4548-6A9E-A5252A43C202}"/>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E9511D78-DF58-C7C7-DDB9-3728AD3CE12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73</a:t>
            </a:fld>
            <a:endParaRPr lang="en-US" sz="2000" b="1">
              <a:latin typeface="Century Gothic" panose="020B0502020202020204" pitchFamily="34" charset="0"/>
            </a:endParaRPr>
          </a:p>
        </p:txBody>
      </p:sp>
    </p:spTree>
    <p:extLst>
      <p:ext uri="{BB962C8B-B14F-4D97-AF65-F5344CB8AC3E}">
        <p14:creationId xmlns:p14="http://schemas.microsoft.com/office/powerpoint/2010/main" val="55803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44041"/>
            <a:ext cx="10968843" cy="3670767"/>
          </a:xfrm>
        </p:spPr>
        <p:txBody>
          <a:bodyPr>
            <a:normAutofit/>
          </a:bodyPr>
          <a:lstStyle/>
          <a:p>
            <a:pPr marL="0" indent="0" algn="just">
              <a:buNone/>
            </a:pPr>
            <a:r>
              <a:rPr lang="es-ES" sz="2400"/>
              <a:t>Al VAE depende directamente del VPN, la interpretación de éste es bastante sencilla. </a:t>
            </a:r>
          </a:p>
          <a:p>
            <a:pPr marL="0" indent="0" algn="just">
              <a:buNone/>
            </a:pPr>
            <a:endParaRPr lang="es-ES" sz="2400"/>
          </a:p>
          <a:p>
            <a:pPr marL="0" indent="0" algn="just">
              <a:buNone/>
            </a:pPr>
            <a:r>
              <a:rPr lang="es-ES" sz="2400"/>
              <a:t>Si el VPN del proyecto resulta ser negativo, el VAE es también negativo; caso en el cual se conoce como CAE (</a:t>
            </a:r>
            <a:r>
              <a:rPr lang="es-ES" sz="2400" b="1"/>
              <a:t>costo anual equivalente</a:t>
            </a:r>
            <a:r>
              <a:rPr lang="es-ES" sz="2400"/>
              <a:t>). </a:t>
            </a:r>
          </a:p>
          <a:p>
            <a:pPr marL="0" indent="0" algn="just">
              <a:buNone/>
            </a:pPr>
            <a:endParaRPr lang="es-ES" sz="2400"/>
          </a:p>
          <a:p>
            <a:pPr marL="0" indent="0" algn="just">
              <a:buNone/>
            </a:pPr>
            <a:r>
              <a:rPr lang="es-ES" sz="2400"/>
              <a:t>Por el contrario, si el VPN es positivo el VAE es positivo.</a:t>
            </a:r>
          </a:p>
        </p:txBody>
      </p:sp>
      <p:sp>
        <p:nvSpPr>
          <p:cNvPr id="6" name="Rectángulo 5">
            <a:extLst>
              <a:ext uri="{FF2B5EF4-FFF2-40B4-BE49-F238E27FC236}">
                <a16:creationId xmlns:a16="http://schemas.microsoft.com/office/drawing/2014/main" id="{66A8CE90-D0E8-8050-235F-833EAD52807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F533BB-1618-95EF-FB24-ACFFAAF6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38B7EF6-40CD-7FCD-11A3-52684A7815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942697C-88A7-8E10-6904-7BB05FAAEA88}"/>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202E6E41-705D-3DB7-6C13-C1B7419CCC6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74</a:t>
            </a:fld>
            <a:endParaRPr lang="en-US" sz="2000" b="1">
              <a:latin typeface="Century Gothic" panose="020B0502020202020204" pitchFamily="34" charset="0"/>
            </a:endParaRPr>
          </a:p>
        </p:txBody>
      </p:sp>
    </p:spTree>
    <p:extLst>
      <p:ext uri="{BB962C8B-B14F-4D97-AF65-F5344CB8AC3E}">
        <p14:creationId xmlns:p14="http://schemas.microsoft.com/office/powerpoint/2010/main" val="18012269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9EA653C8-3661-963A-FE4F-056D7800C2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A7767B0-AD70-5E58-E4B3-EF62866A8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E2A97F7-2544-1862-413A-24B70562CB5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ED3648E1-39D6-76BC-26F8-7257FE015E4F}"/>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graphicFrame>
        <p:nvGraphicFramePr>
          <p:cNvPr id="11" name="Table 4">
            <a:extLst>
              <a:ext uri="{FF2B5EF4-FFF2-40B4-BE49-F238E27FC236}">
                <a16:creationId xmlns:a16="http://schemas.microsoft.com/office/drawing/2014/main" id="{B7E66500-E40F-B1BB-3E2E-09241EB5DAA8}"/>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VAE&lt;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4" name="Marcador de contenido 2">
            <a:extLst>
              <a:ext uri="{FF2B5EF4-FFF2-40B4-BE49-F238E27FC236}">
                <a16:creationId xmlns:a16="http://schemas.microsoft.com/office/drawing/2014/main" id="{70CD150E-14BE-FED6-09FF-81A7AC4A74F7}"/>
              </a:ext>
            </a:extLst>
          </p:cNvPr>
          <p:cNvSpPr>
            <a:spLocks noGrp="1"/>
          </p:cNvSpPr>
          <p:nvPr>
            <p:ph idx="1"/>
          </p:nvPr>
        </p:nvSpPr>
        <p:spPr>
          <a:xfrm>
            <a:off x="581192" y="1918368"/>
            <a:ext cx="11029616" cy="582946"/>
          </a:xfrm>
        </p:spPr>
        <p:txBody>
          <a:bodyPr>
            <a:normAutofit/>
          </a:bodyPr>
          <a:lstStyle/>
          <a:p>
            <a:pPr marL="0" indent="0" algn="ctr">
              <a:buNone/>
            </a:pPr>
            <a:r>
              <a:rPr lang="es-ES" sz="2400"/>
              <a:t>Haciendo una comparación con el VPN y la TIR podemos concluir lo siguiente:</a:t>
            </a:r>
          </a:p>
        </p:txBody>
      </p:sp>
      <p:sp>
        <p:nvSpPr>
          <p:cNvPr id="2" name="Marcador de número de diapositiva 3">
            <a:extLst>
              <a:ext uri="{FF2B5EF4-FFF2-40B4-BE49-F238E27FC236}">
                <a16:creationId xmlns:a16="http://schemas.microsoft.com/office/drawing/2014/main" id="{3C5C13A8-708E-0419-346B-9CC69CB77B0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75</a:t>
            </a:fld>
            <a:endParaRPr lang="en-US" sz="2000" b="1">
              <a:latin typeface="Century Gothic" panose="020B0502020202020204" pitchFamily="34" charset="0"/>
            </a:endParaRPr>
          </a:p>
        </p:txBody>
      </p:sp>
    </p:spTree>
    <p:extLst>
      <p:ext uri="{BB962C8B-B14F-4D97-AF65-F5344CB8AC3E}">
        <p14:creationId xmlns:p14="http://schemas.microsoft.com/office/powerpoint/2010/main" val="39366260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18368"/>
            <a:ext cx="11029616" cy="582946"/>
          </a:xfrm>
        </p:spPr>
        <p:txBody>
          <a:bodyPr>
            <a:normAutofit/>
          </a:bodyPr>
          <a:lstStyle/>
          <a:p>
            <a:pPr marL="0" indent="0" algn="ctr">
              <a:buNone/>
            </a:pPr>
            <a:r>
              <a:rPr lang="es-ES" sz="2400"/>
              <a:t>Haciendo una comparación con el VPN y la TIR podemos concluir lo siguiente:</a:t>
            </a:r>
          </a:p>
        </p:txBody>
      </p:sp>
      <p:graphicFrame>
        <p:nvGraphicFramePr>
          <p:cNvPr id="5" name="Table 4"/>
          <p:cNvGraphicFramePr>
            <a:graphicFrameLocks noGrp="1"/>
          </p:cNvGraphicFramePr>
          <p:nvPr/>
        </p:nvGraphicFramePr>
        <p:xfrm>
          <a:off x="695999" y="2996400"/>
          <a:ext cx="10800001" cy="2546398"/>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VAE&lt;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VPN&lt;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TIR &lt;</a:t>
                      </a:r>
                      <a:r>
                        <a:rPr lang="es-ES_tradnl" sz="2000" baseline="0" noProof="0">
                          <a:solidFill>
                            <a:sysClr val="windowText" lastClr="000000"/>
                          </a:solidFill>
                        </a:rPr>
                        <a:t> C.O.</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ysClr val="windowText" lastClr="000000"/>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ysClr val="windowText" lastClr="000000"/>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ysClr val="windowText" lastClr="000000"/>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ysClr val="windowText" lastClr="000000"/>
                          </a:solidFill>
                        </a:rPr>
                        <a:t>No hay</a:t>
                      </a:r>
                      <a:r>
                        <a:rPr lang="es-ES_tradnl" sz="2000" baseline="0" noProof="0">
                          <a:solidFill>
                            <a:sysClr val="windowText" lastClr="000000"/>
                          </a:solidFill>
                        </a:rPr>
                        <a:t> efecto sobre el valor</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Rectángulo 6">
            <a:extLst>
              <a:ext uri="{FF2B5EF4-FFF2-40B4-BE49-F238E27FC236}">
                <a16:creationId xmlns:a16="http://schemas.microsoft.com/office/drawing/2014/main" id="{234340A3-A069-2DFE-D058-B4B5E5E29CA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F90FB66-4D84-CBDE-DD86-5D01C7E0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9D35A7-DCE8-1B43-D4AA-17C01FA3CA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0F1B630-B8A4-3AA7-A9C3-0A91E58C85F8}"/>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EA0380B0-F225-4DDD-BB30-6ED388363AC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76</a:t>
            </a:fld>
            <a:endParaRPr lang="en-US" sz="2000" b="1">
              <a:latin typeface="Century Gothic" panose="020B0502020202020204" pitchFamily="34" charset="0"/>
            </a:endParaRPr>
          </a:p>
        </p:txBody>
      </p:sp>
    </p:spTree>
    <p:extLst>
      <p:ext uri="{BB962C8B-B14F-4D97-AF65-F5344CB8AC3E}">
        <p14:creationId xmlns:p14="http://schemas.microsoft.com/office/powerpoint/2010/main" val="799879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8799"/>
            <a:ext cx="11029615" cy="4071511"/>
          </a:xfrm>
        </p:spPr>
        <p:txBody>
          <a:bodyPr>
            <a:normAutofit/>
          </a:bodyPr>
          <a:lstStyle/>
          <a:p>
            <a:pPr marL="0" indent="0" algn="just">
              <a:buNone/>
            </a:pPr>
            <a:r>
              <a:rPr lang="es-ES_tradnl" sz="2400" b="1"/>
              <a:t>Ejemplo 1: </a:t>
            </a:r>
            <a:r>
              <a:rPr lang="es-ES_tradnl" sz="2400"/>
              <a:t>Considere nuevamente el ejemplo donde su amigo decide comprarse un carro para trabajar con </a:t>
            </a:r>
            <a:r>
              <a:rPr lang="es-ES_tradnl" sz="2400" b="1"/>
              <a:t>UPER</a:t>
            </a:r>
            <a:r>
              <a:rPr lang="es-ES_tradnl" sz="2400"/>
              <a:t>. Recordando los valores, teníamos que el carro hoy tiene un costo (inversión) de $80’000.000 COP.</a:t>
            </a:r>
          </a:p>
          <a:p>
            <a:pPr marL="0" indent="0" algn="just">
              <a:buNone/>
            </a:pPr>
            <a:endParaRPr lang="es-ES_tradnl" sz="2400"/>
          </a:p>
          <a:p>
            <a:pPr marL="0" indent="0" algn="just">
              <a:buNone/>
            </a:pPr>
            <a:r>
              <a:rPr lang="es-ES_tradnl" sz="2400"/>
              <a:t>Su amigo espera operar en </a:t>
            </a:r>
            <a:r>
              <a:rPr lang="es-ES_tradnl" sz="2400" b="1"/>
              <a:t>UPER</a:t>
            </a:r>
            <a:r>
              <a:rPr lang="es-ES_tradnl" sz="2400"/>
              <a:t> por 3 años donde espera recibir $1’250.000 COP cada mes para luego vender el carro en $60’000.000 COP en el último año. Si el costo de oportunidad de su amigo es del 0,41% M.V. ¿qué tan buen negocio será trabajar para </a:t>
            </a:r>
            <a:r>
              <a:rPr lang="es-ES_tradnl" sz="2400" b="1"/>
              <a:t>UPER</a:t>
            </a:r>
            <a:r>
              <a:rPr lang="es-ES_tradnl" sz="2400"/>
              <a:t>?</a:t>
            </a:r>
          </a:p>
          <a:p>
            <a:pPr marL="0" indent="0" algn="ctr">
              <a:buNone/>
            </a:pPr>
            <a:r>
              <a:rPr lang="es-ES_tradnl" sz="2400">
                <a:solidFill>
                  <a:srgbClr val="FF0000"/>
                </a:solidFill>
              </a:rPr>
              <a:t>Nota: </a:t>
            </a:r>
            <a:r>
              <a:rPr lang="es-ES_tradnl" sz="2400" i="1">
                <a:solidFill>
                  <a:srgbClr val="FF0000"/>
                </a:solidFill>
              </a:rPr>
              <a:t>Desprecie el valor del dinero en el tiempo para periodos inferiores a un año.</a:t>
            </a:r>
          </a:p>
        </p:txBody>
      </p:sp>
      <p:sp>
        <p:nvSpPr>
          <p:cNvPr id="6" name="Rectángulo 5">
            <a:extLst>
              <a:ext uri="{FF2B5EF4-FFF2-40B4-BE49-F238E27FC236}">
                <a16:creationId xmlns:a16="http://schemas.microsoft.com/office/drawing/2014/main" id="{67D7499F-C41A-0000-E330-CB829BD594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FB5EF6C-7538-D5D4-8BCF-DF5EA0E68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0762E0-02DD-6E68-EB29-584C0013108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481027A-C790-8F1E-42A4-9A84F68900DC}"/>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5B0F7FC4-B302-4EFC-A669-7E41C7CFA5C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77</a:t>
            </a:fld>
            <a:endParaRPr lang="en-US" sz="2000" b="1">
              <a:latin typeface="Century Gothic" panose="020B0502020202020204" pitchFamily="34" charset="0"/>
            </a:endParaRPr>
          </a:p>
        </p:txBody>
      </p:sp>
    </p:spTree>
    <p:extLst>
      <p:ext uri="{BB962C8B-B14F-4D97-AF65-F5344CB8AC3E}">
        <p14:creationId xmlns:p14="http://schemas.microsoft.com/office/powerpoint/2010/main" val="188339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arcador de contenido 2"/>
          <p:cNvSpPr>
            <a:spLocks noGrp="1"/>
          </p:cNvSpPr>
          <p:nvPr>
            <p:ph idx="1"/>
          </p:nvPr>
        </p:nvSpPr>
        <p:spPr>
          <a:xfrm>
            <a:off x="581192" y="1828978"/>
            <a:ext cx="11029615" cy="523061"/>
          </a:xfrm>
        </p:spPr>
        <p:txBody>
          <a:bodyPr>
            <a:noAutofit/>
          </a:bodyPr>
          <a:lstStyle/>
          <a:p>
            <a:pPr marL="0" indent="0">
              <a:buNone/>
            </a:pPr>
            <a:r>
              <a:rPr lang="es-ES" sz="2400"/>
              <a:t>Teníamos que:</a:t>
            </a:r>
          </a:p>
        </p:txBody>
      </p:sp>
      <p:pic>
        <p:nvPicPr>
          <p:cNvPr id="22" name="Imagen 2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8088" y="5445228"/>
            <a:ext cx="3346039" cy="651242"/>
          </a:xfrm>
          <a:prstGeom prst="rect">
            <a:avLst/>
          </a:prstGeom>
        </p:spPr>
      </p:pic>
      <p:sp>
        <p:nvSpPr>
          <p:cNvPr id="24" name="Flecha derecha 23"/>
          <p:cNvSpPr/>
          <p:nvPr/>
        </p:nvSpPr>
        <p:spPr>
          <a:xfrm>
            <a:off x="5513917" y="3220955"/>
            <a:ext cx="1164166" cy="41609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grpSp>
        <p:nvGrpSpPr>
          <p:cNvPr id="11" name="Grupo 10"/>
          <p:cNvGrpSpPr/>
          <p:nvPr/>
        </p:nvGrpSpPr>
        <p:grpSpPr>
          <a:xfrm>
            <a:off x="489857" y="2404792"/>
            <a:ext cx="5469612" cy="2259303"/>
            <a:chOff x="1823928" y="2120091"/>
            <a:chExt cx="5469612" cy="2259303"/>
          </a:xfrm>
        </p:grpSpPr>
        <p:cxnSp>
          <p:nvCxnSpPr>
            <p:cNvPr id="25" name="Straight Connector 5"/>
            <p:cNvCxnSpPr/>
            <p:nvPr/>
          </p:nvCxnSpPr>
          <p:spPr>
            <a:xfrm>
              <a:off x="2692496" y="3206286"/>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6"/>
            <p:cNvCxnSpPr/>
            <p:nvPr/>
          </p:nvCxnSpPr>
          <p:spPr>
            <a:xfrm>
              <a:off x="2692496" y="320628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7"/>
            <p:cNvCxnSpPr/>
            <p:nvPr/>
          </p:nvCxnSpPr>
          <p:spPr>
            <a:xfrm flipV="1">
              <a:off x="3612420" y="274756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8"/>
            <p:cNvCxnSpPr/>
            <p:nvPr/>
          </p:nvCxnSpPr>
          <p:spPr>
            <a:xfrm flipV="1">
              <a:off x="4685849" y="274756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5745323" y="251457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p:cNvSpPr>
              <a:spLocks/>
            </p:cNvSpPr>
            <p:nvPr/>
          </p:nvSpPr>
          <p:spPr bwMode="auto">
            <a:xfrm flipH="1">
              <a:off x="2606894" y="283228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1" name="Rectangle 13"/>
            <p:cNvSpPr>
              <a:spLocks/>
            </p:cNvSpPr>
            <p:nvPr/>
          </p:nvSpPr>
          <p:spPr bwMode="auto">
            <a:xfrm>
              <a:off x="3428831" y="329861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2" name="Rectangle 14"/>
            <p:cNvSpPr>
              <a:spLocks/>
            </p:cNvSpPr>
            <p:nvPr/>
          </p:nvSpPr>
          <p:spPr bwMode="auto">
            <a:xfrm>
              <a:off x="4517319" y="329861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3" name="Rectangle 15"/>
            <p:cNvSpPr>
              <a:spLocks/>
            </p:cNvSpPr>
            <p:nvPr/>
          </p:nvSpPr>
          <p:spPr bwMode="auto">
            <a:xfrm>
              <a:off x="5576793" y="33125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4" name="Rectangle 18"/>
            <p:cNvSpPr>
              <a:spLocks/>
            </p:cNvSpPr>
            <p:nvPr/>
          </p:nvSpPr>
          <p:spPr bwMode="auto">
            <a:xfrm>
              <a:off x="2973693" y="236540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35" name="Rectangle 19"/>
            <p:cNvSpPr>
              <a:spLocks/>
            </p:cNvSpPr>
            <p:nvPr/>
          </p:nvSpPr>
          <p:spPr bwMode="auto">
            <a:xfrm>
              <a:off x="4963652" y="2120091"/>
              <a:ext cx="23298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36" name="Rectangle 22"/>
            <p:cNvSpPr>
              <a:spLocks/>
            </p:cNvSpPr>
            <p:nvPr/>
          </p:nvSpPr>
          <p:spPr bwMode="auto">
            <a:xfrm>
              <a:off x="4047122" y="2357537"/>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37" name="Rectangle 43"/>
            <p:cNvSpPr>
              <a:spLocks/>
            </p:cNvSpPr>
            <p:nvPr/>
          </p:nvSpPr>
          <p:spPr bwMode="auto">
            <a:xfrm>
              <a:off x="1823928" y="407161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grpSp>
      <p:sp>
        <p:nvSpPr>
          <p:cNvPr id="38" name="Marcador de contenido 2"/>
          <p:cNvSpPr txBox="1">
            <a:spLocks/>
          </p:cNvSpPr>
          <p:nvPr/>
        </p:nvSpPr>
        <p:spPr>
          <a:xfrm>
            <a:off x="2263290" y="4614633"/>
            <a:ext cx="7610476" cy="523061"/>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a:solidFill>
                  <a:schemeClr val="tx1"/>
                </a:solidFill>
              </a:rPr>
              <a:t>Calculando el VAE obtenemos:</a:t>
            </a:r>
          </a:p>
        </p:txBody>
      </p:sp>
      <mc:AlternateContent xmlns:mc="http://schemas.openxmlformats.org/markup-compatibility/2006" xmlns:a14="http://schemas.microsoft.com/office/drawing/2010/main">
        <mc:Choice Requires="a14">
          <p:sp>
            <p:nvSpPr>
              <p:cNvPr id="39" name="Rectángulo 38"/>
              <p:cNvSpPr/>
              <p:nvPr/>
            </p:nvSpPr>
            <p:spPr>
              <a:xfrm>
                <a:off x="7538280" y="3260154"/>
                <a:ext cx="3456908" cy="461665"/>
              </a:xfrm>
              <a:prstGeom prst="rect">
                <a:avLst/>
              </a:prstGeom>
            </p:spPr>
            <p:txBody>
              <a:bodyPr wrap="none">
                <a:spAutoFit/>
              </a:bodyPr>
              <a:lstStyle/>
              <a:p>
                <a:pPr/>
                <a14:m>
                  <m:oMathPara xmlns:m="http://schemas.openxmlformats.org/officeDocument/2006/math">
                    <m:oMathParaPr>
                      <m:jc m:val="left"/>
                    </m:oMathParaPr>
                    <m:oMath>
                      <m:r>
                        <a:rPr lang="es-CO" sz="2400" i="1">
                          <a:latin typeface="Cambria Math" panose="02040503050406030204" pitchFamily="18" charset="0"/>
                        </a:rPr>
                        <m:t>𝑉𝑃𝑁</m:t>
                      </m:r>
                      <m:r>
                        <a:rPr lang="es-CO" sz="2400" i="1">
                          <a:latin typeface="Cambria Math" panose="02040503050406030204" pitchFamily="18" charset="0"/>
                        </a:rPr>
                        <m:t>(5,03%)=$12.606</m:t>
                      </m:r>
                    </m:oMath>
                  </m:oMathPara>
                </a14:m>
                <a:endParaRPr lang="es-CO" sz="2400"/>
              </a:p>
            </p:txBody>
          </p:sp>
        </mc:Choice>
        <mc:Fallback xmlns="">
          <p:sp>
            <p:nvSpPr>
              <p:cNvPr id="39" name="Rectángulo 38"/>
              <p:cNvSpPr>
                <a:spLocks noRot="1" noChangeAspect="1" noMove="1" noResize="1" noEditPoints="1" noAdjustHandles="1" noChangeArrowheads="1" noChangeShapeType="1" noTextEdit="1"/>
              </p:cNvSpPr>
              <p:nvPr/>
            </p:nvSpPr>
            <p:spPr>
              <a:xfrm>
                <a:off x="7538280" y="3260154"/>
                <a:ext cx="3456908" cy="461665"/>
              </a:xfrm>
              <a:prstGeom prst="rect">
                <a:avLst/>
              </a:prstGeom>
              <a:blipFill>
                <a:blip r:embed="rId4"/>
                <a:stretch>
                  <a:fillRect l="-529"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ángulo 39"/>
              <p:cNvSpPr/>
              <p:nvPr/>
            </p:nvSpPr>
            <p:spPr>
              <a:xfrm>
                <a:off x="7538280" y="5517229"/>
                <a:ext cx="2159822" cy="461665"/>
              </a:xfrm>
              <a:prstGeom prst="rect">
                <a:avLst/>
              </a:prstGeom>
            </p:spPr>
            <p:txBody>
              <a:bodyPr wrap="none">
                <a:spAutoFit/>
              </a:bodyPr>
              <a:lstStyle/>
              <a:p>
                <a:pPr/>
                <a14:m>
                  <m:oMathPara xmlns:m="http://schemas.openxmlformats.org/officeDocument/2006/math">
                    <m:oMathParaPr>
                      <m:jc m:val="left"/>
                    </m:oMathParaPr>
                    <m:oMath>
                      <m:r>
                        <a:rPr lang="es-CO" sz="2400" i="1">
                          <a:latin typeface="Cambria Math" panose="02040503050406030204" pitchFamily="18" charset="0"/>
                        </a:rPr>
                        <m:t>𝑉𝐴𝐸</m:t>
                      </m:r>
                      <m:r>
                        <a:rPr lang="es-CO" sz="2400">
                          <a:latin typeface="Cambria Math" panose="02040503050406030204" pitchFamily="18" charset="0"/>
                        </a:rPr>
                        <m:t>=$4.632</m:t>
                      </m:r>
                    </m:oMath>
                  </m:oMathPara>
                </a14:m>
                <a:endParaRPr lang="es-CO" sz="2400"/>
              </a:p>
            </p:txBody>
          </p:sp>
        </mc:Choice>
        <mc:Fallback xmlns="">
          <p:sp>
            <p:nvSpPr>
              <p:cNvPr id="40" name="Rectángulo 39"/>
              <p:cNvSpPr>
                <a:spLocks noRot="1" noChangeAspect="1" noMove="1" noResize="1" noEditPoints="1" noAdjustHandles="1" noChangeArrowheads="1" noChangeShapeType="1" noTextEdit="1"/>
              </p:cNvSpPr>
              <p:nvPr/>
            </p:nvSpPr>
            <p:spPr>
              <a:xfrm>
                <a:off x="7538280" y="5517229"/>
                <a:ext cx="2159822" cy="461665"/>
              </a:xfrm>
              <a:prstGeom prst="rect">
                <a:avLst/>
              </a:prstGeom>
              <a:blipFill>
                <a:blip r:embed="rId5"/>
                <a:stretch>
                  <a:fillRect l="-847" b="-3947"/>
                </a:stretch>
              </a:blipFill>
            </p:spPr>
            <p:txBody>
              <a:bodyPr/>
              <a:lstStyle/>
              <a:p>
                <a:r>
                  <a:rPr lang="en-US">
                    <a:noFill/>
                  </a:rPr>
                  <a:t> </a:t>
                </a:r>
              </a:p>
            </p:txBody>
          </p:sp>
        </mc:Fallback>
      </mc:AlternateContent>
      <p:sp>
        <p:nvSpPr>
          <p:cNvPr id="3" name="Rectángulo 2">
            <a:extLst>
              <a:ext uri="{FF2B5EF4-FFF2-40B4-BE49-F238E27FC236}">
                <a16:creationId xmlns:a16="http://schemas.microsoft.com/office/drawing/2014/main" id="{0ABDC665-6E74-FFDB-E6E8-BF12E9DA73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61887E3-B964-4EDA-1939-11A34B0524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D2AC037-84A9-12E4-565A-1305559DB0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A5834E31-96FB-E3F0-0DD0-B3BF0B42889D}"/>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9" name="Flecha derecha 23">
            <a:extLst>
              <a:ext uri="{FF2B5EF4-FFF2-40B4-BE49-F238E27FC236}">
                <a16:creationId xmlns:a16="http://schemas.microsoft.com/office/drawing/2014/main" id="{B54CD90D-2CDD-BA1B-86CC-6D8979E0B90E}"/>
              </a:ext>
            </a:extLst>
          </p:cNvPr>
          <p:cNvSpPr/>
          <p:nvPr/>
        </p:nvSpPr>
        <p:spPr>
          <a:xfrm>
            <a:off x="5513917" y="5562804"/>
            <a:ext cx="1164166" cy="41609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
        <p:nvSpPr>
          <p:cNvPr id="2" name="Marcador de número de diapositiva 3">
            <a:extLst>
              <a:ext uri="{FF2B5EF4-FFF2-40B4-BE49-F238E27FC236}">
                <a16:creationId xmlns:a16="http://schemas.microsoft.com/office/drawing/2014/main" id="{6CA8B224-7DE8-2343-BEC1-289EF4228AE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78</a:t>
            </a:fld>
            <a:endParaRPr lang="en-US" sz="2000" b="1">
              <a:latin typeface="Century Gothic" panose="020B0502020202020204" pitchFamily="34" charset="0"/>
            </a:endParaRPr>
          </a:p>
        </p:txBody>
      </p:sp>
    </p:spTree>
    <p:extLst>
      <p:ext uri="{BB962C8B-B14F-4D97-AF65-F5344CB8AC3E}">
        <p14:creationId xmlns:p14="http://schemas.microsoft.com/office/powerpoint/2010/main" val="253127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8" grpId="0"/>
      <p:bldP spid="39" grpId="0"/>
      <p:bldP spid="40" grpId="0"/>
      <p:bldP spid="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arcador de contenido 2"/>
          <p:cNvSpPr>
            <a:spLocks noGrp="1"/>
          </p:cNvSpPr>
          <p:nvPr>
            <p:ph idx="1"/>
          </p:nvPr>
        </p:nvSpPr>
        <p:spPr>
          <a:xfrm>
            <a:off x="581192" y="1836250"/>
            <a:ext cx="11029613" cy="465077"/>
          </a:xfrm>
        </p:spPr>
        <p:txBody>
          <a:bodyPr>
            <a:normAutofit fontScale="92500" lnSpcReduction="10000"/>
          </a:bodyPr>
          <a:lstStyle/>
          <a:p>
            <a:pPr marL="0" indent="0">
              <a:buNone/>
            </a:pPr>
            <a:r>
              <a:rPr lang="es-ES" sz="2800"/>
              <a:t>En resumen:</a:t>
            </a:r>
          </a:p>
        </p:txBody>
      </p:sp>
      <p:sp>
        <p:nvSpPr>
          <p:cNvPr id="5" name="Flecha derecha 4"/>
          <p:cNvSpPr/>
          <p:nvPr/>
        </p:nvSpPr>
        <p:spPr>
          <a:xfrm>
            <a:off x="5770000" y="3904645"/>
            <a:ext cx="574816" cy="2636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cxnSp>
        <p:nvCxnSpPr>
          <p:cNvPr id="25" name="Straight Connector 5"/>
          <p:cNvCxnSpPr/>
          <p:nvPr/>
        </p:nvCxnSpPr>
        <p:spPr>
          <a:xfrm>
            <a:off x="7622506" y="4061983"/>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7"/>
          <p:cNvCxnSpPr/>
          <p:nvPr/>
        </p:nvCxnSpPr>
        <p:spPr>
          <a:xfrm flipV="1">
            <a:off x="8542429" y="3718762"/>
            <a:ext cx="0" cy="34322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8"/>
          <p:cNvCxnSpPr/>
          <p:nvPr/>
        </p:nvCxnSpPr>
        <p:spPr>
          <a:xfrm flipV="1">
            <a:off x="9615858" y="3718762"/>
            <a:ext cx="0" cy="3432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10675332" y="3718762"/>
            <a:ext cx="0" cy="3432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p:cNvSpPr>
            <a:spLocks/>
          </p:cNvSpPr>
          <p:nvPr/>
        </p:nvSpPr>
        <p:spPr bwMode="auto">
          <a:xfrm flipH="1">
            <a:off x="7536904" y="3687985"/>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1" name="Rectangle 13"/>
          <p:cNvSpPr>
            <a:spLocks/>
          </p:cNvSpPr>
          <p:nvPr/>
        </p:nvSpPr>
        <p:spPr bwMode="auto">
          <a:xfrm>
            <a:off x="8358840" y="415431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2" name="Rectangle 14"/>
          <p:cNvSpPr>
            <a:spLocks/>
          </p:cNvSpPr>
          <p:nvPr/>
        </p:nvSpPr>
        <p:spPr bwMode="auto">
          <a:xfrm>
            <a:off x="9447328" y="415431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3" name="Rectangle 15"/>
          <p:cNvSpPr>
            <a:spLocks/>
          </p:cNvSpPr>
          <p:nvPr/>
        </p:nvSpPr>
        <p:spPr bwMode="auto">
          <a:xfrm>
            <a:off x="10506802" y="41682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9" name="Rectangle 22"/>
          <p:cNvSpPr>
            <a:spLocks/>
          </p:cNvSpPr>
          <p:nvPr/>
        </p:nvSpPr>
        <p:spPr bwMode="auto">
          <a:xfrm>
            <a:off x="8919604" y="338029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4.632</a:t>
            </a:r>
          </a:p>
        </p:txBody>
      </p:sp>
      <p:cxnSp>
        <p:nvCxnSpPr>
          <p:cNvPr id="40" name="Straight Arrow Connector 6"/>
          <p:cNvCxnSpPr/>
          <p:nvPr/>
        </p:nvCxnSpPr>
        <p:spPr>
          <a:xfrm>
            <a:off x="8563520" y="3707926"/>
            <a:ext cx="2111813" cy="0"/>
          </a:xfrm>
          <a:prstGeom prst="straightConnector1">
            <a:avLst/>
          </a:prstGeom>
          <a:ln w="28575">
            <a:solidFill>
              <a:srgbClr val="BF8700"/>
            </a:solidFill>
            <a:prstDash val="dash"/>
            <a:headEnd type="none"/>
            <a:tailEnd type="none"/>
          </a:ln>
        </p:spPr>
        <p:style>
          <a:lnRef idx="2">
            <a:schemeClr val="accent1"/>
          </a:lnRef>
          <a:fillRef idx="0">
            <a:schemeClr val="accent1"/>
          </a:fillRef>
          <a:effectRef idx="1">
            <a:schemeClr val="accent1"/>
          </a:effectRef>
          <a:fontRef idx="minor">
            <a:schemeClr val="tx1"/>
          </a:fontRef>
        </p:style>
      </p:cxnSp>
      <p:grpSp>
        <p:nvGrpSpPr>
          <p:cNvPr id="34" name="Grupo 33"/>
          <p:cNvGrpSpPr/>
          <p:nvPr/>
        </p:nvGrpSpPr>
        <p:grpSpPr>
          <a:xfrm>
            <a:off x="396598" y="3021479"/>
            <a:ext cx="5279955" cy="2227569"/>
            <a:chOff x="1823928" y="2151825"/>
            <a:chExt cx="5279955" cy="2227569"/>
          </a:xfrm>
        </p:grpSpPr>
        <p:cxnSp>
          <p:nvCxnSpPr>
            <p:cNvPr id="35" name="Straight Connector 5"/>
            <p:cNvCxnSpPr/>
            <p:nvPr/>
          </p:nvCxnSpPr>
          <p:spPr>
            <a:xfrm>
              <a:off x="2692496" y="3206286"/>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Arrow Connector 6"/>
            <p:cNvCxnSpPr/>
            <p:nvPr/>
          </p:nvCxnSpPr>
          <p:spPr>
            <a:xfrm>
              <a:off x="2692496" y="320628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7"/>
            <p:cNvCxnSpPr/>
            <p:nvPr/>
          </p:nvCxnSpPr>
          <p:spPr>
            <a:xfrm flipV="1">
              <a:off x="3612420" y="274756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8"/>
            <p:cNvCxnSpPr/>
            <p:nvPr/>
          </p:nvCxnSpPr>
          <p:spPr>
            <a:xfrm flipV="1">
              <a:off x="4685849" y="274756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5745323" y="251457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12"/>
            <p:cNvSpPr>
              <a:spLocks/>
            </p:cNvSpPr>
            <p:nvPr/>
          </p:nvSpPr>
          <p:spPr bwMode="auto">
            <a:xfrm flipH="1">
              <a:off x="2606894" y="2832288"/>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0</a:t>
              </a:r>
            </a:p>
          </p:txBody>
        </p:sp>
        <p:sp>
          <p:nvSpPr>
            <p:cNvPr id="43" name="Rectangle 13"/>
            <p:cNvSpPr>
              <a:spLocks/>
            </p:cNvSpPr>
            <p:nvPr/>
          </p:nvSpPr>
          <p:spPr bwMode="auto">
            <a:xfrm>
              <a:off x="3428831" y="3298618"/>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1</a:t>
              </a:r>
            </a:p>
          </p:txBody>
        </p:sp>
        <p:sp>
          <p:nvSpPr>
            <p:cNvPr id="45" name="Rectangle 14"/>
            <p:cNvSpPr>
              <a:spLocks/>
            </p:cNvSpPr>
            <p:nvPr/>
          </p:nvSpPr>
          <p:spPr bwMode="auto">
            <a:xfrm>
              <a:off x="4517319" y="3298618"/>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2</a:t>
              </a:r>
            </a:p>
          </p:txBody>
        </p:sp>
        <p:sp>
          <p:nvSpPr>
            <p:cNvPr id="46" name="Rectangle 15"/>
            <p:cNvSpPr>
              <a:spLocks/>
            </p:cNvSpPr>
            <p:nvPr/>
          </p:nvSpPr>
          <p:spPr bwMode="auto">
            <a:xfrm>
              <a:off x="5576793" y="3312575"/>
              <a:ext cx="337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3</a:t>
              </a:r>
            </a:p>
          </p:txBody>
        </p:sp>
        <p:sp>
          <p:nvSpPr>
            <p:cNvPr id="47" name="Rectangle 18"/>
            <p:cNvSpPr>
              <a:spLocks/>
            </p:cNvSpPr>
            <p:nvPr/>
          </p:nvSpPr>
          <p:spPr bwMode="auto">
            <a:xfrm>
              <a:off x="2973693" y="2365405"/>
              <a:ext cx="127745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15.000</a:t>
              </a:r>
            </a:p>
          </p:txBody>
        </p:sp>
        <p:sp>
          <p:nvSpPr>
            <p:cNvPr id="48" name="Rectangle 19"/>
            <p:cNvSpPr>
              <a:spLocks/>
            </p:cNvSpPr>
            <p:nvPr/>
          </p:nvSpPr>
          <p:spPr bwMode="auto">
            <a:xfrm>
              <a:off x="5044896" y="2151825"/>
              <a:ext cx="2058987"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15.000 + 60.000</a:t>
              </a:r>
            </a:p>
          </p:txBody>
        </p:sp>
        <p:sp>
          <p:nvSpPr>
            <p:cNvPr id="49" name="Rectangle 22"/>
            <p:cNvSpPr>
              <a:spLocks/>
            </p:cNvSpPr>
            <p:nvPr/>
          </p:nvSpPr>
          <p:spPr bwMode="auto">
            <a:xfrm>
              <a:off x="4047122" y="2357537"/>
              <a:ext cx="127745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15.000</a:t>
              </a:r>
            </a:p>
          </p:txBody>
        </p:sp>
        <p:sp>
          <p:nvSpPr>
            <p:cNvPr id="50" name="Rectangle 43"/>
            <p:cNvSpPr>
              <a:spLocks/>
            </p:cNvSpPr>
            <p:nvPr/>
          </p:nvSpPr>
          <p:spPr bwMode="auto">
            <a:xfrm>
              <a:off x="1823928" y="4071617"/>
              <a:ext cx="1565932"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80.000</a:t>
              </a:r>
            </a:p>
          </p:txBody>
        </p:sp>
      </p:grpSp>
      <p:sp>
        <p:nvSpPr>
          <p:cNvPr id="3" name="Rectángulo 2">
            <a:extLst>
              <a:ext uri="{FF2B5EF4-FFF2-40B4-BE49-F238E27FC236}">
                <a16:creationId xmlns:a16="http://schemas.microsoft.com/office/drawing/2014/main" id="{5FD6CE53-B105-3BED-733A-FC5BC0416B50}"/>
              </a:ext>
            </a:extLst>
          </p:cNvPr>
          <p:cNvSpPr/>
          <p:nvPr/>
        </p:nvSpPr>
        <p:spPr>
          <a:xfrm>
            <a:off x="1401497"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8C73A0A-61F2-08D1-31BA-5CDDDDE19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FC6958F-4527-B66E-A577-B9DC302A7D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11150FA5-74AA-8ED2-FE80-D6A519D31B2F}"/>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V</a:t>
            </a:r>
            <a:r>
              <a:rPr lang="es-CO" sz="3200">
                <a:latin typeface="Century Gothic" panose="020B0502020202020204" pitchFamily="34" charset="0"/>
              </a:rPr>
              <a:t>AE</a:t>
            </a:r>
          </a:p>
        </p:txBody>
      </p:sp>
      <p:sp>
        <p:nvSpPr>
          <p:cNvPr id="2" name="Marcador de número de diapositiva 3">
            <a:extLst>
              <a:ext uri="{FF2B5EF4-FFF2-40B4-BE49-F238E27FC236}">
                <a16:creationId xmlns:a16="http://schemas.microsoft.com/office/drawing/2014/main" id="{9F4887A4-D2C5-0216-8600-F257AC58825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79</a:t>
            </a:fld>
            <a:endParaRPr lang="en-US" sz="2000" b="1">
              <a:latin typeface="Century Gothic" panose="020B0502020202020204" pitchFamily="34" charset="0"/>
            </a:endParaRPr>
          </a:p>
        </p:txBody>
      </p:sp>
    </p:spTree>
    <p:extLst>
      <p:ext uri="{BB962C8B-B14F-4D97-AF65-F5344CB8AC3E}">
        <p14:creationId xmlns:p14="http://schemas.microsoft.com/office/powerpoint/2010/main" val="28574989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5319-1558-E5E1-E48C-FAF8844FCA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CDE33B-5C5C-30CC-70DA-352CC431506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CC3C606-7ACE-4D9B-9595-3F3E7818466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AC6CDCC-C21F-24FF-C70B-2EF25B28D857}"/>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CAC653F-A819-4E65-3965-2954A78FF3AA}"/>
              </a:ext>
            </a:extLst>
          </p:cNvPr>
          <p:cNvSpPr/>
          <p:nvPr/>
        </p:nvSpPr>
        <p:spPr>
          <a:xfrm>
            <a:off x="3173020" y="2318042"/>
            <a:ext cx="8540907" cy="1938992"/>
          </a:xfrm>
          <a:prstGeom prst="rect">
            <a:avLst/>
          </a:prstGeom>
        </p:spPr>
        <p:txBody>
          <a:bodyPr wrap="square" lIns="91440" tIns="45720" rIns="91440" bIns="45720" anchor="t">
            <a:spAutoFit/>
          </a:bodyPr>
          <a:lstStyle/>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a:cs typeface="Arial"/>
              </a:rPr>
              <a:t>Relación Beneficio/Costo (B/C)</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2799435-1346-2A1D-B552-5DDDC0E9FC3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E58CB5-568B-225F-FF0A-E7173A8B8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F233301-7FAE-6801-8923-7C22BBBF842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0603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3098"/>
            <a:ext cx="9144000" cy="1219804"/>
          </a:xfrm>
        </p:spPr>
        <p:txBody>
          <a:bodyPr>
            <a:normAutofit lnSpcReduction="10000"/>
          </a:bodyPr>
          <a:lstStyle/>
          <a:p>
            <a:pPr marL="0" indent="0" algn="ctr">
              <a:buNone/>
            </a:pPr>
            <a:r>
              <a:rPr lang="es-ES_tradnl" sz="3200" b="1">
                <a:solidFill>
                  <a:srgbClr val="800000"/>
                </a:solidFill>
              </a:rPr>
              <a:t>B/C </a:t>
            </a:r>
          </a:p>
          <a:p>
            <a:pPr marL="0" indent="0" algn="ctr">
              <a:buNone/>
            </a:pPr>
            <a:r>
              <a:rPr lang="es-ES_tradnl" sz="2800" b="1">
                <a:solidFill>
                  <a:srgbClr val="800000"/>
                </a:solidFill>
              </a:rPr>
              <a:t>(Relación </a:t>
            </a:r>
            <a:r>
              <a:rPr lang="es-ES_tradnl" sz="3200" b="1">
                <a:solidFill>
                  <a:srgbClr val="800000"/>
                </a:solidFill>
              </a:rPr>
              <a:t>Beneficio</a:t>
            </a:r>
            <a:r>
              <a:rPr lang="es-ES_tradnl" sz="2800" b="1">
                <a:solidFill>
                  <a:srgbClr val="800000"/>
                </a:solidFill>
              </a:rPr>
              <a:t> Costo)</a:t>
            </a:r>
          </a:p>
        </p:txBody>
      </p:sp>
      <p:sp>
        <p:nvSpPr>
          <p:cNvPr id="3" name="Rectángulo 2">
            <a:extLst>
              <a:ext uri="{FF2B5EF4-FFF2-40B4-BE49-F238E27FC236}">
                <a16:creationId xmlns:a16="http://schemas.microsoft.com/office/drawing/2014/main" id="{A8070C99-FD92-9E96-88BA-B4155B38013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F6ED338-8848-8C5E-DD39-36E27AB90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8397D05-77F2-0DDD-7795-4453D0C2573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10F7CECF-F00F-6037-2AE2-9D14294A1D0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81</a:t>
            </a:fld>
            <a:endParaRPr lang="en-US" sz="2000" b="1">
              <a:latin typeface="Century Gothic" panose="020B0502020202020204" pitchFamily="34" charset="0"/>
            </a:endParaRPr>
          </a:p>
        </p:txBody>
      </p:sp>
    </p:spTree>
    <p:extLst>
      <p:ext uri="{BB962C8B-B14F-4D97-AF65-F5344CB8AC3E}">
        <p14:creationId xmlns:p14="http://schemas.microsoft.com/office/powerpoint/2010/main" val="24991502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3563"/>
            <a:ext cx="11029616" cy="1529869"/>
          </a:xfrm>
        </p:spPr>
        <p:txBody>
          <a:bodyPr>
            <a:noAutofit/>
          </a:bodyPr>
          <a:lstStyle/>
          <a:p>
            <a:pPr marL="0" indent="0" algn="just">
              <a:buNone/>
            </a:pPr>
            <a:r>
              <a:rPr lang="es-ES" sz="2400"/>
              <a:t>La relación B/C no es más que la relación entre el valor presente de los flujos de caja positivos y el valor presente de los flujos de caja negativos descontados al costo de oportunidad.</a:t>
            </a:r>
          </a:p>
        </p:txBody>
      </p:sp>
      <p:sp>
        <p:nvSpPr>
          <p:cNvPr id="9" name="Rectángulo 8">
            <a:extLst>
              <a:ext uri="{FF2B5EF4-FFF2-40B4-BE49-F238E27FC236}">
                <a16:creationId xmlns:a16="http://schemas.microsoft.com/office/drawing/2014/main" id="{A50DD1F5-AF18-1EA5-E875-AFF1FA99C3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1451ED2-B337-0DEC-7050-03020F76D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A27C2A6-4363-9358-0260-30A528BD99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AC2E0C70-018D-9695-4FC6-8CAE7A9CD997}"/>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F4C774C-16EF-D3A1-C9F7-C345E436F456}"/>
                  </a:ext>
                </a:extLst>
              </p:cNvPr>
              <p:cNvSpPr txBox="1"/>
              <p:nvPr/>
            </p:nvSpPr>
            <p:spPr>
              <a:xfrm>
                <a:off x="3939384" y="4240391"/>
                <a:ext cx="4313232" cy="1209498"/>
              </a:xfrm>
              <a:prstGeom prst="rect">
                <a:avLst/>
              </a:prstGeom>
              <a:noFill/>
            </p:spPr>
            <p:txBody>
              <a:bodyPr wrap="none" lIns="0" tIns="0" rIns="0" bIns="0" rtlCol="0">
                <a:spAutoFit/>
              </a:bodyPr>
              <a:lstStyle/>
              <a:p>
                <a:pPr/>
                <a14:m>
                  <m:oMathPara xmlns:m="http://schemas.openxmlformats.org/officeDocument/2006/math">
                    <m:oMath>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𝐵</m:t>
                          </m:r>
                        </m:num>
                        <m:den>
                          <m:r>
                            <a:rPr lang="es-ES" sz="3600" b="0" i="1" smtClean="0">
                              <a:latin typeface="Cambria Math" panose="02040503050406030204" pitchFamily="18" charset="0"/>
                            </a:rPr>
                            <m:t>𝐶</m:t>
                          </m:r>
                        </m:den>
                      </m:f>
                      <m:r>
                        <a:rPr lang="es-ES" sz="3600" b="0" i="1" smtClean="0">
                          <a:latin typeface="Cambria Math" panose="02040503050406030204" pitchFamily="18" charset="0"/>
                        </a:rPr>
                        <m:t>=</m:t>
                      </m:r>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m:t>
                              </m:r>
                            </m:sub>
                          </m:sSub>
                        </m:num>
                        <m:den>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 −</m:t>
                              </m:r>
                            </m:sub>
                          </m:sSub>
                        </m:den>
                      </m:f>
                    </m:oMath>
                  </m:oMathPara>
                </a14:m>
                <a:endParaRPr lang="es-CO" sz="3600"/>
              </a:p>
            </p:txBody>
          </p:sp>
        </mc:Choice>
        <mc:Fallback xmlns="">
          <p:sp>
            <p:nvSpPr>
              <p:cNvPr id="2" name="CuadroTexto 1">
                <a:extLst>
                  <a:ext uri="{FF2B5EF4-FFF2-40B4-BE49-F238E27FC236}">
                    <a16:creationId xmlns:a16="http://schemas.microsoft.com/office/drawing/2014/main" id="{6F4C774C-16EF-D3A1-C9F7-C345E436F456}"/>
                  </a:ext>
                </a:extLst>
              </p:cNvPr>
              <p:cNvSpPr txBox="1">
                <a:spLocks noRot="1" noChangeAspect="1" noMove="1" noResize="1" noEditPoints="1" noAdjustHandles="1" noChangeArrowheads="1" noChangeShapeType="1" noTextEdit="1"/>
              </p:cNvSpPr>
              <p:nvPr/>
            </p:nvSpPr>
            <p:spPr>
              <a:xfrm>
                <a:off x="3939384" y="4240391"/>
                <a:ext cx="4313232" cy="1209498"/>
              </a:xfrm>
              <a:prstGeom prst="rect">
                <a:avLst/>
              </a:prstGeom>
              <a:blipFill>
                <a:blip r:embed="rId3"/>
                <a:stretch>
                  <a:fillRect/>
                </a:stretch>
              </a:blipFill>
            </p:spPr>
            <p:txBody>
              <a:bodyPr/>
              <a:lstStyle/>
              <a:p>
                <a:r>
                  <a:rPr lang="en-US">
                    <a:noFill/>
                  </a:rPr>
                  <a:t> </a:t>
                </a:r>
              </a:p>
            </p:txBody>
          </p:sp>
        </mc:Fallback>
      </mc:AlternateContent>
      <p:sp>
        <p:nvSpPr>
          <p:cNvPr id="5" name="Marcador de número de diapositiva 3">
            <a:extLst>
              <a:ext uri="{FF2B5EF4-FFF2-40B4-BE49-F238E27FC236}">
                <a16:creationId xmlns:a16="http://schemas.microsoft.com/office/drawing/2014/main" id="{B68B24DB-4582-9C8C-D6DD-92C717C5FE6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82</a:t>
            </a:fld>
            <a:endParaRPr lang="en-US" sz="2000" b="1">
              <a:latin typeface="Century Gothic" panose="020B0502020202020204" pitchFamily="34" charset="0"/>
            </a:endParaRPr>
          </a:p>
        </p:txBody>
      </p:sp>
    </p:spTree>
    <p:extLst>
      <p:ext uri="{BB962C8B-B14F-4D97-AF65-F5344CB8AC3E}">
        <p14:creationId xmlns:p14="http://schemas.microsoft.com/office/powerpoint/2010/main" val="23035263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0819"/>
            <a:ext cx="11029615" cy="4351338"/>
          </a:xfrm>
        </p:spPr>
        <p:txBody>
          <a:bodyPr>
            <a:normAutofit/>
          </a:bodyPr>
          <a:lstStyle/>
          <a:p>
            <a:pPr algn="just"/>
            <a:r>
              <a:rPr lang="es-ES" sz="2400"/>
              <a:t>Cuando se está evaluando </a:t>
            </a:r>
            <a:r>
              <a:rPr lang="es-ES" sz="2400" i="1">
                <a:solidFill>
                  <a:schemeClr val="accent6"/>
                </a:solidFill>
              </a:rPr>
              <a:t>un único proyecto, existe total consistencia con los demás indicadores vistos</a:t>
            </a:r>
            <a:r>
              <a:rPr lang="es-ES" sz="2400" b="1"/>
              <a:t>. </a:t>
            </a:r>
            <a:r>
              <a:rPr lang="es-ES" sz="2400"/>
              <a:t>En este orden, por ejemplo, si el VP de los flujos de caja positivos es superior al VP de los flujos de caja negativos se tendrá un VPN&gt;0 y un B/C &gt;1 </a:t>
            </a:r>
          </a:p>
          <a:p>
            <a:pPr algn="just"/>
            <a:endParaRPr lang="es-ES" sz="2400"/>
          </a:p>
          <a:p>
            <a:pPr algn="just"/>
            <a:r>
              <a:rPr lang="es-ES" sz="2400"/>
              <a:t>Recuerden que para el cálculo del VP los flujos deben ser neteados. Después de realizado lo anterior, el flujo neto del periodo es llevado a VP como un flujo positivo si este es mayor a 0 y viceversa.</a:t>
            </a:r>
          </a:p>
        </p:txBody>
      </p:sp>
      <p:sp>
        <p:nvSpPr>
          <p:cNvPr id="6" name="Rectángulo 5">
            <a:extLst>
              <a:ext uri="{FF2B5EF4-FFF2-40B4-BE49-F238E27FC236}">
                <a16:creationId xmlns:a16="http://schemas.microsoft.com/office/drawing/2014/main" id="{7958D708-9DAF-A5A1-7CC3-406AB5B3D1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999227-6CAE-4969-6416-23008F92A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6979598-BF19-9256-D13C-42992EEBDC1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F8F7DAE-F1BB-FFAD-804C-CAD4B1F78E10}"/>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59E8E8A6-7935-FB33-A718-58560EB05314}"/>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83</a:t>
            </a:fld>
            <a:endParaRPr lang="en-US" sz="2000" b="1">
              <a:latin typeface="Century Gothic" panose="020B0502020202020204" pitchFamily="34" charset="0"/>
            </a:endParaRPr>
          </a:p>
        </p:txBody>
      </p:sp>
    </p:spTree>
    <p:extLst>
      <p:ext uri="{BB962C8B-B14F-4D97-AF65-F5344CB8AC3E}">
        <p14:creationId xmlns:p14="http://schemas.microsoft.com/office/powerpoint/2010/main" val="216159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2369"/>
            <a:ext cx="11029605" cy="538470"/>
          </a:xfrm>
        </p:spPr>
        <p:txBody>
          <a:bodyPr>
            <a:normAutofit/>
          </a:bodyPr>
          <a:lstStyle/>
          <a:p>
            <a:pPr marL="0" indent="0" algn="just">
              <a:buNone/>
            </a:pPr>
            <a:r>
              <a:rPr lang="es-ES" sz="2400"/>
              <a:t>Supongamos el siguiente ejemplo con un CO del 10%</a:t>
            </a:r>
          </a:p>
        </p:txBody>
      </p:sp>
      <p:cxnSp>
        <p:nvCxnSpPr>
          <p:cNvPr id="5" name="Straight Connector 17">
            <a:extLst>
              <a:ext uri="{FF2B5EF4-FFF2-40B4-BE49-F238E27FC236}">
                <a16:creationId xmlns:a16="http://schemas.microsoft.com/office/drawing/2014/main" id="{5D97D45F-986B-4F12-B32E-2FF788DEBC4E}"/>
              </a:ext>
            </a:extLst>
          </p:cNvPr>
          <p:cNvCxnSpPr/>
          <p:nvPr/>
        </p:nvCxnSpPr>
        <p:spPr>
          <a:xfrm>
            <a:off x="1633674" y="351453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a:extLst>
              <a:ext uri="{FF2B5EF4-FFF2-40B4-BE49-F238E27FC236}">
                <a16:creationId xmlns:a16="http://schemas.microsoft.com/office/drawing/2014/main" id="{1ED55832-BDFE-4EAA-89FA-673DA28E1D4E}"/>
              </a:ext>
            </a:extLst>
          </p:cNvPr>
          <p:cNvCxnSpPr/>
          <p:nvPr/>
        </p:nvCxnSpPr>
        <p:spPr>
          <a:xfrm>
            <a:off x="1646502" y="352735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a:extLst>
              <a:ext uri="{FF2B5EF4-FFF2-40B4-BE49-F238E27FC236}">
                <a16:creationId xmlns:a16="http://schemas.microsoft.com/office/drawing/2014/main" id="{EE015A24-5579-428E-8B9A-54B1120961A3}"/>
              </a:ext>
            </a:extLst>
          </p:cNvPr>
          <p:cNvCxnSpPr/>
          <p:nvPr/>
        </p:nvCxnSpPr>
        <p:spPr>
          <a:xfrm flipV="1">
            <a:off x="2188823" y="306863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a:extLst>
              <a:ext uri="{FF2B5EF4-FFF2-40B4-BE49-F238E27FC236}">
                <a16:creationId xmlns:a16="http://schemas.microsoft.com/office/drawing/2014/main" id="{032F1B8F-B2F2-4839-B88F-AD3A6F8D7540}"/>
              </a:ext>
            </a:extLst>
          </p:cNvPr>
          <p:cNvCxnSpPr/>
          <p:nvPr/>
        </p:nvCxnSpPr>
        <p:spPr>
          <a:xfrm>
            <a:off x="2784589" y="3527361"/>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a:extLst>
              <a:ext uri="{FF2B5EF4-FFF2-40B4-BE49-F238E27FC236}">
                <a16:creationId xmlns:a16="http://schemas.microsoft.com/office/drawing/2014/main" id="{8580E507-6731-427D-ADA5-B4F4BB21CEC8}"/>
              </a:ext>
            </a:extLst>
          </p:cNvPr>
          <p:cNvCxnSpPr/>
          <p:nvPr/>
        </p:nvCxnSpPr>
        <p:spPr>
          <a:xfrm flipV="1">
            <a:off x="3471325" y="306863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a:extLst>
              <a:ext uri="{FF2B5EF4-FFF2-40B4-BE49-F238E27FC236}">
                <a16:creationId xmlns:a16="http://schemas.microsoft.com/office/drawing/2014/main" id="{FD415B6A-38B3-4C62-97BE-AC5B165C7D14}"/>
              </a:ext>
            </a:extLst>
          </p:cNvPr>
          <p:cNvSpPr>
            <a:spLocks/>
          </p:cNvSpPr>
          <p:nvPr/>
        </p:nvSpPr>
        <p:spPr bwMode="auto">
          <a:xfrm flipH="1">
            <a:off x="1633674" y="323753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1" name="Rectangle 23">
            <a:extLst>
              <a:ext uri="{FF2B5EF4-FFF2-40B4-BE49-F238E27FC236}">
                <a16:creationId xmlns:a16="http://schemas.microsoft.com/office/drawing/2014/main" id="{8FACDF7C-0D23-4CDA-86B8-2BCCF5679D79}"/>
              </a:ext>
            </a:extLst>
          </p:cNvPr>
          <p:cNvSpPr>
            <a:spLocks/>
          </p:cNvSpPr>
          <p:nvPr/>
        </p:nvSpPr>
        <p:spPr bwMode="auto">
          <a:xfrm>
            <a:off x="2020293"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2" name="Rectangle 24">
            <a:extLst>
              <a:ext uri="{FF2B5EF4-FFF2-40B4-BE49-F238E27FC236}">
                <a16:creationId xmlns:a16="http://schemas.microsoft.com/office/drawing/2014/main" id="{2CE19B71-C0A8-4B6B-9A0E-78105CBE4ABF}"/>
              </a:ext>
            </a:extLst>
          </p:cNvPr>
          <p:cNvSpPr>
            <a:spLocks/>
          </p:cNvSpPr>
          <p:nvPr/>
        </p:nvSpPr>
        <p:spPr bwMode="auto">
          <a:xfrm>
            <a:off x="2707029" y="350127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3" name="Rectangle 25">
            <a:extLst>
              <a:ext uri="{FF2B5EF4-FFF2-40B4-BE49-F238E27FC236}">
                <a16:creationId xmlns:a16="http://schemas.microsoft.com/office/drawing/2014/main" id="{47497F06-FEDD-4C3D-BCE9-CA681F2E67FD}"/>
              </a:ext>
            </a:extLst>
          </p:cNvPr>
          <p:cNvSpPr>
            <a:spLocks/>
          </p:cNvSpPr>
          <p:nvPr/>
        </p:nvSpPr>
        <p:spPr bwMode="auto">
          <a:xfrm>
            <a:off x="3268467" y="353043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4" name="Rectangle 31">
            <a:extLst>
              <a:ext uri="{FF2B5EF4-FFF2-40B4-BE49-F238E27FC236}">
                <a16:creationId xmlns:a16="http://schemas.microsoft.com/office/drawing/2014/main" id="{EF9FC7C0-01E9-48CC-9D74-5865D8BC4C8A}"/>
              </a:ext>
            </a:extLst>
          </p:cNvPr>
          <p:cNvSpPr>
            <a:spLocks/>
          </p:cNvSpPr>
          <p:nvPr/>
        </p:nvSpPr>
        <p:spPr bwMode="auto">
          <a:xfrm>
            <a:off x="4092887"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15" name="Straight Arrow Connector 32">
            <a:extLst>
              <a:ext uri="{FF2B5EF4-FFF2-40B4-BE49-F238E27FC236}">
                <a16:creationId xmlns:a16="http://schemas.microsoft.com/office/drawing/2014/main" id="{D5926038-4EED-46BF-A909-FBA367B21BF7}"/>
              </a:ext>
            </a:extLst>
          </p:cNvPr>
          <p:cNvCxnSpPr/>
          <p:nvPr/>
        </p:nvCxnSpPr>
        <p:spPr>
          <a:xfrm flipV="1">
            <a:off x="4261417" y="286949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9">
            <a:extLst>
              <a:ext uri="{FF2B5EF4-FFF2-40B4-BE49-F238E27FC236}">
                <a16:creationId xmlns:a16="http://schemas.microsoft.com/office/drawing/2014/main" id="{287E5494-5132-4ECB-97D2-4E54FEF036B8}"/>
              </a:ext>
            </a:extLst>
          </p:cNvPr>
          <p:cNvCxnSpPr/>
          <p:nvPr/>
        </p:nvCxnSpPr>
        <p:spPr>
          <a:xfrm flipV="1">
            <a:off x="2784589" y="306863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8">
            <a:extLst>
              <a:ext uri="{FF2B5EF4-FFF2-40B4-BE49-F238E27FC236}">
                <a16:creationId xmlns:a16="http://schemas.microsoft.com/office/drawing/2014/main" id="{3900D6A7-6319-4F75-BE38-112832B7DD7E}"/>
              </a:ext>
            </a:extLst>
          </p:cNvPr>
          <p:cNvSpPr>
            <a:spLocks/>
          </p:cNvSpPr>
          <p:nvPr/>
        </p:nvSpPr>
        <p:spPr bwMode="auto">
          <a:xfrm>
            <a:off x="1507137" y="276235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a:t>
            </a:r>
          </a:p>
        </p:txBody>
      </p:sp>
      <p:sp>
        <p:nvSpPr>
          <p:cNvPr id="18" name="Rectangle 18">
            <a:extLst>
              <a:ext uri="{FF2B5EF4-FFF2-40B4-BE49-F238E27FC236}">
                <a16:creationId xmlns:a16="http://schemas.microsoft.com/office/drawing/2014/main" id="{F48C04C4-9DE4-443F-82F0-ACF2545D076E}"/>
              </a:ext>
            </a:extLst>
          </p:cNvPr>
          <p:cNvSpPr>
            <a:spLocks/>
          </p:cNvSpPr>
          <p:nvPr/>
        </p:nvSpPr>
        <p:spPr bwMode="auto">
          <a:xfrm>
            <a:off x="3627026" y="25903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a:t>
            </a:r>
          </a:p>
        </p:txBody>
      </p:sp>
      <p:sp>
        <p:nvSpPr>
          <p:cNvPr id="19" name="Rectangle 18">
            <a:extLst>
              <a:ext uri="{FF2B5EF4-FFF2-40B4-BE49-F238E27FC236}">
                <a16:creationId xmlns:a16="http://schemas.microsoft.com/office/drawing/2014/main" id="{2689A458-AC08-40DE-8895-BC1B11AE8641}"/>
              </a:ext>
            </a:extLst>
          </p:cNvPr>
          <p:cNvSpPr>
            <a:spLocks/>
          </p:cNvSpPr>
          <p:nvPr/>
        </p:nvSpPr>
        <p:spPr bwMode="auto">
          <a:xfrm>
            <a:off x="2200413" y="27639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a:t>
            </a:r>
          </a:p>
        </p:txBody>
      </p:sp>
      <p:sp>
        <p:nvSpPr>
          <p:cNvPr id="20" name="Rectangle 18">
            <a:extLst>
              <a:ext uri="{FF2B5EF4-FFF2-40B4-BE49-F238E27FC236}">
                <a16:creationId xmlns:a16="http://schemas.microsoft.com/office/drawing/2014/main" id="{71206DA2-A613-49F3-B9F2-050F4790D0F4}"/>
              </a:ext>
            </a:extLst>
          </p:cNvPr>
          <p:cNvSpPr>
            <a:spLocks/>
          </p:cNvSpPr>
          <p:nvPr/>
        </p:nvSpPr>
        <p:spPr bwMode="auto">
          <a:xfrm>
            <a:off x="2825482" y="2785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a:t>
            </a:r>
          </a:p>
        </p:txBody>
      </p:sp>
      <p:sp>
        <p:nvSpPr>
          <p:cNvPr id="21" name="Rectangle 18">
            <a:extLst>
              <a:ext uri="{FF2B5EF4-FFF2-40B4-BE49-F238E27FC236}">
                <a16:creationId xmlns:a16="http://schemas.microsoft.com/office/drawing/2014/main" id="{AAD0ED06-A375-4B26-96B1-7CB6E3A3D728}"/>
              </a:ext>
            </a:extLst>
          </p:cNvPr>
          <p:cNvSpPr>
            <a:spLocks/>
          </p:cNvSpPr>
          <p:nvPr/>
        </p:nvSpPr>
        <p:spPr bwMode="auto">
          <a:xfrm>
            <a:off x="2202171" y="400567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a:t>
            </a:r>
          </a:p>
        </p:txBody>
      </p:sp>
      <p:sp>
        <p:nvSpPr>
          <p:cNvPr id="22" name="Rectangle 18">
            <a:extLst>
              <a:ext uri="{FF2B5EF4-FFF2-40B4-BE49-F238E27FC236}">
                <a16:creationId xmlns:a16="http://schemas.microsoft.com/office/drawing/2014/main" id="{3A17D5EF-10A5-4249-95B2-98B6A61CC401}"/>
              </a:ext>
            </a:extLst>
          </p:cNvPr>
          <p:cNvSpPr>
            <a:spLocks/>
          </p:cNvSpPr>
          <p:nvPr/>
        </p:nvSpPr>
        <p:spPr bwMode="auto">
          <a:xfrm>
            <a:off x="994947" y="436939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cxnSp>
        <p:nvCxnSpPr>
          <p:cNvPr id="23" name="Straight Connector 17">
            <a:extLst>
              <a:ext uri="{FF2B5EF4-FFF2-40B4-BE49-F238E27FC236}">
                <a16:creationId xmlns:a16="http://schemas.microsoft.com/office/drawing/2014/main" id="{3E832321-975B-4337-A031-5B895E2D3082}"/>
              </a:ext>
            </a:extLst>
          </p:cNvPr>
          <p:cNvCxnSpPr/>
          <p:nvPr/>
        </p:nvCxnSpPr>
        <p:spPr>
          <a:xfrm>
            <a:off x="7848282" y="350188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8">
            <a:extLst>
              <a:ext uri="{FF2B5EF4-FFF2-40B4-BE49-F238E27FC236}">
                <a16:creationId xmlns:a16="http://schemas.microsoft.com/office/drawing/2014/main" id="{C7BD7A87-91C9-40E8-B095-F32C2CB80B64}"/>
              </a:ext>
            </a:extLst>
          </p:cNvPr>
          <p:cNvCxnSpPr/>
          <p:nvPr/>
        </p:nvCxnSpPr>
        <p:spPr>
          <a:xfrm>
            <a:off x="7861110" y="351470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19">
            <a:extLst>
              <a:ext uri="{FF2B5EF4-FFF2-40B4-BE49-F238E27FC236}">
                <a16:creationId xmlns:a16="http://schemas.microsoft.com/office/drawing/2014/main" id="{5684EFD7-8965-466E-83B7-63FA01BD934F}"/>
              </a:ext>
            </a:extLst>
          </p:cNvPr>
          <p:cNvCxnSpPr/>
          <p:nvPr/>
        </p:nvCxnSpPr>
        <p:spPr>
          <a:xfrm flipV="1">
            <a:off x="8403431" y="30559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0">
            <a:extLst>
              <a:ext uri="{FF2B5EF4-FFF2-40B4-BE49-F238E27FC236}">
                <a16:creationId xmlns:a16="http://schemas.microsoft.com/office/drawing/2014/main" id="{D5B082C0-4A4B-4BE3-BCBD-B8F5204352F6}"/>
              </a:ext>
            </a:extLst>
          </p:cNvPr>
          <p:cNvCxnSpPr>
            <a:cxnSpLocks/>
          </p:cNvCxnSpPr>
          <p:nvPr/>
        </p:nvCxnSpPr>
        <p:spPr>
          <a:xfrm>
            <a:off x="8999197" y="3514711"/>
            <a:ext cx="0" cy="3600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1">
            <a:extLst>
              <a:ext uri="{FF2B5EF4-FFF2-40B4-BE49-F238E27FC236}">
                <a16:creationId xmlns:a16="http://schemas.microsoft.com/office/drawing/2014/main" id="{4B172F8C-9A4D-4055-BB75-144BE62336F4}"/>
              </a:ext>
            </a:extLst>
          </p:cNvPr>
          <p:cNvCxnSpPr/>
          <p:nvPr/>
        </p:nvCxnSpPr>
        <p:spPr>
          <a:xfrm flipV="1">
            <a:off x="9685933" y="305598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2">
            <a:extLst>
              <a:ext uri="{FF2B5EF4-FFF2-40B4-BE49-F238E27FC236}">
                <a16:creationId xmlns:a16="http://schemas.microsoft.com/office/drawing/2014/main" id="{0DBC607A-09E8-4172-9159-ED701622D1A9}"/>
              </a:ext>
            </a:extLst>
          </p:cNvPr>
          <p:cNvSpPr>
            <a:spLocks/>
          </p:cNvSpPr>
          <p:nvPr/>
        </p:nvSpPr>
        <p:spPr bwMode="auto">
          <a:xfrm flipH="1">
            <a:off x="7848282" y="3224882"/>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a:t>0</a:t>
            </a:r>
          </a:p>
        </p:txBody>
      </p:sp>
      <p:sp>
        <p:nvSpPr>
          <p:cNvPr id="29" name="Rectangle 23">
            <a:extLst>
              <a:ext uri="{FF2B5EF4-FFF2-40B4-BE49-F238E27FC236}">
                <a16:creationId xmlns:a16="http://schemas.microsoft.com/office/drawing/2014/main" id="{39D08D1B-DEBE-489E-939C-4A429574EE4D}"/>
              </a:ext>
            </a:extLst>
          </p:cNvPr>
          <p:cNvSpPr>
            <a:spLocks/>
          </p:cNvSpPr>
          <p:nvPr/>
        </p:nvSpPr>
        <p:spPr bwMode="auto">
          <a:xfrm>
            <a:off x="8234901"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24">
            <a:extLst>
              <a:ext uri="{FF2B5EF4-FFF2-40B4-BE49-F238E27FC236}">
                <a16:creationId xmlns:a16="http://schemas.microsoft.com/office/drawing/2014/main" id="{BE88D575-2A00-47CF-8167-8F7768B61B6E}"/>
              </a:ext>
            </a:extLst>
          </p:cNvPr>
          <p:cNvSpPr>
            <a:spLocks/>
          </p:cNvSpPr>
          <p:nvPr/>
        </p:nvSpPr>
        <p:spPr bwMode="auto">
          <a:xfrm>
            <a:off x="8921637" y="346684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25">
            <a:extLst>
              <a:ext uri="{FF2B5EF4-FFF2-40B4-BE49-F238E27FC236}">
                <a16:creationId xmlns:a16="http://schemas.microsoft.com/office/drawing/2014/main" id="{98D15F81-AB64-476B-AE87-77668526CA2A}"/>
              </a:ext>
            </a:extLst>
          </p:cNvPr>
          <p:cNvSpPr>
            <a:spLocks/>
          </p:cNvSpPr>
          <p:nvPr/>
        </p:nvSpPr>
        <p:spPr bwMode="auto">
          <a:xfrm>
            <a:off x="9483075" y="351778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1">
            <a:extLst>
              <a:ext uri="{FF2B5EF4-FFF2-40B4-BE49-F238E27FC236}">
                <a16:creationId xmlns:a16="http://schemas.microsoft.com/office/drawing/2014/main" id="{8881DB07-4845-4861-8283-76D3038F7A7A}"/>
              </a:ext>
            </a:extLst>
          </p:cNvPr>
          <p:cNvSpPr>
            <a:spLocks/>
          </p:cNvSpPr>
          <p:nvPr/>
        </p:nvSpPr>
        <p:spPr bwMode="auto">
          <a:xfrm>
            <a:off x="10307495"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3" name="Straight Arrow Connector 32">
            <a:extLst>
              <a:ext uri="{FF2B5EF4-FFF2-40B4-BE49-F238E27FC236}">
                <a16:creationId xmlns:a16="http://schemas.microsoft.com/office/drawing/2014/main" id="{9DB45386-7782-4ECE-ACFA-B13D7DCC7FB2}"/>
              </a:ext>
            </a:extLst>
          </p:cNvPr>
          <p:cNvCxnSpPr/>
          <p:nvPr/>
        </p:nvCxnSpPr>
        <p:spPr>
          <a:xfrm flipV="1">
            <a:off x="10476025" y="28568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8">
            <a:extLst>
              <a:ext uri="{FF2B5EF4-FFF2-40B4-BE49-F238E27FC236}">
                <a16:creationId xmlns:a16="http://schemas.microsoft.com/office/drawing/2014/main" id="{B09D9AEE-3033-4770-B9C7-0C177603DBAB}"/>
              </a:ext>
            </a:extLst>
          </p:cNvPr>
          <p:cNvSpPr>
            <a:spLocks/>
          </p:cNvSpPr>
          <p:nvPr/>
        </p:nvSpPr>
        <p:spPr bwMode="auto">
          <a:xfrm>
            <a:off x="7721745" y="274970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a:t>
            </a:r>
          </a:p>
        </p:txBody>
      </p:sp>
      <p:sp>
        <p:nvSpPr>
          <p:cNvPr id="36" name="Rectangle 18">
            <a:extLst>
              <a:ext uri="{FF2B5EF4-FFF2-40B4-BE49-F238E27FC236}">
                <a16:creationId xmlns:a16="http://schemas.microsoft.com/office/drawing/2014/main" id="{C3950895-E13D-4BB1-B00E-C26488FA9D97}"/>
              </a:ext>
            </a:extLst>
          </p:cNvPr>
          <p:cNvSpPr>
            <a:spLocks/>
          </p:cNvSpPr>
          <p:nvPr/>
        </p:nvSpPr>
        <p:spPr bwMode="auto">
          <a:xfrm>
            <a:off x="9841634" y="2577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a:t>
            </a:r>
          </a:p>
        </p:txBody>
      </p:sp>
      <p:sp>
        <p:nvSpPr>
          <p:cNvPr id="38" name="Rectangle 18">
            <a:extLst>
              <a:ext uri="{FF2B5EF4-FFF2-40B4-BE49-F238E27FC236}">
                <a16:creationId xmlns:a16="http://schemas.microsoft.com/office/drawing/2014/main" id="{41107D47-8199-429B-80A6-E0F0CCB04E46}"/>
              </a:ext>
            </a:extLst>
          </p:cNvPr>
          <p:cNvSpPr>
            <a:spLocks/>
          </p:cNvSpPr>
          <p:nvPr/>
        </p:nvSpPr>
        <p:spPr bwMode="auto">
          <a:xfrm>
            <a:off x="9040090" y="27730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a:t>
            </a:r>
          </a:p>
        </p:txBody>
      </p:sp>
      <p:sp>
        <p:nvSpPr>
          <p:cNvPr id="39" name="Rectangle 18">
            <a:extLst>
              <a:ext uri="{FF2B5EF4-FFF2-40B4-BE49-F238E27FC236}">
                <a16:creationId xmlns:a16="http://schemas.microsoft.com/office/drawing/2014/main" id="{44C5D209-06ED-4304-82CF-C183692BC655}"/>
              </a:ext>
            </a:extLst>
          </p:cNvPr>
          <p:cNvSpPr>
            <a:spLocks/>
          </p:cNvSpPr>
          <p:nvPr/>
        </p:nvSpPr>
        <p:spPr bwMode="auto">
          <a:xfrm>
            <a:off x="8397941" y="381855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3.000</a:t>
            </a:r>
          </a:p>
        </p:txBody>
      </p:sp>
      <p:sp>
        <p:nvSpPr>
          <p:cNvPr id="40" name="Rectangle 18">
            <a:extLst>
              <a:ext uri="{FF2B5EF4-FFF2-40B4-BE49-F238E27FC236}">
                <a16:creationId xmlns:a16="http://schemas.microsoft.com/office/drawing/2014/main" id="{2EADA295-64E2-476B-B9CC-67E4A2782F98}"/>
              </a:ext>
            </a:extLst>
          </p:cNvPr>
          <p:cNvSpPr>
            <a:spLocks/>
          </p:cNvSpPr>
          <p:nvPr/>
        </p:nvSpPr>
        <p:spPr bwMode="auto">
          <a:xfrm>
            <a:off x="7209555" y="432693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cxnSp>
        <p:nvCxnSpPr>
          <p:cNvPr id="44" name="Conector recto 43">
            <a:extLst>
              <a:ext uri="{FF2B5EF4-FFF2-40B4-BE49-F238E27FC236}">
                <a16:creationId xmlns:a16="http://schemas.microsoft.com/office/drawing/2014/main" id="{57B8A31A-12CE-4059-980E-F6E808B1029D}"/>
              </a:ext>
            </a:extLst>
          </p:cNvPr>
          <p:cNvCxnSpPr>
            <a:cxnSpLocks/>
            <a:stCxn id="3" idx="2"/>
          </p:cNvCxnSpPr>
          <p:nvPr/>
        </p:nvCxnSpPr>
        <p:spPr>
          <a:xfrm>
            <a:off x="6095994" y="2360839"/>
            <a:ext cx="6" cy="4172041"/>
          </a:xfrm>
          <a:prstGeom prst="line">
            <a:avLst/>
          </a:prstGeom>
          <a:ln w="57150"/>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4525E41-0C14-48C6-8B99-6F7C1AD10294}"/>
                  </a:ext>
                </a:extLst>
              </p:cNvPr>
              <p:cNvSpPr txBox="1"/>
              <p:nvPr/>
            </p:nvSpPr>
            <p:spPr>
              <a:xfrm>
                <a:off x="1419885" y="5243702"/>
                <a:ext cx="3697167" cy="631263"/>
              </a:xfrm>
              <a:prstGeom prst="rect">
                <a:avLst/>
              </a:prstGeom>
              <a:noFill/>
            </p:spPr>
            <p:txBody>
              <a:bodyPr wrap="none" lIns="0" tIns="0" rIns="0" bIns="0" rtlCol="0">
                <a:spAutoFit/>
              </a:bodyPr>
              <a:lstStyle/>
              <a:p>
                <a:pPr algn="ctr"/>
                <a14:m>
                  <m:oMath xmlns:m="http://schemas.openxmlformats.org/officeDocument/2006/math">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𝐵</m:t>
                        </m:r>
                      </m:num>
                      <m:den>
                        <m:r>
                          <a:rPr lang="es-CO" sz="2400" i="1">
                            <a:latin typeface="Cambria Math" panose="02040503050406030204" pitchFamily="18" charset="0"/>
                            <a:ea typeface="Cambria Math" panose="02040503050406030204" pitchFamily="18" charset="0"/>
                          </a:rPr>
                          <m:t>𝐶</m:t>
                        </m:r>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𝐼𝑛𝑔𝑟𝑒𝑠𝑜𝑠</m:t>
                            </m:r>
                          </m:sub>
                        </m:sSub>
                      </m:num>
                      <m:den>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𝑒𝑔𝑟𝑒𝑠𝑜𝑠</m:t>
                            </m:r>
                          </m:sub>
                        </m:sSub>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19.264</m:t>
                        </m:r>
                      </m:num>
                      <m:den>
                        <m:r>
                          <a:rPr lang="es-CO" sz="2400" i="1">
                            <a:latin typeface="Cambria Math" panose="02040503050406030204" pitchFamily="18" charset="0"/>
                            <a:ea typeface="Cambria Math" panose="02040503050406030204" pitchFamily="18" charset="0"/>
                          </a:rPr>
                          <m:t>21.611</m:t>
                        </m:r>
                      </m:den>
                    </m:f>
                    <m:r>
                      <a:rPr lang="es-CO" sz="2400" i="1">
                        <a:latin typeface="Cambria Math" panose="02040503050406030204" pitchFamily="18" charset="0"/>
                        <a:ea typeface="Cambria Math" panose="02040503050406030204" pitchFamily="18" charset="0"/>
                      </a:rPr>
                      <m:t>=</m:t>
                    </m:r>
                  </m:oMath>
                </a14:m>
                <a:r>
                  <a:rPr lang="es-CO" sz="2400">
                    <a:latin typeface="Cambria Math" panose="02040503050406030204" pitchFamily="18" charset="0"/>
                    <a:ea typeface="Cambria Math" panose="02040503050406030204" pitchFamily="18" charset="0"/>
                  </a:rPr>
                  <a:t>0,89</a:t>
                </a:r>
              </a:p>
            </p:txBody>
          </p:sp>
        </mc:Choice>
        <mc:Fallback xmlns="">
          <p:sp>
            <p:nvSpPr>
              <p:cNvPr id="47" name="CuadroTexto 46">
                <a:extLst>
                  <a:ext uri="{FF2B5EF4-FFF2-40B4-BE49-F238E27FC236}">
                    <a16:creationId xmlns:a16="http://schemas.microsoft.com/office/drawing/2014/main" id="{74525E41-0C14-48C6-8B99-6F7C1AD10294}"/>
                  </a:ext>
                </a:extLst>
              </p:cNvPr>
              <p:cNvSpPr txBox="1">
                <a:spLocks noRot="1" noChangeAspect="1" noMove="1" noResize="1" noEditPoints="1" noAdjustHandles="1" noChangeArrowheads="1" noChangeShapeType="1" noTextEdit="1"/>
              </p:cNvSpPr>
              <p:nvPr/>
            </p:nvSpPr>
            <p:spPr>
              <a:xfrm>
                <a:off x="1419885" y="5243702"/>
                <a:ext cx="3697167" cy="631263"/>
              </a:xfrm>
              <a:prstGeom prst="rect">
                <a:avLst/>
              </a:prstGeom>
              <a:blipFill>
                <a:blip r:embed="rId2"/>
                <a:stretch>
                  <a:fillRect r="-4785"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083EB93F-9BC4-4749-A031-9A16A763A993}"/>
                  </a:ext>
                </a:extLst>
              </p:cNvPr>
              <p:cNvSpPr txBox="1"/>
              <p:nvPr/>
            </p:nvSpPr>
            <p:spPr>
              <a:xfrm>
                <a:off x="7519258" y="5172879"/>
                <a:ext cx="3611310" cy="672428"/>
              </a:xfrm>
              <a:prstGeom prst="rect">
                <a:avLst/>
              </a:prstGeom>
              <a:noFill/>
            </p:spPr>
            <p:txBody>
              <a:bodyPr wrap="none" lIns="0" tIns="0" rIns="0" bIns="0" rtlCol="0">
                <a:spAutoFit/>
              </a:bodyPr>
              <a:lstStyle/>
              <a:p>
                <a:pPr/>
                <a14:m>
                  <m:oMathPara xmlns:m="http://schemas.openxmlformats.org/officeDocument/2006/math">
                    <m:oMath>
                      <m:f>
                        <m:fPr>
                          <m:ctrlPr>
                            <a:rPr lang="es-CO" sz="2000" i="1">
                              <a:latin typeface="Cambria Math" panose="02040503050406030204" pitchFamily="18" charset="0"/>
                            </a:rPr>
                          </m:ctrlPr>
                        </m:fPr>
                        <m:num>
                          <m:r>
                            <a:rPr lang="es-CO" sz="2000" i="1">
                              <a:latin typeface="Cambria Math" panose="02040503050406030204" pitchFamily="18" charset="0"/>
                            </a:rPr>
                            <m:t>𝐵</m:t>
                          </m:r>
                        </m:num>
                        <m:den>
                          <m:r>
                            <a:rPr lang="es-CO" sz="2000" i="1">
                              <a:latin typeface="Cambria Math" panose="02040503050406030204" pitchFamily="18" charset="0"/>
                            </a:rPr>
                            <m:t>𝐶</m:t>
                          </m:r>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𝐼𝑛𝑔𝑟𝑒𝑠𝑜𝑠</m:t>
                              </m:r>
                            </m:sub>
                          </m:sSub>
                        </m:num>
                        <m:den>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𝑒𝑔𝑟𝑒𝑠𝑜𝑠</m:t>
                              </m:r>
                            </m:sub>
                          </m:sSub>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15.132</m:t>
                          </m:r>
                        </m:num>
                        <m:den>
                          <m:r>
                            <a:rPr lang="es-CO" sz="2000" i="1">
                              <a:latin typeface="Cambria Math" panose="02040503050406030204" pitchFamily="18" charset="0"/>
                            </a:rPr>
                            <m:t>17.479</m:t>
                          </m:r>
                        </m:den>
                      </m:f>
                      <m:r>
                        <a:rPr lang="es-CO" sz="2000" i="1">
                          <a:latin typeface="Cambria Math" panose="02040503050406030204" pitchFamily="18" charset="0"/>
                        </a:rPr>
                        <m:t>=0,87</m:t>
                      </m:r>
                    </m:oMath>
                  </m:oMathPara>
                </a14:m>
                <a:endParaRPr lang="es-CO" sz="2000"/>
              </a:p>
            </p:txBody>
          </p:sp>
        </mc:Choice>
        <mc:Fallback xmlns="">
          <p:sp>
            <p:nvSpPr>
              <p:cNvPr id="48" name="CuadroTexto 47">
                <a:extLst>
                  <a:ext uri="{FF2B5EF4-FFF2-40B4-BE49-F238E27FC236}">
                    <a16:creationId xmlns:a16="http://schemas.microsoft.com/office/drawing/2014/main" id="{083EB93F-9BC4-4749-A031-9A16A763A993}"/>
                  </a:ext>
                </a:extLst>
              </p:cNvPr>
              <p:cNvSpPr txBox="1">
                <a:spLocks noRot="1" noChangeAspect="1" noMove="1" noResize="1" noEditPoints="1" noAdjustHandles="1" noChangeArrowheads="1" noChangeShapeType="1" noTextEdit="1"/>
              </p:cNvSpPr>
              <p:nvPr/>
            </p:nvSpPr>
            <p:spPr>
              <a:xfrm>
                <a:off x="7519258" y="5172879"/>
                <a:ext cx="3611310" cy="672428"/>
              </a:xfrm>
              <a:prstGeom prst="rect">
                <a:avLst/>
              </a:prstGeom>
              <a:blipFill>
                <a:blip r:embed="rId3"/>
                <a:stretch>
                  <a:fillRect/>
                </a:stretch>
              </a:blipFill>
            </p:spPr>
            <p:txBody>
              <a:bodyPr/>
              <a:lstStyle/>
              <a:p>
                <a:r>
                  <a:rPr lang="en-US">
                    <a:noFill/>
                  </a:rPr>
                  <a:t> </a:t>
                </a:r>
              </a:p>
            </p:txBody>
          </p:sp>
        </mc:Fallback>
      </mc:AlternateContent>
      <p:sp>
        <p:nvSpPr>
          <p:cNvPr id="34" name="Rectángulo 33">
            <a:extLst>
              <a:ext uri="{FF2B5EF4-FFF2-40B4-BE49-F238E27FC236}">
                <a16:creationId xmlns:a16="http://schemas.microsoft.com/office/drawing/2014/main" id="{2DA8B73D-01A4-53A3-95CF-16577B90CB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7" name="Picture 2" descr="Clientes y aliados | Centro de Evaluación | Uniandes">
            <a:extLst>
              <a:ext uri="{FF2B5EF4-FFF2-40B4-BE49-F238E27FC236}">
                <a16:creationId xmlns:a16="http://schemas.microsoft.com/office/drawing/2014/main" id="{0235CC89-86DA-E05E-C897-1AE5F7CCBE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2" name="Rectángulo 41">
            <a:extLst>
              <a:ext uri="{FF2B5EF4-FFF2-40B4-BE49-F238E27FC236}">
                <a16:creationId xmlns:a16="http://schemas.microsoft.com/office/drawing/2014/main" id="{E96CE54A-9754-2108-30D9-AAE2E0B9DDB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3" name="Título 1">
            <a:extLst>
              <a:ext uri="{FF2B5EF4-FFF2-40B4-BE49-F238E27FC236}">
                <a16:creationId xmlns:a16="http://schemas.microsoft.com/office/drawing/2014/main" id="{9617CB4B-BCEA-7E31-4B55-D264D513E9F0}"/>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p:sp>
        <p:nvSpPr>
          <p:cNvPr id="46" name="Marcador de contenido 2">
            <a:extLst>
              <a:ext uri="{FF2B5EF4-FFF2-40B4-BE49-F238E27FC236}">
                <a16:creationId xmlns:a16="http://schemas.microsoft.com/office/drawing/2014/main" id="{EEE4EBDF-CCEB-A255-101C-4F57DD78263A}"/>
              </a:ext>
            </a:extLst>
          </p:cNvPr>
          <p:cNvSpPr txBox="1">
            <a:spLocks/>
          </p:cNvSpPr>
          <p:nvPr/>
        </p:nvSpPr>
        <p:spPr>
          <a:xfrm>
            <a:off x="6096001" y="5978158"/>
            <a:ext cx="6095994" cy="8106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buFont typeface="Wingdings" panose="05000000000000000000" pitchFamily="2" charset="2"/>
              <a:buChar char="ü"/>
            </a:pPr>
            <a:r>
              <a:rPr lang="es-ES" sz="2400"/>
              <a:t>Enfoque adoptado en el curso</a:t>
            </a:r>
          </a:p>
        </p:txBody>
      </p:sp>
      <p:sp>
        <p:nvSpPr>
          <p:cNvPr id="2" name="Marcador de número de diapositiva 3">
            <a:extLst>
              <a:ext uri="{FF2B5EF4-FFF2-40B4-BE49-F238E27FC236}">
                <a16:creationId xmlns:a16="http://schemas.microsoft.com/office/drawing/2014/main" id="{69612C65-5413-19C5-1727-CA1F05F6A68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84</a:t>
            </a:fld>
            <a:endParaRPr lang="en-US" sz="2000" b="1">
              <a:latin typeface="Century Gothic" panose="020B0502020202020204" pitchFamily="34" charset="0"/>
            </a:endParaRPr>
          </a:p>
        </p:txBody>
      </p:sp>
    </p:spTree>
    <p:extLst>
      <p:ext uri="{BB962C8B-B14F-4D97-AF65-F5344CB8AC3E}">
        <p14:creationId xmlns:p14="http://schemas.microsoft.com/office/powerpoint/2010/main" val="21676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7" grpId="0"/>
      <p:bldP spid="18" grpId="0"/>
      <p:bldP spid="19" grpId="0"/>
      <p:bldP spid="20" grpId="0"/>
      <p:bldP spid="21" grpId="0"/>
      <p:bldP spid="22" grpId="0"/>
      <p:bldP spid="28" grpId="0"/>
      <p:bldP spid="29" grpId="0"/>
      <p:bldP spid="30" grpId="0"/>
      <p:bldP spid="31" grpId="0"/>
      <p:bldP spid="32" grpId="0"/>
      <p:bldP spid="35" grpId="0"/>
      <p:bldP spid="36" grpId="0"/>
      <p:bldP spid="38" grpId="0"/>
      <p:bldP spid="39" grpId="0"/>
      <p:bldP spid="40" grpId="0"/>
      <p:bldP spid="47" grpId="0"/>
      <p:bldP spid="4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145"/>
            <a:ext cx="11029615" cy="777763"/>
          </a:xfrm>
        </p:spPr>
        <p:txBody>
          <a:bodyPr>
            <a:normAutofit/>
          </a:bodyPr>
          <a:lstStyle/>
          <a:p>
            <a:pPr marL="0" indent="0" algn="ctr">
              <a:buNone/>
            </a:pPr>
            <a:r>
              <a:rPr lang="es-ES" sz="2400"/>
              <a:t>Haciendo una comparación con el VAE, VPN y la TIR podemos concluir lo siguiente:</a:t>
            </a:r>
          </a:p>
        </p:txBody>
      </p:sp>
      <p:sp>
        <p:nvSpPr>
          <p:cNvPr id="7" name="Rectángulo 6">
            <a:extLst>
              <a:ext uri="{FF2B5EF4-FFF2-40B4-BE49-F238E27FC236}">
                <a16:creationId xmlns:a16="http://schemas.microsoft.com/office/drawing/2014/main" id="{1D79F24A-AE70-82DF-8CD8-BEE116F70F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5B676F7-5CC0-44D9-75F6-0CDA22E13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C08475AF-55CE-2DDA-EFEF-FDC8FD7AC4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624B1E9-FBD0-1C64-ABB6-46F8DE81051C}"/>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8F10564-C3A8-ECE7-7095-4B22C58BFB74}"/>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B/C&lt;</a:t>
                      </a:r>
                      <a:r>
                        <a:rPr lang="es-ES_tradnl" sz="2000" baseline="0" noProof="0">
                          <a:solidFill>
                            <a:sysClr val="windowText" lastClr="000000"/>
                          </a:solidFill>
                        </a:rPr>
                        <a:t> 1</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983ACCDE-CCC3-8441-0237-51C35DB18E9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85</a:t>
            </a:fld>
            <a:endParaRPr lang="en-US" sz="2000" b="1">
              <a:latin typeface="Century Gothic" panose="020B0502020202020204" pitchFamily="34" charset="0"/>
            </a:endParaRPr>
          </a:p>
        </p:txBody>
      </p:sp>
    </p:spTree>
    <p:extLst>
      <p:ext uri="{BB962C8B-B14F-4D97-AF65-F5344CB8AC3E}">
        <p14:creationId xmlns:p14="http://schemas.microsoft.com/office/powerpoint/2010/main" val="19996016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02D57-55E4-2556-EA4D-0407CCB4EA2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18CFDB-0E93-EDDA-A6BC-BE1DCCFB53D2}"/>
              </a:ext>
            </a:extLst>
          </p:cNvPr>
          <p:cNvSpPr>
            <a:spLocks noGrp="1"/>
          </p:cNvSpPr>
          <p:nvPr>
            <p:ph idx="1"/>
          </p:nvPr>
        </p:nvSpPr>
        <p:spPr>
          <a:xfrm>
            <a:off x="581191" y="1828145"/>
            <a:ext cx="11029615" cy="777763"/>
          </a:xfrm>
        </p:spPr>
        <p:txBody>
          <a:bodyPr>
            <a:normAutofit/>
          </a:bodyPr>
          <a:lstStyle/>
          <a:p>
            <a:pPr marL="0" indent="0" algn="ctr">
              <a:buNone/>
            </a:pPr>
            <a:r>
              <a:rPr lang="es-ES" sz="2400"/>
              <a:t>Haciendo una comparación con el VAE, VPN y la TIR podemos concluir lo siguiente:</a:t>
            </a:r>
          </a:p>
        </p:txBody>
      </p:sp>
      <p:sp>
        <p:nvSpPr>
          <p:cNvPr id="7" name="Rectángulo 6">
            <a:extLst>
              <a:ext uri="{FF2B5EF4-FFF2-40B4-BE49-F238E27FC236}">
                <a16:creationId xmlns:a16="http://schemas.microsoft.com/office/drawing/2014/main" id="{C85D188C-23FE-B845-0AED-019C2D54A4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408B1D7-E9E4-C95F-75EA-BF6533A3C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C6D58F9-FAE2-27E6-0339-7A80F5FBA53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69E95B91-5845-FC52-3B0C-50FFE7CF9B71}"/>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65C16F3-FD38-C9DA-56A4-8B53E6D5DBFC}"/>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B/C&lt;</a:t>
                      </a:r>
                      <a:r>
                        <a:rPr lang="es-ES_tradnl" sz="2000" baseline="0" noProof="0">
                          <a:solidFill>
                            <a:sysClr val="windowText" lastClr="000000"/>
                          </a:solidFill>
                        </a:rPr>
                        <a:t> 1</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VAE&lt;</a:t>
                      </a:r>
                      <a:r>
                        <a:rPr lang="es-ES_tradnl" sz="1800" baseline="0" noProof="0">
                          <a:solidFill>
                            <a:schemeClr val="tx1"/>
                          </a:solidFill>
                        </a:rPr>
                        <a:t> 0</a:t>
                      </a:r>
                      <a:endParaRPr lang="es-ES_tradnl" sz="18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VPN&lt;</a:t>
                      </a:r>
                      <a:r>
                        <a:rPr lang="es-ES_tradnl" sz="1800" baseline="0" noProof="0">
                          <a:solidFill>
                            <a:schemeClr val="tx1"/>
                          </a:solidFill>
                        </a:rPr>
                        <a:t> 0</a:t>
                      </a:r>
                      <a:endParaRPr lang="es-ES_tradnl" sz="18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TIR &lt;</a:t>
                      </a:r>
                      <a:r>
                        <a:rPr lang="es-ES_tradnl" sz="1800" baseline="0" noProof="0">
                          <a:solidFill>
                            <a:schemeClr val="tx1"/>
                          </a:solidFill>
                        </a:rPr>
                        <a:t> C.O.</a:t>
                      </a:r>
                      <a:endParaRPr lang="es-ES_tradnl" sz="18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a:solidFill>
                            <a:schemeClr val="tx1"/>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a:solidFill>
                            <a:schemeClr val="tx1"/>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a:solidFill>
                            <a:schemeClr val="tx1"/>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uadroTexto 4">
            <a:extLst>
              <a:ext uri="{FF2B5EF4-FFF2-40B4-BE49-F238E27FC236}">
                <a16:creationId xmlns:a16="http://schemas.microsoft.com/office/drawing/2014/main" id="{B49F81A1-CA4C-89E8-9DA7-2E633227FA44}"/>
              </a:ext>
            </a:extLst>
          </p:cNvPr>
          <p:cNvSpPr txBox="1"/>
          <p:nvPr/>
        </p:nvSpPr>
        <p:spPr>
          <a:xfrm>
            <a:off x="581190" y="5677034"/>
            <a:ext cx="11029615" cy="830997"/>
          </a:xfrm>
          <a:prstGeom prst="rect">
            <a:avLst/>
          </a:prstGeom>
          <a:noFill/>
        </p:spPr>
        <p:txBody>
          <a:bodyPr wrap="square">
            <a:spAutoFit/>
          </a:bodyPr>
          <a:lstStyle/>
          <a:p>
            <a:pPr marL="0" indent="0" algn="just">
              <a:buNone/>
            </a:pPr>
            <a:r>
              <a:rPr lang="es-ES" sz="2400"/>
              <a:t>Al igual que el VPN y la TIR, es necesario entender adecuadamente la relación B/C, para no hacer interpretaciones erradas. </a:t>
            </a:r>
          </a:p>
        </p:txBody>
      </p:sp>
      <p:sp>
        <p:nvSpPr>
          <p:cNvPr id="2" name="Marcador de número de diapositiva 3">
            <a:extLst>
              <a:ext uri="{FF2B5EF4-FFF2-40B4-BE49-F238E27FC236}">
                <a16:creationId xmlns:a16="http://schemas.microsoft.com/office/drawing/2014/main" id="{ADF6A679-12C1-B312-9C99-BA936F5B0A2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86</a:t>
            </a:fld>
            <a:endParaRPr lang="en-US" sz="2000" b="1">
              <a:latin typeface="Century Gothic" panose="020B0502020202020204" pitchFamily="34" charset="0"/>
            </a:endParaRPr>
          </a:p>
        </p:txBody>
      </p:sp>
    </p:spTree>
    <p:extLst>
      <p:ext uri="{BB962C8B-B14F-4D97-AF65-F5344CB8AC3E}">
        <p14:creationId xmlns:p14="http://schemas.microsoft.com/office/powerpoint/2010/main" val="27891523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365394"/>
            <a:ext cx="11029616" cy="2497433"/>
          </a:xfrm>
        </p:spPr>
        <p:txBody>
          <a:bodyPr>
            <a:normAutofit/>
          </a:bodyPr>
          <a:lstStyle/>
          <a:p>
            <a:pPr marL="0" indent="0" algn="ctr">
              <a:buNone/>
            </a:pPr>
            <a:r>
              <a:rPr lang="es-ES" sz="2800">
                <a:solidFill>
                  <a:srgbClr val="800000"/>
                </a:solidFill>
              </a:rPr>
              <a:t>¿Como interpretamos los resultados?</a:t>
            </a:r>
          </a:p>
          <a:p>
            <a:pPr marL="0" indent="0" algn="ctr">
              <a:buNone/>
            </a:pPr>
            <a:endParaRPr lang="es-ES" sz="2400">
              <a:solidFill>
                <a:srgbClr val="800000"/>
              </a:solidFill>
            </a:endParaRPr>
          </a:p>
          <a:p>
            <a:pPr marL="0" indent="0" algn="ctr">
              <a:buNone/>
            </a:pPr>
            <a:r>
              <a:rPr lang="es-ES" sz="2400"/>
              <a:t>Supongamos que la relación B/C arrojó un resultado de 2,5 </a:t>
            </a:r>
          </a:p>
        </p:txBody>
      </p:sp>
      <p:sp>
        <p:nvSpPr>
          <p:cNvPr id="6" name="Rectángulo 5">
            <a:extLst>
              <a:ext uri="{FF2B5EF4-FFF2-40B4-BE49-F238E27FC236}">
                <a16:creationId xmlns:a16="http://schemas.microsoft.com/office/drawing/2014/main" id="{4C5B5313-4E56-2C5B-6A43-11E3029DA5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ABC8AD0-E420-97F6-1F8B-2379312CB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B72F96-7EF5-E968-9308-2DA921601B3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FE5FD68-E0A2-92AC-D539-542FD1754B0B}"/>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776D0DA8-DA1F-F4DF-B294-6ADABB8455B0}"/>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87</a:t>
            </a:fld>
            <a:endParaRPr lang="en-US" sz="2000" b="1">
              <a:latin typeface="Century Gothic" panose="020B0502020202020204" pitchFamily="34" charset="0"/>
            </a:endParaRPr>
          </a:p>
        </p:txBody>
      </p:sp>
    </p:spTree>
    <p:extLst>
      <p:ext uri="{BB962C8B-B14F-4D97-AF65-F5344CB8AC3E}">
        <p14:creationId xmlns:p14="http://schemas.microsoft.com/office/powerpoint/2010/main" val="26712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8621" y="3035698"/>
                <a:ext cx="8134758" cy="737184"/>
              </a:xfrm>
            </p:spPr>
            <p:txBody>
              <a:bodyPr>
                <a:noAutofit/>
              </a:bodyPr>
              <a:lstStyle/>
              <a:p>
                <a:pPr marL="0" indent="0">
                  <a:buNone/>
                </a:pPr>
                <a14:m>
                  <m:oMathPara xmlns:m="http://schemas.openxmlformats.org/officeDocument/2006/math">
                    <m:oMath>
                      <m:r>
                        <m:rPr>
                          <m:nor/>
                        </m:rPr>
                        <a:rPr lang="es-ES" sz="2400" i="0" dirty="0" smtClean="0"/>
                        <m:t>Al multiplicar a ambos lados de la ecuación por</m:t>
                      </m:r>
                      <m:r>
                        <a:rPr lang="es-ES" sz="2400" b="0" i="1" dirty="0" smtClean="0">
                          <a:latin typeface="Cambria Math" panose="02040503050406030204" pitchFamily="18" charset="0"/>
                        </a:rPr>
                        <m:t> </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m:t>
                              </m:r>
                            </m:sub>
                          </m:sSub>
                        </m:den>
                      </m:f>
                    </m:oMath>
                  </m:oMathPara>
                </a14:m>
                <a:endParaRPr lang="es-ES"/>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8621" y="3035698"/>
                <a:ext cx="8134758" cy="737184"/>
              </a:xfrm>
              <a:blipFill>
                <a:blip r:embed="rId2"/>
                <a:stretch>
                  <a:fillRect t="-3306"/>
                </a:stretch>
              </a:blipFill>
            </p:spPr>
            <p:txBody>
              <a:bodyPr/>
              <a:lstStyle/>
              <a:p>
                <a:r>
                  <a:rPr lang="en-US">
                    <a:noFill/>
                  </a:rPr>
                  <a:t> </a:t>
                </a:r>
              </a:p>
            </p:txBody>
          </p:sp>
        </mc:Fallback>
      </mc:AlternateContent>
      <p:sp>
        <p:nvSpPr>
          <p:cNvPr id="5" name="Rectángulo 4">
            <a:extLst>
              <a:ext uri="{FF2B5EF4-FFF2-40B4-BE49-F238E27FC236}">
                <a16:creationId xmlns:a16="http://schemas.microsoft.com/office/drawing/2014/main" id="{C29EDDF1-E6AE-5963-F9CE-A565834EA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8676BF9-E3BD-1BFD-3DEB-E14EAC4E9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879A36B8-898D-0A0E-1F1D-B5E92CF0E27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C37E0C5C-925E-F094-7D63-FC5187B7EA94}"/>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DE36FAD-8BD6-620A-9537-697103E74EF4}"/>
                  </a:ext>
                </a:extLst>
              </p:cNvPr>
              <p:cNvSpPr txBox="1"/>
              <p:nvPr/>
            </p:nvSpPr>
            <p:spPr>
              <a:xfrm>
                <a:off x="581192" y="2070936"/>
                <a:ext cx="11029616" cy="606448"/>
              </a:xfrm>
              <a:prstGeom prst="rect">
                <a:avLst/>
              </a:prstGeom>
              <a:noFill/>
            </p:spPr>
            <p:txBody>
              <a:bodyPr wrap="square" lIns="0" tIns="0" rIns="0" bIns="0" rtlCol="0">
                <a:spAutoFit/>
              </a:bodyPr>
              <a:lstStyle/>
              <a:p>
                <a:pPr/>
                <a14:m>
                  <m:oMathPara xmlns:m="http://schemas.openxmlformats.org/officeDocument/2006/math">
                    <m:oMath>
                      <m:r>
                        <a:rPr lang="es-ES" sz="3600" b="0" i="1" smtClean="0">
                          <a:latin typeface="Cambria Math" panose="02040503050406030204" pitchFamily="18" charset="0"/>
                          <a:ea typeface="Cambria Math" panose="02040503050406030204" pitchFamily="18" charset="0"/>
                        </a:rPr>
                        <m:t>𝑉𝑃𝑁</m:t>
                      </m:r>
                      <m:r>
                        <a:rPr lang="es-ES" sz="3600" b="0" i="1"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"Spread"</m:t>
                      </m:r>
                      <m:r>
                        <a:rPr lang="es-ES" sz="3600" b="0" i="1"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𝑉</m:t>
                      </m:r>
                      <m:sSub>
                        <m:sSubPr>
                          <m:ctrlPr>
                            <a:rPr lang="es-ES" sz="3600" b="0" i="1" smtClean="0">
                              <a:latin typeface="Cambria Math" panose="02040503050406030204" pitchFamily="18" charset="0"/>
                              <a:ea typeface="Cambria Math" panose="02040503050406030204" pitchFamily="18" charset="0"/>
                            </a:rPr>
                          </m:ctrlPr>
                        </m:sSubPr>
                        <m:e>
                          <m:r>
                            <a:rPr lang="es-ES" sz="3600" b="0" i="1" smtClean="0">
                              <a:latin typeface="Cambria Math" panose="02040503050406030204" pitchFamily="18" charset="0"/>
                              <a:ea typeface="Cambria Math" panose="02040503050406030204" pitchFamily="18" charset="0"/>
                            </a:rPr>
                            <m:t>𝑃</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r>
                        <a:rPr lang="es-ES" sz="3600" b="0" i="0" smtClean="0">
                          <a:latin typeface="Cambria Math" panose="02040503050406030204" pitchFamily="18" charset="0"/>
                          <a:ea typeface="Cambria Math" panose="02040503050406030204" pitchFamily="18" charset="0"/>
                        </a:rPr>
                        <m:t>−</m:t>
                      </m:r>
                      <m:sSub>
                        <m:sSubPr>
                          <m:ctrlPr>
                            <a:rPr lang="es-ES" sz="3600" b="0" i="0" smtClean="0">
                              <a:latin typeface="Cambria Math" panose="02040503050406030204" pitchFamily="18" charset="0"/>
                              <a:ea typeface="Cambria Math" panose="02040503050406030204" pitchFamily="18" charset="0"/>
                            </a:rPr>
                          </m:ctrlPr>
                        </m:sSubPr>
                        <m:e>
                          <m:r>
                            <m:rPr>
                              <m:sty m:val="p"/>
                            </m:rPr>
                            <a:rPr lang="es-ES" sz="3600" b="0" i="0" smtClean="0">
                              <a:latin typeface="Cambria Math" panose="02040503050406030204" pitchFamily="18" charset="0"/>
                              <a:ea typeface="Cambria Math" panose="02040503050406030204" pitchFamily="18" charset="0"/>
                            </a:rPr>
                            <m:t>VP</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oMath>
                  </m:oMathPara>
                </a14:m>
                <a:endParaRPr lang="es-CO" sz="3600">
                  <a:latin typeface="Cambria Math" panose="02040503050406030204" pitchFamily="18" charset="0"/>
                  <a:ea typeface="Cambria Math" panose="02040503050406030204" pitchFamily="18" charset="0"/>
                </a:endParaRPr>
              </a:p>
            </p:txBody>
          </p:sp>
        </mc:Choice>
        <mc:Fallback xmlns="">
          <p:sp>
            <p:nvSpPr>
              <p:cNvPr id="2" name="CuadroTexto 1">
                <a:extLst>
                  <a:ext uri="{FF2B5EF4-FFF2-40B4-BE49-F238E27FC236}">
                    <a16:creationId xmlns:a16="http://schemas.microsoft.com/office/drawing/2014/main" id="{0DE36FAD-8BD6-620A-9537-697103E74EF4}"/>
                  </a:ext>
                </a:extLst>
              </p:cNvPr>
              <p:cNvSpPr txBox="1">
                <a:spLocks noRot="1" noChangeAspect="1" noMove="1" noResize="1" noEditPoints="1" noAdjustHandles="1" noChangeArrowheads="1" noChangeShapeType="1" noTextEdit="1"/>
              </p:cNvSpPr>
              <p:nvPr/>
            </p:nvSpPr>
            <p:spPr>
              <a:xfrm>
                <a:off x="581192" y="2070936"/>
                <a:ext cx="11029616" cy="6064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AC1E631-D29C-59D1-3369-228D470A9C89}"/>
                  </a:ext>
                </a:extLst>
              </p:cNvPr>
              <p:cNvSpPr txBox="1"/>
              <p:nvPr/>
            </p:nvSpPr>
            <p:spPr>
              <a:xfrm>
                <a:off x="2923368" y="3892774"/>
                <a:ext cx="6345263" cy="1075038"/>
              </a:xfrm>
              <a:prstGeom prst="rect">
                <a:avLst/>
              </a:prstGeom>
              <a:noFill/>
            </p:spPr>
            <p:txBody>
              <a:bodyPr wrap="none" lIns="0" tIns="0" rIns="0" bIns="0" rtlCol="0">
                <a:spAutoFit/>
              </a:bodyPr>
              <a:lstStyle/>
              <a:p>
                <a:pPr/>
                <a14:m>
                  <m:oMathPara xmlns:m="http://schemas.openxmlformats.org/officeDocument/2006/math">
                    <m:o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i="1">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b="0" i="1" smtClean="0">
                                  <a:latin typeface="Cambria Math" panose="02040503050406030204" pitchFamily="18" charset="0"/>
                                </a:rPr>
                                <m:t>+</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i="1">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oMath>
                  </m:oMathPara>
                </a14:m>
                <a:endParaRPr lang="es-CO" sz="3200"/>
              </a:p>
            </p:txBody>
          </p:sp>
        </mc:Choice>
        <mc:Fallback xmlns="">
          <p:sp>
            <p:nvSpPr>
              <p:cNvPr id="6" name="CuadroTexto 5">
                <a:extLst>
                  <a:ext uri="{FF2B5EF4-FFF2-40B4-BE49-F238E27FC236}">
                    <a16:creationId xmlns:a16="http://schemas.microsoft.com/office/drawing/2014/main" id="{6AC1E631-D29C-59D1-3369-228D470A9C89}"/>
                  </a:ext>
                </a:extLst>
              </p:cNvPr>
              <p:cNvSpPr txBox="1">
                <a:spLocks noRot="1" noChangeAspect="1" noMove="1" noResize="1" noEditPoints="1" noAdjustHandles="1" noChangeArrowheads="1" noChangeShapeType="1" noTextEdit="1"/>
              </p:cNvSpPr>
              <p:nvPr/>
            </p:nvSpPr>
            <p:spPr>
              <a:xfrm>
                <a:off x="2923368" y="3892774"/>
                <a:ext cx="6345263" cy="107503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A92684F-F8CC-5D0F-E08E-804828C7792E}"/>
                  </a:ext>
                </a:extLst>
              </p:cNvPr>
              <p:cNvSpPr txBox="1"/>
              <p:nvPr/>
            </p:nvSpPr>
            <p:spPr>
              <a:xfrm>
                <a:off x="4405632" y="5297178"/>
                <a:ext cx="3380734" cy="1074077"/>
              </a:xfrm>
              <a:prstGeom prst="rect">
                <a:avLst/>
              </a:prstGeom>
              <a:noFill/>
            </p:spPr>
            <p:txBody>
              <a:bodyPr wrap="none" lIns="0" tIns="0" rIns="0" bIns="0" rtlCol="0">
                <a:spAutoFit/>
              </a:bodyPr>
              <a:lstStyle/>
              <a:p>
                <a:pPr/>
                <a14:m>
                  <m:oMathPara xmlns:m="http://schemas.openxmlformats.org/officeDocument/2006/math">
                    <m:o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𝐵</m:t>
                          </m:r>
                        </m:num>
                        <m:den>
                          <m:r>
                            <a:rPr lang="es-ES" sz="3200" b="0" i="1" smtClean="0">
                              <a:latin typeface="Cambria Math" panose="02040503050406030204" pitchFamily="18" charset="0"/>
                            </a:rPr>
                            <m:t>𝐶</m:t>
                          </m:r>
                        </m:den>
                      </m:f>
                      <m:r>
                        <a:rPr lang="es-ES" sz="3200" b="0" i="1" smtClean="0">
                          <a:latin typeface="Cambria Math" panose="02040503050406030204" pitchFamily="18" charset="0"/>
                        </a:rPr>
                        <m:t>−1</m:t>
                      </m:r>
                    </m:oMath>
                  </m:oMathPara>
                </a14:m>
                <a:endParaRPr lang="es-CO" sz="3200"/>
              </a:p>
            </p:txBody>
          </p:sp>
        </mc:Choice>
        <mc:Fallback xmlns="">
          <p:sp>
            <p:nvSpPr>
              <p:cNvPr id="8" name="CuadroTexto 7">
                <a:extLst>
                  <a:ext uri="{FF2B5EF4-FFF2-40B4-BE49-F238E27FC236}">
                    <a16:creationId xmlns:a16="http://schemas.microsoft.com/office/drawing/2014/main" id="{7A92684F-F8CC-5D0F-E08E-804828C7792E}"/>
                  </a:ext>
                </a:extLst>
              </p:cNvPr>
              <p:cNvSpPr txBox="1">
                <a:spLocks noRot="1" noChangeAspect="1" noMove="1" noResize="1" noEditPoints="1" noAdjustHandles="1" noChangeArrowheads="1" noChangeShapeType="1" noTextEdit="1"/>
              </p:cNvSpPr>
              <p:nvPr/>
            </p:nvSpPr>
            <p:spPr>
              <a:xfrm>
                <a:off x="4405632" y="5297178"/>
                <a:ext cx="3380734" cy="1074077"/>
              </a:xfrm>
              <a:prstGeom prst="rect">
                <a:avLst/>
              </a:prstGeom>
              <a:blipFill>
                <a:blip r:embed="rId6"/>
                <a:stretch>
                  <a:fillRect/>
                </a:stretch>
              </a:blipFill>
            </p:spPr>
            <p:txBody>
              <a:bodyPr/>
              <a:lstStyle/>
              <a:p>
                <a:r>
                  <a:rPr lang="en-US">
                    <a:noFill/>
                  </a:rPr>
                  <a:t> </a:t>
                </a:r>
              </a:p>
            </p:txBody>
          </p:sp>
        </mc:Fallback>
      </mc:AlternateContent>
      <p:sp>
        <p:nvSpPr>
          <p:cNvPr id="9" name="Marcador de número de diapositiva 3">
            <a:extLst>
              <a:ext uri="{FF2B5EF4-FFF2-40B4-BE49-F238E27FC236}">
                <a16:creationId xmlns:a16="http://schemas.microsoft.com/office/drawing/2014/main" id="{BECC269A-4EF2-C03B-6F7C-95C55B17EFA1}"/>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88</a:t>
            </a:fld>
            <a:endParaRPr lang="en-US" sz="2000" b="1">
              <a:latin typeface="Century Gothic" panose="020B0502020202020204" pitchFamily="34" charset="0"/>
            </a:endParaRPr>
          </a:p>
        </p:txBody>
      </p:sp>
    </p:spTree>
    <p:extLst>
      <p:ext uri="{BB962C8B-B14F-4D97-AF65-F5344CB8AC3E}">
        <p14:creationId xmlns:p14="http://schemas.microsoft.com/office/powerpoint/2010/main" val="365360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5093"/>
            <a:ext cx="11029615" cy="1865166"/>
          </a:xfrm>
        </p:spPr>
        <p:txBody>
          <a:bodyPr>
            <a:normAutofit/>
          </a:bodyPr>
          <a:lstStyle/>
          <a:p>
            <a:pPr marL="0" indent="0" algn="just">
              <a:buNone/>
            </a:pPr>
            <a:r>
              <a:rPr lang="es-ES" sz="2400"/>
              <a:t>Así que, si la relación B/C arroja un resultado de 2,5 según nuestro ejemplo, es correcto afirmar que por cada peso invertido en valor presente, el proyecto está generando 1,5 pesos adicionales (spread) por encima de lo que hubiesen generado inversiones que rentan al costo de oportunidad.</a:t>
            </a:r>
          </a:p>
        </p:txBody>
      </p:sp>
      <p:sp>
        <p:nvSpPr>
          <p:cNvPr id="9" name="Rectángulo 8">
            <a:extLst>
              <a:ext uri="{FF2B5EF4-FFF2-40B4-BE49-F238E27FC236}">
                <a16:creationId xmlns:a16="http://schemas.microsoft.com/office/drawing/2014/main" id="{9AEB8D2D-4A41-A2C3-E7EB-895FA60D29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423630F-1956-ED90-CAD9-E30BCDBC1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6AE6B15-5C04-A537-E709-23DB6CDB37F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049232B4-7A4E-D8EC-F5D5-C2678CECFBC7}"/>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b/c</a:t>
            </a:r>
            <a:endParaRPr lang="es-CO" sz="320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F53C758-289A-D6C2-1945-D3FB6CCFE68B}"/>
                  </a:ext>
                </a:extLst>
              </p:cNvPr>
              <p:cNvSpPr txBox="1"/>
              <p:nvPr/>
            </p:nvSpPr>
            <p:spPr>
              <a:xfrm>
                <a:off x="4828471" y="3690259"/>
                <a:ext cx="2535053" cy="805605"/>
              </a:xfrm>
              <a:prstGeom prst="rect">
                <a:avLst/>
              </a:prstGeom>
              <a:noFill/>
            </p:spPr>
            <p:txBody>
              <a:bodyPr wrap="none" lIns="0" tIns="0" rIns="0" bIns="0" rtlCol="0">
                <a:spAutoFit/>
              </a:bodyPr>
              <a:lstStyle/>
              <a:p>
                <a:pPr/>
                <a14:m>
                  <m:oMathPara xmlns:m="http://schemas.openxmlformats.org/officeDocument/2006/math">
                    <m:o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𝐵</m:t>
                          </m:r>
                        </m:num>
                        <m:den>
                          <m:r>
                            <a:rPr lang="es-ES" sz="2400" b="0" i="1" smtClean="0">
                              <a:latin typeface="Cambria Math" panose="02040503050406030204" pitchFamily="18" charset="0"/>
                            </a:rPr>
                            <m:t>𝐶</m:t>
                          </m:r>
                        </m:den>
                      </m:f>
                      <m:r>
                        <a:rPr lang="es-ES" sz="2400" b="0" i="1" smtClean="0">
                          <a:latin typeface="Cambria Math" panose="02040503050406030204" pitchFamily="18" charset="0"/>
                        </a:rPr>
                        <m:t>−1</m:t>
                      </m:r>
                    </m:oMath>
                  </m:oMathPara>
                </a14:m>
                <a:endParaRPr lang="es-CO" sz="2400"/>
              </a:p>
            </p:txBody>
          </p:sp>
        </mc:Choice>
        <mc:Fallback xmlns="">
          <p:sp>
            <p:nvSpPr>
              <p:cNvPr id="2" name="CuadroTexto 1">
                <a:extLst>
                  <a:ext uri="{FF2B5EF4-FFF2-40B4-BE49-F238E27FC236}">
                    <a16:creationId xmlns:a16="http://schemas.microsoft.com/office/drawing/2014/main" id="{5F53C758-289A-D6C2-1945-D3FB6CCFE68B}"/>
                  </a:ext>
                </a:extLst>
              </p:cNvPr>
              <p:cNvSpPr txBox="1">
                <a:spLocks noRot="1" noChangeAspect="1" noMove="1" noResize="1" noEditPoints="1" noAdjustHandles="1" noChangeArrowheads="1" noChangeShapeType="1" noTextEdit="1"/>
              </p:cNvSpPr>
              <p:nvPr/>
            </p:nvSpPr>
            <p:spPr>
              <a:xfrm>
                <a:off x="4828471" y="3690259"/>
                <a:ext cx="2535053" cy="80560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3892B2F-8E7D-CED9-3B3B-28D6FBD4DA58}"/>
                  </a:ext>
                </a:extLst>
              </p:cNvPr>
              <p:cNvSpPr txBox="1"/>
              <p:nvPr/>
            </p:nvSpPr>
            <p:spPr>
              <a:xfrm>
                <a:off x="4828470" y="4712000"/>
                <a:ext cx="2727157" cy="805605"/>
              </a:xfrm>
              <a:prstGeom prst="rect">
                <a:avLst/>
              </a:prstGeom>
              <a:noFill/>
            </p:spPr>
            <p:txBody>
              <a:bodyPr wrap="none" lIns="0" tIns="0" rIns="0" bIns="0" rtlCol="0">
                <a:spAutoFit/>
              </a:bodyPr>
              <a:lstStyle/>
              <a:p>
                <a:pPr/>
                <a14:m>
                  <m:oMathPara xmlns:m="http://schemas.openxmlformats.org/officeDocument/2006/math">
                    <m:o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=2,5−1</m:t>
                      </m:r>
                    </m:oMath>
                  </m:oMathPara>
                </a14:m>
                <a:endParaRPr lang="es-CO" sz="2400"/>
              </a:p>
            </p:txBody>
          </p:sp>
        </mc:Choice>
        <mc:Fallback xmlns="">
          <p:sp>
            <p:nvSpPr>
              <p:cNvPr id="8" name="CuadroTexto 7">
                <a:extLst>
                  <a:ext uri="{FF2B5EF4-FFF2-40B4-BE49-F238E27FC236}">
                    <a16:creationId xmlns:a16="http://schemas.microsoft.com/office/drawing/2014/main" id="{83892B2F-8E7D-CED9-3B3B-28D6FBD4DA58}"/>
                  </a:ext>
                </a:extLst>
              </p:cNvPr>
              <p:cNvSpPr txBox="1">
                <a:spLocks noRot="1" noChangeAspect="1" noMove="1" noResize="1" noEditPoints="1" noAdjustHandles="1" noChangeArrowheads="1" noChangeShapeType="1" noTextEdit="1"/>
              </p:cNvSpPr>
              <p:nvPr/>
            </p:nvSpPr>
            <p:spPr>
              <a:xfrm>
                <a:off x="4828470" y="4712000"/>
                <a:ext cx="2727157" cy="80560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C5D5D28-CE5B-460B-3B09-EED79F7E600E}"/>
                  </a:ext>
                </a:extLst>
              </p:cNvPr>
              <p:cNvSpPr txBox="1"/>
              <p:nvPr/>
            </p:nvSpPr>
            <p:spPr>
              <a:xfrm>
                <a:off x="5000412" y="5733741"/>
                <a:ext cx="2191176" cy="805605"/>
              </a:xfrm>
              <a:prstGeom prst="rect">
                <a:avLst/>
              </a:prstGeom>
              <a:noFill/>
            </p:spPr>
            <p:txBody>
              <a:bodyPr wrap="none" lIns="0" tIns="0" rIns="0" bIns="0" rtlCol="0">
                <a:spAutoFit/>
              </a:bodyPr>
              <a:lstStyle/>
              <a:p>
                <a:pPr/>
                <a14:m>
                  <m:oMathPara xmlns:m="http://schemas.openxmlformats.org/officeDocument/2006/math">
                    <m:o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=1,5</m:t>
                      </m:r>
                    </m:oMath>
                  </m:oMathPara>
                </a14:m>
                <a:endParaRPr lang="es-CO" sz="2400"/>
              </a:p>
            </p:txBody>
          </p:sp>
        </mc:Choice>
        <mc:Fallback xmlns="">
          <p:sp>
            <p:nvSpPr>
              <p:cNvPr id="13" name="CuadroTexto 12">
                <a:extLst>
                  <a:ext uri="{FF2B5EF4-FFF2-40B4-BE49-F238E27FC236}">
                    <a16:creationId xmlns:a16="http://schemas.microsoft.com/office/drawing/2014/main" id="{FC5D5D28-CE5B-460B-3B09-EED79F7E600E}"/>
                  </a:ext>
                </a:extLst>
              </p:cNvPr>
              <p:cNvSpPr txBox="1">
                <a:spLocks noRot="1" noChangeAspect="1" noMove="1" noResize="1" noEditPoints="1" noAdjustHandles="1" noChangeArrowheads="1" noChangeShapeType="1" noTextEdit="1"/>
              </p:cNvSpPr>
              <p:nvPr/>
            </p:nvSpPr>
            <p:spPr>
              <a:xfrm>
                <a:off x="5000412" y="5733741"/>
                <a:ext cx="2191176" cy="805605"/>
              </a:xfrm>
              <a:prstGeom prst="rect">
                <a:avLst/>
              </a:prstGeom>
              <a:blipFill>
                <a:blip r:embed="rId5"/>
                <a:stretch>
                  <a:fillRect/>
                </a:stretch>
              </a:blipFill>
            </p:spPr>
            <p:txBody>
              <a:bodyPr/>
              <a:lstStyle/>
              <a:p>
                <a:r>
                  <a:rPr lang="en-US">
                    <a:noFill/>
                  </a:rPr>
                  <a:t> </a:t>
                </a:r>
              </a:p>
            </p:txBody>
          </p:sp>
        </mc:Fallback>
      </mc:AlternateContent>
      <p:sp>
        <p:nvSpPr>
          <p:cNvPr id="5" name="Marcador de número de diapositiva 3">
            <a:extLst>
              <a:ext uri="{FF2B5EF4-FFF2-40B4-BE49-F238E27FC236}">
                <a16:creationId xmlns:a16="http://schemas.microsoft.com/office/drawing/2014/main" id="{70D85247-330A-F138-2249-5E2406DE6634}"/>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89</a:t>
            </a:fld>
            <a:endParaRPr lang="en-US" sz="2000" b="1">
              <a:latin typeface="Century Gothic" panose="020B0502020202020204" pitchFamily="34" charset="0"/>
            </a:endParaRPr>
          </a:p>
        </p:txBody>
      </p:sp>
    </p:spTree>
    <p:extLst>
      <p:ext uri="{BB962C8B-B14F-4D97-AF65-F5344CB8AC3E}">
        <p14:creationId xmlns:p14="http://schemas.microsoft.com/office/powerpoint/2010/main" val="147159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4F74-6D41-F79E-0810-F2C774CCC5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0531B-20E2-FA86-BB4F-DCC9635B9DE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0DB2AE80-E7D6-C089-950D-641688CEC0E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7E8DCE5A-86D2-6DCA-BF93-5B1F979DF48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D20593F-9A46-6CD3-0B6C-1027F4C2EB6F}"/>
              </a:ext>
            </a:extLst>
          </p:cNvPr>
          <p:cNvSpPr/>
          <p:nvPr/>
        </p:nvSpPr>
        <p:spPr>
          <a:xfrm>
            <a:off x="3173020" y="2318042"/>
            <a:ext cx="8540907" cy="1938992"/>
          </a:xfrm>
          <a:prstGeom prst="rect">
            <a:avLst/>
          </a:prstGeom>
        </p:spPr>
        <p:txBody>
          <a:bodyPr wrap="square" lIns="91440" tIns="45720" rIns="91440" bIns="45720" anchor="t">
            <a:spAutoFit/>
          </a:bodyPr>
          <a:lstStyle/>
          <a:p>
            <a:pPr>
              <a:buClr>
                <a:srgbClr val="48BE7A"/>
              </a:buClr>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a:solidFill>
                  <a:schemeClr val="accent1"/>
                </a:solidFill>
                <a:latin typeface="Century Gothic"/>
                <a:cs typeface="Arial"/>
              </a:rPr>
              <a:t>PayBack</a:t>
            </a:r>
          </a:p>
        </p:txBody>
      </p:sp>
      <p:sp>
        <p:nvSpPr>
          <p:cNvPr id="3" name="Rectángulo 2">
            <a:extLst>
              <a:ext uri="{FF2B5EF4-FFF2-40B4-BE49-F238E27FC236}">
                <a16:creationId xmlns:a16="http://schemas.microsoft.com/office/drawing/2014/main" id="{045DBFBB-CD8E-F467-BD10-AAC574FD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9862892-2DDB-0B34-FB88-E0BAD923E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C3A5CA0-5CB2-2FF4-8C5A-B2A5752AC3D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0180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873730"/>
            <a:ext cx="9144000" cy="2076492"/>
          </a:xfrm>
        </p:spPr>
        <p:txBody>
          <a:bodyPr>
            <a:normAutofit/>
          </a:bodyPr>
          <a:lstStyle/>
          <a:p>
            <a:pPr marL="0" indent="0" algn="ctr">
              <a:buNone/>
            </a:pPr>
            <a:r>
              <a:rPr lang="es-ES_tradnl" sz="3200" b="1">
                <a:solidFill>
                  <a:srgbClr val="800000"/>
                </a:solidFill>
              </a:rPr>
              <a:t>PayBack</a:t>
            </a:r>
          </a:p>
          <a:p>
            <a:pPr marL="0" indent="0" algn="ctr">
              <a:buNone/>
            </a:pPr>
            <a:r>
              <a:rPr lang="es-ES_tradnl" sz="3200" b="1">
                <a:solidFill>
                  <a:srgbClr val="800000"/>
                </a:solidFill>
              </a:rPr>
              <a:t>(Periodo de recuperación)</a:t>
            </a:r>
          </a:p>
        </p:txBody>
      </p:sp>
      <p:sp>
        <p:nvSpPr>
          <p:cNvPr id="3" name="Rectángulo 2">
            <a:extLst>
              <a:ext uri="{FF2B5EF4-FFF2-40B4-BE49-F238E27FC236}">
                <a16:creationId xmlns:a16="http://schemas.microsoft.com/office/drawing/2014/main" id="{B35D7191-4C2B-04BB-FE7E-4A231CF55C5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7F94364-CBEF-1DAC-6AF0-C87F785B2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7156532-8252-AB88-6468-A1D7232ED6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B51FECA9-15FB-C02C-E64D-27C91F06766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91</a:t>
            </a:fld>
            <a:endParaRPr lang="en-US" sz="2000" b="1">
              <a:latin typeface="Century Gothic" panose="020B0502020202020204" pitchFamily="34" charset="0"/>
            </a:endParaRPr>
          </a:p>
        </p:txBody>
      </p:sp>
    </p:spTree>
    <p:extLst>
      <p:ext uri="{BB962C8B-B14F-4D97-AF65-F5344CB8AC3E}">
        <p14:creationId xmlns:p14="http://schemas.microsoft.com/office/powerpoint/2010/main" val="18572583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7914"/>
            <a:ext cx="11029615" cy="4149109"/>
          </a:xfrm>
        </p:spPr>
        <p:txBody>
          <a:bodyPr>
            <a:noAutofit/>
          </a:bodyPr>
          <a:lstStyle/>
          <a:p>
            <a:pPr algn="just">
              <a:buFont typeface="Arial" panose="020B0604020202020204" pitchFamily="34" charset="0"/>
              <a:buChar char="•"/>
            </a:pPr>
            <a:r>
              <a:rPr lang="es-ES" sz="2400"/>
              <a:t>El periodo de recuperación, conocido también como </a:t>
            </a:r>
            <a:r>
              <a:rPr lang="es-ES" sz="2400" err="1"/>
              <a:t>Payback</a:t>
            </a:r>
            <a:r>
              <a:rPr lang="es-ES" sz="2400"/>
              <a:t>, es un indicador de amplia utilización en la vida real. </a:t>
            </a:r>
          </a:p>
          <a:p>
            <a:pPr algn="just">
              <a:buFont typeface="Arial" panose="020B0604020202020204" pitchFamily="34" charset="0"/>
              <a:buChar char="•"/>
            </a:pPr>
            <a:r>
              <a:rPr lang="es-ES" sz="2400" b="1"/>
              <a:t>Consiste en determinar el número de periodos requeridos para recuperar la inversión inicial. </a:t>
            </a:r>
            <a:r>
              <a:rPr lang="es-ES" sz="2400"/>
              <a:t>Sin embargo, la forma en que comúnmente se usa tiene fuertes errores conceptuales ya que no considera el valor del dinero en el tiempo, pues suele utilizarse sumando de manera simple los ingresos/egresos periodo a periodo.</a:t>
            </a:r>
          </a:p>
          <a:p>
            <a:pPr algn="just">
              <a:buFont typeface="Arial" panose="020B0604020202020204" pitchFamily="34" charset="0"/>
              <a:buChar char="•"/>
            </a:pPr>
            <a:r>
              <a:rPr lang="es-ES" sz="2400"/>
              <a:t>Pese a lo anterior, este indicador puede utilizarse siempre y cuando se incluya en el análisis el valor del dinero en el tiempo; esto es; descontar al costo de oportunidad cada flujo generados por el proyecto y sumarlos en valor presente hasta que dicha suma sea superior a la inversión inicial.</a:t>
            </a:r>
          </a:p>
        </p:txBody>
      </p:sp>
      <p:sp>
        <p:nvSpPr>
          <p:cNvPr id="8" name="Rectángulo 7">
            <a:extLst>
              <a:ext uri="{FF2B5EF4-FFF2-40B4-BE49-F238E27FC236}">
                <a16:creationId xmlns:a16="http://schemas.microsoft.com/office/drawing/2014/main" id="{48CBA7C3-3EE8-53E0-1FC9-469E1C0965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A0A5453-51E4-AEA0-9DE8-5FD3B2917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04A86F6-C569-5D30-5E82-7EAB6EB52F0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09E8B95-FF44-11F9-9B4E-3791BFB0E7E8}"/>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D47590EE-25B4-7368-BD15-FF263B2A458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92</a:t>
            </a:fld>
            <a:endParaRPr lang="en-US" sz="2000" b="1">
              <a:latin typeface="Century Gothic" panose="020B0502020202020204" pitchFamily="34" charset="0"/>
            </a:endParaRPr>
          </a:p>
        </p:txBody>
      </p:sp>
    </p:spTree>
    <p:extLst>
      <p:ext uri="{BB962C8B-B14F-4D97-AF65-F5344CB8AC3E}">
        <p14:creationId xmlns:p14="http://schemas.microsoft.com/office/powerpoint/2010/main" val="345326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7915"/>
            <a:ext cx="11029615" cy="1069150"/>
          </a:xfrm>
        </p:spPr>
        <p:txBody>
          <a:bodyPr>
            <a:noAutofit/>
          </a:bodyPr>
          <a:lstStyle/>
          <a:p>
            <a:pPr marL="0" indent="0" algn="just">
              <a:buNone/>
            </a:pPr>
            <a:r>
              <a:rPr lang="es-ES" sz="2400" b="1"/>
              <a:t>Ejemplo 1:</a:t>
            </a:r>
          </a:p>
          <a:p>
            <a:pPr marL="0" indent="0" algn="just">
              <a:buNone/>
            </a:pPr>
            <a:r>
              <a:rPr lang="es-ES" sz="2400"/>
              <a:t>Suponga los siguientes flujos:</a:t>
            </a:r>
          </a:p>
        </p:txBody>
      </p:sp>
      <p:cxnSp>
        <p:nvCxnSpPr>
          <p:cNvPr id="5" name="Straight Connector 17"/>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0" name="Rectangle 23"/>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 name="Rectangle 24"/>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2" name="Rectangle 25"/>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3" name="Rectangle 31"/>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14" name="Straight Arrow Connector 32"/>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0" name="Rectangle 23"/>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1" name="Rectangle 23"/>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2" name="Rectangle 23"/>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3" name="Rectangle 23"/>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16" name="Rectángulo 15">
            <a:extLst>
              <a:ext uri="{FF2B5EF4-FFF2-40B4-BE49-F238E27FC236}">
                <a16:creationId xmlns:a16="http://schemas.microsoft.com/office/drawing/2014/main" id="{07938327-5899-D6AA-C8B8-9650E2ED91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6E0C389B-C206-A0AA-52C3-D124E4428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E989A7D-BFB5-B240-BCAE-87E3A1E92CE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4843B27D-AE27-E6E6-FF30-B98DA2D1418C}"/>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7" name="CuadroTexto 26">
            <a:extLst>
              <a:ext uri="{FF2B5EF4-FFF2-40B4-BE49-F238E27FC236}">
                <a16:creationId xmlns:a16="http://schemas.microsoft.com/office/drawing/2014/main" id="{1EA45E38-5876-D649-E626-264F41CA17DE}"/>
              </a:ext>
            </a:extLst>
          </p:cNvPr>
          <p:cNvSpPr txBox="1"/>
          <p:nvPr/>
        </p:nvSpPr>
        <p:spPr>
          <a:xfrm>
            <a:off x="581191" y="4529582"/>
            <a:ext cx="11029613" cy="1569660"/>
          </a:xfrm>
          <a:prstGeom prst="rect">
            <a:avLst/>
          </a:prstGeom>
          <a:noFill/>
        </p:spPr>
        <p:txBody>
          <a:bodyPr wrap="square">
            <a:spAutoFit/>
          </a:bodyPr>
          <a:lstStyle/>
          <a:p>
            <a:pPr algn="just"/>
            <a:endParaRPr lang="es-ES" sz="2400"/>
          </a:p>
          <a:p>
            <a:pPr marL="0" indent="0" algn="just">
              <a:buNone/>
            </a:pPr>
            <a:r>
              <a:rPr lang="es-ES" sz="2400"/>
              <a:t>Comúnmente (equivocadamente) y sin considerar el valor del dinero en el tiempo se diría que el </a:t>
            </a:r>
            <a:r>
              <a:rPr lang="es-ES" sz="2400" b="1"/>
              <a:t>periodo de recuperación </a:t>
            </a:r>
            <a:r>
              <a:rPr lang="es-ES" sz="2400"/>
              <a:t>de este proyecto es de </a:t>
            </a:r>
            <a:r>
              <a:rPr lang="es-ES" sz="2400" b="1"/>
              <a:t>2</a:t>
            </a:r>
            <a:r>
              <a:rPr lang="es-ES" sz="2400"/>
              <a:t>. Sin embargo, al tener en cuenta un costo de oportunidad el resultado es diferente.</a:t>
            </a:r>
          </a:p>
        </p:txBody>
      </p:sp>
      <p:sp>
        <p:nvSpPr>
          <p:cNvPr id="2" name="Marcador de número de diapositiva 3">
            <a:extLst>
              <a:ext uri="{FF2B5EF4-FFF2-40B4-BE49-F238E27FC236}">
                <a16:creationId xmlns:a16="http://schemas.microsoft.com/office/drawing/2014/main" id="{DA6EC2FA-9588-C780-56AD-5DA032C8D79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93</a:t>
            </a:fld>
            <a:endParaRPr lang="en-US" sz="2000" b="1">
              <a:latin typeface="Century Gothic" panose="020B0502020202020204" pitchFamily="34" charset="0"/>
            </a:endParaRPr>
          </a:p>
        </p:txBody>
      </p:sp>
    </p:spTree>
    <p:extLst>
      <p:ext uri="{BB962C8B-B14F-4D97-AF65-F5344CB8AC3E}">
        <p14:creationId xmlns:p14="http://schemas.microsoft.com/office/powerpoint/2010/main" val="446071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BCBF5-1A02-2E42-ABAF-D5E2A132F23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A22937-5180-CF27-6B7E-29367B8FBE85}"/>
              </a:ext>
            </a:extLst>
          </p:cNvPr>
          <p:cNvSpPr>
            <a:spLocks noGrp="1"/>
          </p:cNvSpPr>
          <p:nvPr>
            <p:ph idx="1"/>
          </p:nvPr>
        </p:nvSpPr>
        <p:spPr>
          <a:xfrm>
            <a:off x="581191" y="1817915"/>
            <a:ext cx="11029615" cy="1069150"/>
          </a:xfrm>
        </p:spPr>
        <p:txBody>
          <a:bodyPr>
            <a:noAutofit/>
          </a:bodyPr>
          <a:lstStyle/>
          <a:p>
            <a:pPr marL="0" indent="0" algn="just">
              <a:buNone/>
            </a:pPr>
            <a:r>
              <a:rPr lang="es-ES" sz="2400" b="1"/>
              <a:t>Ejemplo 1:</a:t>
            </a:r>
          </a:p>
          <a:p>
            <a:pPr marL="0" indent="0" algn="just">
              <a:buNone/>
            </a:pPr>
            <a:r>
              <a:rPr lang="es-ES" sz="2400"/>
              <a:t>Suponga los siguientes flujos:</a:t>
            </a:r>
          </a:p>
        </p:txBody>
      </p:sp>
      <p:cxnSp>
        <p:nvCxnSpPr>
          <p:cNvPr id="5" name="Straight Connector 17">
            <a:extLst>
              <a:ext uri="{FF2B5EF4-FFF2-40B4-BE49-F238E27FC236}">
                <a16:creationId xmlns:a16="http://schemas.microsoft.com/office/drawing/2014/main" id="{3D1B5D09-03B1-6419-E7AF-DC11D04E0C44}"/>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DA7D9E7C-5E9A-D277-4C70-5429F3231DE0}"/>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8F83B75D-3694-3682-6D8A-EA935A6EA970}"/>
              </a:ext>
            </a:extLst>
          </p:cNvPr>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792391B0-051D-DC15-80F2-E536FEBE2DBB}"/>
              </a:ext>
            </a:extLst>
          </p:cNvPr>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ABD550A-886C-832E-2C7A-8F80CBD66983}"/>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0" name="Rectangle 23">
            <a:extLst>
              <a:ext uri="{FF2B5EF4-FFF2-40B4-BE49-F238E27FC236}">
                <a16:creationId xmlns:a16="http://schemas.microsoft.com/office/drawing/2014/main" id="{4A9FF337-837E-9C76-BC3B-FF72FAB33523}"/>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 name="Rectangle 24">
            <a:extLst>
              <a:ext uri="{FF2B5EF4-FFF2-40B4-BE49-F238E27FC236}">
                <a16:creationId xmlns:a16="http://schemas.microsoft.com/office/drawing/2014/main" id="{29E3D85C-B393-4666-0566-287EA14FD4C2}"/>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2" name="Rectangle 25">
            <a:extLst>
              <a:ext uri="{FF2B5EF4-FFF2-40B4-BE49-F238E27FC236}">
                <a16:creationId xmlns:a16="http://schemas.microsoft.com/office/drawing/2014/main" id="{BF8CCCBB-2F19-1E37-7F56-06D27339EE47}"/>
              </a:ext>
            </a:extLst>
          </p:cNvPr>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3" name="Rectangle 31">
            <a:extLst>
              <a:ext uri="{FF2B5EF4-FFF2-40B4-BE49-F238E27FC236}">
                <a16:creationId xmlns:a16="http://schemas.microsoft.com/office/drawing/2014/main" id="{5B1B9470-570E-9743-12FF-16A27D8E4376}"/>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14" name="Straight Arrow Connector 32">
            <a:extLst>
              <a:ext uri="{FF2B5EF4-FFF2-40B4-BE49-F238E27FC236}">
                <a16:creationId xmlns:a16="http://schemas.microsoft.com/office/drawing/2014/main" id="{BDA77367-3F8A-77E9-102C-5D3BB91BA610}"/>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6160B10F-1071-93EF-8072-EDA07426BFF7}"/>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488D1284-6D06-9CED-5C04-5AB75B59A5B0}"/>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0" name="Rectangle 23">
            <a:extLst>
              <a:ext uri="{FF2B5EF4-FFF2-40B4-BE49-F238E27FC236}">
                <a16:creationId xmlns:a16="http://schemas.microsoft.com/office/drawing/2014/main" id="{AFA6A6E8-7F0F-9D1D-7681-AF915EC15702}"/>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1" name="Rectangle 23">
            <a:extLst>
              <a:ext uri="{FF2B5EF4-FFF2-40B4-BE49-F238E27FC236}">
                <a16:creationId xmlns:a16="http://schemas.microsoft.com/office/drawing/2014/main" id="{CE23771C-491C-EE2F-0F4D-D301F0995F0C}"/>
              </a:ext>
            </a:extLst>
          </p:cNvPr>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2" name="Rectangle 23">
            <a:extLst>
              <a:ext uri="{FF2B5EF4-FFF2-40B4-BE49-F238E27FC236}">
                <a16:creationId xmlns:a16="http://schemas.microsoft.com/office/drawing/2014/main" id="{EF5BA3F9-2E93-6028-3045-0240766BE250}"/>
              </a:ext>
            </a:extLst>
          </p:cNvPr>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3" name="Rectangle 23">
            <a:extLst>
              <a:ext uri="{FF2B5EF4-FFF2-40B4-BE49-F238E27FC236}">
                <a16:creationId xmlns:a16="http://schemas.microsoft.com/office/drawing/2014/main" id="{236C70B4-2B40-7E54-7AD3-7640FA42DEAC}"/>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16" name="Rectángulo 15">
            <a:extLst>
              <a:ext uri="{FF2B5EF4-FFF2-40B4-BE49-F238E27FC236}">
                <a16:creationId xmlns:a16="http://schemas.microsoft.com/office/drawing/2014/main" id="{6F08F7C4-8DA6-5C0A-F3CD-FF3DCF7FEE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46DF016-F514-E313-CC92-B1C5AD1D5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62A4C48-42CF-8ABC-294F-672D613C59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51DC5746-59D6-3F94-1FFE-321FD1D546DA}"/>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7" name="CuadroTexto 26">
            <a:extLst>
              <a:ext uri="{FF2B5EF4-FFF2-40B4-BE49-F238E27FC236}">
                <a16:creationId xmlns:a16="http://schemas.microsoft.com/office/drawing/2014/main" id="{6DE12170-2F9F-655A-AC94-70A700094BCC}"/>
              </a:ext>
            </a:extLst>
          </p:cNvPr>
          <p:cNvSpPr txBox="1"/>
          <p:nvPr/>
        </p:nvSpPr>
        <p:spPr>
          <a:xfrm>
            <a:off x="581191" y="4812611"/>
            <a:ext cx="11029613" cy="1200329"/>
          </a:xfrm>
          <a:prstGeom prst="rect">
            <a:avLst/>
          </a:prstGeom>
          <a:noFill/>
        </p:spPr>
        <p:txBody>
          <a:bodyPr wrap="square">
            <a:spAutoFit/>
          </a:bodyPr>
          <a:lstStyle/>
          <a:p>
            <a:pPr algn="just"/>
            <a:endParaRPr lang="es-ES" sz="2400"/>
          </a:p>
          <a:p>
            <a:pPr algn="ctr"/>
            <a:r>
              <a:rPr lang="es-ES" sz="2400"/>
              <a:t>Si el costo de oportunidad fuese por ejemplo 10%, el periodo de recuperación sería diferente.</a:t>
            </a:r>
          </a:p>
        </p:txBody>
      </p:sp>
      <p:sp>
        <p:nvSpPr>
          <p:cNvPr id="2" name="Marcador de número de diapositiva 3">
            <a:extLst>
              <a:ext uri="{FF2B5EF4-FFF2-40B4-BE49-F238E27FC236}">
                <a16:creationId xmlns:a16="http://schemas.microsoft.com/office/drawing/2014/main" id="{D1084AED-2215-F41D-B49D-63C6619D376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94</a:t>
            </a:fld>
            <a:endParaRPr lang="en-US" sz="2000" b="1">
              <a:latin typeface="Century Gothic" panose="020B0502020202020204" pitchFamily="34" charset="0"/>
            </a:endParaRPr>
          </a:p>
        </p:txBody>
      </p:sp>
    </p:spTree>
    <p:extLst>
      <p:ext uri="{BB962C8B-B14F-4D97-AF65-F5344CB8AC3E}">
        <p14:creationId xmlns:p14="http://schemas.microsoft.com/office/powerpoint/2010/main" val="13881726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3245"/>
            <a:ext cx="11029615" cy="511144"/>
          </a:xfrm>
        </p:spPr>
        <p:txBody>
          <a:bodyPr>
            <a:normAutofit/>
          </a:bodyPr>
          <a:lstStyle/>
          <a:p>
            <a:pPr marL="0" indent="0">
              <a:buNone/>
            </a:pPr>
            <a:r>
              <a:rPr lang="es-ES" sz="2400"/>
              <a:t>¿Cuándo recupero la inversión?</a:t>
            </a:r>
          </a:p>
        </p:txBody>
      </p:sp>
      <p:pic>
        <p:nvPicPr>
          <p:cNvPr id="8" name="Imagen 7"/>
          <p:cNvPicPr>
            <a:picLocks noChangeAspect="1"/>
          </p:cNvPicPr>
          <p:nvPr/>
        </p:nvPicPr>
        <p:blipFill>
          <a:blip r:embed="rId2"/>
          <a:stretch>
            <a:fillRect/>
          </a:stretch>
        </p:blipFill>
        <p:spPr>
          <a:xfrm>
            <a:off x="3376155" y="2536726"/>
            <a:ext cx="3761236" cy="643675"/>
          </a:xfrm>
          <a:prstGeom prst="rect">
            <a:avLst/>
          </a:prstGeom>
        </p:spPr>
      </p:pic>
      <p:pic>
        <p:nvPicPr>
          <p:cNvPr id="9" name="Imagen 8"/>
          <p:cNvPicPr>
            <a:picLocks noChangeAspect="1"/>
          </p:cNvPicPr>
          <p:nvPr/>
        </p:nvPicPr>
        <p:blipFill>
          <a:blip r:embed="rId3"/>
          <a:stretch>
            <a:fillRect/>
          </a:stretch>
        </p:blipFill>
        <p:spPr>
          <a:xfrm>
            <a:off x="3388984" y="3611704"/>
            <a:ext cx="5399152" cy="632059"/>
          </a:xfrm>
          <a:prstGeom prst="rect">
            <a:avLst/>
          </a:prstGeom>
        </p:spPr>
      </p:pic>
      <p:pic>
        <p:nvPicPr>
          <p:cNvPr id="10" name="Imagen 9"/>
          <p:cNvPicPr>
            <a:picLocks noChangeAspect="1"/>
          </p:cNvPicPr>
          <p:nvPr/>
        </p:nvPicPr>
        <p:blipFill>
          <a:blip r:embed="rId4"/>
          <a:stretch>
            <a:fillRect/>
          </a:stretch>
        </p:blipFill>
        <p:spPr>
          <a:xfrm>
            <a:off x="3341338" y="4781128"/>
            <a:ext cx="7192920" cy="658954"/>
          </a:xfrm>
          <a:prstGeom prst="rect">
            <a:avLst/>
          </a:prstGeom>
        </p:spPr>
      </p:pic>
      <p:sp>
        <p:nvSpPr>
          <p:cNvPr id="11" name="CuadroTexto 10"/>
          <p:cNvSpPr txBox="1"/>
          <p:nvPr/>
        </p:nvSpPr>
        <p:spPr>
          <a:xfrm>
            <a:off x="1642108" y="2648235"/>
            <a:ext cx="2039840" cy="461665"/>
          </a:xfrm>
          <a:prstGeom prst="rect">
            <a:avLst/>
          </a:prstGeom>
          <a:noFill/>
        </p:spPr>
        <p:txBody>
          <a:bodyPr wrap="square" rtlCol="0">
            <a:spAutoFit/>
          </a:bodyPr>
          <a:lstStyle/>
          <a:p>
            <a:r>
              <a:rPr lang="es-ES" sz="2400" b="1">
                <a:solidFill>
                  <a:srgbClr val="800000"/>
                </a:solidFill>
              </a:rPr>
              <a:t>1 periodo:</a:t>
            </a:r>
          </a:p>
        </p:txBody>
      </p:sp>
      <p:sp>
        <p:nvSpPr>
          <p:cNvPr id="12" name="CuadroTexto 11"/>
          <p:cNvSpPr txBox="1"/>
          <p:nvPr/>
        </p:nvSpPr>
        <p:spPr>
          <a:xfrm>
            <a:off x="1642108" y="3693206"/>
            <a:ext cx="2039840" cy="461665"/>
          </a:xfrm>
          <a:prstGeom prst="rect">
            <a:avLst/>
          </a:prstGeom>
          <a:noFill/>
        </p:spPr>
        <p:txBody>
          <a:bodyPr wrap="square" rtlCol="0">
            <a:spAutoFit/>
          </a:bodyPr>
          <a:lstStyle/>
          <a:p>
            <a:r>
              <a:rPr lang="es-ES" sz="2400" b="1">
                <a:solidFill>
                  <a:srgbClr val="800000"/>
                </a:solidFill>
              </a:rPr>
              <a:t>2 periodos:</a:t>
            </a:r>
          </a:p>
        </p:txBody>
      </p:sp>
      <p:sp>
        <p:nvSpPr>
          <p:cNvPr id="13" name="CuadroTexto 12"/>
          <p:cNvSpPr txBox="1"/>
          <p:nvPr/>
        </p:nvSpPr>
        <p:spPr>
          <a:xfrm>
            <a:off x="1594462" y="4852331"/>
            <a:ext cx="2039840" cy="461665"/>
          </a:xfrm>
          <a:prstGeom prst="rect">
            <a:avLst/>
          </a:prstGeom>
          <a:noFill/>
        </p:spPr>
        <p:txBody>
          <a:bodyPr wrap="square" rtlCol="0">
            <a:spAutoFit/>
          </a:bodyPr>
          <a:lstStyle/>
          <a:p>
            <a:r>
              <a:rPr lang="es-ES" sz="2400" b="1">
                <a:solidFill>
                  <a:srgbClr val="800000"/>
                </a:solidFill>
              </a:rPr>
              <a:t>3 periodos:</a:t>
            </a:r>
          </a:p>
        </p:txBody>
      </p:sp>
      <p:sp>
        <p:nvSpPr>
          <p:cNvPr id="14" name="CuadroTexto 13"/>
          <p:cNvSpPr txBox="1"/>
          <p:nvPr/>
        </p:nvSpPr>
        <p:spPr>
          <a:xfrm>
            <a:off x="7478487" y="2566573"/>
            <a:ext cx="1112990" cy="461665"/>
          </a:xfrm>
          <a:prstGeom prst="rect">
            <a:avLst/>
          </a:prstGeom>
          <a:noFill/>
        </p:spPr>
        <p:txBody>
          <a:bodyPr wrap="square" rtlCol="0">
            <a:spAutoFit/>
          </a:bodyPr>
          <a:lstStyle/>
          <a:p>
            <a:pPr algn="ctr"/>
            <a:r>
              <a:rPr lang="es-ES" sz="1200" b="1">
                <a:solidFill>
                  <a:srgbClr val="800000"/>
                </a:solidFill>
              </a:rPr>
              <a:t>No se ha recuperado</a:t>
            </a:r>
          </a:p>
        </p:txBody>
      </p:sp>
      <p:sp>
        <p:nvSpPr>
          <p:cNvPr id="15" name="CuadroTexto 14"/>
          <p:cNvSpPr txBox="1"/>
          <p:nvPr/>
        </p:nvSpPr>
        <p:spPr>
          <a:xfrm>
            <a:off x="9170389" y="3655157"/>
            <a:ext cx="1112990" cy="461665"/>
          </a:xfrm>
          <a:prstGeom prst="rect">
            <a:avLst/>
          </a:prstGeom>
          <a:noFill/>
        </p:spPr>
        <p:txBody>
          <a:bodyPr wrap="square" rtlCol="0">
            <a:spAutoFit/>
          </a:bodyPr>
          <a:lstStyle/>
          <a:p>
            <a:pPr algn="ctr"/>
            <a:r>
              <a:rPr lang="es-ES" sz="1200" b="1">
                <a:solidFill>
                  <a:srgbClr val="800000"/>
                </a:solidFill>
              </a:rPr>
              <a:t>No se ha recuperado</a:t>
            </a:r>
          </a:p>
        </p:txBody>
      </p:sp>
      <p:sp>
        <p:nvSpPr>
          <p:cNvPr id="16" name="CuadroTexto 15"/>
          <p:cNvSpPr txBox="1"/>
          <p:nvPr/>
        </p:nvSpPr>
        <p:spPr>
          <a:xfrm>
            <a:off x="10499441" y="4779222"/>
            <a:ext cx="699796" cy="584776"/>
          </a:xfrm>
          <a:prstGeom prst="rect">
            <a:avLst/>
          </a:prstGeom>
          <a:noFill/>
        </p:spPr>
        <p:txBody>
          <a:bodyPr wrap="square" rtlCol="0">
            <a:spAutoFit/>
          </a:bodyPr>
          <a:lstStyle/>
          <a:p>
            <a:r>
              <a:rPr lang="es-ES" sz="3200">
                <a:solidFill>
                  <a:schemeClr val="accent5">
                    <a:lumMod val="75000"/>
                  </a:schemeClr>
                </a:solidFill>
                <a:latin typeface="Zapf Dingbats"/>
                <a:ea typeface="Zapf Dingbats"/>
                <a:cs typeface="Zapf Dingbats"/>
                <a:sym typeface="Zapf Dingbats"/>
              </a:rPr>
              <a:t>✓</a:t>
            </a:r>
            <a:endParaRPr lang="es-ES" sz="3200">
              <a:solidFill>
                <a:schemeClr val="accent5">
                  <a:lumMod val="75000"/>
                </a:schemeClr>
              </a:solidFill>
            </a:endParaRPr>
          </a:p>
        </p:txBody>
      </p:sp>
      <p:sp>
        <p:nvSpPr>
          <p:cNvPr id="19" name="TextBox 18">
            <a:extLst>
              <a:ext uri="{FF2B5EF4-FFF2-40B4-BE49-F238E27FC236}">
                <a16:creationId xmlns:a16="http://schemas.microsoft.com/office/drawing/2014/main" id="{70220847-A17F-444F-A5A9-57989E35284B}"/>
              </a:ext>
            </a:extLst>
          </p:cNvPr>
          <p:cNvSpPr txBox="1"/>
          <p:nvPr/>
        </p:nvSpPr>
        <p:spPr>
          <a:xfrm>
            <a:off x="581190" y="5935707"/>
            <a:ext cx="11029615" cy="461665"/>
          </a:xfrm>
          <a:prstGeom prst="rect">
            <a:avLst/>
          </a:prstGeom>
          <a:noFill/>
        </p:spPr>
        <p:txBody>
          <a:bodyPr wrap="square">
            <a:spAutoFit/>
          </a:bodyPr>
          <a:lstStyle/>
          <a:p>
            <a:pPr algn="ctr"/>
            <a:r>
              <a:rPr lang="es-ES" sz="2400"/>
              <a:t>La Inversión se recupera en 3 periodos</a:t>
            </a:r>
          </a:p>
        </p:txBody>
      </p:sp>
      <p:sp>
        <p:nvSpPr>
          <p:cNvPr id="5" name="Rectángulo 4">
            <a:extLst>
              <a:ext uri="{FF2B5EF4-FFF2-40B4-BE49-F238E27FC236}">
                <a16:creationId xmlns:a16="http://schemas.microsoft.com/office/drawing/2014/main" id="{049934C3-3D58-0686-E6D9-78412395E0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D740BEA-EE08-8A50-2774-CA676C47B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467DF90-A30D-1F12-9E7D-9DCA8DA1B6B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8" name="Título 1">
            <a:extLst>
              <a:ext uri="{FF2B5EF4-FFF2-40B4-BE49-F238E27FC236}">
                <a16:creationId xmlns:a16="http://schemas.microsoft.com/office/drawing/2014/main" id="{681BD2C8-076C-FC4F-E4A9-82542F52D382}"/>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43ECCE95-D6FB-40DC-6762-91F678F1133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95</a:t>
            </a:fld>
            <a:endParaRPr lang="en-US" sz="2000" b="1">
              <a:latin typeface="Century Gothic" panose="020B0502020202020204" pitchFamily="34" charset="0"/>
            </a:endParaRPr>
          </a:p>
        </p:txBody>
      </p:sp>
    </p:spTree>
    <p:extLst>
      <p:ext uri="{BB962C8B-B14F-4D97-AF65-F5344CB8AC3E}">
        <p14:creationId xmlns:p14="http://schemas.microsoft.com/office/powerpoint/2010/main" val="243259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C79E-5409-29B7-A6D6-42EBA44975F9}"/>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8C459B-DADF-6F7E-988A-3C094A931645}"/>
              </a:ext>
            </a:extLst>
          </p:cNvPr>
          <p:cNvSpPr>
            <a:spLocks noGrp="1"/>
          </p:cNvSpPr>
          <p:nvPr>
            <p:ph idx="1"/>
          </p:nvPr>
        </p:nvSpPr>
        <p:spPr>
          <a:xfrm>
            <a:off x="581191" y="1817915"/>
            <a:ext cx="11029615" cy="1069150"/>
          </a:xfrm>
        </p:spPr>
        <p:txBody>
          <a:bodyPr>
            <a:noAutofit/>
          </a:bodyPr>
          <a:lstStyle/>
          <a:p>
            <a:pPr marL="0" indent="0" algn="just">
              <a:buNone/>
            </a:pPr>
            <a:r>
              <a:rPr lang="es-ES" sz="2400" b="1"/>
              <a:t>Ejemplo 2:</a:t>
            </a:r>
          </a:p>
          <a:p>
            <a:pPr marL="0" indent="0" algn="just">
              <a:buNone/>
            </a:pPr>
            <a:r>
              <a:rPr lang="es-ES" sz="2400"/>
              <a:t>Suponga los siguientes flujos:</a:t>
            </a:r>
          </a:p>
        </p:txBody>
      </p:sp>
      <p:cxnSp>
        <p:nvCxnSpPr>
          <p:cNvPr id="5" name="Straight Connector 17">
            <a:extLst>
              <a:ext uri="{FF2B5EF4-FFF2-40B4-BE49-F238E27FC236}">
                <a16:creationId xmlns:a16="http://schemas.microsoft.com/office/drawing/2014/main" id="{E676C41F-2992-B6AE-7ABD-774164F99CF0}"/>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AE04B9D8-7280-DCE6-945D-FA000E5AA5E7}"/>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6F9D5555-0D5B-4D1B-4157-7C34C76C0DBD}"/>
              </a:ext>
            </a:extLst>
          </p:cNvPr>
          <p:cNvCxnSpPr>
            <a:cxnSpLocks/>
          </p:cNvCxnSpPr>
          <p:nvPr/>
        </p:nvCxnSpPr>
        <p:spPr>
          <a:xfrm>
            <a:off x="6736080" y="3657600"/>
            <a:ext cx="14223" cy="47591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30B328CC-8CB8-7C87-52A5-7CDD5AEAB09B}"/>
              </a:ext>
            </a:extLst>
          </p:cNvPr>
          <p:cNvCxnSpPr/>
          <p:nvPr/>
        </p:nvCxnSpPr>
        <p:spPr>
          <a:xfrm flipV="1">
            <a:off x="610657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4D3519D-3D27-A8AC-CAF8-AC0A41BA8E97}"/>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0" name="Rectangle 23">
            <a:extLst>
              <a:ext uri="{FF2B5EF4-FFF2-40B4-BE49-F238E27FC236}">
                <a16:creationId xmlns:a16="http://schemas.microsoft.com/office/drawing/2014/main" id="{D1756758-48CF-EB56-96D6-B4B184CEBF7C}"/>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 name="Rectangle 24">
            <a:extLst>
              <a:ext uri="{FF2B5EF4-FFF2-40B4-BE49-F238E27FC236}">
                <a16:creationId xmlns:a16="http://schemas.microsoft.com/office/drawing/2014/main" id="{120CF352-D36E-EF01-003C-5D9B2D673C5C}"/>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2" name="Rectangle 25">
            <a:extLst>
              <a:ext uri="{FF2B5EF4-FFF2-40B4-BE49-F238E27FC236}">
                <a16:creationId xmlns:a16="http://schemas.microsoft.com/office/drawing/2014/main" id="{B7C05768-32D8-178F-0CBC-449C59C9DE3D}"/>
              </a:ext>
            </a:extLst>
          </p:cNvPr>
          <p:cNvSpPr>
            <a:spLocks/>
          </p:cNvSpPr>
          <p:nvPr/>
        </p:nvSpPr>
        <p:spPr bwMode="auto">
          <a:xfrm>
            <a:off x="6658224" y="36356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3" name="Rectangle 31">
            <a:extLst>
              <a:ext uri="{FF2B5EF4-FFF2-40B4-BE49-F238E27FC236}">
                <a16:creationId xmlns:a16="http://schemas.microsoft.com/office/drawing/2014/main" id="{7A37BC45-F7D6-2582-0286-065F413FC4B7}"/>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14" name="Straight Arrow Connector 32">
            <a:extLst>
              <a:ext uri="{FF2B5EF4-FFF2-40B4-BE49-F238E27FC236}">
                <a16:creationId xmlns:a16="http://schemas.microsoft.com/office/drawing/2014/main" id="{5A8F9004-C54B-9713-411B-46C9DCD84152}"/>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CB0AB7DE-FCFA-1802-15DA-907A69AE7436}"/>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DF470AD0-D0E8-6B3E-FBE5-1D2AB712BB1A}"/>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0" name="Rectangle 23">
            <a:extLst>
              <a:ext uri="{FF2B5EF4-FFF2-40B4-BE49-F238E27FC236}">
                <a16:creationId xmlns:a16="http://schemas.microsoft.com/office/drawing/2014/main" id="{0BBDE73E-9F8B-CE88-77D6-C8961685CC59}"/>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a:t>
            </a:r>
          </a:p>
        </p:txBody>
      </p:sp>
      <p:sp>
        <p:nvSpPr>
          <p:cNvPr id="21" name="Rectangle 23">
            <a:extLst>
              <a:ext uri="{FF2B5EF4-FFF2-40B4-BE49-F238E27FC236}">
                <a16:creationId xmlns:a16="http://schemas.microsoft.com/office/drawing/2014/main" id="{5BB5E5ED-1F0A-D124-F7B9-6D0850778AA0}"/>
              </a:ext>
            </a:extLst>
          </p:cNvPr>
          <p:cNvSpPr>
            <a:spLocks/>
          </p:cNvSpPr>
          <p:nvPr/>
        </p:nvSpPr>
        <p:spPr bwMode="auto">
          <a:xfrm>
            <a:off x="6504912" y="4251762"/>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2" name="Rectangle 23">
            <a:extLst>
              <a:ext uri="{FF2B5EF4-FFF2-40B4-BE49-F238E27FC236}">
                <a16:creationId xmlns:a16="http://schemas.microsoft.com/office/drawing/2014/main" id="{D069933F-E30F-7BF4-7D53-30C30E93D228}"/>
              </a:ext>
            </a:extLst>
          </p:cNvPr>
          <p:cNvSpPr>
            <a:spLocks/>
          </p:cNvSpPr>
          <p:nvPr/>
        </p:nvSpPr>
        <p:spPr bwMode="auto">
          <a:xfrm>
            <a:off x="5895625" y="2928196"/>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a:t>
            </a:r>
          </a:p>
        </p:txBody>
      </p:sp>
      <p:sp>
        <p:nvSpPr>
          <p:cNvPr id="23" name="Rectangle 23">
            <a:extLst>
              <a:ext uri="{FF2B5EF4-FFF2-40B4-BE49-F238E27FC236}">
                <a16:creationId xmlns:a16="http://schemas.microsoft.com/office/drawing/2014/main" id="{DCB0C9B4-332D-7084-105E-2CEEF47878A0}"/>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a:t>
            </a:r>
          </a:p>
        </p:txBody>
      </p:sp>
      <p:sp>
        <p:nvSpPr>
          <p:cNvPr id="16" name="Rectángulo 15">
            <a:extLst>
              <a:ext uri="{FF2B5EF4-FFF2-40B4-BE49-F238E27FC236}">
                <a16:creationId xmlns:a16="http://schemas.microsoft.com/office/drawing/2014/main" id="{E305F984-0939-0DEB-6386-7DCAA3DB27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CE89093-7906-76AA-8074-7978BEA3E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9C403173-6E49-2DF3-3E85-20ABB9EEAE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F2BF28D-B2E5-44EC-84AA-6318382AAE16}"/>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7" name="CuadroTexto 26">
            <a:extLst>
              <a:ext uri="{FF2B5EF4-FFF2-40B4-BE49-F238E27FC236}">
                <a16:creationId xmlns:a16="http://schemas.microsoft.com/office/drawing/2014/main" id="{64C1AC60-64D4-4C81-73EC-93574E68EA77}"/>
              </a:ext>
            </a:extLst>
          </p:cNvPr>
          <p:cNvSpPr txBox="1"/>
          <p:nvPr/>
        </p:nvSpPr>
        <p:spPr>
          <a:xfrm>
            <a:off x="581191" y="4812611"/>
            <a:ext cx="11029613" cy="1569660"/>
          </a:xfrm>
          <a:prstGeom prst="rect">
            <a:avLst/>
          </a:prstGeom>
          <a:noFill/>
        </p:spPr>
        <p:txBody>
          <a:bodyPr wrap="square">
            <a:spAutoFit/>
          </a:bodyPr>
          <a:lstStyle/>
          <a:p>
            <a:pPr algn="just"/>
            <a:endParaRPr lang="es-ES" sz="2400"/>
          </a:p>
          <a:p>
            <a:pPr algn="ctr"/>
            <a:r>
              <a:rPr lang="es-ES" sz="2400"/>
              <a:t>Si el costo de oportunidad fuese por ejemplo 10%, aplicando la metodología anterior tendríamos que se logra PayBack en el periodo 2, pero en el periodo 3 no. Luego en el periodo 4 se vuelve a recuperar la inversión.</a:t>
            </a:r>
          </a:p>
        </p:txBody>
      </p:sp>
      <p:sp>
        <p:nvSpPr>
          <p:cNvPr id="24" name="Marcador de número de diapositiva 3">
            <a:extLst>
              <a:ext uri="{FF2B5EF4-FFF2-40B4-BE49-F238E27FC236}">
                <a16:creationId xmlns:a16="http://schemas.microsoft.com/office/drawing/2014/main" id="{FEB85818-249E-527F-F842-911EE646BB4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96</a:t>
            </a:fld>
            <a:endParaRPr lang="en-US" sz="2000" b="1">
              <a:latin typeface="Century Gothic" panose="020B0502020202020204" pitchFamily="34" charset="0"/>
            </a:endParaRPr>
          </a:p>
        </p:txBody>
      </p:sp>
    </p:spTree>
    <p:extLst>
      <p:ext uri="{BB962C8B-B14F-4D97-AF65-F5344CB8AC3E}">
        <p14:creationId xmlns:p14="http://schemas.microsoft.com/office/powerpoint/2010/main" val="34102821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6F17-6FEF-78F4-1CDD-8CD7624DDD8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CC311D-1C93-800F-3FD4-B824C5DA9252}"/>
              </a:ext>
            </a:extLst>
          </p:cNvPr>
          <p:cNvSpPr>
            <a:spLocks noGrp="1"/>
          </p:cNvSpPr>
          <p:nvPr>
            <p:ph idx="1"/>
          </p:nvPr>
        </p:nvSpPr>
        <p:spPr>
          <a:xfrm>
            <a:off x="906546" y="2356675"/>
            <a:ext cx="10378908" cy="2963990"/>
          </a:xfrm>
        </p:spPr>
        <p:txBody>
          <a:bodyPr>
            <a:noAutofit/>
          </a:bodyPr>
          <a:lstStyle/>
          <a:p>
            <a:pPr marL="0" indent="0" algn="just">
              <a:buNone/>
            </a:pPr>
            <a:r>
              <a:rPr lang="es-ES" sz="2400"/>
              <a:t>Casos como el anterior se pueden abordar con diferentes enfoques como:</a:t>
            </a:r>
          </a:p>
          <a:p>
            <a:pPr algn="just">
              <a:buFont typeface="Wingdings" panose="05000000000000000000" pitchFamily="2" charset="2"/>
              <a:buChar char="ü"/>
            </a:pPr>
            <a:r>
              <a:rPr lang="es-ES" sz="2400"/>
              <a:t>Llevar todos los flujos de caja negativos al periodo 0 y luego aplicar la metodología que vimos en el ejemplo 1. </a:t>
            </a:r>
          </a:p>
          <a:p>
            <a:pPr algn="just">
              <a:buFont typeface="Wingdings" panose="05000000000000000000" pitchFamily="2" charset="2"/>
              <a:buChar char="ü"/>
            </a:pPr>
            <a:r>
              <a:rPr lang="es-ES" sz="2400"/>
              <a:t>Al igual que con la TIR, si hay mas de un cambio en el signo de los flujos de caja puede que haya mas de un PayBack. Por lo tanto, no sería apropiado evaluar el proyecto con este indicador.</a:t>
            </a:r>
          </a:p>
        </p:txBody>
      </p:sp>
      <p:sp>
        <p:nvSpPr>
          <p:cNvPr id="16" name="Rectángulo 15">
            <a:extLst>
              <a:ext uri="{FF2B5EF4-FFF2-40B4-BE49-F238E27FC236}">
                <a16:creationId xmlns:a16="http://schemas.microsoft.com/office/drawing/2014/main" id="{AA967C03-04F7-FCAA-5312-804D90BDC6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2DDF29D-1DDA-1606-67B1-227C3731A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841AEF7-ED6F-B38E-077A-3534C313B7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55DEC04-8D86-5A0C-EA4F-B08400A88D0B}"/>
              </a:ext>
            </a:extLst>
          </p:cNvPr>
          <p:cNvSpPr>
            <a:spLocks noGrp="1"/>
          </p:cNvSpPr>
          <p:nvPr>
            <p:ph type="title"/>
          </p:nvPr>
        </p:nvSpPr>
        <p:spPr>
          <a:xfrm>
            <a:off x="581192" y="702156"/>
            <a:ext cx="11029616" cy="1013800"/>
          </a:xfrm>
        </p:spPr>
        <p:txBody>
          <a:bodyPr>
            <a:normAutofit/>
          </a:bodyPr>
          <a:lstStyle/>
          <a:p>
            <a:r>
              <a:rPr lang="es-ES" sz="3200">
                <a:latin typeface="Century Gothic" panose="020B0502020202020204" pitchFamily="34" charset="0"/>
              </a:rPr>
              <a:t>pAyback</a:t>
            </a:r>
            <a:endParaRPr lang="es-CO" sz="3200">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187D0D15-E34B-3897-5E94-F0266818B5E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97</a:t>
            </a:fld>
            <a:endParaRPr lang="en-US" sz="2000" b="1">
              <a:latin typeface="Century Gothic" panose="020B0502020202020204" pitchFamily="34" charset="0"/>
            </a:endParaRPr>
          </a:p>
        </p:txBody>
      </p:sp>
    </p:spTree>
    <p:extLst>
      <p:ext uri="{BB962C8B-B14F-4D97-AF65-F5344CB8AC3E}">
        <p14:creationId xmlns:p14="http://schemas.microsoft.com/office/powerpoint/2010/main" val="28764841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5DF7-E7BA-A8C3-8718-07E79CB9C0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21F569-D3E3-B5C5-D8FE-A2050EBF9E02}"/>
              </a:ext>
            </a:extLst>
          </p:cNvPr>
          <p:cNvSpPr>
            <a:spLocks noGrp="1"/>
          </p:cNvSpPr>
          <p:nvPr>
            <p:ph type="ctrTitle"/>
          </p:nvPr>
        </p:nvSpPr>
        <p:spPr>
          <a:xfrm>
            <a:off x="470867" y="1814732"/>
            <a:ext cx="11317479" cy="826833"/>
          </a:xfrm>
        </p:spPr>
        <p:txBody>
          <a:bodyPr>
            <a:noAutofit/>
          </a:bodyPr>
          <a:lstStyle/>
          <a:p>
            <a:r>
              <a:rPr lang="es-CO" sz="4000">
                <a:latin typeface="Century Gothic"/>
              </a:rPr>
              <a:t>INDICADORES DE BONDAD FINANCIERA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2A77B33-BFB0-42C0-39AA-17F27EF1359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4409D24-68D6-697C-52EE-1485467F8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C1034602-AE0B-3D6D-9BB0-C15F3AB7E3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4652047E-A257-0383-E049-923933874C8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5B8FB778-14F3-7D4F-1C42-F9799B67C823}"/>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2787129332"/>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102</TotalTime>
  <Words>6381</Words>
  <Application>Microsoft Macintosh PowerPoint</Application>
  <PresentationFormat>Widescreen</PresentationFormat>
  <Paragraphs>1183</Paragraphs>
  <Slides>98</Slides>
  <Notes>54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98</vt:i4>
      </vt:variant>
    </vt:vector>
  </HeadingPairs>
  <TitlesOfParts>
    <vt:vector size="108" baseType="lpstr">
      <vt:lpstr>Arial</vt:lpstr>
      <vt:lpstr>Calibri</vt:lpstr>
      <vt:lpstr>Cambria Math</vt:lpstr>
      <vt:lpstr>Century Gothic</vt:lpstr>
      <vt:lpstr>Courier New</vt:lpstr>
      <vt:lpstr>Gill Sans MT</vt:lpstr>
      <vt:lpstr>Wingdings</vt:lpstr>
      <vt:lpstr>Wingdings 2</vt:lpstr>
      <vt:lpstr>Zapf Dingbats</vt:lpstr>
      <vt:lpstr>Dividendo</vt:lpstr>
      <vt:lpstr>INDICADORES DE BONDAD FINANCIERA (PARTE I)</vt:lpstr>
      <vt:lpstr>AGENDA PROPUESTA</vt:lpstr>
      <vt:lpstr>AGENDA PROPUESTA</vt:lpstr>
      <vt:lpstr>IBF</vt:lpstr>
      <vt:lpstr>IBF</vt:lpstr>
      <vt:lpstr>IBF</vt:lpstr>
      <vt:lpstr>IBF</vt:lpstr>
      <vt:lpstr>IBF</vt:lpstr>
      <vt:lpstr>IBF</vt:lpstr>
      <vt:lpstr>AGENDA PROPUESTA</vt:lpstr>
      <vt:lpstr>PowerPoint Presentation</vt:lpstr>
      <vt:lpstr>VPN</vt:lpstr>
      <vt:lpstr>VPN</vt:lpstr>
      <vt:lpstr>VPN</vt:lpstr>
      <vt:lpstr>VPN</vt:lpstr>
      <vt:lpstr>Excel de repaso</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AGENDA PROPUESTA</vt:lpstr>
      <vt:lpstr>PowerPoint Presentation</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AGENDA PROPUESTA</vt:lpstr>
      <vt:lpstr>PowerPoint Presentation</vt:lpstr>
      <vt:lpstr>TVR</vt:lpstr>
      <vt:lpstr>TVR</vt:lpstr>
      <vt:lpstr>TVR</vt:lpstr>
      <vt:lpstr>TVR</vt:lpstr>
      <vt:lpstr>TVR</vt:lpstr>
      <vt:lpstr>TVR</vt:lpstr>
      <vt:lpstr>TVR</vt:lpstr>
      <vt:lpstr>INDICADORES DE BONDAD FINANCIERA (PARTE I)</vt:lpstr>
      <vt:lpstr>INDICADORES DE BONDAD FINANCIERA (PARTE II)</vt:lpstr>
      <vt:lpstr>AGENDA PROPUESTA</vt:lpstr>
      <vt:lpstr>AGENDA PROPUESTA</vt:lpstr>
      <vt:lpstr>PowerPoint Presentation</vt:lpstr>
      <vt:lpstr>VAE</vt:lpstr>
      <vt:lpstr>VAE</vt:lpstr>
      <vt:lpstr>VAE</vt:lpstr>
      <vt:lpstr>VAE</vt:lpstr>
      <vt:lpstr>VAE</vt:lpstr>
      <vt:lpstr>VAE</vt:lpstr>
      <vt:lpstr>VAE</vt:lpstr>
      <vt:lpstr>VAE</vt:lpstr>
      <vt:lpstr>VAE</vt:lpstr>
      <vt:lpstr>AGENDA PROPUESTA</vt:lpstr>
      <vt:lpstr>PowerPoint Presentation</vt:lpstr>
      <vt:lpstr>b/c</vt:lpstr>
      <vt:lpstr>b/c</vt:lpstr>
      <vt:lpstr>b/c</vt:lpstr>
      <vt:lpstr>b/c</vt:lpstr>
      <vt:lpstr>b/c</vt:lpstr>
      <vt:lpstr>b/c</vt:lpstr>
      <vt:lpstr>b/c</vt:lpstr>
      <vt:lpstr>b/c</vt:lpstr>
      <vt:lpstr>AGENDA PROPUESTA</vt:lpstr>
      <vt:lpstr>PowerPoint Presentation</vt:lpstr>
      <vt:lpstr>PayBack</vt:lpstr>
      <vt:lpstr>pAyback</vt:lpstr>
      <vt:lpstr>pAyback</vt:lpstr>
      <vt:lpstr>pAyback</vt:lpstr>
      <vt:lpstr>pAyback</vt:lpstr>
      <vt:lpstr>pAyback</vt:lpstr>
      <vt:lpstr>INDICADORES DE BONDAD FINANCIERA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3</cp:revision>
  <dcterms:created xsi:type="dcterms:W3CDTF">2019-06-20T04:25:04Z</dcterms:created>
  <dcterms:modified xsi:type="dcterms:W3CDTF">2026-09-01T18:50:32Z</dcterms:modified>
</cp:coreProperties>
</file>