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732" r:id="rId1"/>
  </p:sldMasterIdLst>
  <p:notesMasterIdLst>
    <p:notesMasterId r:id="rId11"/>
  </p:notesMasterIdLst>
  <p:handoutMasterIdLst>
    <p:handoutMasterId r:id="rId12"/>
  </p:handoutMasterIdLst>
  <p:sldIdLst>
    <p:sldId id="398" r:id="rId2"/>
    <p:sldId id="463" r:id="rId3"/>
    <p:sldId id="464" r:id="rId4"/>
    <p:sldId id="459" r:id="rId5"/>
    <p:sldId id="453" r:id="rId6"/>
    <p:sldId id="467" r:id="rId7"/>
    <p:sldId id="465" r:id="rId8"/>
    <p:sldId id="468" r:id="rId9"/>
    <p:sldId id="4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bastian Joseph Sanchez Oyola" initials="SJSO" lastIdx="1" clrIdx="0">
    <p:extLst>
      <p:ext uri="{19B8F6BF-5375-455C-9EA6-DF929625EA0E}">
        <p15:presenceInfo xmlns:p15="http://schemas.microsoft.com/office/powerpoint/2012/main" userId="Sebastian Joseph Sanchez Oyo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A700"/>
    <a:srgbClr val="002F90"/>
    <a:srgbClr val="33CC33"/>
    <a:srgbClr val="FFF4E6"/>
    <a:srgbClr val="E8F8FA"/>
    <a:srgbClr val="DFFFFF"/>
    <a:srgbClr val="FF6600"/>
    <a:srgbClr val="6666FF"/>
    <a:srgbClr val="FF505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17A292-9252-43BA-9C89-A4B91F32B6BE}" v="68" dt="2026-04-09T15:39:23.5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Estilo medio 1 - Énfasis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0660B408-B3CF-4A94-85FC-2B1E0A45F4A2}" styleName="Estilo oscuro 2 - Énfasis 1/Énfasis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68" autoAdjust="0"/>
    <p:restoredTop sz="88263" autoAdjust="0"/>
  </p:normalViewPr>
  <p:slideViewPr>
    <p:cSldViewPr snapToGrid="0">
      <p:cViewPr varScale="1">
        <p:scale>
          <a:sx n="66" d="100"/>
          <a:sy n="66" d="100"/>
        </p:scale>
        <p:origin x="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igitte Castañeda Rodriguez" userId="5c201908-82f6-498c-9281-7eaa96fb17b4" providerId="ADAL" clId="{70890AEF-99A3-41D2-A505-3765986D40C9}"/>
    <pc:docChg chg="custSel addSld delSld modSld sldOrd">
      <pc:chgData name="Brigitte Castañeda Rodriguez" userId="5c201908-82f6-498c-9281-7eaa96fb17b4" providerId="ADAL" clId="{70890AEF-99A3-41D2-A505-3765986D40C9}" dt="2026-04-09T15:41:49.551" v="154" actId="47"/>
      <pc:docMkLst>
        <pc:docMk/>
      </pc:docMkLst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2884473501" sldId="261"/>
        </pc:sldMkLst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813002317" sldId="403"/>
        </pc:sldMkLst>
      </pc:sldChg>
      <pc:sldChg chg="delSp del mod delAnim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1770982844" sldId="423"/>
        </pc:sldMkLst>
        <pc:spChg chg="del">
          <ac:chgData name="Brigitte Castañeda Rodriguez" userId="5c201908-82f6-498c-9281-7eaa96fb17b4" providerId="ADAL" clId="{70890AEF-99A3-41D2-A505-3765986D40C9}" dt="2026-04-09T15:29:22.314" v="109" actId="478"/>
          <ac:spMkLst>
            <pc:docMk/>
            <pc:sldMk cId="1770982844" sldId="423"/>
            <ac:spMk id="21" creationId="{7C7BDDD4-5B83-31B7-AA8E-CCB14C8FF165}"/>
          </ac:spMkLst>
        </pc:spChg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67149822" sldId="424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4197213153" sldId="425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2750151429" sldId="426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3181557030" sldId="427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319687706" sldId="428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1122012449" sldId="429"/>
        </pc:sldMkLst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3136020115" sldId="445"/>
        </pc:sldMkLst>
      </pc:sldChg>
      <pc:sldChg chg="del">
        <pc:chgData name="Brigitte Castañeda Rodriguez" userId="5c201908-82f6-498c-9281-7eaa96fb17b4" providerId="ADAL" clId="{70890AEF-99A3-41D2-A505-3765986D40C9}" dt="2026-04-09T15:25:32.166" v="1" actId="47"/>
        <pc:sldMkLst>
          <pc:docMk/>
          <pc:sldMk cId="3664655735" sldId="449"/>
        </pc:sldMkLst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328729921" sldId="450"/>
        </pc:sldMkLst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3765983286" sldId="451"/>
        </pc:sldMkLst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247973369" sldId="452"/>
        </pc:sldMkLst>
      </pc:sldChg>
      <pc:sldChg chg="modSp">
        <pc:chgData name="Brigitte Castañeda Rodriguez" userId="5c201908-82f6-498c-9281-7eaa96fb17b4" providerId="ADAL" clId="{70890AEF-99A3-41D2-A505-3765986D40C9}" dt="2026-04-09T15:29:08.052" v="108" actId="5793"/>
        <pc:sldMkLst>
          <pc:docMk/>
          <pc:sldMk cId="2980698932" sldId="453"/>
        </pc:sldMkLst>
        <pc:spChg chg="mod">
          <ac:chgData name="Brigitte Castañeda Rodriguez" userId="5c201908-82f6-498c-9281-7eaa96fb17b4" providerId="ADAL" clId="{70890AEF-99A3-41D2-A505-3765986D40C9}" dt="2026-04-09T15:29:08.052" v="108" actId="5793"/>
          <ac:spMkLst>
            <pc:docMk/>
            <pc:sldMk cId="2980698932" sldId="453"/>
            <ac:spMk id="23" creationId="{55937C94-7B1F-B66E-DE3C-906CF502671C}"/>
          </ac:spMkLst>
        </pc:spChg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2973237272" sldId="454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392305624" sldId="455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2841101612" sldId="456"/>
        </pc:sldMkLst>
      </pc:sldChg>
      <pc:sldChg chg="del">
        <pc:chgData name="Brigitte Castañeda Rodriguez" userId="5c201908-82f6-498c-9281-7eaa96fb17b4" providerId="ADAL" clId="{70890AEF-99A3-41D2-A505-3765986D40C9}" dt="2026-04-09T15:29:36.750" v="110" actId="47"/>
        <pc:sldMkLst>
          <pc:docMk/>
          <pc:sldMk cId="3412618289" sldId="457"/>
        </pc:sldMkLst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2008255397" sldId="458"/>
        </pc:sldMkLst>
      </pc:sldChg>
      <pc:sldChg chg="ord modNotesTx">
        <pc:chgData name="Brigitte Castañeda Rodriguez" userId="5c201908-82f6-498c-9281-7eaa96fb17b4" providerId="ADAL" clId="{70890AEF-99A3-41D2-A505-3765986D40C9}" dt="2026-04-09T15:29:58.566" v="115" actId="6549"/>
        <pc:sldMkLst>
          <pc:docMk/>
          <pc:sldMk cId="2388988279" sldId="459"/>
        </pc:sldMkLst>
      </pc:sldChg>
      <pc:sldChg chg="addSp delSp modSp mod modAnim">
        <pc:chgData name="Brigitte Castañeda Rodriguez" userId="5c201908-82f6-498c-9281-7eaa96fb17b4" providerId="ADAL" clId="{70890AEF-99A3-41D2-A505-3765986D40C9}" dt="2026-04-09T15:41:42.529" v="153" actId="478"/>
        <pc:sldMkLst>
          <pc:docMk/>
          <pc:sldMk cId="1059961974" sldId="460"/>
        </pc:sldMkLst>
        <pc:spChg chg="mod">
          <ac:chgData name="Brigitte Castañeda Rodriguez" userId="5c201908-82f6-498c-9281-7eaa96fb17b4" providerId="ADAL" clId="{70890AEF-99A3-41D2-A505-3765986D40C9}" dt="2026-04-09T15:39:35.212" v="146" actId="20577"/>
          <ac:spMkLst>
            <pc:docMk/>
            <pc:sldMk cId="1059961974" sldId="460"/>
            <ac:spMk id="2" creationId="{BDB5035E-3EC4-2842-A1FF-5CB76C5D5A55}"/>
          </ac:spMkLst>
        </pc:spChg>
        <pc:spChg chg="mod">
          <ac:chgData name="Brigitte Castañeda Rodriguez" userId="5c201908-82f6-498c-9281-7eaa96fb17b4" providerId="ADAL" clId="{70890AEF-99A3-41D2-A505-3765986D40C9}" dt="2026-04-09T15:41:37.210" v="149" actId="14100"/>
          <ac:spMkLst>
            <pc:docMk/>
            <pc:sldMk cId="1059961974" sldId="460"/>
            <ac:spMk id="3" creationId="{5C1CC3FE-F97E-7394-25AA-7A9075E2456A}"/>
          </ac:spMkLst>
        </pc:spChg>
        <pc:picChg chg="del">
          <ac:chgData name="Brigitte Castañeda Rodriguez" userId="5c201908-82f6-498c-9281-7eaa96fb17b4" providerId="ADAL" clId="{70890AEF-99A3-41D2-A505-3765986D40C9}" dt="2026-04-09T15:41:42.529" v="153" actId="478"/>
          <ac:picMkLst>
            <pc:docMk/>
            <pc:sldMk cId="1059961974" sldId="460"/>
            <ac:picMk id="9" creationId="{2F9B3DE6-E2AB-2E02-32C3-943027B50105}"/>
          </ac:picMkLst>
        </pc:picChg>
        <pc:picChg chg="add mod">
          <ac:chgData name="Brigitte Castañeda Rodriguez" userId="5c201908-82f6-498c-9281-7eaa96fb17b4" providerId="ADAL" clId="{70890AEF-99A3-41D2-A505-3765986D40C9}" dt="2026-04-09T15:41:41.261" v="152" actId="1076"/>
          <ac:picMkLst>
            <pc:docMk/>
            <pc:sldMk cId="1059961974" sldId="460"/>
            <ac:picMk id="10" creationId="{78CD3BCC-9E48-EB61-B49D-09B45C94834C}"/>
          </ac:picMkLst>
        </pc:picChg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3519850268" sldId="461"/>
        </pc:sldMkLst>
      </pc:sldChg>
      <pc:sldChg chg="del">
        <pc:chgData name="Brigitte Castañeda Rodriguez" userId="5c201908-82f6-498c-9281-7eaa96fb17b4" providerId="ADAL" clId="{70890AEF-99A3-41D2-A505-3765986D40C9}" dt="2026-04-09T15:25:28.762" v="0" actId="47"/>
        <pc:sldMkLst>
          <pc:docMk/>
          <pc:sldMk cId="3497907405" sldId="462"/>
        </pc:sldMkLst>
      </pc:sldChg>
      <pc:sldChg chg="addSp delSp modSp mod ord modNotesTx">
        <pc:chgData name="Brigitte Castañeda Rodriguez" userId="5c201908-82f6-498c-9281-7eaa96fb17b4" providerId="ADAL" clId="{70890AEF-99A3-41D2-A505-3765986D40C9}" dt="2026-04-09T15:33:36.978" v="121" actId="20577"/>
        <pc:sldMkLst>
          <pc:docMk/>
          <pc:sldMk cId="1575801227" sldId="465"/>
        </pc:sldMkLst>
        <pc:spChg chg="mod">
          <ac:chgData name="Brigitte Castañeda Rodriguez" userId="5c201908-82f6-498c-9281-7eaa96fb17b4" providerId="ADAL" clId="{70890AEF-99A3-41D2-A505-3765986D40C9}" dt="2026-04-09T15:26:15.129" v="49" actId="20577"/>
          <ac:spMkLst>
            <pc:docMk/>
            <pc:sldMk cId="1575801227" sldId="465"/>
            <ac:spMk id="2" creationId="{3D0CA351-261C-CEC1-E453-B1604ECD6575}"/>
          </ac:spMkLst>
        </pc:spChg>
        <pc:spChg chg="add mod">
          <ac:chgData name="Brigitte Castañeda Rodriguez" userId="5c201908-82f6-498c-9281-7eaa96fb17b4" providerId="ADAL" clId="{70890AEF-99A3-41D2-A505-3765986D40C9}" dt="2026-04-09T15:28:08.375" v="57" actId="207"/>
          <ac:spMkLst>
            <pc:docMk/>
            <pc:sldMk cId="1575801227" sldId="465"/>
            <ac:spMk id="6" creationId="{C850438C-B610-3F14-1FC6-70E4BB90E6F7}"/>
          </ac:spMkLst>
        </pc:spChg>
        <pc:picChg chg="del">
          <ac:chgData name="Brigitte Castañeda Rodriguez" userId="5c201908-82f6-498c-9281-7eaa96fb17b4" providerId="ADAL" clId="{70890AEF-99A3-41D2-A505-3765986D40C9}" dt="2026-04-09T15:26:20.042" v="50" actId="478"/>
          <ac:picMkLst>
            <pc:docMk/>
            <pc:sldMk cId="1575801227" sldId="465"/>
            <ac:picMk id="5" creationId="{23E3B6F2-64C6-05BB-203C-F6FD0FFEE94B}"/>
          </ac:picMkLst>
        </pc:picChg>
        <pc:picChg chg="add mod">
          <ac:chgData name="Brigitte Castañeda Rodriguez" userId="5c201908-82f6-498c-9281-7eaa96fb17b4" providerId="ADAL" clId="{70890AEF-99A3-41D2-A505-3765986D40C9}" dt="2026-04-09T15:28:21.211" v="60" actId="14100"/>
          <ac:picMkLst>
            <pc:docMk/>
            <pc:sldMk cId="1575801227" sldId="465"/>
            <ac:picMk id="1026" creationId="{8A115E1A-286C-B513-77AA-BA1214EDFC63}"/>
          </ac:picMkLst>
        </pc:picChg>
      </pc:sldChg>
      <pc:sldChg chg="del">
        <pc:chgData name="Brigitte Castañeda Rodriguez" userId="5c201908-82f6-498c-9281-7eaa96fb17b4" providerId="ADAL" clId="{70890AEF-99A3-41D2-A505-3765986D40C9}" dt="2026-04-09T15:41:49.551" v="154" actId="47"/>
        <pc:sldMkLst>
          <pc:docMk/>
          <pc:sldMk cId="2963589833" sldId="466"/>
        </pc:sldMkLst>
      </pc:sldChg>
      <pc:sldChg chg="modSp add">
        <pc:chgData name="Brigitte Castañeda Rodriguez" userId="5c201908-82f6-498c-9281-7eaa96fb17b4" providerId="ADAL" clId="{70890AEF-99A3-41D2-A505-3765986D40C9}" dt="2026-04-09T15:30:30.966" v="120" actId="207"/>
        <pc:sldMkLst>
          <pc:docMk/>
          <pc:sldMk cId="4021957421" sldId="467"/>
        </pc:sldMkLst>
        <pc:spChg chg="mod">
          <ac:chgData name="Brigitte Castañeda Rodriguez" userId="5c201908-82f6-498c-9281-7eaa96fb17b4" providerId="ADAL" clId="{70890AEF-99A3-41D2-A505-3765986D40C9}" dt="2026-04-09T15:30:30.966" v="120" actId="207"/>
          <ac:spMkLst>
            <pc:docMk/>
            <pc:sldMk cId="4021957421" sldId="467"/>
            <ac:spMk id="23" creationId="{F58FE671-380D-C523-6FCC-2E826859BFE1}"/>
          </ac:spMkLst>
        </pc:spChg>
      </pc:sldChg>
      <pc:sldChg chg="modSp add">
        <pc:chgData name="Brigitte Castañeda Rodriguez" userId="5c201908-82f6-498c-9281-7eaa96fb17b4" providerId="ADAL" clId="{70890AEF-99A3-41D2-A505-3765986D40C9}" dt="2026-04-09T15:39:23.531" v="132" actId="207"/>
        <pc:sldMkLst>
          <pc:docMk/>
          <pc:sldMk cId="755571708" sldId="468"/>
        </pc:sldMkLst>
        <pc:spChg chg="mod">
          <ac:chgData name="Brigitte Castañeda Rodriguez" userId="5c201908-82f6-498c-9281-7eaa96fb17b4" providerId="ADAL" clId="{70890AEF-99A3-41D2-A505-3765986D40C9}" dt="2026-04-09T15:39:23.531" v="132" actId="207"/>
          <ac:spMkLst>
            <pc:docMk/>
            <pc:sldMk cId="755571708" sldId="468"/>
            <ac:spMk id="23" creationId="{F0F49512-3131-B192-8DB6-BAA91C89122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7909239-6EB4-4F64-9166-01BA8CB152A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D4A5E1-CC2B-4E68-93DE-1741C2D8FC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EBC9B1-33DC-462F-829C-1E37E99682B9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6E42B93-8418-4C73-AFC5-AD8733D561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BF5AB0F-F981-4352-8DA3-CAD02A4EF5C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9216A6-D02D-421D-81B5-58C62FCB13E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424763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s-CO"/>
              <a:t>Profesor Sebastián Joseph Sánchez Oyola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BED2E0-4743-4E03-93B8-12386FF60236}" type="datetimeFigureOut">
              <a:rPr lang="es-CO" smtClean="0"/>
              <a:t>9/04/2026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AB8670-524E-4520-AA44-FE672760293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4258673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11271950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_tradnl" dirty="0"/>
              <a:t>https://seatingchartmaker.app/wheel-of-names/</a:t>
            </a:r>
          </a:p>
          <a:p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378285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9AFD365D-553E-437E-906F-693C2E6CE28D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755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3018D-1CC0-468E-BE3B-579A148A0691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52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E7F702F-46BE-40AA-9A05-7C69E0403EE7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928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F0D08-E4F7-43DB-810A-34BADF6468F7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1176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E1DAC-EC09-4DEA-BBB4-788DDBA09515}" type="datetime1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0265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FF582-E74C-4A8A-87B2-214B0CF47F99}" type="datetime1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53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C8AEA-E303-4B9D-B167-0A45CB59E0C2}" type="datetime1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06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7EBE2AAB-C9FD-4A72-8C62-A7C81FA189B4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0074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9D4CC-5FC5-4711-9ACC-A7971700D612}" type="datetime1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0357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26DF8C-FC0D-41BB-BB53-20BBB44E4230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6658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119C4A7-5D51-4E42-9C0C-1785329211C5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775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8027E5A-4482-46C4-A2DC-45BEF00C1E0A}" type="datetime1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87877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shorturl.at/wMleq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470868" y="1814732"/>
            <a:ext cx="10687556" cy="826833"/>
          </a:xfrm>
        </p:spPr>
        <p:txBody>
          <a:bodyPr>
            <a:noAutofit/>
          </a:bodyPr>
          <a:lstStyle/>
          <a:p>
            <a:r>
              <a:rPr lang="es-CO" sz="3000" dirty="0">
                <a:latin typeface="Century Gothic"/>
              </a:rPr>
              <a:t>COMPARACIÓN Y SELECCIÓN DE PROYECTOS (</a:t>
            </a:r>
            <a:r>
              <a:rPr lang="es-CO" sz="3000" dirty="0">
                <a:solidFill>
                  <a:srgbClr val="D7A700"/>
                </a:solidFill>
                <a:latin typeface="Century Gothic"/>
              </a:rPr>
              <a:t>PARTE III</a:t>
            </a:r>
            <a:r>
              <a:rPr lang="es-CO" sz="3000" dirty="0">
                <a:latin typeface="Century Gothic"/>
              </a:rPr>
              <a:t>)</a:t>
            </a:r>
            <a:endParaRPr lang="es-CO" sz="3000" dirty="0">
              <a:latin typeface="Century Gothic" panose="020B0502020202020204" pitchFamily="34" charset="0"/>
            </a:endParaRPr>
          </a:p>
        </p:txBody>
      </p:sp>
      <p:pic>
        <p:nvPicPr>
          <p:cNvPr id="12" name="Gráfico 11" descr="Open book contorno">
            <a:extLst>
              <a:ext uri="{FF2B5EF4-FFF2-40B4-BE49-F238E27FC236}">
                <a16:creationId xmlns:a16="http://schemas.microsoft.com/office/drawing/2014/main" id="{52403B49-6EB3-5618-7D88-A91409E36D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34957" y="3342889"/>
            <a:ext cx="2695807" cy="2695807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DAD5C9A0-84B6-D7D9-1079-C468AF2B0A50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5" name="Picture 2" descr="Clientes y aliados | Centro de Evaluación | Uniandes">
            <a:extLst>
              <a:ext uri="{FF2B5EF4-FFF2-40B4-BE49-F238E27FC236}">
                <a16:creationId xmlns:a16="http://schemas.microsoft.com/office/drawing/2014/main" id="{E1678139-4461-9349-5DEB-C59837F3E5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6BA773F3-394D-067A-A8F5-1671AA5AFD95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6CFE1A0-DD4A-5EC2-9193-7C5003ED4DDE}"/>
              </a:ext>
            </a:extLst>
          </p:cNvPr>
          <p:cNvSpPr txBox="1"/>
          <p:nvPr/>
        </p:nvSpPr>
        <p:spPr>
          <a:xfrm>
            <a:off x="1045027" y="3342889"/>
            <a:ext cx="6349598" cy="249299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s-CO" sz="1600" b="1" u="sng" dirty="0">
                <a:solidFill>
                  <a:schemeClr val="bg1"/>
                </a:solidFill>
                <a:latin typeface="Century Gothic"/>
              </a:rPr>
              <a:t>													</a:t>
            </a:r>
            <a:endParaRPr lang="es-CO" sz="2000" b="1" u="sng" dirty="0">
              <a:solidFill>
                <a:schemeClr val="bg1"/>
              </a:solidFill>
              <a:latin typeface="Century Gothic"/>
            </a:endParaRPr>
          </a:p>
          <a:p>
            <a:endParaRPr lang="es-CO" sz="1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DEPARTAMENTO DE INGENIERÍA INDUSTRIAL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FACULTAD DE INGENIERÍA</a:t>
            </a:r>
          </a:p>
          <a:p>
            <a:r>
              <a:rPr lang="es-CO" sz="1000" b="1" u="sng" dirty="0">
                <a:solidFill>
                  <a:schemeClr val="bg1"/>
                </a:solidFill>
                <a:latin typeface="Century Gothic"/>
              </a:rPr>
              <a:t>													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Curso       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ANÁLISIS DE DECISIONES DE INVERSIÓN</a:t>
            </a:r>
          </a:p>
          <a:p>
            <a:r>
              <a:rPr lang="es-CO" sz="2000" b="1" dirty="0">
                <a:solidFill>
                  <a:schemeClr val="bg1"/>
                </a:solidFill>
                <a:latin typeface="Century Gothic"/>
              </a:rPr>
              <a:t>Correo     </a:t>
            </a:r>
            <a:r>
              <a:rPr lang="es-CO" sz="2000" dirty="0">
                <a:solidFill>
                  <a:schemeClr val="bg1"/>
                </a:solidFill>
                <a:latin typeface="Century Gothic"/>
              </a:rPr>
              <a:t>cursoanadec@uniandes.edu.co</a:t>
            </a:r>
          </a:p>
          <a:p>
            <a:endParaRPr lang="es-CO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2674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D6E8F-E304-3C9F-A441-AE542BD35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dirty="0"/>
              <a:t>procedimiento para LA elección de alternativas.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40297A-F4FF-11E4-4A33-BBE824EF3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s-ES_tradnl" dirty="0"/>
              <a:t>Los pasos de este enfoque, comúnmente denominado </a:t>
            </a:r>
            <a:r>
              <a:rPr lang="es-ES_tradnl" i="1" dirty="0"/>
              <a:t>enfoque de solución de problemas o proceso de toma de decisiones</a:t>
            </a:r>
            <a:r>
              <a:rPr lang="es-ES_tradnl" dirty="0"/>
              <a:t>, son los siguientes.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Comprensión del problema y definición del objetivo.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Recopilación de información relevante.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Definición de posibles soluciones alternativas y realización de estimaciones realistas.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Identificación de criterios para la toma de decisiones empleando uno o más atributos.</a:t>
            </a:r>
          </a:p>
          <a:p>
            <a:pPr marL="342900" indent="-342900">
              <a:buFont typeface="+mj-lt"/>
              <a:buAutoNum type="arabicPeriod"/>
            </a:pPr>
            <a:r>
              <a:rPr lang="es-ES_tradnl" dirty="0"/>
              <a:t>Elección de la mejor alternativa.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A1D02D-A4F3-063B-5541-15F920378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561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697BA5-0FC5-2C90-9163-AF6D26D89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Pasos del proceso de toma de decisiones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82B20B-EC40-7497-F5EB-3F0B1FE8C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17955" y="1799702"/>
            <a:ext cx="5544727" cy="4830047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A4FB6-A35C-831E-2921-8289ED1724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384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A671C-2BF7-4B39-9295-3B6812B42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AB7F09-2AA5-E3EA-2519-21D2882EAE33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420915" y="522103"/>
            <a:ext cx="9664700" cy="58102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2000" dirty="0">
                <a:solidFill>
                  <a:schemeClr val="accent1"/>
                </a:solidFill>
                <a:latin typeface="Century Gothic" panose="020B0502020202020204" pitchFamily="34" charset="0"/>
              </a:rPr>
              <a:t>Resumen de los tipos de proyectos y casos analizados: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98D63D4-7748-2418-CE8C-A32DED3E3207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B5827226-0D2D-2E44-3A2D-1A91F977D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D56D0C0-E519-1720-D462-65E1FEFB7A3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graphicFrame>
        <p:nvGraphicFramePr>
          <p:cNvPr id="9" name="Table 31">
            <a:extLst>
              <a:ext uri="{FF2B5EF4-FFF2-40B4-BE49-F238E27FC236}">
                <a16:creationId xmlns:a16="http://schemas.microsoft.com/office/drawing/2014/main" id="{632C3B19-46A3-535E-E26B-E9C0115EF8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7699432"/>
              </p:ext>
            </p:extLst>
          </p:nvPr>
        </p:nvGraphicFramePr>
        <p:xfrm>
          <a:off x="420915" y="1057121"/>
          <a:ext cx="10747829" cy="54726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85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9654">
                  <a:extLst>
                    <a:ext uri="{9D8B030D-6E8A-4147-A177-3AD203B41FA5}">
                      <a16:colId xmlns:a16="http://schemas.microsoft.com/office/drawing/2014/main" val="1633036186"/>
                    </a:ext>
                  </a:extLst>
                </a:gridCol>
                <a:gridCol w="1662022">
                  <a:extLst>
                    <a:ext uri="{9D8B030D-6E8A-4147-A177-3AD203B41FA5}">
                      <a16:colId xmlns:a16="http://schemas.microsoft.com/office/drawing/2014/main" val="467730225"/>
                    </a:ext>
                  </a:extLst>
                </a:gridCol>
                <a:gridCol w="5607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TIPO DE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latin typeface="Century Gothic" panose="020B0502020202020204" pitchFamily="34" charset="0"/>
                        </a:rPr>
                        <a:t>INDICADORES APROPIDADOS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Independiente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6352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restricción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Dependerá del caso en el que nos encontremos.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755295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Dependientes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se tiene el detalle de los FCL de cada proyecto</a:t>
                      </a:r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VAE      TIR*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 solo se tienen los IBF de cada proyecto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6021366"/>
                  </a:ext>
                </a:extLst>
              </a:tr>
              <a:tr h="370840">
                <a:tc rowSpan="4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Mutuamente Excluyentes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1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</a:t>
                      </a:r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PN          B/C </a:t>
                      </a:r>
                    </a:p>
                    <a:p>
                      <a:pPr algn="ctr" rtl="0" fontAlgn="ctr"/>
                      <a:r>
                        <a:rPr lang="es-CO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TVR          VAE </a:t>
                      </a: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80968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2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         VAE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0621545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Caso 3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Sin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16951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_tradnl" sz="1800" noProof="0" dirty="0">
                        <a:solidFill>
                          <a:schemeClr val="accent1"/>
                        </a:solidFill>
                        <a:latin typeface="Century Gothic" panose="020B0502020202020204" pitchFamily="34" charset="0"/>
                      </a:endParaRP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_tradnl" sz="1800" noProof="0" dirty="0">
                          <a:solidFill>
                            <a:schemeClr val="accent1"/>
                          </a:solidFill>
                          <a:latin typeface="Century Gothic" panose="020B0502020202020204" pitchFamily="34" charset="0"/>
                        </a:rPr>
                        <a:t>Con Réplica</a:t>
                      </a:r>
                    </a:p>
                  </a:txBody>
                  <a:tcPr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VPN Replicado</a:t>
                      </a:r>
                    </a:p>
                    <a:p>
                      <a:pPr algn="ctr" rtl="0" fontAlgn="ctr"/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VAE Replicado</a:t>
                      </a:r>
                    </a:p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b="0" i="0" u="none" strike="noStrike" dirty="0">
                          <a:solidFill>
                            <a:schemeClr val="accent1"/>
                          </a:solidFill>
                          <a:effectLst/>
                          <a:latin typeface="Century Gothic" panose="020B0502020202020204" pitchFamily="34" charset="0"/>
                        </a:rPr>
                        <a:t>Análisis Marginal De los Flujos Replicados (Todos los IBF*)</a:t>
                      </a:r>
                      <a:endParaRPr lang="es-CO" sz="1800" b="0" i="0" u="none" strike="noStrike" dirty="0">
                        <a:solidFill>
                          <a:schemeClr val="accent1"/>
                        </a:solidFill>
                        <a:effectLst/>
                        <a:latin typeface="Century Gothic" panose="020B0502020202020204" pitchFamily="34" charset="0"/>
                      </a:endParaRPr>
                    </a:p>
                  </a:txBody>
                  <a:tcPr marL="12700" marR="12700" marT="12700" marB="0" anchor="ctr">
                    <a:lnL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D7A7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790634"/>
                  </a:ext>
                </a:extLst>
              </a:tr>
            </a:tbl>
          </a:graphicData>
        </a:graphic>
      </p:graphicFrame>
      <p:sp>
        <p:nvSpPr>
          <p:cNvPr id="14" name="CuadroTexto 13">
            <a:extLst>
              <a:ext uri="{FF2B5EF4-FFF2-40B4-BE49-F238E27FC236}">
                <a16:creationId xmlns:a16="http://schemas.microsoft.com/office/drawing/2014/main" id="{68CF82E9-FD68-8314-8615-73402E7B87E4}"/>
              </a:ext>
            </a:extLst>
          </p:cNvPr>
          <p:cNvSpPr txBox="1"/>
          <p:nvPr/>
        </p:nvSpPr>
        <p:spPr>
          <a:xfrm>
            <a:off x="0" y="6605274"/>
            <a:ext cx="750388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dirty="0">
                <a:solidFill>
                  <a:srgbClr val="FF0000"/>
                </a:solidFill>
                <a:latin typeface="Century Gothic" panose="020B0502020202020204" pitchFamily="34" charset="0"/>
              </a:rPr>
              <a:t>*No olvidar validar que haya un solo cambio de signo en los FCL.</a:t>
            </a:r>
            <a:endParaRPr lang="es-CO" sz="900" dirty="0">
              <a:solidFill>
                <a:srgbClr val="FF0000"/>
              </a:solidFill>
            </a:endParaRPr>
          </a:p>
        </p:txBody>
      </p:sp>
      <p:sp>
        <p:nvSpPr>
          <p:cNvPr id="2" name="Marcador de número de diapositiva 2">
            <a:extLst>
              <a:ext uri="{FF2B5EF4-FFF2-40B4-BE49-F238E27FC236}">
                <a16:creationId xmlns:a16="http://schemas.microsoft.com/office/drawing/2014/main" id="{BC201E1F-119E-F0AA-D1E0-0D20115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4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898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EF15F-3C83-37FE-31C0-1E8416195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FE05D0-969D-95EC-9381-26ADC540C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761807AD-F081-35E9-266F-B713FEE26DE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55937C94-7B1F-B66E-DE3C-906CF502671C}"/>
              </a:ext>
            </a:extLst>
          </p:cNvPr>
          <p:cNvSpPr/>
          <p:nvPr/>
        </p:nvSpPr>
        <p:spPr>
          <a:xfrm>
            <a:off x="2806200" y="2772729"/>
            <a:ext cx="8540907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latin typeface="Century Gothic"/>
                <a:cs typeface="Arial"/>
              </a:rPr>
              <a:t>Ejercicios</a:t>
            </a:r>
            <a:r>
              <a:rPr lang="es-CO" dirty="0">
                <a:latin typeface="Century Gothic" panose="020B0502020202020204" pitchFamily="34" charset="0"/>
                <a:cs typeface="Arial"/>
              </a:rPr>
              <a:t> de Práctica.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latin typeface="Century Gothic" panose="020B0502020202020204" pitchFamily="34" charset="0"/>
                <a:cs typeface="Arial"/>
              </a:rPr>
              <a:t>Cómo crear un agente.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6788A66-E768-459A-385F-A9016BB1D01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381188BE-39FF-35B1-CA49-ED34037325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37BCD732-721D-C824-759B-C415958BDADF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2CFA82E4-F0D6-0095-AEB2-CB4ECF4E0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5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069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AE1507-6CF7-2C5F-4971-05434F9BC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3AA996-E920-47CD-123C-A4FCBC4EF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C0534CF2-E22F-D742-2909-D82CA1C12E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58FE671-380D-C523-6FCC-2E826859BFE1}"/>
              </a:ext>
            </a:extLst>
          </p:cNvPr>
          <p:cNvSpPr/>
          <p:nvPr/>
        </p:nvSpPr>
        <p:spPr>
          <a:xfrm>
            <a:off x="2806200" y="2772729"/>
            <a:ext cx="8540907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latin typeface="Century Gothic"/>
                <a:cs typeface="Arial"/>
              </a:rPr>
              <a:t>Ejercicios</a:t>
            </a:r>
            <a:r>
              <a:rPr lang="es-CO" dirty="0">
                <a:latin typeface="Century Gothic" panose="020B0502020202020204" pitchFamily="34" charset="0"/>
                <a:cs typeface="Arial"/>
              </a:rPr>
              <a:t> de Práctica.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tx2">
                    <a:lumMod val="40000"/>
                    <a:lumOff val="60000"/>
                  </a:schemeClr>
                </a:solidFill>
                <a:latin typeface="Century Gothic" panose="020B0502020202020204" pitchFamily="34" charset="0"/>
                <a:cs typeface="Arial"/>
              </a:rPr>
              <a:t>Cómo crear un agente.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5654733-B4C9-A891-9CB4-A3BFE8BE5D2F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976AF018-EA00-EF0E-0FCF-146169EC5F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54752852-EEEF-E158-1EB7-D108DC75DD02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E967DCE6-97B9-7098-4D36-940EAB8AD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6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1957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CA351-261C-CEC1-E453-B1604ECD6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/>
              <a:t>DESCARGUE LA actividad “6.3 ANADEC – EJERCICIOS” EN BLOQUE NEON O USANDO ESTE QR: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2574-1F9A-99B3-56B9-DEAEF8F23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50438C-B610-3F14-1FC6-70E4BB90E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CO" sz="3200" dirty="0">
                <a:solidFill>
                  <a:srgbClr val="FF0000"/>
                </a:solidFill>
              </a:rPr>
              <a:t>https://shorturl.at/U9Iik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A115E1A-286C-B513-77AA-BA1214EDF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2404" y="1857374"/>
            <a:ext cx="4701655" cy="4701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75801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26EE-B243-1BAD-DC84-894A453FB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AD89885-53D3-6551-0939-F73BCCBAD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O" sz="3200">
                <a:latin typeface="Century Gothic" panose="020B0502020202020204" pitchFamily="34" charset="0"/>
              </a:rPr>
              <a:t>AGENDA PROPUESTA</a:t>
            </a:r>
          </a:p>
        </p:txBody>
      </p:sp>
      <p:pic>
        <p:nvPicPr>
          <p:cNvPr id="6" name="Picture 6" descr="Resultado de imagen para RELOJ VECTOR">
            <a:extLst>
              <a:ext uri="{FF2B5EF4-FFF2-40B4-BE49-F238E27FC236}">
                <a16:creationId xmlns:a16="http://schemas.microsoft.com/office/drawing/2014/main" id="{176EF5EA-AE10-2884-2B52-F32BCDE6EFF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clrChange>
              <a:clrFrom>
                <a:srgbClr val="F6F6F6"/>
              </a:clrFrom>
              <a:clrTo>
                <a:srgbClr val="F6F6F6">
                  <a:alpha val="0"/>
                </a:srgbClr>
              </a:clrTo>
            </a:clrChange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17" t="6285" r="24815" b="6503"/>
          <a:stretch/>
        </p:blipFill>
        <p:spPr bwMode="auto">
          <a:xfrm>
            <a:off x="1256045" y="2772729"/>
            <a:ext cx="1236705" cy="1246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F0F49512-3131-B192-8DB6-BAA91C89122C}"/>
              </a:ext>
            </a:extLst>
          </p:cNvPr>
          <p:cNvSpPr/>
          <p:nvPr/>
        </p:nvSpPr>
        <p:spPr>
          <a:xfrm>
            <a:off x="2806200" y="2772729"/>
            <a:ext cx="8540907" cy="120032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solidFill>
                  <a:schemeClr val="tx2">
                    <a:lumMod val="40000"/>
                    <a:lumOff val="60000"/>
                  </a:schemeClr>
                </a:solidFill>
                <a:latin typeface="Century Gothic"/>
                <a:cs typeface="Arial"/>
              </a:rPr>
              <a:t>Ejercicios</a:t>
            </a:r>
            <a:r>
              <a:rPr lang="es-CO" dirty="0">
                <a:solidFill>
                  <a:schemeClr val="tx2">
                    <a:lumMod val="40000"/>
                    <a:lumOff val="60000"/>
                  </a:schemeClr>
                </a:solidFill>
                <a:latin typeface="Century Gothic" panose="020B0502020202020204" pitchFamily="34" charset="0"/>
                <a:cs typeface="Arial"/>
              </a:rPr>
              <a:t> de Práctica.</a:t>
            </a: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endParaRPr lang="es-CO" dirty="0">
              <a:latin typeface="Century Gothic" panose="020B0502020202020204" pitchFamily="34" charset="0"/>
              <a:cs typeface="Arial"/>
            </a:endParaRPr>
          </a:p>
          <a:p>
            <a:pPr marL="342900" indent="-342900">
              <a:buClr>
                <a:schemeClr val="accent3">
                  <a:lumMod val="75000"/>
                </a:schemeClr>
              </a:buClr>
              <a:buFont typeface="Gill Sans MT" panose="020B0502020104020203"/>
              <a:buAutoNum type="arabicPeriod"/>
            </a:pPr>
            <a:r>
              <a:rPr lang="es-CO" dirty="0">
                <a:latin typeface="Century Gothic" panose="020B0502020202020204" pitchFamily="34" charset="0"/>
                <a:cs typeface="Arial"/>
              </a:rPr>
              <a:t>Cómo crear un agente.</a:t>
            </a:r>
          </a:p>
          <a:p>
            <a:pPr>
              <a:buClr>
                <a:schemeClr val="accent3">
                  <a:lumMod val="75000"/>
                </a:schemeClr>
              </a:buClr>
            </a:pPr>
            <a:endParaRPr lang="es-CO" dirty="0">
              <a:solidFill>
                <a:schemeClr val="accent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3924687-3C46-4547-9825-C71A3A962931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9" name="Picture 2" descr="Clientes y aliados | Centro de Evaluación | Uniandes">
            <a:extLst>
              <a:ext uri="{FF2B5EF4-FFF2-40B4-BE49-F238E27FC236}">
                <a16:creationId xmlns:a16="http://schemas.microsoft.com/office/drawing/2014/main" id="{80360BDC-12AC-BE00-3F51-5C0E5B05E0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EFAA5FE8-534B-ED42-23AD-27C28F8DB981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3" name="Marcador de número de diapositiva 2">
            <a:extLst>
              <a:ext uri="{FF2B5EF4-FFF2-40B4-BE49-F238E27FC236}">
                <a16:creationId xmlns:a16="http://schemas.microsoft.com/office/drawing/2014/main" id="{0F8854F4-3034-5D53-D00C-FF4DFB080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8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557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54A14-8186-49CE-9EF4-E2E12E9BB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035E-3EC4-2842-A1FF-5CB76C5D5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_tradnl" sz="3200" dirty="0">
                <a:latin typeface="Century Gothic" panose="020B0502020202020204" pitchFamily="34" charset="0"/>
              </a:rPr>
              <a:t>CREAR UN TUTOR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CC3FE-F97E-7394-25AA-7A9075E245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543" y="1989939"/>
            <a:ext cx="5364114" cy="416652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s-ES_tradnl" sz="3200" b="1" dirty="0">
                <a:solidFill>
                  <a:srgbClr val="FF0000"/>
                </a:solidFill>
                <a:latin typeface="Century Gothic" panose="020B0502020202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https://shorturl.at/wMleq</a:t>
            </a:r>
            <a:r>
              <a:rPr lang="es-ES_tradnl" sz="3200" b="1" dirty="0">
                <a:solidFill>
                  <a:srgbClr val="FF0000"/>
                </a:solidFill>
                <a:latin typeface="Century Gothic" panose="020B0502020202020204" pitchFamily="34" charset="0"/>
              </a:rPr>
              <a:t> 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7D2F587B-F168-B083-376B-BF578D9BB804}"/>
              </a:ext>
            </a:extLst>
          </p:cNvPr>
          <p:cNvSpPr/>
          <p:nvPr/>
        </p:nvSpPr>
        <p:spPr>
          <a:xfrm>
            <a:off x="1415434" y="118110"/>
            <a:ext cx="278153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s-CO" sz="1100" b="1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Departamento de Ingeniería Industrial</a:t>
            </a:r>
            <a:endParaRPr lang="es-CO" sz="1100" b="1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2" descr="Clientes y aliados | Centro de Evaluación | Uniandes">
            <a:extLst>
              <a:ext uri="{FF2B5EF4-FFF2-40B4-BE49-F238E27FC236}">
                <a16:creationId xmlns:a16="http://schemas.microsoft.com/office/drawing/2014/main" id="{C5D894F5-D800-7D31-92FE-C412880344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965" y="118110"/>
            <a:ext cx="806123" cy="3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BB8487B-082B-DDDF-2507-63856BF72236}"/>
              </a:ext>
            </a:extLst>
          </p:cNvPr>
          <p:cNvSpPr/>
          <p:nvPr/>
        </p:nvSpPr>
        <p:spPr>
          <a:xfrm>
            <a:off x="8399257" y="118110"/>
            <a:ext cx="3150778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s-CO" sz="1100" b="1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Curso</a:t>
            </a:r>
            <a:r>
              <a:rPr lang="es-CO" sz="1100" dirty="0">
                <a:solidFill>
                  <a:schemeClr val="accent2">
                    <a:lumMod val="50000"/>
                  </a:schemeClr>
                </a:solidFill>
                <a:latin typeface="Century Gothic" panose="020B0502020202020204" pitchFamily="34" charset="0"/>
                <a:sym typeface="Gill Sans Light"/>
              </a:rPr>
              <a:t> Análisis de Decisiones de Inversión</a:t>
            </a:r>
            <a:endParaRPr lang="es-CO" sz="1100" dirty="0">
              <a:solidFill>
                <a:schemeClr val="accent2">
                  <a:lumMod val="50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Marcador de número de diapositiva 2">
            <a:extLst>
              <a:ext uri="{FF2B5EF4-FFF2-40B4-BE49-F238E27FC236}">
                <a16:creationId xmlns:a16="http://schemas.microsoft.com/office/drawing/2014/main" id="{3FC93A16-9405-80C8-4B38-5FD69C301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10" cy="365125"/>
          </a:xfrm>
        </p:spPr>
        <p:txBody>
          <a:bodyPr/>
          <a:lstStyle/>
          <a:p>
            <a:fld id="{D57F1E4F-1CFF-5643-939E-217C01CDF565}" type="slidenum">
              <a:rPr lang="en-US" sz="2000" b="1" smtClean="0">
                <a:latin typeface="Century Gothic" panose="020B0502020202020204" pitchFamily="34" charset="0"/>
              </a:rPr>
              <a:pPr/>
              <a:t>9</a:t>
            </a:fld>
            <a:endParaRPr lang="en-US" sz="2000" b="1" dirty="0">
              <a:latin typeface="Century Gothic" panose="020B0502020202020204" pitchFamily="34" charset="0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78CD3BCC-9E48-EB61-B49D-09B45C9483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3254" y="1492676"/>
            <a:ext cx="5172005" cy="516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961974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o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o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o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</Template>
  <TotalTime>1959</TotalTime>
  <Words>417</Words>
  <Application>Microsoft Office PowerPoint</Application>
  <PresentationFormat>Panorámica</PresentationFormat>
  <Paragraphs>85</Paragraphs>
  <Slides>9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Arial</vt:lpstr>
      <vt:lpstr>Calibri</vt:lpstr>
      <vt:lpstr>Century Gothic</vt:lpstr>
      <vt:lpstr>Gill Sans MT</vt:lpstr>
      <vt:lpstr>Wingdings 2</vt:lpstr>
      <vt:lpstr>Dividendo</vt:lpstr>
      <vt:lpstr>COMPARACIÓN Y SELECCIÓN DE PROYECTOS (PARTE III)</vt:lpstr>
      <vt:lpstr>procedimiento para LA elección de alternativas.</vt:lpstr>
      <vt:lpstr>Pasos del proceso de toma de decisiones</vt:lpstr>
      <vt:lpstr>Presentación de PowerPoint</vt:lpstr>
      <vt:lpstr>AGENDA PROPUESTA</vt:lpstr>
      <vt:lpstr>AGENDA PROPUESTA</vt:lpstr>
      <vt:lpstr>DESCARGUE LA actividad “6.3 ANADEC – EJERCICIOS” EN BLOQUE NEON O USANDO ESTE QR:</vt:lpstr>
      <vt:lpstr>AGENDA PROPUESTA</vt:lpstr>
      <vt:lpstr>CREAR UN TUTOR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DESDE UNA ÓPTICA ECONOMÉTRICA DE LA PREVISIBILIDAD DE LAS VARIACIONES DEL TRÁFICO DEL CORREDOR BOGOTÁ – PUERTO GAITÁN TENIENDO EN CUENTA EL COMPORTAMIENTO HISTÓRICO DEL TRÁFICO Y DEL PRECIO DEL PETRÓLEO WTI</dc:title>
  <dc:creator>Sebastian Joseph Sanchez Oyola</dc:creator>
  <cp:lastModifiedBy>Brigitte Castañeda Rodriguez</cp:lastModifiedBy>
  <cp:revision>62</cp:revision>
  <dcterms:created xsi:type="dcterms:W3CDTF">2019-06-20T04:25:04Z</dcterms:created>
  <dcterms:modified xsi:type="dcterms:W3CDTF">2026-04-09T15:41:58Z</dcterms:modified>
</cp:coreProperties>
</file>