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65"/>
  </p:notesMasterIdLst>
  <p:handoutMasterIdLst>
    <p:handoutMasterId r:id="rId66"/>
  </p:handoutMasterIdLst>
  <p:sldIdLst>
    <p:sldId id="398" r:id="rId2"/>
    <p:sldId id="354" r:id="rId3"/>
    <p:sldId id="638" r:id="rId4"/>
    <p:sldId id="321" r:id="rId5"/>
    <p:sldId id="322" r:id="rId6"/>
    <p:sldId id="323" r:id="rId7"/>
    <p:sldId id="556" r:id="rId8"/>
    <p:sldId id="637" r:id="rId9"/>
    <p:sldId id="557" r:id="rId10"/>
    <p:sldId id="273" r:id="rId11"/>
    <p:sldId id="558" r:id="rId12"/>
    <p:sldId id="559" r:id="rId13"/>
    <p:sldId id="650" r:id="rId14"/>
    <p:sldId id="286" r:id="rId15"/>
    <p:sldId id="560" r:id="rId16"/>
    <p:sldId id="562" r:id="rId17"/>
    <p:sldId id="651" r:id="rId18"/>
    <p:sldId id="567" r:id="rId19"/>
    <p:sldId id="564" r:id="rId20"/>
    <p:sldId id="570" r:id="rId21"/>
    <p:sldId id="576" r:id="rId22"/>
    <p:sldId id="652" r:id="rId23"/>
    <p:sldId id="593" r:id="rId24"/>
    <p:sldId id="581" r:id="rId25"/>
    <p:sldId id="577" r:id="rId26"/>
    <p:sldId id="583" r:id="rId27"/>
    <p:sldId id="584" r:id="rId28"/>
    <p:sldId id="585" r:id="rId29"/>
    <p:sldId id="594" r:id="rId30"/>
    <p:sldId id="587" r:id="rId31"/>
    <p:sldId id="595" r:id="rId32"/>
    <p:sldId id="644" r:id="rId33"/>
    <p:sldId id="597" r:id="rId34"/>
    <p:sldId id="645" r:id="rId35"/>
    <p:sldId id="592" r:id="rId36"/>
    <p:sldId id="287" r:id="rId37"/>
    <p:sldId id="653" r:id="rId38"/>
    <p:sldId id="599" r:id="rId39"/>
    <p:sldId id="639" r:id="rId40"/>
    <p:sldId id="600" r:id="rId41"/>
    <p:sldId id="601" r:id="rId42"/>
    <p:sldId id="602" r:id="rId43"/>
    <p:sldId id="603" r:id="rId44"/>
    <p:sldId id="604" r:id="rId45"/>
    <p:sldId id="642" r:id="rId46"/>
    <p:sldId id="605" r:id="rId47"/>
    <p:sldId id="646" r:id="rId48"/>
    <p:sldId id="647" r:id="rId49"/>
    <p:sldId id="608" r:id="rId50"/>
    <p:sldId id="641" r:id="rId51"/>
    <p:sldId id="626" r:id="rId52"/>
    <p:sldId id="648" r:id="rId53"/>
    <p:sldId id="649" r:id="rId54"/>
    <p:sldId id="628" r:id="rId55"/>
    <p:sldId id="643" r:id="rId56"/>
    <p:sldId id="614" r:id="rId57"/>
    <p:sldId id="615" r:id="rId58"/>
    <p:sldId id="618" r:id="rId59"/>
    <p:sldId id="619" r:id="rId60"/>
    <p:sldId id="629" r:id="rId61"/>
    <p:sldId id="630" r:id="rId62"/>
    <p:sldId id="632" r:id="rId63"/>
    <p:sldId id="403"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EDA"/>
    <a:srgbClr val="F5DCCA"/>
    <a:srgbClr val="DFFFFF"/>
    <a:srgbClr val="D7A700"/>
    <a:srgbClr val="FF6600"/>
    <a:srgbClr val="155E26"/>
    <a:srgbClr val="FFF4E6"/>
    <a:srgbClr val="002F90"/>
    <a:srgbClr val="E8F8FA"/>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48"/>
    <p:restoredTop sz="97389"/>
  </p:normalViewPr>
  <p:slideViewPr>
    <p:cSldViewPr snapToGrid="0">
      <p:cViewPr varScale="1">
        <p:scale>
          <a:sx n="162" d="100"/>
          <a:sy n="162" d="100"/>
        </p:scale>
        <p:origin x="208" y="5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25/02/26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25/02/26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4F50-B4FB-3B70-DECA-79DA5808D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6BF9A-EB42-2852-8833-3712B06F2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C4C8B-5615-B5B6-687E-F37CF8377FBB}"/>
              </a:ext>
            </a:extLst>
          </p:cNvPr>
          <p:cNvSpPr>
            <a:spLocks noGrp="1"/>
          </p:cNvSpPr>
          <p:nvPr>
            <p:ph type="body" idx="1"/>
          </p:nvPr>
        </p:nvSpPr>
        <p:spPr/>
        <p:txBody>
          <a:bodyPr/>
          <a:lstStyle/>
          <a:p>
            <a:pPr marL="171450" indent="-171450">
              <a:buFont typeface="Arial"/>
              <a:buChar char="•"/>
            </a:pPr>
            <a:endParaRPr lang="en-US"/>
          </a:p>
        </p:txBody>
      </p:sp>
      <p:sp>
        <p:nvSpPr>
          <p:cNvPr id="4" name="Slide Number Placeholder 3">
            <a:extLst>
              <a:ext uri="{FF2B5EF4-FFF2-40B4-BE49-F238E27FC236}">
                <a16:creationId xmlns:a16="http://schemas.microsoft.com/office/drawing/2014/main" id="{CC2C2A73-C9E9-8F6B-7647-ADEFD8C7B084}"/>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545898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221675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34384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03321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221675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2/25/26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2/25/26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2/25/26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2/25/26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2/25/26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2/25/26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2/25/26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2/25/26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2/25/26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2/25/26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822352"/>
            <a:ext cx="10550396" cy="826833"/>
          </a:xfrm>
        </p:spPr>
        <p:txBody>
          <a:bodyPr>
            <a:noAutofit/>
          </a:body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Flujo de Caja Libre (FCL).</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8947FF6-FDB9-EE78-466B-05090F4BD4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B79B7A6-E6EA-D254-F9CC-BB1BE6B2D65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9185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964890" y="1935803"/>
            <a:ext cx="8301567" cy="3670767"/>
          </a:xfrm>
        </p:spPr>
        <p:txBody>
          <a:bodyPr>
            <a:normAutofit/>
          </a:bodyPr>
          <a:lstStyle/>
          <a:p>
            <a:pPr marL="0" indent="0" algn="ctr">
              <a:buNone/>
            </a:pPr>
            <a:r>
              <a:rPr lang="es-ES" sz="2000" b="1">
                <a:solidFill>
                  <a:srgbClr val="C00000"/>
                </a:solidFill>
                <a:latin typeface="Century Gothic" panose="020B0502020202020204" pitchFamily="34" charset="0"/>
              </a:rPr>
              <a:t>¿Qué temas se han visto a lo largo del curso?</a:t>
            </a:r>
          </a:p>
          <a:p>
            <a:pPr marL="0" indent="0" algn="ctr">
              <a:buNone/>
            </a:pPr>
            <a:endParaRPr lang="es-ES" sz="2000" b="1">
              <a:solidFill>
                <a:schemeClr val="accent6"/>
              </a:solidFill>
              <a:latin typeface="Century Gothic" panose="020B0502020202020204" pitchFamily="34" charset="0"/>
            </a:endParaRPr>
          </a:p>
          <a:p>
            <a:r>
              <a:rPr lang="es-ES">
                <a:solidFill>
                  <a:schemeClr val="accent1"/>
                </a:solidFill>
                <a:latin typeface="Century Gothic" panose="020B0502020202020204" pitchFamily="34" charset="0"/>
              </a:rPr>
              <a:t>Valor del Dinero en el Tiempo (VDT)</a:t>
            </a:r>
          </a:p>
          <a:p>
            <a:r>
              <a:rPr lang="es-ES">
                <a:solidFill>
                  <a:schemeClr val="accent1"/>
                </a:solidFill>
                <a:latin typeface="Century Gothic" panose="020B0502020202020204" pitchFamily="34" charset="0"/>
              </a:rPr>
              <a:t>Costo de Oportunidad</a:t>
            </a:r>
          </a:p>
          <a:p>
            <a:r>
              <a:rPr lang="es-ES">
                <a:solidFill>
                  <a:schemeClr val="accent1"/>
                </a:solidFill>
                <a:latin typeface="Century Gothic" panose="020B0502020202020204" pitchFamily="34" charset="0"/>
              </a:rPr>
              <a:t>Concepto de Interés</a:t>
            </a:r>
          </a:p>
          <a:p>
            <a:r>
              <a:rPr lang="es-ES">
                <a:solidFill>
                  <a:schemeClr val="accent1"/>
                </a:solidFill>
                <a:latin typeface="Century Gothic" panose="020B0502020202020204" pitchFamily="34" charset="0"/>
              </a:rPr>
              <a:t>Relaciones de Equivalencia</a:t>
            </a:r>
          </a:p>
          <a:p>
            <a:r>
              <a:rPr lang="es-ES">
                <a:solidFill>
                  <a:schemeClr val="accent1"/>
                </a:solidFill>
                <a:latin typeface="Century Gothic" panose="020B0502020202020204" pitchFamily="34" charset="0"/>
              </a:rPr>
              <a:t>Indicadores de Bondad Financiera (IBF)</a:t>
            </a:r>
          </a:p>
        </p:txBody>
      </p:sp>
      <p:pic>
        <p:nvPicPr>
          <p:cNvPr id="1028" name="Picture 4" descr="Resultado de imagen para nerd dibujos animados"/>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26902" y="2948536"/>
            <a:ext cx="2289854" cy="279871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E19F1C21-00CC-1C32-B3D9-02AB43BE43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8939CEC-D7B4-033D-8912-BF98BC458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B9CE03-D06E-CC8C-7596-8573383904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A8BC043E-3E26-3E2A-5F64-726F14C6712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404347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581193" y="1431496"/>
            <a:ext cx="11029615" cy="3678303"/>
          </a:xfrm>
        </p:spPr>
        <p:txBody>
          <a:bodyPr>
            <a:normAutofit/>
          </a:bodyPr>
          <a:lstStyle/>
          <a:p>
            <a:pPr marL="0" indent="0" algn="just">
              <a:buNone/>
            </a:pPr>
            <a:r>
              <a:rPr lang="es-ES" dirty="0">
                <a:solidFill>
                  <a:schemeClr val="accent1"/>
                </a:solidFill>
                <a:latin typeface="Century Gothic" panose="020B0502020202020204" pitchFamily="34" charset="0"/>
              </a:rPr>
              <a:t>Hasta este punto usted debe estar en capacidad de </a:t>
            </a:r>
            <a:r>
              <a:rPr lang="es-ES" b="1" dirty="0">
                <a:solidFill>
                  <a:srgbClr val="D7A700"/>
                </a:solidFill>
                <a:latin typeface="Century Gothic" panose="020B0502020202020204" pitchFamily="34" charset="0"/>
              </a:rPr>
              <a:t>evaluar la bondad financiera de un proyecto </a:t>
            </a:r>
            <a:r>
              <a:rPr lang="es-ES" dirty="0">
                <a:solidFill>
                  <a:schemeClr val="accent1"/>
                </a:solidFill>
                <a:latin typeface="Century Gothic" panose="020B0502020202020204" pitchFamily="34" charset="0"/>
              </a:rPr>
              <a:t>de inversión, siempre y cuando le suministren la información relacionada con:</a:t>
            </a:r>
          </a:p>
          <a:p>
            <a:pPr marL="0" indent="0" algn="just">
              <a:buNone/>
            </a:pPr>
            <a:endParaRPr lang="es-ES"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Flujos de caja que genera el proyecto. </a:t>
            </a:r>
          </a:p>
          <a:p>
            <a:pPr lvl="1" algn="just"/>
            <a:endParaRPr lang="es-ES" sz="1800"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Tasa de descuento o costo de oportunidad del inversionista.</a:t>
            </a:r>
          </a:p>
        </p:txBody>
      </p:sp>
      <p:cxnSp>
        <p:nvCxnSpPr>
          <p:cNvPr id="5" name="Straight Connector 5"/>
          <p:cNvCxnSpPr/>
          <p:nvPr/>
        </p:nvCxnSpPr>
        <p:spPr>
          <a:xfrm>
            <a:off x="3637769" y="5068344"/>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6"/>
          <p:cNvCxnSpPr/>
          <p:nvPr/>
        </p:nvCxnSpPr>
        <p:spPr>
          <a:xfrm>
            <a:off x="3637768" y="5068346"/>
            <a:ext cx="0" cy="104346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3590654" y="4789265"/>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9" name="Rectangle 13"/>
          <p:cNvSpPr>
            <a:spLocks/>
          </p:cNvSpPr>
          <p:nvPr/>
        </p:nvSpPr>
        <p:spPr bwMode="auto">
          <a:xfrm>
            <a:off x="4005791" y="5081173"/>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cxnSp>
        <p:nvCxnSpPr>
          <p:cNvPr id="11" name="Straight Arrow Connector 7"/>
          <p:cNvCxnSpPr/>
          <p:nvPr/>
        </p:nvCxnSpPr>
        <p:spPr>
          <a:xfrm flipV="1">
            <a:off x="4171251" y="4497539"/>
            <a:ext cx="0" cy="583524"/>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7"/>
          <p:cNvCxnSpPr/>
          <p:nvPr/>
        </p:nvCxnSpPr>
        <p:spPr>
          <a:xfrm flipV="1">
            <a:off x="478550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7"/>
          <p:cNvCxnSpPr/>
          <p:nvPr/>
        </p:nvCxnSpPr>
        <p:spPr>
          <a:xfrm flipV="1">
            <a:off x="542608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p:cNvCxnSpPr/>
          <p:nvPr/>
        </p:nvCxnSpPr>
        <p:spPr>
          <a:xfrm flipV="1">
            <a:off x="6649639" y="4486464"/>
            <a:ext cx="0" cy="58188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3"/>
          <p:cNvSpPr>
            <a:spLocks/>
          </p:cNvSpPr>
          <p:nvPr/>
        </p:nvSpPr>
        <p:spPr bwMode="auto">
          <a:xfrm>
            <a:off x="4616971"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6" name="Rectangle 13"/>
          <p:cNvSpPr>
            <a:spLocks/>
          </p:cNvSpPr>
          <p:nvPr/>
        </p:nvSpPr>
        <p:spPr bwMode="auto">
          <a:xfrm>
            <a:off x="5244722" y="5081064"/>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7" name="Rectangle 13"/>
          <p:cNvSpPr>
            <a:spLocks/>
          </p:cNvSpPr>
          <p:nvPr/>
        </p:nvSpPr>
        <p:spPr bwMode="auto">
          <a:xfrm>
            <a:off x="5879687"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a:t>
            </a:r>
          </a:p>
        </p:txBody>
      </p:sp>
      <p:sp>
        <p:nvSpPr>
          <p:cNvPr id="18" name="Rectangle 13"/>
          <p:cNvSpPr>
            <a:spLocks/>
          </p:cNvSpPr>
          <p:nvPr/>
        </p:nvSpPr>
        <p:spPr bwMode="auto">
          <a:xfrm>
            <a:off x="6481109" y="5070617"/>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n</a:t>
            </a:r>
          </a:p>
        </p:txBody>
      </p:sp>
      <p:sp>
        <p:nvSpPr>
          <p:cNvPr id="20" name="CuadroTexto 19"/>
          <p:cNvSpPr txBox="1"/>
          <p:nvPr/>
        </p:nvSpPr>
        <p:spPr>
          <a:xfrm>
            <a:off x="7227827" y="4935240"/>
            <a:ext cx="1244251" cy="369332"/>
          </a:xfrm>
          <a:prstGeom prst="rect">
            <a:avLst/>
          </a:prstGeom>
          <a:noFill/>
        </p:spPr>
        <p:txBody>
          <a:bodyPr wrap="none" rtlCol="0">
            <a:spAutoFit/>
          </a:bodyPr>
          <a:lstStyle/>
          <a:p>
            <a:r>
              <a:rPr lang="es-ES" b="1">
                <a:solidFill>
                  <a:schemeClr val="accent1"/>
                </a:solidFill>
                <a:latin typeface="Century Gothic" panose="020B0502020202020204" pitchFamily="34" charset="0"/>
              </a:rPr>
              <a:t>C.O.= X%</a:t>
            </a:r>
          </a:p>
        </p:txBody>
      </p:sp>
      <p:sp>
        <p:nvSpPr>
          <p:cNvPr id="21" name="CuadroTexto 20"/>
          <p:cNvSpPr txBox="1"/>
          <p:nvPr/>
        </p:nvSpPr>
        <p:spPr>
          <a:xfrm rot="2152249">
            <a:off x="4751873" y="4612074"/>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7" name="Rectángulo 6">
            <a:extLst>
              <a:ext uri="{FF2B5EF4-FFF2-40B4-BE49-F238E27FC236}">
                <a16:creationId xmlns:a16="http://schemas.microsoft.com/office/drawing/2014/main" id="{39A7B292-D3CC-311A-888F-AD1597C946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B59226C-53F2-1487-0BC4-E51CF31B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extLst>
              <a:ext uri="{FF2B5EF4-FFF2-40B4-BE49-F238E27FC236}">
                <a16:creationId xmlns:a16="http://schemas.microsoft.com/office/drawing/2014/main" id="{544F99A6-0D3B-3EE0-3B45-FF3BBE789F33}"/>
              </a:ext>
            </a:extLst>
          </p:cNvPr>
          <p:cNvPicPr>
            <a:picLocks noChangeAspect="1"/>
          </p:cNvPicPr>
          <p:nvPr/>
        </p:nvPicPr>
        <p:blipFill>
          <a:blip r:embed="rId3"/>
          <a:stretch>
            <a:fillRect/>
          </a:stretch>
        </p:blipFill>
        <p:spPr>
          <a:xfrm>
            <a:off x="9058088" y="3008465"/>
            <a:ext cx="1997296" cy="1477999"/>
          </a:xfrm>
          <a:prstGeom prst="rect">
            <a:avLst/>
          </a:prstGeom>
        </p:spPr>
      </p:pic>
      <p:sp>
        <p:nvSpPr>
          <p:cNvPr id="19" name="Rectángulo 18">
            <a:extLst>
              <a:ext uri="{FF2B5EF4-FFF2-40B4-BE49-F238E27FC236}">
                <a16:creationId xmlns:a16="http://schemas.microsoft.com/office/drawing/2014/main" id="{227535E7-F6CB-5948-8523-5470B4F983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3" name="CuadroTexto 22">
            <a:extLst>
              <a:ext uri="{FF2B5EF4-FFF2-40B4-BE49-F238E27FC236}">
                <a16:creationId xmlns:a16="http://schemas.microsoft.com/office/drawing/2014/main" id="{E246BFF8-B629-2D41-E159-5CCE0B09F4ED}"/>
              </a:ext>
            </a:extLst>
          </p:cNvPr>
          <p:cNvSpPr txBox="1"/>
          <p:nvPr/>
        </p:nvSpPr>
        <p:spPr>
          <a:xfrm rot="2152249">
            <a:off x="7527217" y="4683623"/>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10" name="Marcador de número de diapositiva 3">
            <a:extLst>
              <a:ext uri="{FF2B5EF4-FFF2-40B4-BE49-F238E27FC236}">
                <a16:creationId xmlns:a16="http://schemas.microsoft.com/office/drawing/2014/main" id="{8775D824-8E22-0401-4B19-E7E372A591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6590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5" grpId="0"/>
      <p:bldP spid="16" grpId="0"/>
      <p:bldP spid="17" grpId="0"/>
      <p:bldP spid="18" grpId="0"/>
      <p:bldP spid="20" grpId="0"/>
      <p:bldP spid="21"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446043" y="1815371"/>
            <a:ext cx="11291330" cy="4140766"/>
          </a:xfrm>
        </p:spPr>
        <p:txBody>
          <a:bodyPr>
            <a:normAutofit/>
          </a:bodyPr>
          <a:lstStyle/>
          <a:p>
            <a:pPr algn="just"/>
            <a:r>
              <a:rPr lang="es-ES">
                <a:solidFill>
                  <a:schemeClr val="accent1"/>
                </a:solidFill>
                <a:latin typeface="Century Gothic" panose="020B0502020202020204" pitchFamily="34" charset="0"/>
              </a:rPr>
              <a:t>El objetivo que abordaremos ahora será el de construir los flujos de caja que genera un proyecto.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En finanzas y en economía se entiende por </a:t>
            </a:r>
            <a:r>
              <a:rPr lang="es-ES" b="1">
                <a:solidFill>
                  <a:schemeClr val="accent3">
                    <a:lumMod val="50000"/>
                  </a:schemeClr>
                </a:solidFill>
                <a:latin typeface="Century Gothic" panose="020B0502020202020204" pitchFamily="34" charset="0"/>
              </a:rPr>
              <a:t>flujo de caja </a:t>
            </a:r>
            <a:r>
              <a:rPr lang="es-ES">
                <a:solidFill>
                  <a:schemeClr val="accent1"/>
                </a:solidFill>
                <a:latin typeface="Century Gothic" panose="020B0502020202020204" pitchFamily="34" charset="0"/>
              </a:rPr>
              <a:t>a las entradas y salidas de caja o efectivo, en un periodo dado. </a:t>
            </a:r>
          </a:p>
          <a:p>
            <a:pPr algn="just"/>
            <a:endParaRPr lang="es-ES">
              <a:solidFill>
                <a:schemeClr val="accent1"/>
              </a:solidFill>
              <a:latin typeface="Century Gothic" panose="020B0502020202020204" pitchFamily="34" charset="0"/>
            </a:endParaRPr>
          </a:p>
          <a:p>
            <a:pPr marL="0" indent="0" algn="ctr">
              <a:buNone/>
            </a:pPr>
            <a:r>
              <a:rPr lang="es-ES" b="1">
                <a:solidFill>
                  <a:srgbClr val="D7A700"/>
                </a:solidFill>
                <a:latin typeface="Century Gothic" panose="020B0502020202020204" pitchFamily="34" charset="0"/>
              </a:rPr>
              <a:t>¿Dónde encuentro esta información?</a:t>
            </a:r>
          </a:p>
          <a:p>
            <a:pPr marL="0" indent="0" algn="ctr">
              <a:buNone/>
            </a:pPr>
            <a:endParaRPr lang="es-ES">
              <a:latin typeface="Century Gothic" panose="020B0502020202020204" pitchFamily="34" charset="0"/>
            </a:endParaRPr>
          </a:p>
          <a:p>
            <a:pPr algn="just"/>
            <a:r>
              <a:rPr lang="es-ES">
                <a:solidFill>
                  <a:schemeClr val="accent1"/>
                </a:solidFill>
                <a:latin typeface="Century Gothic" panose="020B0502020202020204" pitchFamily="34" charset="0"/>
              </a:rPr>
              <a:t>Lo que </a:t>
            </a:r>
            <a:r>
              <a:rPr lang="es-ES" b="1">
                <a:solidFill>
                  <a:schemeClr val="accent3">
                    <a:lumMod val="50000"/>
                  </a:schemeClr>
                </a:solidFill>
                <a:latin typeface="Century Gothic" panose="020B0502020202020204" pitchFamily="34" charset="0"/>
              </a:rPr>
              <a:t>antes usted tenía como insumo </a:t>
            </a:r>
            <a:r>
              <a:rPr lang="es-ES">
                <a:solidFill>
                  <a:schemeClr val="accent1"/>
                </a:solidFill>
                <a:latin typeface="Century Gothic" panose="020B0502020202020204" pitchFamily="34" charset="0"/>
              </a:rPr>
              <a:t>para valorar un proyecto</a:t>
            </a:r>
            <a:r>
              <a:rPr lang="es-ES" b="1">
                <a:solidFill>
                  <a:schemeClr val="accent1"/>
                </a:solidFill>
                <a:latin typeface="Century Gothic" panose="020B0502020202020204" pitchFamily="34" charset="0"/>
              </a:rPr>
              <a:t>, </a:t>
            </a:r>
            <a:r>
              <a:rPr lang="es-ES" b="1">
                <a:solidFill>
                  <a:schemeClr val="accent3">
                    <a:lumMod val="50000"/>
                  </a:schemeClr>
                </a:solidFill>
                <a:latin typeface="Century Gothic" panose="020B0502020202020204" pitchFamily="34" charset="0"/>
              </a:rPr>
              <a:t>es ahora una tarea adicional </a:t>
            </a:r>
            <a:r>
              <a:rPr lang="es-ES">
                <a:solidFill>
                  <a:schemeClr val="accent1"/>
                </a:solidFill>
                <a:latin typeface="Century Gothic" panose="020B0502020202020204" pitchFamily="34" charset="0"/>
              </a:rPr>
              <a:t>que se construye con </a:t>
            </a:r>
            <a:r>
              <a:rPr lang="es-ES" b="1">
                <a:solidFill>
                  <a:srgbClr val="C00000"/>
                </a:solidFill>
                <a:latin typeface="Century Gothic" panose="020B0502020202020204" pitchFamily="34" charset="0"/>
              </a:rPr>
              <a:t>información contable de la empresa</a:t>
            </a:r>
            <a:r>
              <a:rPr lang="es-ES">
                <a:latin typeface="Century Gothic" panose="020B0502020202020204" pitchFamily="34" charset="0"/>
              </a:rPr>
              <a:t>.</a:t>
            </a:r>
          </a:p>
        </p:txBody>
      </p:sp>
      <p:sp>
        <p:nvSpPr>
          <p:cNvPr id="9" name="Rectángulo 8">
            <a:extLst>
              <a:ext uri="{FF2B5EF4-FFF2-40B4-BE49-F238E27FC236}">
                <a16:creationId xmlns:a16="http://schemas.microsoft.com/office/drawing/2014/main" id="{43C9F453-E6D4-12B5-16E7-73043FD3F1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50F97A-C8D3-5489-58C5-0FE88EF8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F0B3E486-D1AE-1F07-9AC5-ED0F97C9FDFC}"/>
              </a:ext>
            </a:extLst>
          </p:cNvPr>
          <p:cNvPicPr>
            <a:picLocks noChangeAspect="1"/>
          </p:cNvPicPr>
          <p:nvPr/>
        </p:nvPicPr>
        <p:blipFill>
          <a:blip r:embed="rId3"/>
          <a:stretch>
            <a:fillRect/>
          </a:stretch>
        </p:blipFill>
        <p:spPr>
          <a:xfrm>
            <a:off x="8795541" y="3515497"/>
            <a:ext cx="1816594" cy="1278924"/>
          </a:xfrm>
          <a:prstGeom prst="rect">
            <a:avLst/>
          </a:prstGeom>
        </p:spPr>
      </p:pic>
      <p:sp>
        <p:nvSpPr>
          <p:cNvPr id="5" name="Rectángulo 4">
            <a:extLst>
              <a:ext uri="{FF2B5EF4-FFF2-40B4-BE49-F238E27FC236}">
                <a16:creationId xmlns:a16="http://schemas.microsoft.com/office/drawing/2014/main" id="{0709D5D4-D6EA-D984-54F1-3CE96F4E58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C83DA1F-E32C-E601-8EF1-5BFF551B775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80013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46043" y="982470"/>
            <a:ext cx="9011714" cy="803647"/>
          </a:xfrm>
        </p:spPr>
        <p:txBody>
          <a:bodyPr/>
          <a:lstStyle/>
          <a:p>
            <a:r>
              <a:rPr lang="es-ES_tradnl" sz="3375">
                <a:latin typeface="Century Gothic" panose="020B0502020202020204" pitchFamily="34" charset="0"/>
              </a:rPr>
              <a:t>¿Qué es la contabilidad?</a:t>
            </a:r>
          </a:p>
        </p:txBody>
      </p:sp>
      <p:sp>
        <p:nvSpPr>
          <p:cNvPr id="320" name="Shape 320"/>
          <p:cNvSpPr>
            <a:spLocks noGrp="1"/>
          </p:cNvSpPr>
          <p:nvPr>
            <p:ph idx="1"/>
          </p:nvPr>
        </p:nvSpPr>
        <p:spPr>
          <a:xfrm>
            <a:off x="775810" y="2612482"/>
            <a:ext cx="10386507" cy="1952745"/>
          </a:xfrm>
          <a:prstGeom prst="rect">
            <a:avLst/>
          </a:prstGeom>
        </p:spPr>
        <p:txBody>
          <a:bodyPr anchor="t">
            <a:noAutofit/>
          </a:bodyPr>
          <a:lstStyle/>
          <a:p>
            <a:pPr marL="0" indent="0" algn="ctr">
              <a:buNone/>
              <a:defRPr sz="1800">
                <a:solidFill>
                  <a:srgbClr val="000000"/>
                </a:solidFill>
              </a:defRPr>
            </a:pPr>
            <a:r>
              <a:rPr>
                <a:solidFill>
                  <a:schemeClr val="accent1"/>
                </a:solidFill>
                <a:latin typeface="Century Gothic" panose="020B0502020202020204" pitchFamily="34" charset="0"/>
              </a:rPr>
              <a:t>“La contabilidad es un proceso que permite recopilar, registrar, analizar e interpretar las diversas transacciones contables - financieras suscitadas durante un periodo, con la finalidad de proporcionar información que facilite las funciones de </a:t>
            </a:r>
            <a:r>
              <a:rPr b="1">
                <a:solidFill>
                  <a:srgbClr val="C00000"/>
                </a:solidFill>
                <a:latin typeface="Century Gothic" panose="020B0502020202020204" pitchFamily="34" charset="0"/>
              </a:rPr>
              <a:t>planeación</a:t>
            </a:r>
            <a:r>
              <a:rPr>
                <a:solidFill>
                  <a:schemeClr val="accent1"/>
                </a:solidFill>
                <a:latin typeface="Century Gothic" panose="020B0502020202020204" pitchFamily="34" charset="0"/>
              </a:rPr>
              <a:t>,</a:t>
            </a:r>
            <a:r>
              <a:rPr b="1">
                <a:solidFill>
                  <a:srgbClr val="C00000"/>
                </a:solidFill>
                <a:latin typeface="Century Gothic" panose="020B0502020202020204" pitchFamily="34" charset="0"/>
              </a:rPr>
              <a:t> control </a:t>
            </a:r>
            <a:r>
              <a:rPr>
                <a:solidFill>
                  <a:schemeClr val="accent1"/>
                </a:solidFill>
                <a:latin typeface="Century Gothic" panose="020B0502020202020204" pitchFamily="34" charset="0"/>
              </a:rPr>
              <a:t>y</a:t>
            </a:r>
            <a:r>
              <a:rPr b="1">
                <a:solidFill>
                  <a:srgbClr val="C00000"/>
                </a:solidFill>
                <a:latin typeface="Century Gothic" panose="020B0502020202020204" pitchFamily="34" charset="0"/>
              </a:rPr>
              <a:t> toma de decision</a:t>
            </a:r>
            <a:r>
              <a:rPr lang="es-ES" b="1">
                <a:solidFill>
                  <a:srgbClr val="C00000"/>
                </a:solidFill>
                <a:latin typeface="Century Gothic" panose="020B0502020202020204" pitchFamily="34" charset="0"/>
              </a:rPr>
              <a:t>es</a:t>
            </a:r>
            <a:r>
              <a:rPr b="1">
                <a:solidFill>
                  <a:srgbClr val="C00000"/>
                </a:solidFill>
                <a:latin typeface="Century Gothic" panose="020B0502020202020204" pitchFamily="34" charset="0"/>
              </a:rPr>
              <a:t>.</a:t>
            </a:r>
            <a:r>
              <a:rPr>
                <a:solidFill>
                  <a:srgbClr val="606060"/>
                </a:solidFill>
                <a:latin typeface="Century Gothic" panose="020B0502020202020204" pitchFamily="34" charset="0"/>
              </a:rPr>
              <a:t>”</a:t>
            </a:r>
            <a:endParaRPr lang="es-ES">
              <a:solidFill>
                <a:srgbClr val="606060"/>
              </a:solidFill>
              <a:latin typeface="Century Gothic" panose="020B0502020202020204" pitchFamily="34" charset="0"/>
            </a:endParaRPr>
          </a:p>
          <a:p>
            <a:pPr marL="0" indent="0" algn="ctr">
              <a:buNone/>
              <a:defRPr sz="1800">
                <a:solidFill>
                  <a:srgbClr val="000000"/>
                </a:solidFill>
              </a:defRPr>
            </a:pPr>
            <a:endParaRPr lang="es-ES_tradnl">
              <a:solidFill>
                <a:srgbClr val="606060"/>
              </a:solidFill>
              <a:latin typeface="Century Gothic" panose="020B0502020202020204" pitchFamily="34" charset="0"/>
            </a:endParaRPr>
          </a:p>
          <a:p>
            <a:pPr marL="0" indent="0" algn="ctr">
              <a:buNone/>
              <a:defRPr sz="1800">
                <a:solidFill>
                  <a:srgbClr val="000000"/>
                </a:solidFill>
              </a:defRPr>
            </a:pPr>
            <a:endParaRPr>
              <a:solidFill>
                <a:srgbClr val="606060"/>
              </a:solidFill>
              <a:latin typeface="Century Gothic" panose="020B0502020202020204" pitchFamily="34" charset="0"/>
            </a:endParaRP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Es un sistema de información.</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Almacena de forma metódica y organizada las transacciones financieras.</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Permite analizar y obtener conclusiones que soportan la toma de decisiones.</a:t>
            </a:r>
          </a:p>
        </p:txBody>
      </p:sp>
      <p:sp>
        <p:nvSpPr>
          <p:cNvPr id="2" name="Rectángulo 1">
            <a:extLst>
              <a:ext uri="{FF2B5EF4-FFF2-40B4-BE49-F238E27FC236}">
                <a16:creationId xmlns:a16="http://schemas.microsoft.com/office/drawing/2014/main" id="{33CAFB54-F902-FC5F-D441-5ACF62BF32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26275A0-459E-8A14-DE61-B93F7B293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88167BBB-5439-6AD4-6C3D-9419BFC00502}"/>
              </a:ext>
            </a:extLst>
          </p:cNvPr>
          <p:cNvPicPr>
            <a:picLocks noChangeAspect="1"/>
          </p:cNvPicPr>
          <p:nvPr/>
        </p:nvPicPr>
        <p:blipFill>
          <a:blip r:embed="rId3"/>
          <a:stretch>
            <a:fillRect/>
          </a:stretch>
        </p:blipFill>
        <p:spPr>
          <a:xfrm>
            <a:off x="9370597" y="3757003"/>
            <a:ext cx="1791720" cy="1261412"/>
          </a:xfrm>
          <a:prstGeom prst="rect">
            <a:avLst/>
          </a:prstGeom>
        </p:spPr>
      </p:pic>
      <p:sp>
        <p:nvSpPr>
          <p:cNvPr id="7" name="Rectángulo 6">
            <a:extLst>
              <a:ext uri="{FF2B5EF4-FFF2-40B4-BE49-F238E27FC236}">
                <a16:creationId xmlns:a16="http://schemas.microsoft.com/office/drawing/2014/main" id="{6FC79FCE-EC58-0BD8-D0A7-B28FE79DF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CD496D49-DD93-456D-8A13-B7D028382A9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82547226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0">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20">
                                            <p:txEl>
                                              <p:pRg st="4" end="4"/>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0" uiExpand="1" build="p" bldLvl="5"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A8C51BB-4141-122C-FBEE-FF50DE5548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63B7735-4695-6717-5B52-08252231308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08759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hape 330"/>
          <p:cNvSpPr/>
          <p:nvPr/>
        </p:nvSpPr>
        <p:spPr>
          <a:xfrm>
            <a:off x="446042" y="1989072"/>
            <a:ext cx="11164767" cy="7757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lgn="ctr">
              <a:defRPr sz="1800">
                <a:solidFill>
                  <a:srgbClr val="000000"/>
                </a:solidFill>
              </a:defRPr>
            </a:pPr>
            <a:r>
              <a:rPr lang="es-ES_tradnl" sz="2000" b="1">
                <a:solidFill>
                  <a:srgbClr val="C00000"/>
                </a:solidFill>
                <a:latin typeface="Century Gothic" panose="020B0502020202020204" pitchFamily="34" charset="0"/>
              </a:rPr>
              <a:t>Los Estados Financieros (E.E.F.F.)</a:t>
            </a:r>
            <a:endParaRPr sz="2000" b="1">
              <a:solidFill>
                <a:srgbClr val="C00000"/>
              </a:solidFill>
              <a:latin typeface="Century Gothic" panose="020B0502020202020204" pitchFamily="34" charset="0"/>
            </a:endParaRPr>
          </a:p>
        </p:txBody>
      </p:sp>
      <p:sp>
        <p:nvSpPr>
          <p:cNvPr id="331" name="Shape 331"/>
          <p:cNvSpPr/>
          <p:nvPr/>
        </p:nvSpPr>
        <p:spPr>
          <a:xfrm>
            <a:off x="1415434" y="2807713"/>
            <a:ext cx="8429368" cy="3330986"/>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a:t>
            </a:r>
            <a:r>
              <a:rPr lang="es-CO" dirty="0">
                <a:solidFill>
                  <a:schemeClr val="accent1"/>
                </a:solidFill>
                <a:latin typeface="Century Gothic" panose="020B0502020202020204" pitchFamily="34" charset="0"/>
              </a:rPr>
              <a:t>Estado de Situación Financiera</a:t>
            </a:r>
            <a:r>
              <a:rPr dirty="0">
                <a:solidFill>
                  <a:schemeClr val="accent1"/>
                </a:solidFill>
                <a:latin typeface="Century Gothic" panose="020B0502020202020204" pitchFamily="34" charset="0"/>
              </a:rPr>
              <a:t> (Balance </a:t>
            </a:r>
            <a:r>
              <a:rPr lang="es-CO" dirty="0">
                <a:solidFill>
                  <a:schemeClr val="accent1"/>
                </a:solidFill>
                <a:latin typeface="Century Gothic" panose="020B0502020202020204" pitchFamily="34" charset="0"/>
              </a:rPr>
              <a:t>General</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Estado de </a:t>
            </a:r>
            <a:r>
              <a:rPr dirty="0" err="1">
                <a:solidFill>
                  <a:schemeClr val="accent1"/>
                </a:solidFill>
                <a:latin typeface="Century Gothic" panose="020B0502020202020204" pitchFamily="34" charset="0"/>
              </a:rPr>
              <a:t>Resultados</a:t>
            </a:r>
            <a:r>
              <a:rPr dirty="0">
                <a:solidFill>
                  <a:schemeClr val="accent1"/>
                </a:solidFill>
                <a:latin typeface="Century Gothic" panose="020B0502020202020204" pitchFamily="34" charset="0"/>
              </a:rPr>
              <a:t> - P&amp;G (</a:t>
            </a:r>
            <a:r>
              <a:rPr lang="es-CO" dirty="0">
                <a:solidFill>
                  <a:schemeClr val="accent1"/>
                </a:solidFill>
                <a:latin typeface="Century Gothic" panose="020B0502020202020204" pitchFamily="34" charset="0"/>
              </a:rPr>
              <a:t>Estado de Pérdidas y Ganancias</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C</a:t>
            </a:r>
            <a:r>
              <a:rPr dirty="0" err="1">
                <a:solidFill>
                  <a:schemeClr val="accent1"/>
                </a:solidFill>
                <a:latin typeface="Century Gothic" panose="020B0502020202020204" pitchFamily="34" charset="0"/>
              </a:rPr>
              <a:t>ambios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P</a:t>
            </a:r>
            <a:r>
              <a:rPr dirty="0" err="1">
                <a:solidFill>
                  <a:schemeClr val="accent1"/>
                </a:solidFill>
                <a:latin typeface="Century Gothic" panose="020B0502020202020204" pitchFamily="34" charset="0"/>
              </a:rPr>
              <a:t>atrimonio</a:t>
            </a:r>
            <a:endParaRPr dirty="0">
              <a:solidFill>
                <a:schemeClr val="accent1"/>
              </a:solidFill>
              <a:latin typeface="Century Gothic" panose="020B0502020202020204" pitchFamily="34" charset="0"/>
            </a:endParaRP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F</a:t>
            </a:r>
            <a:r>
              <a:rPr dirty="0" err="1">
                <a:solidFill>
                  <a:schemeClr val="accent1"/>
                </a:solidFill>
                <a:latin typeface="Century Gothic" panose="020B0502020202020204" pitchFamily="34" charset="0"/>
              </a:rPr>
              <a:t>lujos</a:t>
            </a:r>
            <a:r>
              <a:rPr dirty="0">
                <a:solidFill>
                  <a:schemeClr val="accent1"/>
                </a:solidFill>
                <a:latin typeface="Century Gothic" panose="020B0502020202020204" pitchFamily="34" charset="0"/>
              </a:rPr>
              <a:t> de </a:t>
            </a:r>
            <a:r>
              <a:rPr lang="es-ES" dirty="0">
                <a:solidFill>
                  <a:schemeClr val="accent1"/>
                </a:solidFill>
                <a:latin typeface="Century Gothic" panose="020B0502020202020204" pitchFamily="34" charset="0"/>
              </a:rPr>
              <a:t>E</a:t>
            </a:r>
            <a:r>
              <a:rPr dirty="0" err="1">
                <a:solidFill>
                  <a:schemeClr val="accent1"/>
                </a:solidFill>
                <a:latin typeface="Century Gothic" panose="020B0502020202020204" pitchFamily="34" charset="0"/>
              </a:rPr>
              <a:t>fectivo</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Flujo de Caja de Tesorería</a:t>
            </a:r>
            <a:r>
              <a:rPr dirty="0">
                <a:solidFill>
                  <a:schemeClr val="accent1"/>
                </a:solidFill>
                <a:latin typeface="Century Gothic" panose="020B0502020202020204" pitchFamily="34" charset="0"/>
              </a:rPr>
              <a:t>)</a:t>
            </a:r>
          </a:p>
        </p:txBody>
      </p:sp>
      <p:sp>
        <p:nvSpPr>
          <p:cNvPr id="8" name="Title 1"/>
          <p:cNvSpPr>
            <a:spLocks noGrp="1"/>
          </p:cNvSpPr>
          <p:nvPr>
            <p:ph type="title"/>
          </p:nvPr>
        </p:nvSpPr>
        <p:spPr>
          <a:xfrm>
            <a:off x="446042" y="1008878"/>
            <a:ext cx="11291329" cy="803647"/>
          </a:xfrm>
        </p:spPr>
        <p:txBody>
          <a:bodyPr>
            <a:normAutofit/>
          </a:bodyPr>
          <a:lstStyle/>
          <a:p>
            <a:r>
              <a:rPr lang="es-ES_tradnl" sz="3375">
                <a:latin typeface="Century Gothic" panose="020B0502020202020204" pitchFamily="34" charset="0"/>
              </a:rPr>
              <a:t>¿Dónde se registra la contabilidad?</a:t>
            </a:r>
          </a:p>
        </p:txBody>
      </p:sp>
      <p:sp>
        <p:nvSpPr>
          <p:cNvPr id="2" name="Rectángulo 1">
            <a:extLst>
              <a:ext uri="{FF2B5EF4-FFF2-40B4-BE49-F238E27FC236}">
                <a16:creationId xmlns:a16="http://schemas.microsoft.com/office/drawing/2014/main" id="{0F96C929-DB8B-2527-4C01-D1DEC425B5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0B29330A-2C00-EF66-B072-A69705FB6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ersona Pensando Vectores, Ilustraciones y Gráficos - 123RF">
            <a:extLst>
              <a:ext uri="{FF2B5EF4-FFF2-40B4-BE49-F238E27FC236}">
                <a16:creationId xmlns:a16="http://schemas.microsoft.com/office/drawing/2014/main" id="{485D3D52-548E-4E46-7FF6-13A93EDCF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5192" y="3104635"/>
            <a:ext cx="1959362" cy="219331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5BF9D4-93E5-4F14-7D4F-B9A1067521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A28FA969-D886-FD90-592A-39A11CBC27D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291636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LOS ESTADOS FINANCIEROS (E.E.F.F.)</a:t>
            </a:r>
          </a:p>
        </p:txBody>
      </p:sp>
      <p:sp>
        <p:nvSpPr>
          <p:cNvPr id="3" name="Marcador de contenido 2"/>
          <p:cNvSpPr>
            <a:spLocks noGrp="1"/>
          </p:cNvSpPr>
          <p:nvPr>
            <p:ph idx="1"/>
          </p:nvPr>
        </p:nvSpPr>
        <p:spPr>
          <a:xfrm>
            <a:off x="847954" y="2277834"/>
            <a:ext cx="10123262" cy="3678303"/>
          </a:xfrm>
        </p:spPr>
        <p:txBody>
          <a:bodyPr>
            <a:normAutofit/>
          </a:bodyPr>
          <a:lstStyle/>
          <a:p>
            <a:pPr algn="just"/>
            <a:r>
              <a:rPr lang="es-ES" dirty="0">
                <a:solidFill>
                  <a:schemeClr val="accent1"/>
                </a:solidFill>
                <a:latin typeface="Century Gothic" panose="020B0502020202020204" pitchFamily="34" charset="0"/>
              </a:rPr>
              <a:t>Para entender a profundidad el Flujo de Caja Libre es necesario hacer una breve introducción a los Estados Financieros (E.E.F.F.)</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Estudiaremos rápidamente dos </a:t>
            </a:r>
            <a:r>
              <a:rPr lang="es-ES" b="1" dirty="0">
                <a:solidFill>
                  <a:srgbClr val="D7A700"/>
                </a:solidFill>
                <a:latin typeface="Century Gothic" panose="020B0502020202020204" pitchFamily="34" charset="0"/>
              </a:rPr>
              <a:t>(2) </a:t>
            </a:r>
            <a:r>
              <a:rPr lang="es-ES" dirty="0">
                <a:solidFill>
                  <a:schemeClr val="accent1"/>
                </a:solidFill>
                <a:latin typeface="Century Gothic" panose="020B0502020202020204" pitchFamily="34" charset="0"/>
              </a:rPr>
              <a:t>de los Estados Financieros básicos en aras de comprender de mejor forma la construcción del flujo de caja.</a:t>
            </a:r>
          </a:p>
          <a:p>
            <a:pPr lvl="1" algn="just"/>
            <a:endParaRPr lang="es-ES" sz="1800" dirty="0">
              <a:solidFill>
                <a:schemeClr val="accent1"/>
              </a:solidFill>
              <a:latin typeface="Century Gothic" panose="020B0502020202020204" pitchFamily="34" charset="0"/>
            </a:endParaRP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Situación Financiera (Balance General).</a:t>
            </a: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Resultados (Estado de Pérdidas y Ganancias).</a:t>
            </a:r>
          </a:p>
          <a:p>
            <a:endParaRPr lang="es-ES" dirty="0">
              <a:latin typeface="Century Gothic" panose="020B0502020202020204" pitchFamily="34" charset="0"/>
            </a:endParaRPr>
          </a:p>
        </p:txBody>
      </p:sp>
      <p:sp>
        <p:nvSpPr>
          <p:cNvPr id="9" name="Rectángulo 8">
            <a:extLst>
              <a:ext uri="{FF2B5EF4-FFF2-40B4-BE49-F238E27FC236}">
                <a16:creationId xmlns:a16="http://schemas.microsoft.com/office/drawing/2014/main" id="{D2CE5F44-96AF-168F-D1DD-5FC90853F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D9610E1-6701-F02C-D54E-38B50C64C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9EFB9B7A-7DB3-83BF-6553-6DAEFD4909D6}"/>
              </a:ext>
            </a:extLst>
          </p:cNvPr>
          <p:cNvPicPr>
            <a:picLocks noChangeAspect="1"/>
          </p:cNvPicPr>
          <p:nvPr/>
        </p:nvPicPr>
        <p:blipFill>
          <a:blip r:embed="rId3"/>
          <a:stretch>
            <a:fillRect/>
          </a:stretch>
        </p:blipFill>
        <p:spPr>
          <a:xfrm>
            <a:off x="8911453" y="4116985"/>
            <a:ext cx="1931973" cy="1519529"/>
          </a:xfrm>
          <a:prstGeom prst="rect">
            <a:avLst/>
          </a:prstGeom>
        </p:spPr>
      </p:pic>
      <p:sp>
        <p:nvSpPr>
          <p:cNvPr id="5" name="Rectángulo 4">
            <a:extLst>
              <a:ext uri="{FF2B5EF4-FFF2-40B4-BE49-F238E27FC236}">
                <a16:creationId xmlns:a16="http://schemas.microsoft.com/office/drawing/2014/main" id="{89331D93-40B6-ED66-9432-D50CD50E73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E92E3B2-AE5D-5010-3E35-67E6D421BE5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7987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556" y="940478"/>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72" name="Shape 72"/>
          <p:cNvSpPr>
            <a:spLocks noGrp="1"/>
          </p:cNvSpPr>
          <p:nvPr>
            <p:ph idx="1"/>
          </p:nvPr>
        </p:nvSpPr>
        <p:spPr>
          <a:xfrm>
            <a:off x="4196966" y="2136553"/>
            <a:ext cx="7166725" cy="4014680"/>
          </a:xfrm>
          <a:prstGeom prst="rect">
            <a:avLst/>
          </a:prstGeom>
        </p:spPr>
        <p:txBody>
          <a:bodyPr>
            <a:normAutofit/>
          </a:bodyPr>
          <a:lstStyle/>
          <a:p>
            <a:pPr marL="0" indent="0" algn="ctr">
              <a:buSzTx/>
              <a:buNone/>
              <a:defRPr sz="1800">
                <a:solidFill>
                  <a:srgbClr val="000000"/>
                </a:solidFill>
              </a:defRPr>
            </a:pPr>
            <a:r>
              <a:rPr sz="2000" b="1" dirty="0">
                <a:solidFill>
                  <a:schemeClr val="accent3">
                    <a:lumMod val="50000"/>
                  </a:schemeClr>
                </a:solidFill>
                <a:latin typeface="Century Gothic" panose="020B0502020202020204" pitchFamily="34" charset="0"/>
              </a:rPr>
              <a:t>Es </a:t>
            </a:r>
            <a:r>
              <a:rPr sz="2000" b="1" dirty="0" err="1">
                <a:solidFill>
                  <a:schemeClr val="accent3">
                    <a:lumMod val="50000"/>
                  </a:schemeClr>
                </a:solidFill>
                <a:latin typeface="Century Gothic" panose="020B0502020202020204" pitchFamily="34" charset="0"/>
              </a:rPr>
              <a:t>aquel</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estado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que</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representa</a:t>
            </a:r>
            <a:r>
              <a:rPr sz="2000" b="1" dirty="0">
                <a:solidFill>
                  <a:schemeClr val="accent3">
                    <a:lumMod val="50000"/>
                  </a:schemeClr>
                </a:solidFill>
                <a:latin typeface="Century Gothic" panose="020B0502020202020204" pitchFamily="34" charset="0"/>
              </a:rPr>
              <a:t>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financiera</a:t>
            </a:r>
            <a:r>
              <a:rPr lang="es-ES" sz="2000" b="1" dirty="0">
                <a:solidFill>
                  <a:schemeClr val="accent3">
                    <a:lumMod val="50000"/>
                  </a:schemeClr>
                </a:solidFill>
                <a:latin typeface="Century Gothic" panose="020B0502020202020204" pitchFamily="34" charset="0"/>
              </a:rPr>
              <a:t> </a:t>
            </a:r>
            <a:r>
              <a:rPr sz="2000" b="1" dirty="0">
                <a:solidFill>
                  <a:schemeClr val="accent3">
                    <a:lumMod val="50000"/>
                  </a:schemeClr>
                </a:solidFill>
                <a:latin typeface="Century Gothic" panose="020B0502020202020204" pitchFamily="34" charset="0"/>
              </a:rPr>
              <a:t>o</a:t>
            </a:r>
            <a:r>
              <a:rPr lang="es-ES"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dicho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otras</a:t>
            </a:r>
            <a:r>
              <a:rPr sz="2000" b="1" dirty="0">
                <a:solidFill>
                  <a:schemeClr val="accent3">
                    <a:lumMod val="50000"/>
                  </a:schemeClr>
                </a:solidFill>
                <a:latin typeface="Century Gothic" panose="020B0502020202020204" pitchFamily="34" charset="0"/>
              </a:rPr>
              <a:t> palabras,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de </a:t>
            </a:r>
            <a:r>
              <a:rPr sz="2000" b="1" dirty="0" err="1">
                <a:solidFill>
                  <a:schemeClr val="accent3">
                    <a:lumMod val="50000"/>
                  </a:schemeClr>
                </a:solidFill>
                <a:latin typeface="Century Gothic" panose="020B0502020202020204" pitchFamily="34" charset="0"/>
              </a:rPr>
              <a:t>los</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activos</a:t>
            </a:r>
            <a:r>
              <a:rPr lang="es-CO"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pasivos</a:t>
            </a:r>
            <a:r>
              <a:rPr lang="es-CO" sz="2000" b="1" dirty="0">
                <a:solidFill>
                  <a:schemeClr val="accent3">
                    <a:lumMod val="50000"/>
                  </a:schemeClr>
                </a:solidFill>
                <a:latin typeface="Century Gothic" panose="020B0502020202020204" pitchFamily="34" charset="0"/>
              </a:rPr>
              <a:t>, y patrimonio</a:t>
            </a:r>
            <a:r>
              <a:rPr sz="2000" b="1" dirty="0">
                <a:solidFill>
                  <a:schemeClr val="accent3">
                    <a:lumMod val="50000"/>
                  </a:schemeClr>
                </a:solidFill>
                <a:latin typeface="Century Gothic" panose="020B0502020202020204" pitchFamily="34" charset="0"/>
              </a:rPr>
              <a:t> de la </a:t>
            </a:r>
            <a:r>
              <a:rPr sz="2000" b="1" dirty="0" err="1">
                <a:solidFill>
                  <a:schemeClr val="accent3">
                    <a:lumMod val="50000"/>
                  </a:schemeClr>
                </a:solidFill>
                <a:latin typeface="Century Gothic" panose="020B0502020202020204" pitchFamily="34" charset="0"/>
              </a:rPr>
              <a:t>empresa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una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fecha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determinada</a:t>
            </a:r>
            <a:r>
              <a:rPr sz="2000" b="1" dirty="0">
                <a:solidFill>
                  <a:schemeClr val="accent3">
                    <a:lumMod val="50000"/>
                  </a:schemeClr>
                </a:solidFill>
                <a:latin typeface="Century Gothic" panose="020B0502020202020204" pitchFamily="34" charset="0"/>
              </a:rPr>
              <a:t>.</a:t>
            </a:r>
            <a:endParaRPr lang="es-CO" sz="2000" b="1" dirty="0">
              <a:solidFill>
                <a:schemeClr val="accent3">
                  <a:lumMod val="50000"/>
                </a:schemeClr>
              </a:solidFill>
              <a:latin typeface="Century Gothic" panose="020B0502020202020204" pitchFamily="34" charset="0"/>
            </a:endParaRPr>
          </a:p>
          <a:p>
            <a:pPr marL="0" indent="0" algn="ctr">
              <a:buSzTx/>
              <a:buNone/>
              <a:defRPr sz="1800">
                <a:solidFill>
                  <a:srgbClr val="000000"/>
                </a:solidFill>
              </a:defRPr>
            </a:pPr>
            <a:endParaRPr lang="es-CO" sz="2000" dirty="0">
              <a:solidFill>
                <a:schemeClr val="accent1">
                  <a:lumMod val="75000"/>
                </a:schemeClr>
              </a:solidFill>
              <a:latin typeface="Century Gothic" panose="020B0502020202020204" pitchFamily="34" charset="0"/>
            </a:endParaRPr>
          </a:p>
          <a:p>
            <a:pPr marL="0" indent="0" algn="ctr">
              <a:buSzTx/>
              <a:buNone/>
              <a:defRPr sz="1800">
                <a:solidFill>
                  <a:srgbClr val="000000"/>
                </a:solidFill>
              </a:defRPr>
            </a:pPr>
            <a:r>
              <a:rPr lang="es-CO" sz="2000" dirty="0">
                <a:solidFill>
                  <a:schemeClr val="accent1">
                    <a:lumMod val="75000"/>
                  </a:schemeClr>
                </a:solidFill>
                <a:latin typeface="Century Gothic" panose="020B0502020202020204" pitchFamily="34" charset="0"/>
              </a:rPr>
              <a:t>Se puede entender como una “fotografía” de la empresa en un momento del tiempo específico. </a:t>
            </a:r>
          </a:p>
          <a:p>
            <a:pPr marL="0" indent="0" algn="ctr">
              <a:buSzTx/>
              <a:buNone/>
              <a:defRPr sz="1800">
                <a:solidFill>
                  <a:srgbClr val="000000"/>
                </a:solidFill>
              </a:defRPr>
            </a:pPr>
            <a:endParaRPr lang="es-ES_tradnl" sz="2000" dirty="0">
              <a:solidFill>
                <a:schemeClr val="accent1">
                  <a:lumMod val="75000"/>
                </a:schemeClr>
              </a:solidFill>
              <a:latin typeface="Century Gothic" panose="020B0502020202020204" pitchFamily="34" charset="0"/>
            </a:endParaRPr>
          </a:p>
        </p:txBody>
      </p:sp>
      <p:sp>
        <p:nvSpPr>
          <p:cNvPr id="2" name="Rectángulo 1">
            <a:extLst>
              <a:ext uri="{FF2B5EF4-FFF2-40B4-BE49-F238E27FC236}">
                <a16:creationId xmlns:a16="http://schemas.microsoft.com/office/drawing/2014/main" id="{44846409-481F-62E8-7ECB-BBF7CCD0AA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83688FB-20A7-DE93-BD83-0A894D1567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mpresario De Dibujos Animados Buscar Diana En Dirección Equivocada  Ilustraciones svg, vectoriales, clip art vectorizado libre de derechos.  Image 59598266">
            <a:extLst>
              <a:ext uri="{FF2B5EF4-FFF2-40B4-BE49-F238E27FC236}">
                <a16:creationId xmlns:a16="http://schemas.microsoft.com/office/drawing/2014/main" id="{DFA738F2-6DC3-DBE4-A6F1-0EF8F2ADF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422" y="2789621"/>
            <a:ext cx="2535195" cy="25351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C5C995A-5E97-6675-06D3-F3E7568EB8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340C740E-DA9D-C0E4-2E6A-F30A30EEDA4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42860079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556" y="975732"/>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17" name="Shape 72"/>
          <p:cNvSpPr>
            <a:spLocks noGrp="1"/>
          </p:cNvSpPr>
          <p:nvPr>
            <p:ph idx="1"/>
          </p:nvPr>
        </p:nvSpPr>
        <p:spPr>
          <a:xfrm>
            <a:off x="1981328" y="1634214"/>
            <a:ext cx="7619767" cy="1030872"/>
          </a:xfrm>
          <a:prstGeom prst="rect">
            <a:avLst/>
          </a:prstGeom>
        </p:spPr>
        <p:txBody>
          <a:bodyPr>
            <a:normAutofit/>
          </a:bodyPr>
          <a:lstStyle/>
          <a:p>
            <a:pPr marL="0" indent="0" algn="ctr">
              <a:buSzTx/>
              <a:buNone/>
              <a:defRPr sz="1800">
                <a:solidFill>
                  <a:srgbClr val="000000"/>
                </a:solidFill>
              </a:defRPr>
            </a:pPr>
            <a:r>
              <a:rPr lang="es-ES_tradnl">
                <a:solidFill>
                  <a:schemeClr val="accent1">
                    <a:lumMod val="75000"/>
                  </a:schemeClr>
                </a:solidFill>
                <a:latin typeface="Century Gothic" panose="020B0502020202020204" pitchFamily="34" charset="0"/>
              </a:rPr>
              <a:t>A continuación, el ejemplo del Estado de Situación Financiera de la empresa Colombina S.A. (Millones de Pesos)</a:t>
            </a:r>
          </a:p>
        </p:txBody>
      </p:sp>
      <p:sp>
        <p:nvSpPr>
          <p:cNvPr id="2" name="Rectángulo 1">
            <a:extLst>
              <a:ext uri="{FF2B5EF4-FFF2-40B4-BE49-F238E27FC236}">
                <a16:creationId xmlns:a16="http://schemas.microsoft.com/office/drawing/2014/main" id="{03EE7C7B-8BF0-D205-144B-1408BAD5AA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0FEEA3E-D6C9-A9AC-C4BA-4E324E30B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0D3B33F-2DC0-E428-14B7-40AD3FA8A6E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0671A0E0-ADA4-C0C8-3B9A-36B97A22E12D}"/>
              </a:ext>
            </a:extLst>
          </p:cNvPr>
          <p:cNvPicPr>
            <a:picLocks noChangeAspect="1"/>
          </p:cNvPicPr>
          <p:nvPr/>
        </p:nvPicPr>
        <p:blipFill>
          <a:blip r:embed="rId3"/>
          <a:stretch>
            <a:fillRect/>
          </a:stretch>
        </p:blipFill>
        <p:spPr>
          <a:xfrm>
            <a:off x="6533647" y="2761138"/>
            <a:ext cx="4552367" cy="3634161"/>
          </a:xfrm>
          <a:prstGeom prst="rect">
            <a:avLst/>
          </a:prstGeom>
        </p:spPr>
      </p:pic>
      <p:pic>
        <p:nvPicPr>
          <p:cNvPr id="21" name="Imagen 20">
            <a:extLst>
              <a:ext uri="{FF2B5EF4-FFF2-40B4-BE49-F238E27FC236}">
                <a16:creationId xmlns:a16="http://schemas.microsoft.com/office/drawing/2014/main" id="{2B4651E8-9E5F-E7C9-CDD3-675E12FD2E42}"/>
              </a:ext>
            </a:extLst>
          </p:cNvPr>
          <p:cNvPicPr>
            <a:picLocks noChangeAspect="1"/>
          </p:cNvPicPr>
          <p:nvPr/>
        </p:nvPicPr>
        <p:blipFill>
          <a:blip r:embed="rId4"/>
          <a:stretch>
            <a:fillRect/>
          </a:stretch>
        </p:blipFill>
        <p:spPr>
          <a:xfrm>
            <a:off x="952321" y="2638917"/>
            <a:ext cx="5491077" cy="3720889"/>
          </a:xfrm>
          <a:prstGeom prst="rect">
            <a:avLst/>
          </a:prstGeom>
        </p:spPr>
      </p:pic>
      <p:sp>
        <p:nvSpPr>
          <p:cNvPr id="11" name="Shape 78"/>
          <p:cNvSpPr/>
          <p:nvPr/>
        </p:nvSpPr>
        <p:spPr>
          <a:xfrm>
            <a:off x="6533646" y="2597780"/>
            <a:ext cx="4586817" cy="2836369"/>
          </a:xfrm>
          <a:prstGeom prst="roundRect">
            <a:avLst>
              <a:gd name="adj" fmla="val 19531"/>
            </a:avLst>
          </a:prstGeom>
          <a:blipFill>
            <a:blip r:embed="rId5">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9" name="Shape 77"/>
          <p:cNvSpPr/>
          <p:nvPr/>
        </p:nvSpPr>
        <p:spPr>
          <a:xfrm>
            <a:off x="834471" y="2597780"/>
            <a:ext cx="5699174" cy="3720889"/>
          </a:xfrm>
          <a:prstGeom prst="roundRect">
            <a:avLst>
              <a:gd name="adj" fmla="val 13654"/>
            </a:avLst>
          </a:prstGeom>
          <a:blipFill>
            <a:blip r:embed="rId6">
              <a:alphaModFix amt="30000"/>
            </a:blip>
          </a:blip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0" name="Shape 80"/>
          <p:cNvSpPr/>
          <p:nvPr/>
        </p:nvSpPr>
        <p:spPr>
          <a:xfrm>
            <a:off x="3068138" y="4055615"/>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rgbClr val="C00000"/>
                </a:solidFill>
                <a:latin typeface="Century Gothic" panose="020B0502020202020204" pitchFamily="34" charset="0"/>
              </a:rPr>
              <a:t>Activos</a:t>
            </a:r>
          </a:p>
        </p:txBody>
      </p:sp>
      <p:sp>
        <p:nvSpPr>
          <p:cNvPr id="13" name="Shape 81"/>
          <p:cNvSpPr/>
          <p:nvPr/>
        </p:nvSpPr>
        <p:spPr>
          <a:xfrm>
            <a:off x="8509313" y="3707963"/>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chemeClr val="accent5">
                    <a:lumMod val="50000"/>
                  </a:schemeClr>
                </a:solidFill>
                <a:latin typeface="Century Gothic" panose="020B0502020202020204" pitchFamily="34" charset="0"/>
              </a:rPr>
              <a:t>Pasivos</a:t>
            </a:r>
          </a:p>
        </p:txBody>
      </p:sp>
      <p:sp>
        <p:nvSpPr>
          <p:cNvPr id="12" name="Shape 79"/>
          <p:cNvSpPr/>
          <p:nvPr/>
        </p:nvSpPr>
        <p:spPr>
          <a:xfrm>
            <a:off x="6499198" y="5434149"/>
            <a:ext cx="4586816" cy="903127"/>
          </a:xfrm>
          <a:prstGeom prst="roundRect">
            <a:avLst>
              <a:gd name="adj" fmla="val 42290"/>
            </a:avLst>
          </a:prstGeom>
          <a:gradFill>
            <a:gsLst>
              <a:gs pos="0">
                <a:srgbClr val="80A7A7">
                  <a:alpha val="30000"/>
                </a:srgbClr>
              </a:gs>
              <a:gs pos="100000">
                <a:srgbClr val="588388">
                  <a:alpha val="30000"/>
                </a:srgbClr>
              </a:gs>
            </a:gsLst>
            <a:lin ang="5400000"/>
          </a:grad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4" name="Shape 82"/>
          <p:cNvSpPr/>
          <p:nvPr/>
        </p:nvSpPr>
        <p:spPr>
          <a:xfrm>
            <a:off x="8274931" y="5477847"/>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lang="es-CO" sz="1800" b="1">
                <a:solidFill>
                  <a:srgbClr val="0070C0"/>
                </a:solidFill>
                <a:latin typeface="Century Gothic" panose="020B0502020202020204" pitchFamily="34" charset="0"/>
              </a:rPr>
              <a:t>Patrimonio</a:t>
            </a:r>
            <a:endParaRPr sz="1800" b="1">
              <a:solidFill>
                <a:srgbClr val="0070C0"/>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1A50DB2-0E61-3826-3192-FA418C7AD78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25158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P spid="13" grpId="0" animBg="1"/>
      <p:bldP spid="12"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CC0A3-C623-90F2-C1E2-C368C1077AC2}"/>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BA19A034-853C-E73E-6C90-E3A258D40AD2}"/>
              </a:ext>
            </a:extLst>
          </p:cNvPr>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a:extLst>
              <a:ext uri="{FF2B5EF4-FFF2-40B4-BE49-F238E27FC236}">
                <a16:creationId xmlns:a16="http://schemas.microsoft.com/office/drawing/2014/main" id="{7B269105-DCB0-EB2B-02D8-E8A3FA5E4A4D}"/>
              </a:ext>
            </a:extLst>
          </p:cNvPr>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a:extLst>
              <a:ext uri="{FF2B5EF4-FFF2-40B4-BE49-F238E27FC236}">
                <a16:creationId xmlns:a16="http://schemas.microsoft.com/office/drawing/2014/main" id="{6A34B491-9E03-945D-9456-0F90FC7551F5}"/>
              </a:ext>
            </a:extLst>
          </p:cNvPr>
          <p:cNvSpPr/>
          <p:nvPr/>
        </p:nvSpPr>
        <p:spPr>
          <a:xfrm>
            <a:off x="3667909" y="3099679"/>
            <a:ext cx="2512594" cy="3100819"/>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Activos</a:t>
            </a:r>
          </a:p>
        </p:txBody>
      </p:sp>
      <p:sp>
        <p:nvSpPr>
          <p:cNvPr id="5" name="Title 4">
            <a:extLst>
              <a:ext uri="{FF2B5EF4-FFF2-40B4-BE49-F238E27FC236}">
                <a16:creationId xmlns:a16="http://schemas.microsoft.com/office/drawing/2014/main" id="{21FCF882-DA68-B631-D13D-FBF820650065}"/>
              </a:ext>
            </a:extLst>
          </p:cNvPr>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6" name="Rectangle 5">
            <a:extLst>
              <a:ext uri="{FF2B5EF4-FFF2-40B4-BE49-F238E27FC236}">
                <a16:creationId xmlns:a16="http://schemas.microsoft.com/office/drawing/2014/main" id="{A3E7A197-73B9-8262-06B6-FBB777525290}"/>
              </a:ext>
            </a:extLst>
          </p:cNvPr>
          <p:cNvSpPr/>
          <p:nvPr/>
        </p:nvSpPr>
        <p:spPr>
          <a:xfrm>
            <a:off x="6178857" y="3086855"/>
            <a:ext cx="2510948" cy="1897580"/>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Pasivos</a:t>
            </a:r>
          </a:p>
        </p:txBody>
      </p:sp>
      <p:sp>
        <p:nvSpPr>
          <p:cNvPr id="9" name="Rectangle 8">
            <a:extLst>
              <a:ext uri="{FF2B5EF4-FFF2-40B4-BE49-F238E27FC236}">
                <a16:creationId xmlns:a16="http://schemas.microsoft.com/office/drawing/2014/main" id="{1D6D3980-EF77-2856-0BEA-DD0D580C7998}"/>
              </a:ext>
            </a:extLst>
          </p:cNvPr>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a:extLst>
              <a:ext uri="{FF2B5EF4-FFF2-40B4-BE49-F238E27FC236}">
                <a16:creationId xmlns:a16="http://schemas.microsoft.com/office/drawing/2014/main" id="{9BD35E86-B90A-F8E5-E5DD-C829BA53B845}"/>
              </a:ext>
            </a:extLst>
          </p:cNvPr>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EC05F42D-E979-9727-1834-05B205411B1C}"/>
              </a:ext>
            </a:extLst>
          </p:cNvPr>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a:extLst>
              <a:ext uri="{FF2B5EF4-FFF2-40B4-BE49-F238E27FC236}">
                <a16:creationId xmlns:a16="http://schemas.microsoft.com/office/drawing/2014/main" id="{3D7385E0-8602-0C30-D74C-A65E58761096}"/>
              </a:ext>
            </a:extLst>
          </p:cNvPr>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a:extLst>
              <a:ext uri="{FF2B5EF4-FFF2-40B4-BE49-F238E27FC236}">
                <a16:creationId xmlns:a16="http://schemas.microsoft.com/office/drawing/2014/main" id="{3802F449-F04A-82F5-C9BB-D24A5FDF9DCF}"/>
              </a:ext>
            </a:extLst>
          </p:cNvPr>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a:extLst>
              <a:ext uri="{FF2B5EF4-FFF2-40B4-BE49-F238E27FC236}">
                <a16:creationId xmlns:a16="http://schemas.microsoft.com/office/drawing/2014/main" id="{CDAA6320-313E-197D-6AE3-978DA3C70BE9}"/>
              </a:ext>
            </a:extLst>
          </p:cNvPr>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05BB4BD4-66AD-E460-55CC-CC09074984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A00D9CB-44BB-D1DB-CBD1-BB20D1C10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F836EE18-992C-D7A2-E9A1-79485EA7F06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DC249D0B-61C7-4A65-77F1-4B7AA70C4DA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10714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4" grpId="0" animBg="1"/>
      <p:bldP spid="10" grpId="0" animBg="1"/>
      <p:bldP spid="12" grpId="0"/>
      <p:bldP spid="13"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p:cNvSpPr/>
          <p:nvPr/>
        </p:nvSpPr>
        <p:spPr>
          <a:xfrm>
            <a:off x="3667909" y="3920188"/>
            <a:ext cx="2512594" cy="2280310"/>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 No Corriente</a:t>
            </a:r>
          </a:p>
        </p:txBody>
      </p:sp>
      <p:sp>
        <p:nvSpPr>
          <p:cNvPr id="8" name="Rectangle 7"/>
          <p:cNvSpPr/>
          <p:nvPr/>
        </p:nvSpPr>
        <p:spPr>
          <a:xfrm>
            <a:off x="6182149" y="3933844"/>
            <a:ext cx="2512594" cy="1051401"/>
          </a:xfrm>
          <a:prstGeom prst="rect">
            <a:avLst/>
          </a:prstGeom>
          <a:solidFill>
            <a:srgbClr val="00B0F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Deudas o Pasivos de </a:t>
            </a:r>
          </a:p>
          <a:p>
            <a:pPr algn="ctr"/>
            <a:r>
              <a:rPr lang="es-ES_tradnl" sz="1600">
                <a:latin typeface="Century Gothic" panose="020B0502020202020204" pitchFamily="34" charset="0"/>
              </a:rPr>
              <a:t>Largo Plazo/Pasivo No Corriente</a:t>
            </a:r>
          </a:p>
        </p:txBody>
      </p:sp>
      <p:sp>
        <p:nvSpPr>
          <p:cNvPr id="5" name="Title 4"/>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2" name="Content Placeholder 1"/>
          <p:cNvSpPr>
            <a:spLocks noGrp="1"/>
          </p:cNvSpPr>
          <p:nvPr>
            <p:ph idx="1"/>
          </p:nvPr>
        </p:nvSpPr>
        <p:spPr>
          <a:xfrm>
            <a:off x="2638424" y="2200453"/>
            <a:ext cx="7610476" cy="3670767"/>
          </a:xfrm>
        </p:spPr>
        <p:txBody>
          <a:bodyPr/>
          <a:lstStyle/>
          <a:p>
            <a:pPr algn="just"/>
            <a:endParaRPr lang="es-ES_tradnl"/>
          </a:p>
          <a:p>
            <a:pPr lvl="1" algn="just">
              <a:buFont typeface="Wingdings" charset="2"/>
              <a:buChar char="§"/>
            </a:pPr>
            <a:endParaRPr lang="es-ES_tradnl"/>
          </a:p>
        </p:txBody>
      </p:sp>
      <p:sp>
        <p:nvSpPr>
          <p:cNvPr id="7" name="Rectangle 6"/>
          <p:cNvSpPr/>
          <p:nvPr/>
        </p:nvSpPr>
        <p:spPr>
          <a:xfrm>
            <a:off x="3667086" y="3075711"/>
            <a:ext cx="2512594" cy="846584"/>
          </a:xfrm>
          <a:prstGeom prst="rect">
            <a:avLst/>
          </a:prstGeom>
          <a:solidFill>
            <a:schemeClr val="accent5">
              <a:lumMod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Activo Corriente</a:t>
            </a:r>
          </a:p>
        </p:txBody>
      </p:sp>
      <p:sp>
        <p:nvSpPr>
          <p:cNvPr id="6" name="Rectangle 5"/>
          <p:cNvSpPr/>
          <p:nvPr/>
        </p:nvSpPr>
        <p:spPr>
          <a:xfrm>
            <a:off x="6178857" y="3086855"/>
            <a:ext cx="2510948" cy="846584"/>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 Corriente</a:t>
            </a:r>
          </a:p>
        </p:txBody>
      </p:sp>
      <p:sp>
        <p:nvSpPr>
          <p:cNvPr id="9" name="Rectangle 8"/>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8E83DB91-6DDB-F8C9-B169-49013524F9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590B544-A925-C4A9-EBF7-55BC700F5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ABF9BB56-DAB1-2D3A-E0F0-FB43E99EDF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8" name="Marcador de número de diapositiva 3">
            <a:extLst>
              <a:ext uri="{FF2B5EF4-FFF2-40B4-BE49-F238E27FC236}">
                <a16:creationId xmlns:a16="http://schemas.microsoft.com/office/drawing/2014/main" id="{F9E216B6-7280-7718-D4EA-B5989AA8BDB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368933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7" grpId="0" animBg="1"/>
      <p:bldP spid="6" grpId="0" animBg="1"/>
      <p:bldP spid="9" grpId="0" animBg="1"/>
      <p:bldP spid="4" grpId="0" animBg="1"/>
      <p:bldP spid="10" grpId="0" animBg="1"/>
      <p:bldP spid="12" grpId="0"/>
      <p:bldP spid="13"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p:nvPr/>
        </p:nvSpPr>
        <p:spPr>
          <a:xfrm>
            <a:off x="6217566" y="3585385"/>
            <a:ext cx="5149343" cy="80364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algn="ctr">
              <a:spcBef>
                <a:spcPts val="2953"/>
              </a:spcBef>
              <a:defRPr sz="1800">
                <a:solidFill>
                  <a:srgbClr val="000000"/>
                </a:solidFill>
              </a:defRPr>
            </a:pPr>
            <a:r>
              <a:rPr lang="es-ES" dirty="0">
                <a:solidFill>
                  <a:schemeClr val="accent3">
                    <a:lumMod val="50000"/>
                  </a:schemeClr>
                </a:solidFill>
                <a:latin typeface="Century Gothic"/>
              </a:rPr>
              <a:t>Recurso controlado por una entidad como resultado de sucesos pasados, del que se espera obtener beneficios económicos en el futuro. Esto implica que el activo debe cumplir tres criterios: ser un recurso, estar controlado por la empresa, y generar beneficios futuros para esta.</a:t>
            </a:r>
            <a:endParaRPr dirty="0">
              <a:solidFill>
                <a:schemeClr val="accent3">
                  <a:lumMod val="50000"/>
                </a:schemeClr>
              </a:solidFill>
              <a:latin typeface="Century Gothic" panose="020B0502020202020204" pitchFamily="34" charset="0"/>
            </a:endParaRPr>
          </a:p>
        </p:txBody>
      </p:sp>
      <p:sp>
        <p:nvSpPr>
          <p:cNvPr id="8" name="Title 1"/>
          <p:cNvSpPr>
            <a:spLocks noGrp="1"/>
          </p:cNvSpPr>
          <p:nvPr>
            <p:ph type="title"/>
          </p:nvPr>
        </p:nvSpPr>
        <p:spPr>
          <a:xfrm>
            <a:off x="446043" y="967522"/>
            <a:ext cx="7249775" cy="803647"/>
          </a:xfrm>
        </p:spPr>
        <p:txBody>
          <a:bodyPr/>
          <a:lstStyle/>
          <a:p>
            <a:r>
              <a:rPr lang="es-ES_tradnl">
                <a:latin typeface="Century Gothic" panose="020B0502020202020204" pitchFamily="34" charset="0"/>
              </a:rPr>
              <a:t>¿Qué es un activo?</a:t>
            </a:r>
          </a:p>
        </p:txBody>
      </p:sp>
      <p:pic>
        <p:nvPicPr>
          <p:cNvPr id="2050" name="Picture 2" descr="Resultado de imagen para activos"/>
          <p:cNvPicPr>
            <a:picLocks noChangeAspect="1" noChangeArrowheads="1"/>
          </p:cNvPicPr>
          <p:nvPr/>
        </p:nvPicPr>
        <p:blipFill>
          <a:blip r:embed="rId2">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641965" y="2546701"/>
            <a:ext cx="5484091" cy="2865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4CC4F635-E80B-E9BE-3C40-E4A75C26F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44DE8D4-FC5A-AF5C-CFFD-34425FD0F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CF5563E-4123-9B27-C6EE-5CF453E68F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90C47C60-8B22-316E-757E-19118BB5E43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141953918"/>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46043" y="975665"/>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6284D2C9-F225-0FE8-1F70-DB55164B0B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1364DEB-FDAF-4DDC-647A-77D84FE3C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F04E7F52-C797-5FAA-A991-068937032C46}"/>
              </a:ext>
            </a:extLst>
          </p:cNvPr>
          <p:cNvGraphicFramePr/>
          <p:nvPr>
            <p:extLst>
              <p:ext uri="{D42A27DB-BD31-4B8C-83A1-F6EECF244321}">
                <p14:modId xmlns:p14="http://schemas.microsoft.com/office/powerpoint/2010/main" val="3074929608"/>
              </p:ext>
            </p:extLst>
          </p:nvPr>
        </p:nvGraphicFramePr>
        <p:xfrm>
          <a:off x="3415002" y="1827666"/>
          <a:ext cx="5546117" cy="4807474"/>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a:txBody>
                    <a:bodyPr/>
                    <a:lstStyle/>
                    <a:p>
                      <a:pPr lvl="0" algn="just" defTabSz="914400">
                        <a:defRPr>
                          <a:solidFill>
                            <a:srgbClr val="000000"/>
                          </a:solidFill>
                        </a:defRPr>
                      </a:pPr>
                      <a:endParaRPr sz="900" i="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22E3336D-63FD-5605-19E2-BDE08D46ECA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D4EA847-DAA1-4BFD-2C47-2DAFC7A8ECF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4197530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2DE7-D638-C3AD-1C7E-88D6A838011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714BE45-2F26-888E-645B-220C7C4E2FBF}"/>
              </a:ext>
            </a:extLst>
          </p:cNvPr>
          <p:cNvSpPr>
            <a:spLocks noGrp="1"/>
          </p:cNvSpPr>
          <p:nvPr>
            <p:ph type="title"/>
          </p:nvPr>
        </p:nvSpPr>
        <p:spPr>
          <a:xfrm>
            <a:off x="446042" y="972335"/>
            <a:ext cx="11164765" cy="803647"/>
          </a:xfrm>
        </p:spPr>
        <p:txBody>
          <a:bodyPr vert="horz" lIns="91440" tIns="45720" rIns="91440" bIns="45720" rtlCol="0" anchor="b">
            <a:noAutofit/>
          </a:bodyPr>
          <a:lstStyle/>
          <a:p>
            <a:r>
              <a:rPr lang="es-ES_tradnl" sz="2400">
                <a:latin typeface="Century Gothic" panose="020B0502020202020204" pitchFamily="34" charset="0"/>
              </a:rPr>
              <a:t>¿Cómo es la estructura del ESTADO DE SITUACIÓN FINANCIERA?</a:t>
            </a:r>
            <a:endParaRPr lang="es-ES_tradnl" sz="2000">
              <a:latin typeface="Century Gothic" panose="020B0502020202020204" pitchFamily="34" charset="0"/>
            </a:endParaRPr>
          </a:p>
        </p:txBody>
      </p:sp>
      <p:sp>
        <p:nvSpPr>
          <p:cNvPr id="2" name="Rectángulo 1">
            <a:extLst>
              <a:ext uri="{FF2B5EF4-FFF2-40B4-BE49-F238E27FC236}">
                <a16:creationId xmlns:a16="http://schemas.microsoft.com/office/drawing/2014/main" id="{4CE0D78B-65B2-8466-64AD-F05FEB5CFD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F8C41BF-F868-E4E5-2F22-5A84922CE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0F53ECB7-65D3-3649-15C6-2EAC4DEAEC83}"/>
              </a:ext>
            </a:extLst>
          </p:cNvPr>
          <p:cNvGraphicFramePr/>
          <p:nvPr>
            <p:extLst>
              <p:ext uri="{D42A27DB-BD31-4B8C-83A1-F6EECF244321}">
                <p14:modId xmlns:p14="http://schemas.microsoft.com/office/powerpoint/2010/main" val="3787379266"/>
              </p:ext>
            </p:extLst>
          </p:nvPr>
        </p:nvGraphicFramePr>
        <p:xfrm>
          <a:off x="3249424" y="1932416"/>
          <a:ext cx="5546117" cy="472225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sz="1100" i="0" spc="56" dirty="0">
                          <a:solidFill>
                            <a:schemeClr val="accent1"/>
                          </a:solidFill>
                          <a:latin typeface="Century Gothic" panose="020B0502020202020204" pitchFamily="34" charset="0"/>
                        </a:rPr>
                        <a:t>Activos </a:t>
                      </a:r>
                      <a:r>
                        <a:rPr sz="1100" i="0" spc="56" dirty="0" err="1">
                          <a:solidFill>
                            <a:schemeClr val="accent1"/>
                          </a:solidFill>
                          <a:latin typeface="Century Gothic" panose="020B0502020202020204" pitchFamily="34" charset="0"/>
                        </a:rPr>
                        <a:t>líquidos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corto</a:t>
                      </a:r>
                      <a:r>
                        <a:rPr sz="1100" b="1"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plazo</a:t>
                      </a:r>
                      <a:r>
                        <a:rPr sz="1100" b="1" i="0" spc="56" dirty="0">
                          <a:solidFill>
                            <a:schemeClr val="accent1"/>
                          </a:solidFill>
                          <a:latin typeface="Century Gothic" panose="020B0502020202020204" pitchFamily="34" charset="0"/>
                        </a:rPr>
                        <a:t>.</a:t>
                      </a:r>
                      <a:r>
                        <a:rPr sz="1100" i="0" spc="56" dirty="0">
                          <a:solidFill>
                            <a:schemeClr val="accent1"/>
                          </a:solidFill>
                          <a:latin typeface="Century Gothic" panose="020B0502020202020204" pitchFamily="34" charset="0"/>
                        </a:rPr>
                        <a:t> Es </a:t>
                      </a:r>
                      <a:r>
                        <a:rPr sz="1100" i="0" spc="56" dirty="0" err="1">
                          <a:solidFill>
                            <a:schemeClr val="accent1"/>
                          </a:solidFill>
                          <a:latin typeface="Century Gothic" panose="020B0502020202020204" pitchFamily="34" charset="0"/>
                        </a:rPr>
                        <a:t>decir</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aquellos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activos</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fácil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realización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momento</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que</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empresa</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tenga</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intención</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convertirlos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dinero, </a:t>
                      </a:r>
                      <a:r>
                        <a:rPr sz="1100" i="0" spc="56" dirty="0" err="1">
                          <a:solidFill>
                            <a:schemeClr val="accent1"/>
                          </a:solidFill>
                          <a:latin typeface="Century Gothic" panose="020B0502020202020204" pitchFamily="34" charset="0"/>
                        </a:rPr>
                        <a:t>venderlos</a:t>
                      </a:r>
                      <a:r>
                        <a:rPr sz="1100" i="0" spc="56" dirty="0">
                          <a:solidFill>
                            <a:schemeClr val="accent1"/>
                          </a:solidFill>
                          <a:latin typeface="Century Gothic" panose="020B0502020202020204" pitchFamily="34" charset="0"/>
                        </a:rPr>
                        <a:t> o </a:t>
                      </a:r>
                      <a:r>
                        <a:rPr sz="1100" i="0" spc="56" dirty="0" err="1">
                          <a:solidFill>
                            <a:schemeClr val="accent1"/>
                          </a:solidFill>
                          <a:latin typeface="Century Gothic" panose="020B0502020202020204" pitchFamily="34" charset="0"/>
                        </a:rPr>
                        <a:t>consumirlos</a:t>
                      </a:r>
                      <a:r>
                        <a:rPr sz="1100" i="0" spc="56" dirty="0">
                          <a:solidFill>
                            <a:schemeClr val="accent1"/>
                          </a:solidFill>
                          <a:latin typeface="Century Gothic" panose="020B0502020202020204" pitchFamily="34" charset="0"/>
                        </a:rPr>
                        <a:t>.</a:t>
                      </a: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r>
                        <a:rPr lang="es-CO" sz="1100" b="1" i="0" spc="56" dirty="0">
                          <a:solidFill>
                            <a:schemeClr val="accent1"/>
                          </a:solidFill>
                          <a:latin typeface="Century Gothic" panose="020B0502020202020204" pitchFamily="34" charset="0"/>
                        </a:rPr>
                        <a:t>Corto plazo: </a:t>
                      </a:r>
                      <a:r>
                        <a:rPr lang="es-CO" sz="1100" i="0" spc="56" dirty="0">
                          <a:solidFill>
                            <a:schemeClr val="accent1"/>
                          </a:solidFill>
                          <a:latin typeface="Century Gothic" panose="020B0502020202020204" pitchFamily="34" charset="0"/>
                        </a:rPr>
                        <a:t>Menor o igual a 1 año.</a:t>
                      </a: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Activos</a:t>
                      </a:r>
                      <a:r>
                        <a:rPr sz="1100" b="1" spc="56">
                          <a:solidFill>
                            <a:schemeClr val="bg1"/>
                          </a:solidFill>
                          <a:latin typeface="Century Gothic" panose="020B0502020202020204" pitchFamily="34" charset="0"/>
                        </a:rPr>
                        <a:t>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Patrimonio</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822442">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05B50B28-4DEB-02B3-8FF5-874044B80F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E1AEBB-1751-B085-0B6B-ED9C191EE5B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641683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p:nvPr/>
        </p:nvSpPr>
        <p:spPr>
          <a:xfrm>
            <a:off x="3757810" y="2348842"/>
            <a:ext cx="7455972" cy="367275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77928">
              <a:spcBef>
                <a:spcPts val="2672"/>
              </a:spcBef>
              <a:defRPr sz="1800">
                <a:solidFill>
                  <a:srgbClr val="000000"/>
                </a:solidFill>
              </a:defRPr>
            </a:pPr>
            <a:r>
              <a:rPr lang="es-CO" b="1" dirty="0">
                <a:solidFill>
                  <a:srgbClr val="C00000"/>
                </a:solidFill>
                <a:latin typeface="Century Gothic" panose="020B0502020202020204" pitchFamily="34" charset="0"/>
              </a:rPr>
              <a:t>Efectivo y equivalentes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efectivo</a:t>
            </a:r>
            <a:r>
              <a:rPr dirty="0">
                <a:solidFill>
                  <a:schemeClr val="accent1"/>
                </a:solidFill>
                <a:latin typeface="Century Gothic" panose="020B0502020202020204" pitchFamily="34" charset="0"/>
              </a:rPr>
              <a:t> disponible de la </a:t>
            </a:r>
            <a:r>
              <a:rPr dirty="0" err="1">
                <a:solidFill>
                  <a:schemeClr val="accent1"/>
                </a:solidFill>
                <a:latin typeface="Century Gothic" panose="020B0502020202020204" pitchFamily="34" charset="0"/>
              </a:rPr>
              <a:t>compañía</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Inversiones </a:t>
            </a:r>
            <a:r>
              <a:rPr b="1" dirty="0" err="1">
                <a:solidFill>
                  <a:srgbClr val="C00000"/>
                </a:solidFill>
                <a:latin typeface="Century Gothic" panose="020B0502020202020204" pitchFamily="34" charset="0"/>
              </a:rPr>
              <a:t>Temporales</a:t>
            </a:r>
            <a:r>
              <a:rPr b="1" dirty="0">
                <a:solidFill>
                  <a:srgbClr val="C00000"/>
                </a:solidFill>
                <a:latin typeface="Century Gothic" panose="020B0502020202020204" pitchFamily="34" charset="0"/>
              </a:rPr>
              <a:t>:</a:t>
            </a:r>
            <a:r>
              <a:rPr b="1" dirty="0">
                <a:solidFill>
                  <a:schemeClr val="accent3">
                    <a:lumMod val="75000"/>
                  </a:schemeClr>
                </a:solidFill>
                <a:latin typeface="Century Gothic" panose="020B0502020202020204" pitchFamily="34" charset="0"/>
              </a:rPr>
              <a:t> </a:t>
            </a:r>
            <a:r>
              <a:rPr dirty="0" err="1">
                <a:solidFill>
                  <a:schemeClr val="accent1"/>
                </a:solidFill>
                <a:latin typeface="Century Gothic" panose="020B0502020202020204" pitchFamily="34" charset="0"/>
              </a:rPr>
              <a:t>Títulos</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valores</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fácil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realización</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a:t>
            </a:r>
            <a:r>
              <a:rPr b="1" dirty="0" err="1">
                <a:solidFill>
                  <a:srgbClr val="C00000"/>
                </a:solidFill>
                <a:latin typeface="Century Gothic" panose="020B0502020202020204" pitchFamily="34" charset="0"/>
              </a:rPr>
              <a:t>Cobrar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Ingresos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cobrado</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err="1">
                <a:solidFill>
                  <a:srgbClr val="C00000"/>
                </a:solidFill>
                <a:latin typeface="Century Gothic" panose="020B0502020202020204" pitchFamily="34" charset="0"/>
              </a:rPr>
              <a:t>Inventarios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Materia prima,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proceso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terminado</a:t>
            </a:r>
            <a:r>
              <a:rPr lang="es-CO"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6684"/>
            <a:ext cx="7249775" cy="803647"/>
          </a:xfrm>
        </p:spPr>
        <p:txBody>
          <a:bodyPr/>
          <a:lstStyle/>
          <a:p>
            <a:r>
              <a:rPr lang="es-ES_tradnl" sz="3094">
                <a:latin typeface="Century Gothic" panose="020B0502020202020204" pitchFamily="34" charset="0"/>
              </a:rPr>
              <a:t>Activos Corrientes</a:t>
            </a:r>
          </a:p>
        </p:txBody>
      </p:sp>
      <p:pic>
        <p:nvPicPr>
          <p:cNvPr id="10" name="Picture 2" descr="Resultado de imagen para activos"/>
          <p:cNvPicPr>
            <a:picLocks noChangeAspect="1" noChangeArrowheads="1"/>
          </p:cNvPicPr>
          <p:nvPr/>
        </p:nvPicPr>
        <p:blipFill>
          <a:blip r:embed="rId3" cstate="print">
            <a:clrChange>
              <a:clrFrom>
                <a:srgbClr val="FAF8F9"/>
              </a:clrFrom>
              <a:clrTo>
                <a:srgbClr val="FAF8F9">
                  <a:alpha val="0"/>
                </a:srgbClr>
              </a:clrTo>
            </a:clrChange>
            <a:extLst>
              <a:ext uri="{28A0092B-C50C-407E-A947-70E740481C1C}">
                <a14:useLocalDpi xmlns:a14="http://schemas.microsoft.com/office/drawing/2010/main" val="0"/>
              </a:ext>
            </a:extLst>
          </a:blip>
          <a:srcRect/>
          <a:stretch>
            <a:fillRect/>
          </a:stretch>
        </p:blipFill>
        <p:spPr bwMode="auto">
          <a:xfrm>
            <a:off x="404460" y="2888638"/>
            <a:ext cx="3159306" cy="165073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58346D0-FC50-DF1F-4240-39EAE89529E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8EA14A7-6BF6-8BD9-FA7E-52DB776A2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2FC374D-6B61-6A62-D427-4C33DA999C2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3C791B9-5E53-C828-A554-C2E2570E7E3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41962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 calcmode="lin" valueType="num">
                                      <p:cBhvr additive="base">
                                        <p:cTn id="7" dur="500" fill="hold"/>
                                        <p:tgtEl>
                                          <p:spTgt spid="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
                                            <p:txEl>
                                              <p:pRg st="1" end="1"/>
                                            </p:txEl>
                                          </p:spTgt>
                                        </p:tgtEl>
                                        <p:attrNameLst>
                                          <p:attrName>style.visibility</p:attrName>
                                        </p:attrNameLst>
                                      </p:cBhvr>
                                      <p:to>
                                        <p:strVal val="visible"/>
                                      </p:to>
                                    </p:set>
                                    <p:anim calcmode="lin" valueType="num">
                                      <p:cBhvr additive="base">
                                        <p:cTn id="13" dur="500" fill="hold"/>
                                        <p:tgtEl>
                                          <p:spTgt spid="1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9">
                                            <p:txEl>
                                              <p:pRg st="2" end="2"/>
                                            </p:txEl>
                                          </p:spTgt>
                                        </p:tgtEl>
                                        <p:attrNameLst>
                                          <p:attrName>style.visibility</p:attrName>
                                        </p:attrNameLst>
                                      </p:cBhvr>
                                      <p:to>
                                        <p:strVal val="visible"/>
                                      </p:to>
                                    </p:set>
                                    <p:anim calcmode="lin" valueType="num">
                                      <p:cBhvr additive="base">
                                        <p:cTn id="19" dur="500" fill="hold"/>
                                        <p:tgtEl>
                                          <p:spTgt spid="1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9">
                                            <p:txEl>
                                              <p:pRg st="3" end="3"/>
                                            </p:txEl>
                                          </p:spTgt>
                                        </p:tgtEl>
                                        <p:attrNameLst>
                                          <p:attrName>style.visibility</p:attrName>
                                        </p:attrNameLst>
                                      </p:cBhvr>
                                      <p:to>
                                        <p:strVal val="visible"/>
                                      </p:to>
                                    </p:set>
                                    <p:anim calcmode="lin" valueType="num">
                                      <p:cBhvr additive="base">
                                        <p:cTn id="25" dur="500" fill="hold"/>
                                        <p:tgtEl>
                                          <p:spTgt spid="10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446043" y="974392"/>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B7EE8E59-F619-5662-6908-947EFB4B75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4D379D-AFB7-BAB5-76E0-BBC9A766D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147">
            <a:extLst>
              <a:ext uri="{FF2B5EF4-FFF2-40B4-BE49-F238E27FC236}">
                <a16:creationId xmlns:a16="http://schemas.microsoft.com/office/drawing/2014/main" id="{828A41B3-4F66-6FF1-8C27-087D9BC10BDF}"/>
              </a:ext>
            </a:extLst>
          </p:cNvPr>
          <p:cNvGraphicFramePr/>
          <p:nvPr>
            <p:extLst>
              <p:ext uri="{D42A27DB-BD31-4B8C-83A1-F6EECF244321}">
                <p14:modId xmlns:p14="http://schemas.microsoft.com/office/powerpoint/2010/main" val="1511090396"/>
              </p:ext>
            </p:extLst>
          </p:nvPr>
        </p:nvGraphicFramePr>
        <p:xfrm>
          <a:off x="3415002" y="1827666"/>
          <a:ext cx="5546117" cy="544496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rowSpan="9" gridSpan="2">
                  <a:txBody>
                    <a:bodyPr/>
                    <a:lstStyle/>
                    <a:p>
                      <a:pPr lvl="0" algn="just" defTabSz="914400">
                        <a:defRPr>
                          <a:solidFill>
                            <a:srgbClr val="000000"/>
                          </a:solidFill>
                        </a:defRPr>
                      </a:pPr>
                      <a:r>
                        <a:rPr sz="1100" i="0" spc="56" dirty="0">
                          <a:solidFill>
                            <a:schemeClr val="accent1"/>
                          </a:solidFill>
                          <a:latin typeface="Century Gothic"/>
                        </a:rPr>
                        <a:t>Activos </a:t>
                      </a:r>
                      <a:r>
                        <a:rPr sz="1100" i="0" spc="56" dirty="0" err="1">
                          <a:solidFill>
                            <a:schemeClr val="accent1"/>
                          </a:solidFill>
                          <a:latin typeface="Century Gothic"/>
                        </a:rPr>
                        <a:t>líquidos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b="1" i="0" spc="56" dirty="0" err="1">
                          <a:solidFill>
                            <a:schemeClr val="accent1"/>
                          </a:solidFill>
                          <a:latin typeface="Century Gothic"/>
                        </a:rPr>
                        <a:t>corto</a:t>
                      </a:r>
                      <a:r>
                        <a:rPr sz="1100" b="1" i="0" spc="56" dirty="0">
                          <a:solidFill>
                            <a:schemeClr val="accent1"/>
                          </a:solidFill>
                          <a:latin typeface="Century Gothic"/>
                        </a:rPr>
                        <a:t> </a:t>
                      </a:r>
                      <a:r>
                        <a:rPr sz="1100" b="1" i="0" spc="56" dirty="0" err="1">
                          <a:solidFill>
                            <a:schemeClr val="accent1"/>
                          </a:solidFill>
                          <a:latin typeface="Century Gothic"/>
                        </a:rPr>
                        <a:t>plazo</a:t>
                      </a:r>
                      <a:r>
                        <a:rPr sz="1100" b="1" i="0" spc="56" dirty="0">
                          <a:solidFill>
                            <a:schemeClr val="accent1"/>
                          </a:solidFill>
                          <a:latin typeface="Century Gothic"/>
                        </a:rPr>
                        <a:t>.</a:t>
                      </a:r>
                      <a:r>
                        <a:rPr sz="1100" i="0" spc="56" dirty="0">
                          <a:solidFill>
                            <a:schemeClr val="accent1"/>
                          </a:solidFill>
                          <a:latin typeface="Century Gothic"/>
                        </a:rPr>
                        <a:t> Es </a:t>
                      </a:r>
                      <a:r>
                        <a:rPr sz="1100" i="0" spc="56" dirty="0" err="1">
                          <a:solidFill>
                            <a:schemeClr val="accent1"/>
                          </a:solidFill>
                          <a:latin typeface="Century Gothic"/>
                        </a:rPr>
                        <a:t>decir</a:t>
                      </a:r>
                      <a:r>
                        <a:rPr sz="1100" i="0" spc="56" dirty="0">
                          <a:solidFill>
                            <a:schemeClr val="accent1"/>
                          </a:solidFill>
                          <a:latin typeface="Century Gothic"/>
                        </a:rPr>
                        <a:t>, </a:t>
                      </a:r>
                      <a:r>
                        <a:rPr sz="1100" i="0" spc="56" dirty="0" err="1">
                          <a:solidFill>
                            <a:schemeClr val="accent1"/>
                          </a:solidFill>
                          <a:latin typeface="Century Gothic"/>
                        </a:rPr>
                        <a:t>aquellos</a:t>
                      </a:r>
                      <a:r>
                        <a:rPr sz="1100" i="0" spc="56" dirty="0">
                          <a:solidFill>
                            <a:schemeClr val="accent1"/>
                          </a:solidFill>
                          <a:latin typeface="Century Gothic"/>
                        </a:rPr>
                        <a:t> </a:t>
                      </a:r>
                      <a:r>
                        <a:rPr sz="1100" i="0" spc="56" dirty="0" err="1">
                          <a:solidFill>
                            <a:schemeClr val="accent1"/>
                          </a:solidFill>
                          <a:latin typeface="Century Gothic"/>
                        </a:rPr>
                        <a:t>activos</a:t>
                      </a:r>
                      <a:r>
                        <a:rPr sz="1100" i="0" spc="56" dirty="0">
                          <a:solidFill>
                            <a:schemeClr val="accent1"/>
                          </a:solidFill>
                          <a:latin typeface="Century Gothic"/>
                        </a:rPr>
                        <a:t> de </a:t>
                      </a:r>
                      <a:r>
                        <a:rPr sz="1100" i="0" spc="56" dirty="0" err="1">
                          <a:solidFill>
                            <a:schemeClr val="accent1"/>
                          </a:solidFill>
                          <a:latin typeface="Century Gothic"/>
                        </a:rPr>
                        <a:t>fácil</a:t>
                      </a:r>
                      <a:r>
                        <a:rPr sz="1100" i="0" spc="56" dirty="0">
                          <a:solidFill>
                            <a:schemeClr val="accent1"/>
                          </a:solidFill>
                          <a:latin typeface="Century Gothic"/>
                        </a:rPr>
                        <a:t> </a:t>
                      </a:r>
                      <a:r>
                        <a:rPr sz="1100" i="0" spc="56" dirty="0" err="1">
                          <a:solidFill>
                            <a:schemeClr val="accent1"/>
                          </a:solidFill>
                          <a:latin typeface="Century Gothic"/>
                        </a:rPr>
                        <a:t>realización</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momento</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que</a:t>
                      </a:r>
                      <a:r>
                        <a:rPr sz="1100" i="0" spc="56" dirty="0">
                          <a:solidFill>
                            <a:schemeClr val="accent1"/>
                          </a:solidFill>
                          <a:latin typeface="Century Gothic"/>
                        </a:rPr>
                        <a:t> la </a:t>
                      </a:r>
                      <a:r>
                        <a:rPr sz="1100" i="0" spc="56" dirty="0" err="1">
                          <a:solidFill>
                            <a:schemeClr val="accent1"/>
                          </a:solidFill>
                          <a:latin typeface="Century Gothic"/>
                        </a:rPr>
                        <a:t>empresa</a:t>
                      </a:r>
                      <a:r>
                        <a:rPr sz="1100" i="0" spc="56" dirty="0">
                          <a:solidFill>
                            <a:schemeClr val="accent1"/>
                          </a:solidFill>
                          <a:latin typeface="Century Gothic"/>
                        </a:rPr>
                        <a:t> </a:t>
                      </a:r>
                      <a:r>
                        <a:rPr sz="1100" i="0" spc="56" dirty="0" err="1">
                          <a:solidFill>
                            <a:schemeClr val="accent1"/>
                          </a:solidFill>
                          <a:latin typeface="Century Gothic"/>
                        </a:rPr>
                        <a:t>tenga</a:t>
                      </a:r>
                      <a:r>
                        <a:rPr sz="1100" i="0" spc="56" dirty="0">
                          <a:solidFill>
                            <a:schemeClr val="accent1"/>
                          </a:solidFill>
                          <a:latin typeface="Century Gothic"/>
                        </a:rPr>
                        <a:t> la </a:t>
                      </a:r>
                      <a:r>
                        <a:rPr sz="1100" i="0" spc="56" dirty="0" err="1">
                          <a:solidFill>
                            <a:schemeClr val="accent1"/>
                          </a:solidFill>
                          <a:latin typeface="Century Gothic"/>
                        </a:rPr>
                        <a:t>intención</a:t>
                      </a:r>
                      <a:r>
                        <a:rPr sz="1100" i="0" spc="56" dirty="0">
                          <a:solidFill>
                            <a:schemeClr val="accent1"/>
                          </a:solidFill>
                          <a:latin typeface="Century Gothic"/>
                        </a:rPr>
                        <a:t> de </a:t>
                      </a:r>
                      <a:r>
                        <a:rPr sz="1100" i="0" spc="56" dirty="0" err="1">
                          <a:solidFill>
                            <a:schemeClr val="accent1"/>
                          </a:solidFill>
                          <a:latin typeface="Century Gothic"/>
                        </a:rPr>
                        <a:t>convertirlos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dinero, </a:t>
                      </a:r>
                      <a:r>
                        <a:rPr sz="1100" i="0" spc="56" dirty="0" err="1">
                          <a:solidFill>
                            <a:schemeClr val="accent1"/>
                          </a:solidFill>
                          <a:latin typeface="Century Gothic"/>
                        </a:rPr>
                        <a:t>venderlos</a:t>
                      </a:r>
                      <a:r>
                        <a:rPr sz="1100" i="0" spc="56" dirty="0">
                          <a:solidFill>
                            <a:schemeClr val="accent1"/>
                          </a:solidFill>
                          <a:latin typeface="Century Gothic"/>
                        </a:rPr>
                        <a:t> o </a:t>
                      </a:r>
                      <a:r>
                        <a:rPr sz="1100" i="0" spc="56" dirty="0" err="1">
                          <a:solidFill>
                            <a:schemeClr val="accent1"/>
                          </a:solidFill>
                          <a:latin typeface="Century Gothic"/>
                        </a:rPr>
                        <a:t>consumirlos</a:t>
                      </a:r>
                      <a:r>
                        <a:rPr sz="1100" i="0" spc="56" dirty="0">
                          <a:solidFill>
                            <a:schemeClr val="accent1"/>
                          </a:solidFill>
                          <a:latin typeface="Century Gothic"/>
                        </a:rPr>
                        <a:t>.</a:t>
                      </a:r>
                      <a:endParaRPr lang="es-CO" sz="1100" i="0" spc="56" dirty="0">
                        <a:solidFill>
                          <a:schemeClr val="accent1"/>
                        </a:solidFill>
                        <a:latin typeface="Century Gothic"/>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a:solidFill>
                            <a:schemeClr val="bg1"/>
                          </a:solidFill>
                          <a:latin typeface="Century Gothic"/>
                        </a:rPr>
                        <a:t>Activos </a:t>
                      </a:r>
                      <a:r>
                        <a:rPr lang="es-ES" sz="900" b="1" spc="56">
                          <a:solidFill>
                            <a:schemeClr val="bg1"/>
                          </a:solidFill>
                          <a:latin typeface="Century Gothic"/>
                        </a:rPr>
                        <a:t>No Corrientes</a:t>
                      </a:r>
                      <a:endParaRPr sz="9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6"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rgbClr val="A1A1A1"/>
                        </a:buClr>
                        <a:buSzPct val="100000"/>
                        <a:buAutoNum type="arabicPeriod"/>
                      </a:pPr>
                      <a:r>
                        <a:rPr sz="1100" spc="56" dirty="0">
                          <a:solidFill>
                            <a:schemeClr val="accent1"/>
                          </a:solidFill>
                          <a:latin typeface="Century Gothic"/>
                        </a:rPr>
                        <a:t>Son </a:t>
                      </a:r>
                      <a:r>
                        <a:rPr lang="es-ES" sz="1100" spc="56" dirty="0">
                          <a:solidFill>
                            <a:schemeClr val="accent1"/>
                          </a:solidFill>
                          <a:latin typeface="Century Gothic"/>
                        </a:rPr>
                        <a:t>recursos de largo plazo que apoyan </a:t>
                      </a:r>
                      <a:r>
                        <a:rPr sz="1100" spc="56" dirty="0">
                          <a:solidFill>
                            <a:schemeClr val="accent1"/>
                          </a:solidFill>
                          <a:latin typeface="Century Gothic"/>
                        </a:rPr>
                        <a:t>la </a:t>
                      </a:r>
                      <a:r>
                        <a:rPr sz="1100" spc="56" dirty="0" err="1">
                          <a:solidFill>
                            <a:schemeClr val="accent1"/>
                          </a:solidFill>
                          <a:latin typeface="Century Gothic"/>
                        </a:rPr>
                        <a:t>operación</a:t>
                      </a:r>
                      <a:r>
                        <a:rPr sz="1100" spc="56" dirty="0">
                          <a:solidFill>
                            <a:schemeClr val="accent1"/>
                          </a:solidFill>
                          <a:latin typeface="Century Gothic"/>
                        </a:rPr>
                        <a:t> </a:t>
                      </a:r>
                      <a:r>
                        <a:rPr lang="es-ES" sz="1100" spc="56" dirty="0">
                          <a:solidFill>
                            <a:schemeClr val="accent1"/>
                          </a:solidFill>
                          <a:latin typeface="Century Gothic"/>
                        </a:rPr>
                        <a:t>o generan beneficios futuros</a:t>
                      </a:r>
                      <a:r>
                        <a:rPr sz="1100" spc="56" dirty="0">
                          <a:solidFill>
                            <a:schemeClr val="accent1"/>
                          </a:solidFill>
                          <a:latin typeface="Century Gothic"/>
                        </a:rPr>
                        <a:t>.</a:t>
                      </a:r>
                      <a:endParaRPr lang="es-CO" sz="1100" spc="56" dirty="0">
                        <a:solidFill>
                          <a:schemeClr val="accent1"/>
                        </a:solidFill>
                        <a:latin typeface="Century Gothic"/>
                      </a:endParaRPr>
                    </a:p>
                    <a:p>
                      <a:pPr marL="0" lvl="0" indent="0" algn="l" defTabSz="914400">
                        <a:buClr>
                          <a:srgbClr val="A1A1A1"/>
                        </a:buClr>
                        <a:buSzPct val="100000"/>
                        <a:buNone/>
                        <a:defRPr>
                          <a:solidFill>
                            <a:srgbClr val="000000"/>
                          </a:solidFill>
                        </a:defRPr>
                      </a:pPr>
                      <a:endParaRPr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5" name="Rectángulo 4">
            <a:extLst>
              <a:ext uri="{FF2B5EF4-FFF2-40B4-BE49-F238E27FC236}">
                <a16:creationId xmlns:a16="http://schemas.microsoft.com/office/drawing/2014/main" id="{3D69499D-3EFD-C3D0-CCA5-2D4939931F1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9405D62-E7FB-BD17-9750-5CBA775CF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320953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p:nvPr/>
        </p:nvSpPr>
        <p:spPr>
          <a:xfrm>
            <a:off x="641965" y="2064368"/>
            <a:ext cx="10968842" cy="4532465"/>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a:solidFill>
                  <a:schemeClr val="accent1"/>
                </a:solidFill>
                <a:latin typeface="Century Gothic" panose="020B0502020202020204" pitchFamily="34" charset="0"/>
              </a:rPr>
              <a:t>Edificios,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herramientas</a:t>
            </a:r>
            <a:r>
              <a:rPr dirty="0">
                <a:solidFill>
                  <a:schemeClr val="accent1"/>
                </a:solidFill>
                <a:latin typeface="Century Gothic" panose="020B0502020202020204" pitchFamily="34" charset="0"/>
              </a:rPr>
              <a:t> y </a:t>
            </a:r>
            <a:r>
              <a:rPr dirty="0" err="1">
                <a:solidFill>
                  <a:schemeClr val="accent1"/>
                </a:solidFill>
                <a:latin typeface="Century Gothic" panose="020B0502020202020204" pitchFamily="34" charset="0"/>
              </a:rPr>
              <a:t>equipos</a:t>
            </a:r>
            <a:r>
              <a:rPr dirty="0">
                <a:solidFill>
                  <a:schemeClr val="accent1"/>
                </a:solidFill>
                <a:latin typeface="Century Gothic" panose="020B0502020202020204" pitchFamily="34" charset="0"/>
              </a:rPr>
              <a:t>.</a:t>
            </a:r>
          </a:p>
          <a:p>
            <a:pPr algn="just" defTabSz="267014">
              <a:spcBef>
                <a:spcPts val="1898"/>
              </a:spcBef>
              <a:defRPr sz="1800">
                <a:solidFill>
                  <a:srgbClr val="000000"/>
                </a:solidFill>
              </a:defRPr>
            </a:pPr>
            <a:r>
              <a:rPr lang="es-CO"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Terrenos</a:t>
            </a:r>
            <a:r>
              <a:rPr dirty="0">
                <a:solidFill>
                  <a:schemeClr val="accent1"/>
                </a:solidFill>
                <a:latin typeface="Century Gothic" panose="020B0502020202020204" pitchFamily="34" charset="0"/>
              </a:rPr>
              <a:t>,</a:t>
            </a:r>
            <a:r>
              <a:rPr lang="es-CO" dirty="0">
                <a:solidFill>
                  <a:schemeClr val="accent1"/>
                </a:solidFill>
                <a:latin typeface="Century Gothic" panose="020B0502020202020204" pitchFamily="34" charset="0"/>
              </a:rPr>
              <a:t> inversiones permanentes, </a:t>
            </a:r>
            <a:r>
              <a:rPr dirty="0" err="1">
                <a:solidFill>
                  <a:schemeClr val="accent1"/>
                </a:solidFill>
                <a:latin typeface="Century Gothic" panose="020B0502020202020204" pitchFamily="34" charset="0"/>
              </a:rPr>
              <a:t>construcciones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curso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montaje</a:t>
            </a:r>
            <a:r>
              <a:rPr lang="es-CO" dirty="0">
                <a:solidFill>
                  <a:schemeClr val="accent1"/>
                </a:solidFill>
                <a:latin typeface="Century Gothic" panose="020B0502020202020204" pitchFamily="34" charset="0"/>
              </a:rPr>
              <a:t>, maquinaria en  transporte, metales y piedras preciosas</a:t>
            </a:r>
            <a:r>
              <a:rPr dirty="0">
                <a:solidFill>
                  <a:schemeClr val="accent1"/>
                </a:solidFill>
                <a:latin typeface="Century Gothic" panose="020B0502020202020204" pitchFamily="34" charset="0"/>
              </a:rPr>
              <a:t>.</a:t>
            </a:r>
            <a:endParaRPr lang="es-ES"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endParaRPr sz="1600" dirty="0">
              <a:solidFill>
                <a:schemeClr val="accent1"/>
              </a:solidFill>
              <a:latin typeface="Century Gothic" panose="020B0502020202020204" pitchFamily="34" charset="0"/>
            </a:endParaRPr>
          </a:p>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Intangibles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Patentes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concesiones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mejoras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propiedad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arrendada</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r>
              <a:rPr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a:t>
            </a:r>
            <a:r>
              <a:rPr dirty="0">
                <a:solidFill>
                  <a:schemeClr val="accent1"/>
                </a:solidFill>
                <a:latin typeface="Century Gothic" panose="020B0502020202020204" pitchFamily="34" charset="0"/>
              </a:rPr>
              <a:t> Good-</a:t>
            </a:r>
            <a:r>
              <a:rPr lang="es-CO" dirty="0">
                <a:solidFill>
                  <a:schemeClr val="accent1"/>
                </a:solidFill>
                <a:latin typeface="Century Gothic" panose="020B0502020202020204" pitchFamily="34" charset="0"/>
              </a:rPr>
              <a:t>W</a:t>
            </a:r>
            <a:r>
              <a:rPr dirty="0">
                <a:solidFill>
                  <a:schemeClr val="accent1"/>
                </a:solidFill>
                <a:latin typeface="Century Gothic" panose="020B0502020202020204" pitchFamily="34" charset="0"/>
              </a:rPr>
              <a:t>ill</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5150"/>
            <a:ext cx="7249775" cy="803647"/>
          </a:xfrm>
        </p:spPr>
        <p:txBody>
          <a:bodyPr/>
          <a:lstStyle/>
          <a:p>
            <a:r>
              <a:rPr lang="es-ES_tradnl" sz="3094">
                <a:latin typeface="Century Gothic" panose="020B0502020202020204" pitchFamily="34" charset="0"/>
              </a:rPr>
              <a:t>Activos NO CORRIENTES</a:t>
            </a:r>
          </a:p>
        </p:txBody>
      </p:sp>
      <p:pic>
        <p:nvPicPr>
          <p:cNvPr id="10" name="Picture 2" descr="Resultado de imagen para activos"/>
          <p:cNvPicPr>
            <a:picLocks noChangeAspect="1" noChangeArrowheads="1"/>
          </p:cNvPicPr>
          <p:nvPr/>
        </p:nvPicPr>
        <p:blipFill>
          <a:blip r:embed="rId2" cstate="print">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9300249" y="3799150"/>
            <a:ext cx="2516101" cy="13146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FCF3876-840D-46AE-A3CA-B7A1A48EC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9DD3E80-C560-126C-A4F8-E283DDA87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A1E7093-FEC6-0D7F-6C69-B3A51D07C5B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7A35EA2-34F4-25EC-070E-02954A526FE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319909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 calcmode="lin" valueType="num">
                                      <p:cBhvr additive="base">
                                        <p:cTn id="7" dur="500" fill="hold"/>
                                        <p:tgtEl>
                                          <p:spTgt spid="1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1">
                                            <p:txEl>
                                              <p:pRg st="1" end="1"/>
                                            </p:txEl>
                                          </p:spTgt>
                                        </p:tgtEl>
                                        <p:attrNameLst>
                                          <p:attrName>style.visibility</p:attrName>
                                        </p:attrNameLst>
                                      </p:cBhvr>
                                      <p:to>
                                        <p:strVal val="visible"/>
                                      </p:to>
                                    </p:set>
                                    <p:anim calcmode="lin" valueType="num">
                                      <p:cBhvr additive="base">
                                        <p:cTn id="11" dur="500" fill="hold"/>
                                        <p:tgtEl>
                                          <p:spTgt spid="12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1">
                                            <p:txEl>
                                              <p:pRg st="2" end="2"/>
                                            </p:txEl>
                                          </p:spTgt>
                                        </p:tgtEl>
                                        <p:attrNameLst>
                                          <p:attrName>style.visibility</p:attrName>
                                        </p:attrNameLst>
                                      </p:cBhvr>
                                      <p:to>
                                        <p:strVal val="visible"/>
                                      </p:to>
                                    </p:set>
                                    <p:anim calcmode="lin" valueType="num">
                                      <p:cBhvr additive="base">
                                        <p:cTn id="15" dur="500" fill="hold"/>
                                        <p:tgtEl>
                                          <p:spTgt spid="12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1">
                                            <p:txEl>
                                              <p:pRg st="4" end="4"/>
                                            </p:txEl>
                                          </p:spTgt>
                                        </p:tgtEl>
                                        <p:attrNameLst>
                                          <p:attrName>style.visibility</p:attrName>
                                        </p:attrNameLst>
                                      </p:cBhvr>
                                      <p:to>
                                        <p:strVal val="visible"/>
                                      </p:to>
                                    </p:set>
                                    <p:anim calcmode="lin" valueType="num">
                                      <p:cBhvr additive="base">
                                        <p:cTn id="21" dur="500" fill="hold"/>
                                        <p:tgtEl>
                                          <p:spTgt spid="12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1">
                                            <p:txEl>
                                              <p:pRg st="5" end="5"/>
                                            </p:txEl>
                                          </p:spTgt>
                                        </p:tgtEl>
                                        <p:attrNameLst>
                                          <p:attrName>style.visibility</p:attrName>
                                        </p:attrNameLst>
                                      </p:cBhvr>
                                      <p:to>
                                        <p:strVal val="visible"/>
                                      </p:to>
                                    </p:set>
                                    <p:anim calcmode="lin" valueType="num">
                                      <p:cBhvr additive="base">
                                        <p:cTn id="25" dur="500" fill="hold"/>
                                        <p:tgtEl>
                                          <p:spTgt spid="12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21">
                                            <p:txEl>
                                              <p:pRg st="6" end="6"/>
                                            </p:txEl>
                                          </p:spTgt>
                                        </p:tgtEl>
                                        <p:attrNameLst>
                                          <p:attrName>style.visibility</p:attrName>
                                        </p:attrNameLst>
                                      </p:cBhvr>
                                      <p:to>
                                        <p:strVal val="visible"/>
                                      </p:to>
                                    </p:set>
                                    <p:anim calcmode="lin" valueType="num">
                                      <p:cBhvr additive="base">
                                        <p:cTn id="29" dur="500" fill="hold"/>
                                        <p:tgtEl>
                                          <p:spTgt spid="12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p:nvPr/>
        </p:nvSpPr>
        <p:spPr>
          <a:xfrm>
            <a:off x="3527691" y="1683129"/>
            <a:ext cx="7916295" cy="429121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Los pasivos son todas las deudas que tiene la empresa con los acreedores.</a:t>
            </a:r>
          </a:p>
          <a:p>
            <a:pPr algn="ctr">
              <a:spcBef>
                <a:spcPts val="2953"/>
              </a:spcBef>
              <a:defRPr sz="1800">
                <a:solidFill>
                  <a:srgbClr val="000000"/>
                </a:solidFill>
              </a:defRPr>
            </a:pPr>
            <a:r>
              <a:rPr>
                <a:solidFill>
                  <a:schemeClr val="accent1"/>
                </a:solidFill>
                <a:latin typeface="Century Gothic" panose="020B0502020202020204" pitchFamily="34" charset="0"/>
              </a:rPr>
              <a:t>Los pasivos representan obligaciones contraídas por la empresa que nacen por transacciones pasadas que requieren una cancelación o prestación de servicio en el futuro.</a:t>
            </a:r>
          </a:p>
        </p:txBody>
      </p:sp>
      <p:sp>
        <p:nvSpPr>
          <p:cNvPr id="7" name="Title 1"/>
          <p:cNvSpPr>
            <a:spLocks noGrp="1"/>
          </p:cNvSpPr>
          <p:nvPr>
            <p:ph type="title"/>
          </p:nvPr>
        </p:nvSpPr>
        <p:spPr>
          <a:xfrm>
            <a:off x="446043" y="994820"/>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0"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802" y="2465315"/>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267802D3-24BB-741E-56DF-FCBE71AC3E6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D2DCCD-F64A-1D15-FDC6-0FD615025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542BFC0-86D0-DBA9-5AF5-9ADDCEF206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53BA21-F9C0-2399-DF13-EBF897EB63D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15019440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
                                            <p:txEl>
                                              <p:pRg st="1" end="1"/>
                                            </p:txEl>
                                          </p:spTgt>
                                        </p:tgtEl>
                                        <p:attrNameLst>
                                          <p:attrName>style.visibility</p:attrName>
                                        </p:attrNameLst>
                                      </p:cBhvr>
                                      <p:to>
                                        <p:strVal val="visible"/>
                                      </p:to>
                                    </p:set>
                                    <p:anim calcmode="lin" valueType="num">
                                      <p:cBhvr additive="base">
                                        <p:cTn id="7" dur="500" fill="hold"/>
                                        <p:tgtEl>
                                          <p:spTgt spid="1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EE768-08B4-C7E4-6C21-3DE82A9EB0E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31A68E7-7141-C8DB-9146-D9B5B25F8B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633F447-AEBC-13A7-CAF7-3F3B3077E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E54BE6BE-81BC-5016-64A0-12F99A0BC46C}"/>
              </a:ext>
            </a:extLst>
          </p:cNvPr>
          <p:cNvGraphicFramePr/>
          <p:nvPr>
            <p:extLst>
              <p:ext uri="{D42A27DB-BD31-4B8C-83A1-F6EECF244321}">
                <p14:modId xmlns:p14="http://schemas.microsoft.com/office/powerpoint/2010/main" val="1847405614"/>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buClr>
                          <a:schemeClr val="accent4"/>
                        </a:buClr>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buClr>
                          <a:schemeClr val="accent4"/>
                        </a:buClr>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B821BFC5-A7D9-F263-461D-575B38CEA7E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itle 1">
            <a:extLst>
              <a:ext uri="{FF2B5EF4-FFF2-40B4-BE49-F238E27FC236}">
                <a16:creationId xmlns:a16="http://schemas.microsoft.com/office/drawing/2014/main" id="{A89AD568-C4AD-5D98-1C3A-AF1223FC24E0}"/>
              </a:ext>
            </a:extLst>
          </p:cNvPr>
          <p:cNvSpPr txBox="1">
            <a:spLocks/>
          </p:cNvSpPr>
          <p:nvPr/>
        </p:nvSpPr>
        <p:spPr>
          <a:xfrm>
            <a:off x="446043" y="974392"/>
            <a:ext cx="11291330" cy="803647"/>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_tradnl" sz="2400">
                <a:latin typeface="Century Gothic" panose="020B0502020202020204" pitchFamily="34" charset="0"/>
              </a:rPr>
              <a:t>¿Cómo es la estructura del ESTADO DE SITUACIÓN FINANCIERA?</a:t>
            </a:r>
          </a:p>
        </p:txBody>
      </p:sp>
      <p:sp>
        <p:nvSpPr>
          <p:cNvPr id="3" name="Marcador de número de diapositiva 3">
            <a:extLst>
              <a:ext uri="{FF2B5EF4-FFF2-40B4-BE49-F238E27FC236}">
                <a16:creationId xmlns:a16="http://schemas.microsoft.com/office/drawing/2014/main" id="{B16CCAFD-0277-1711-5039-B93E91C24C6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111482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p:nvPr/>
        </p:nvSpPr>
        <p:spPr>
          <a:xfrm>
            <a:off x="3142349" y="2339453"/>
            <a:ext cx="7868030" cy="41239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61497">
              <a:spcBef>
                <a:spcPts val="2531"/>
              </a:spcBef>
              <a:defRPr sz="1800">
                <a:solidFill>
                  <a:srgbClr val="000000"/>
                </a:solidFill>
              </a:defRPr>
            </a:pPr>
            <a:r>
              <a:rPr dirty="0">
                <a:solidFill>
                  <a:schemeClr val="accent1"/>
                </a:solidFill>
                <a:latin typeface="Century Gothic" panose="020B0502020202020204" pitchFamily="34" charset="0"/>
              </a:rPr>
              <a:t>Los </a:t>
            </a:r>
            <a:r>
              <a:rPr dirty="0" err="1">
                <a:solidFill>
                  <a:schemeClr val="accent1"/>
                </a:solidFill>
                <a:latin typeface="Century Gothic" panose="020B0502020202020204" pitchFamily="34" charset="0"/>
              </a:rPr>
              <a:t>pasivos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representan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obligaciones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contraídas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la </a:t>
            </a:r>
            <a:r>
              <a:rPr dirty="0" err="1">
                <a:solidFill>
                  <a:schemeClr val="accent1"/>
                </a:solidFill>
                <a:latin typeface="Century Gothic" panose="020B0502020202020204" pitchFamily="34" charset="0"/>
              </a:rPr>
              <a:t>empresa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nacen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transacciones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pasadas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requieren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una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cancelación</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prestación</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servicio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futuro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chemeClr val="accent3">
                    <a:lumMod val="50000"/>
                  </a:schemeClr>
                </a:solidFill>
                <a:latin typeface="Century Gothic" panose="020B0502020202020204" pitchFamily="34" charset="0"/>
              </a:rPr>
              <a:t>Pasivos</a:t>
            </a:r>
            <a:r>
              <a:rPr b="1" dirty="0">
                <a:solidFill>
                  <a:schemeClr val="accent3">
                    <a:lumMod val="50000"/>
                  </a:schemeClr>
                </a:solidFill>
                <a:latin typeface="Century Gothic" panose="020B0502020202020204" pitchFamily="34" charset="0"/>
              </a:rPr>
              <a:t> Corrientes</a:t>
            </a:r>
          </a:p>
          <a:p>
            <a:pPr algn="just" defTabSz="361497">
              <a:spcBef>
                <a:spcPts val="2531"/>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dirty="0" err="1">
                <a:solidFill>
                  <a:schemeClr val="accent1"/>
                </a:solidFill>
                <a:latin typeface="Century Gothic" panose="020B0502020202020204" pitchFamily="34" charset="0"/>
              </a:rPr>
              <a:t>Egresos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pagado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rgbClr val="C00000"/>
                </a:solidFill>
                <a:latin typeface="Century Gothic" panose="020B0502020202020204" pitchFamily="34" charset="0"/>
              </a:rPr>
              <a:t>Impuestos</a:t>
            </a:r>
            <a:r>
              <a:rPr lang="es-CO" b="1" dirty="0">
                <a:solidFill>
                  <a:srgbClr val="C00000"/>
                </a:solidFill>
                <a:latin typeface="Century Gothic" panose="020B0502020202020204" pitchFamily="34" charset="0"/>
              </a:rPr>
              <a:t> por Pagar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Impuestos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ya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causados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a:t>
            </a:r>
            <a:r>
              <a:rPr dirty="0" err="1">
                <a:solidFill>
                  <a:schemeClr val="accent1"/>
                </a:solidFill>
                <a:latin typeface="Century Gothic" panose="020B0502020202020204" pitchFamily="34" charset="0"/>
              </a:rPr>
              <a:t>están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pagos</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lang="es-CO" b="1" dirty="0">
                <a:solidFill>
                  <a:srgbClr val="C00000"/>
                </a:solidFill>
                <a:latin typeface="Century Gothic" panose="020B0502020202020204" pitchFamily="34" charset="0"/>
              </a:rPr>
              <a:t>Salarios</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lang="es-ES" dirty="0">
                <a:solidFill>
                  <a:schemeClr val="accent1"/>
                </a:solidFill>
                <a:latin typeface="Century Gothic" panose="020B0502020202020204" pitchFamily="34" charset="0"/>
              </a:rPr>
              <a:t>Las obligaciones presentes de la entidad derivadas de servicios prestados por los empleados, que deben liquidarse en el corto plazo.</a:t>
            </a:r>
            <a:endParaRPr dirty="0">
              <a:solidFill>
                <a:schemeClr val="accent1"/>
              </a:solidFill>
              <a:latin typeface="Century Gothic" panose="020B0502020202020204" pitchFamily="34" charset="0"/>
            </a:endParaRPr>
          </a:p>
        </p:txBody>
      </p:sp>
      <p:sp>
        <p:nvSpPr>
          <p:cNvPr id="10" name="Title 1"/>
          <p:cNvSpPr>
            <a:spLocks noGrp="1"/>
          </p:cNvSpPr>
          <p:nvPr>
            <p:ph type="title"/>
          </p:nvPr>
        </p:nvSpPr>
        <p:spPr>
          <a:xfrm>
            <a:off x="446043" y="989008"/>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1"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043" y="2713883"/>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A6C31C96-8DF2-CE14-6922-78C0570DFA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66F7A9D-8A69-7973-5EB2-9703933F4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816BB68-2FA5-FF58-1728-74494C8FF8C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9CBA2BF-42FD-0EA1-A98E-DD766EEAC8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291360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4">
                                            <p:txEl>
                                              <p:pRg st="1" end="1"/>
                                            </p:txEl>
                                          </p:spTgt>
                                        </p:tgtEl>
                                        <p:attrNameLst>
                                          <p:attrName>style.visibility</p:attrName>
                                        </p:attrNameLst>
                                      </p:cBhvr>
                                      <p:to>
                                        <p:strVal val="visible"/>
                                      </p:to>
                                    </p:set>
                                    <p:anim calcmode="lin" valueType="num">
                                      <p:cBhvr additive="base">
                                        <p:cTn id="7" dur="500"/>
                                        <p:tgtEl>
                                          <p:spTgt spid="154">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54">
                                            <p:txEl>
                                              <p:pRg st="1" end="1"/>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54">
                                            <p:txEl>
                                              <p:pRg st="2" end="2"/>
                                            </p:txEl>
                                          </p:spTgt>
                                        </p:tgtEl>
                                        <p:attrNameLst>
                                          <p:attrName>style.visibility</p:attrName>
                                        </p:attrNameLst>
                                      </p:cBhvr>
                                      <p:to>
                                        <p:strVal val="visible"/>
                                      </p:to>
                                    </p:set>
                                    <p:anim calcmode="lin" valueType="num">
                                      <p:cBhvr additive="base">
                                        <p:cTn id="11" dur="500"/>
                                        <p:tgtEl>
                                          <p:spTgt spid="154">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54">
                                            <p:txEl>
                                              <p:pRg st="2" end="2"/>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154">
                                            <p:txEl>
                                              <p:pRg st="3" end="3"/>
                                            </p:txEl>
                                          </p:spTgt>
                                        </p:tgtEl>
                                        <p:attrNameLst>
                                          <p:attrName>style.visibility</p:attrName>
                                        </p:attrNameLst>
                                      </p:cBhvr>
                                      <p:to>
                                        <p:strVal val="visible"/>
                                      </p:to>
                                    </p:set>
                                    <p:anim calcmode="lin" valueType="num">
                                      <p:cBhvr additive="base">
                                        <p:cTn id="15" dur="500"/>
                                        <p:tgtEl>
                                          <p:spTgt spid="154">
                                            <p:txEl>
                                              <p:pRg st="3" end="3"/>
                                            </p:txEl>
                                          </p:spTgt>
                                        </p:tgtEl>
                                        <p:attrNameLst>
                                          <p:attrName>ppt_y</p:attrName>
                                        </p:attrNameLst>
                                      </p:cBhvr>
                                      <p:tavLst>
                                        <p:tav tm="0">
                                          <p:val>
                                            <p:strVal val="#ppt_y+#ppt_h*1.125000"/>
                                          </p:val>
                                        </p:tav>
                                        <p:tav tm="100000">
                                          <p:val>
                                            <p:strVal val="#ppt_y"/>
                                          </p:val>
                                        </p:tav>
                                      </p:tavLst>
                                    </p:anim>
                                    <p:animEffect transition="in" filter="wipe(up)">
                                      <p:cBhvr>
                                        <p:cTn id="16" dur="500"/>
                                        <p:tgtEl>
                                          <p:spTgt spid="154">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54">
                                            <p:txEl>
                                              <p:pRg st="4" end="4"/>
                                            </p:txEl>
                                          </p:spTgt>
                                        </p:tgtEl>
                                        <p:attrNameLst>
                                          <p:attrName>style.visibility</p:attrName>
                                        </p:attrNameLst>
                                      </p:cBhvr>
                                      <p:to>
                                        <p:strVal val="visible"/>
                                      </p:to>
                                    </p:set>
                                    <p:anim calcmode="lin" valueType="num">
                                      <p:cBhvr additive="base">
                                        <p:cTn id="19" dur="500"/>
                                        <p:tgtEl>
                                          <p:spTgt spid="154">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p:nvPr/>
        </p:nvSpPr>
        <p:spPr>
          <a:xfrm>
            <a:off x="3338018" y="2431891"/>
            <a:ext cx="7930247" cy="33786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El patrimonio es el valor contable de los recursos representados en bienes y derechos, deducidas sus obligaciones necesarias para cumplir los fines estipulados en el objeto social de la empresa.</a:t>
            </a:r>
          </a:p>
          <a:p>
            <a:pPr algn="ctr">
              <a:spcBef>
                <a:spcPts val="2953"/>
              </a:spcBef>
              <a:defRPr sz="1800">
                <a:solidFill>
                  <a:srgbClr val="000000"/>
                </a:solidFill>
              </a:defRPr>
            </a:pPr>
            <a:r>
              <a:rPr err="1">
                <a:solidFill>
                  <a:schemeClr val="accent1"/>
                </a:solidFill>
                <a:latin typeface="Century Gothic" panose="020B0502020202020204" pitchFamily="34" charset="0"/>
              </a:rPr>
              <a:t>Es</a:t>
            </a:r>
            <a:r>
              <a:rPr>
                <a:solidFill>
                  <a:schemeClr val="accent1"/>
                </a:solidFill>
                <a:latin typeface="Century Gothic" panose="020B0502020202020204" pitchFamily="34" charset="0"/>
              </a:rPr>
              <a:t> el valor contable residual resultante de tomar el total de los activos y deducir todos los pasivos.</a:t>
            </a:r>
          </a:p>
        </p:txBody>
      </p:sp>
      <p:sp>
        <p:nvSpPr>
          <p:cNvPr id="7" name="Title 1"/>
          <p:cNvSpPr>
            <a:spLocks noGrp="1"/>
          </p:cNvSpPr>
          <p:nvPr>
            <p:ph type="title"/>
          </p:nvPr>
        </p:nvSpPr>
        <p:spPr>
          <a:xfrm>
            <a:off x="446043" y="1003982"/>
            <a:ext cx="7249775" cy="803647"/>
          </a:xfrm>
        </p:spPr>
        <p:txBody>
          <a:bodyPr/>
          <a:lstStyle/>
          <a:p>
            <a:r>
              <a:rPr lang="es-ES_tradnl">
                <a:latin typeface="Century Gothic" panose="020B0502020202020204" pitchFamily="34" charset="0"/>
              </a:rPr>
              <a:t>El Patrimonio</a:t>
            </a:r>
          </a:p>
        </p:txBody>
      </p:sp>
      <p:pic>
        <p:nvPicPr>
          <p:cNvPr id="10" name="Picture 4" descr="Resultado de imagen para accionistas"/>
          <p:cNvPicPr>
            <a:picLocks noChangeAspect="1" noChangeArrowheads="1"/>
          </p:cNvPicPr>
          <p:nvPr/>
        </p:nvPicPr>
        <p:blipFill>
          <a:blip r:embed="rId2">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593230" y="3135511"/>
            <a:ext cx="2744788" cy="1874491"/>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75CE8F64-BC00-B203-CF0D-74A78F6230C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B53070E-F7EA-3EBD-2089-D40F0B49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8E832A3-FD58-17F8-C082-23AEBC339E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F41DAB5-6F2C-22D6-E48D-715ECF8545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425456043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 calcmode="lin" valueType="num">
                                      <p:cBhvr additive="base">
                                        <p:cTn id="7" dur="500"/>
                                        <p:tgtEl>
                                          <p:spTgt spid="16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46043" y="972335"/>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sp>
        <p:nvSpPr>
          <p:cNvPr id="2" name="Rectángulo 1">
            <a:extLst>
              <a:ext uri="{FF2B5EF4-FFF2-40B4-BE49-F238E27FC236}">
                <a16:creationId xmlns:a16="http://schemas.microsoft.com/office/drawing/2014/main" id="{61F9C596-BFFE-C5F8-A5DE-1C13024771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F91514C-8F95-13A4-0C88-E51B0074E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5F4C94C5-E6F6-10B5-B117-5E929A07DCCA}"/>
              </a:ext>
            </a:extLst>
          </p:cNvPr>
          <p:cNvGraphicFramePr/>
          <p:nvPr>
            <p:extLst>
              <p:ext uri="{D42A27DB-BD31-4B8C-83A1-F6EECF244321}">
                <p14:modId xmlns:p14="http://schemas.microsoft.com/office/powerpoint/2010/main" val="1241907462"/>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sz="1400" spc="56"/>
                      </a:pPr>
                      <a:r>
                        <a:rPr lang="es-ES" sz="1100" kern="1200" spc="56">
                          <a:solidFill>
                            <a:schemeClr val="accent1"/>
                          </a:solidFill>
                          <a:latin typeface="Century Gothic" panose="020B0502020202020204" pitchFamily="34" charset="0"/>
                          <a:ea typeface="+mn-ea"/>
                          <a:cs typeface="+mn-cs"/>
                        </a:rPr>
                        <a:t>El patrimonio es el valor contable de los recursos representados en bienes y derechos, deducidas sus obligaciones necesarias para cumplir los fines estipulados en el objeto social de la empresa.</a:t>
                      </a:r>
                    </a:p>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DA6404AD-78A0-94DD-67F6-1485DA8DA7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C02C92-9AAF-D26E-2888-8CDAA784C1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1947202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p:nvPr/>
        </p:nvSpPr>
        <p:spPr>
          <a:xfrm>
            <a:off x="581192" y="2175654"/>
            <a:ext cx="8262776" cy="4145608"/>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49174">
              <a:spcBef>
                <a:spcPts val="2461"/>
              </a:spcBef>
              <a:defRPr sz="1800">
                <a:solidFill>
                  <a:srgbClr val="000000"/>
                </a:solidFill>
              </a:defRPr>
            </a:pPr>
            <a:r>
              <a:rPr b="1" dirty="0">
                <a:solidFill>
                  <a:srgbClr val="C00000"/>
                </a:solidFill>
                <a:latin typeface="Century Gothic" panose="020B0502020202020204" pitchFamily="34" charset="0"/>
              </a:rPr>
              <a:t>Capital</a:t>
            </a:r>
            <a:r>
              <a:rPr lang="es-CO" b="1" dirty="0">
                <a:solidFill>
                  <a:srgbClr val="C00000"/>
                </a:solidFill>
                <a:latin typeface="Century Gothic" panose="020B0502020202020204" pitchFamily="34" charset="0"/>
              </a:rPr>
              <a:t> Suscrito</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aporte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accionistas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hacen</a:t>
            </a:r>
            <a:r>
              <a:rPr dirty="0">
                <a:solidFill>
                  <a:schemeClr val="accent1"/>
                </a:solidFill>
                <a:latin typeface="Century Gothic" panose="020B0502020202020204" pitchFamily="34" charset="0"/>
              </a:rPr>
              <a:t> al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a:t>
            </a:r>
            <a:endParaRPr lang="es-CO" dirty="0">
              <a:solidFill>
                <a:schemeClr val="accent1"/>
              </a:solidFill>
              <a:latin typeface="Century Gothic" panose="020B0502020202020204" pitchFamily="34" charset="0"/>
            </a:endParaRP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del </a:t>
            </a:r>
            <a:r>
              <a:rPr lang="es-ES" b="1" dirty="0">
                <a:solidFill>
                  <a:srgbClr val="C00000"/>
                </a:solidFill>
                <a:latin typeface="Century Gothic" panose="020B0502020202020204" pitchFamily="34" charset="0"/>
              </a:rPr>
              <a:t>P</a:t>
            </a:r>
            <a:r>
              <a:rPr b="1" dirty="0" err="1">
                <a:solidFill>
                  <a:srgbClr val="C00000"/>
                </a:solidFill>
                <a:latin typeface="Century Gothic" panose="020B0502020202020204" pitchFamily="34" charset="0"/>
              </a:rPr>
              <a:t>eriodo</a:t>
            </a:r>
            <a:r>
              <a:rPr lang="es-ES" b="1" dirty="0">
                <a:solidFill>
                  <a:srgbClr val="C00000"/>
                </a:solidFill>
                <a:latin typeface="Century Gothic" panose="020B0502020202020204" pitchFamily="34" charset="0"/>
              </a:rPr>
              <a:t>/Utilidad del Ejercicio</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a:t>
            </a:r>
            <a:r>
              <a:rPr lang="es-ES" dirty="0">
                <a:solidFill>
                  <a:schemeClr val="accent1"/>
                </a:solidFill>
                <a:latin typeface="Century Gothic" panose="020B0502020202020204" pitchFamily="34" charset="0"/>
              </a:rPr>
              <a:t>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a:t>
            </a:r>
            <a:r>
              <a:rPr dirty="0">
                <a:solidFill>
                  <a:schemeClr val="accent1"/>
                </a:solidFill>
                <a:latin typeface="Century Gothic" panose="020B0502020202020204" pitchFamily="34" charset="0"/>
              </a:rPr>
              <a:t>l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A</a:t>
            </a:r>
            <a:r>
              <a:rPr b="1" dirty="0" err="1">
                <a:solidFill>
                  <a:srgbClr val="C00000"/>
                </a:solidFill>
                <a:latin typeface="Century Gothic" panose="020B0502020202020204" pitchFamily="34" charset="0"/>
              </a:rPr>
              <a:t>cumulada</a:t>
            </a:r>
            <a:r>
              <a:rPr lang="es-ES" b="1" dirty="0">
                <a:solidFill>
                  <a:srgbClr val="C00000"/>
                </a:solidFill>
                <a:latin typeface="Century Gothic" panose="020B0502020202020204" pitchFamily="34" charset="0"/>
              </a:rPr>
              <a:t>/Utilidades Retenidas</a:t>
            </a:r>
            <a:r>
              <a:rPr b="1" dirty="0">
                <a:solidFill>
                  <a:srgbClr val="C00000"/>
                </a:solidFill>
                <a:latin typeface="Century Gothic" panose="020B0502020202020204" pitchFamily="34" charset="0"/>
              </a:rPr>
              <a:t>:</a:t>
            </a:r>
            <a:r>
              <a:rPr lang="es-ES"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acumulada</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anteriores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Reservas</a:t>
            </a:r>
            <a:r>
              <a:rPr lang="es-ES" b="1" dirty="0">
                <a:solidFill>
                  <a:srgbClr val="C00000"/>
                </a:solidFill>
                <a:latin typeface="Century Gothic" panose="020B0502020202020204" pitchFamily="34" charset="0"/>
              </a:rPr>
              <a:t> Acumuladas o Retenidas</a:t>
            </a:r>
            <a:r>
              <a:rPr b="1" dirty="0">
                <a:solidFill>
                  <a:srgbClr val="C00000"/>
                </a:solidFill>
                <a:latin typeface="Century Gothic" panose="020B0502020202020204" pitchFamily="34" charset="0"/>
              </a:rPr>
              <a:t>: </a:t>
            </a:r>
            <a:r>
              <a:rPr lang="es-CO" dirty="0">
                <a:solidFill>
                  <a:schemeClr val="accent1"/>
                </a:solidFill>
                <a:latin typeface="Century Gothic" panose="020B0502020202020204" pitchFamily="34" charset="0"/>
              </a:rPr>
              <a:t>Pueden entenderse como la parte del beneficio destinado a cubrir las necesidades comerciales en el futuro o para satisfacer futuras contingencias y responsabilidades inesperadas </a:t>
            </a:r>
            <a:r>
              <a:rPr dirty="0">
                <a:solidFill>
                  <a:schemeClr val="accent1"/>
                </a:solidFill>
                <a:latin typeface="Century Gothic" panose="020B0502020202020204" pitchFamily="34" charset="0"/>
              </a:rPr>
              <a:t>(</a:t>
            </a:r>
            <a:r>
              <a:rPr dirty="0" err="1">
                <a:solidFill>
                  <a:schemeClr val="accent1"/>
                </a:solidFill>
                <a:latin typeface="Century Gothic" panose="020B0502020202020204" pitchFamily="34" charset="0"/>
              </a:rPr>
              <a:t>suele</a:t>
            </a:r>
            <a:r>
              <a:rPr dirty="0">
                <a:solidFill>
                  <a:schemeClr val="accent1"/>
                </a:solidFill>
                <a:latin typeface="Century Gothic" panose="020B0502020202020204" pitchFamily="34" charset="0"/>
              </a:rPr>
              <a:t> ser un 10%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a:t>
            </a:r>
          </a:p>
        </p:txBody>
      </p:sp>
      <p:sp>
        <p:nvSpPr>
          <p:cNvPr id="6" name="Title 1"/>
          <p:cNvSpPr>
            <a:spLocks noGrp="1"/>
          </p:cNvSpPr>
          <p:nvPr>
            <p:ph type="title"/>
          </p:nvPr>
        </p:nvSpPr>
        <p:spPr>
          <a:xfrm>
            <a:off x="446043" y="979870"/>
            <a:ext cx="7249775" cy="803647"/>
          </a:xfrm>
        </p:spPr>
        <p:txBody>
          <a:bodyPr/>
          <a:lstStyle/>
          <a:p>
            <a:r>
              <a:rPr lang="es-ES_tradnl">
                <a:latin typeface="Century Gothic" panose="020B0502020202020204" pitchFamily="34" charset="0"/>
              </a:rPr>
              <a:t>El Patrimonio</a:t>
            </a:r>
          </a:p>
        </p:txBody>
      </p:sp>
      <p:sp>
        <p:nvSpPr>
          <p:cNvPr id="2" name="Rectángulo 1">
            <a:extLst>
              <a:ext uri="{FF2B5EF4-FFF2-40B4-BE49-F238E27FC236}">
                <a16:creationId xmlns:a16="http://schemas.microsoft.com/office/drawing/2014/main" id="{389D77BF-92E7-43AD-8797-BA14416670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83D4B34-AF13-7B67-3309-B4ECE892B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69F0AA8-B7FD-4DC3-6468-11A27BA99088}"/>
              </a:ext>
            </a:extLst>
          </p:cNvPr>
          <p:cNvPicPr>
            <a:picLocks noChangeAspect="1"/>
          </p:cNvPicPr>
          <p:nvPr/>
        </p:nvPicPr>
        <p:blipFill>
          <a:blip r:embed="rId3"/>
          <a:stretch>
            <a:fillRect/>
          </a:stretch>
        </p:blipFill>
        <p:spPr>
          <a:xfrm>
            <a:off x="8844285" y="3323273"/>
            <a:ext cx="2480187" cy="1596833"/>
          </a:xfrm>
          <a:prstGeom prst="rect">
            <a:avLst/>
          </a:prstGeom>
        </p:spPr>
      </p:pic>
      <p:sp>
        <p:nvSpPr>
          <p:cNvPr id="8" name="Rectángulo 7">
            <a:extLst>
              <a:ext uri="{FF2B5EF4-FFF2-40B4-BE49-F238E27FC236}">
                <a16:creationId xmlns:a16="http://schemas.microsoft.com/office/drawing/2014/main" id="{6BE91A9F-2DC5-7244-86C8-327B8E73A62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477A57B-3ED1-2217-22E4-93B2A300042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237101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70">
                                            <p:txEl>
                                              <p:pRg st="1" end="1"/>
                                            </p:txEl>
                                          </p:spTgt>
                                        </p:tgtEl>
                                        <p:attrNameLst>
                                          <p:attrName>style.visibility</p:attrName>
                                        </p:attrNameLst>
                                      </p:cBhvr>
                                      <p:to>
                                        <p:strVal val="visible"/>
                                      </p:to>
                                    </p:set>
                                    <p:anim calcmode="lin" valueType="num">
                                      <p:cBhvr additive="base">
                                        <p:cTn id="7" dur="500"/>
                                        <p:tgtEl>
                                          <p:spTgt spid="170">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0">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70">
                                            <p:txEl>
                                              <p:pRg st="2" end="2"/>
                                            </p:txEl>
                                          </p:spTgt>
                                        </p:tgtEl>
                                        <p:attrNameLst>
                                          <p:attrName>style.visibility</p:attrName>
                                        </p:attrNameLst>
                                      </p:cBhvr>
                                      <p:to>
                                        <p:strVal val="visible"/>
                                      </p:to>
                                    </p:set>
                                    <p:anim calcmode="lin" valueType="num">
                                      <p:cBhvr additive="base">
                                        <p:cTn id="13" dur="500"/>
                                        <p:tgtEl>
                                          <p:spTgt spid="170">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7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70">
                                            <p:txEl>
                                              <p:pRg st="3" end="3"/>
                                            </p:txEl>
                                          </p:spTgt>
                                        </p:tgtEl>
                                        <p:attrNameLst>
                                          <p:attrName>style.visibility</p:attrName>
                                        </p:attrNameLst>
                                      </p:cBhvr>
                                      <p:to>
                                        <p:strVal val="visible"/>
                                      </p:to>
                                    </p:set>
                                    <p:anim calcmode="lin" valueType="num">
                                      <p:cBhvr additive="base">
                                        <p:cTn id="19" dur="500"/>
                                        <p:tgtEl>
                                          <p:spTgt spid="170">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5" name="Table 175"/>
          <p:cNvGraphicFramePr/>
          <p:nvPr>
            <p:extLst>
              <p:ext uri="{D42A27DB-BD31-4B8C-83A1-F6EECF244321}">
                <p14:modId xmlns:p14="http://schemas.microsoft.com/office/powerpoint/2010/main" val="3388016325"/>
              </p:ext>
            </p:extLst>
          </p:nvPr>
        </p:nvGraphicFramePr>
        <p:xfrm>
          <a:off x="3159015" y="1904956"/>
          <a:ext cx="5040540" cy="4482460"/>
        </p:xfrm>
        <a:graphic>
          <a:graphicData uri="http://schemas.openxmlformats.org/drawingml/2006/table">
            <a:tbl>
              <a:tblPr firstRow="1"/>
              <a:tblGrid>
                <a:gridCol w="280245">
                  <a:extLst>
                    <a:ext uri="{9D8B030D-6E8A-4147-A177-3AD203B41FA5}">
                      <a16:colId xmlns:a16="http://schemas.microsoft.com/office/drawing/2014/main" val="20000"/>
                    </a:ext>
                  </a:extLst>
                </a:gridCol>
                <a:gridCol w="2072813">
                  <a:extLst>
                    <a:ext uri="{9D8B030D-6E8A-4147-A177-3AD203B41FA5}">
                      <a16:colId xmlns:a16="http://schemas.microsoft.com/office/drawing/2014/main" val="20001"/>
                    </a:ext>
                  </a:extLst>
                </a:gridCol>
                <a:gridCol w="282357">
                  <a:extLst>
                    <a:ext uri="{9D8B030D-6E8A-4147-A177-3AD203B41FA5}">
                      <a16:colId xmlns:a16="http://schemas.microsoft.com/office/drawing/2014/main" val="20002"/>
                    </a:ext>
                  </a:extLst>
                </a:gridCol>
                <a:gridCol w="2405125">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lang="es-CO" sz="900" spc="56" dirty="0">
                          <a:solidFill>
                            <a:schemeClr val="accent1"/>
                          </a:solidFill>
                          <a:latin typeface="Century Gothic" panose="020B0502020202020204" pitchFamily="34" charset="0"/>
                        </a:rPr>
                        <a:t>Efectivo y Equivalentes</a:t>
                      </a:r>
                      <a:endParaRPr sz="9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Obligaciones Bancarias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Temporales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Cobrar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Deudores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Ingresos Anticipados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Inventarios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Interés Anticipado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Materia Prima</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Prestaciones Sociales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en Proceso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Terminado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Dividendos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Pagos</a:t>
                      </a:r>
                      <a:r>
                        <a:rPr sz="900" spc="56">
                          <a:solidFill>
                            <a:schemeClr val="accent1"/>
                          </a:solidFill>
                          <a:latin typeface="Century Gothic" panose="020B0502020202020204" pitchFamily="34" charset="0"/>
                        </a:rPr>
                        <a:t> </a:t>
                      </a:r>
                      <a:r>
                        <a:rPr sz="900" spc="56" err="1">
                          <a:solidFill>
                            <a:schemeClr val="accent1"/>
                          </a:solidFill>
                          <a:latin typeface="Century Gothic" panose="020B0502020202020204" pitchFamily="34" charset="0"/>
                        </a:rPr>
                        <a:t>Anticipados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Pr</a:t>
                      </a:r>
                      <a:r>
                        <a:rPr lang="es-CO" sz="900" spc="56">
                          <a:solidFill>
                            <a:schemeClr val="accent1"/>
                          </a:solidFill>
                          <a:latin typeface="Century Gothic" panose="020B0502020202020204" pitchFamily="34" charset="0"/>
                        </a:rPr>
                        <a:t>é</a:t>
                      </a:r>
                      <a:r>
                        <a:rPr sz="900" spc="56" err="1">
                          <a:solidFill>
                            <a:schemeClr val="accent1"/>
                          </a:solidFill>
                          <a:latin typeface="Century Gothic" panose="020B0502020202020204" pitchFamily="34" charset="0"/>
                        </a:rPr>
                        <a:t>stamos</a:t>
                      </a:r>
                      <a:r>
                        <a:rPr sz="900" spc="56">
                          <a:solidFill>
                            <a:schemeClr val="accent1"/>
                          </a:solidFill>
                          <a:latin typeface="Century Gothic" panose="020B0502020202020204" pitchFamily="34" charset="0"/>
                        </a:rPr>
                        <a:t> a Largo </a:t>
                      </a:r>
                      <a:r>
                        <a:rPr sz="900" spc="56" err="1">
                          <a:solidFill>
                            <a:schemeClr val="accent1"/>
                          </a:solidFill>
                          <a:latin typeface="Century Gothic" panose="020B0502020202020204" pitchFamily="34" charset="0"/>
                        </a:rPr>
                        <a:t>Plazo</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Terrenos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Bonos Corporativos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Edificios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Planta &amp; Equipo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dirty="0">
                          <a:solidFill>
                            <a:schemeClr val="accent1"/>
                          </a:solidFill>
                          <a:latin typeface="Century Gothic" panose="020B0502020202020204" pitchFamily="34" charset="0"/>
                        </a:rPr>
                        <a:t>Capital</a:t>
                      </a:r>
                      <a:r>
                        <a:rPr lang="es-CO" sz="900" spc="56" dirty="0">
                          <a:solidFill>
                            <a:schemeClr val="accent1"/>
                          </a:solidFill>
                          <a:latin typeface="Century Gothic" panose="020B0502020202020204" pitchFamily="34" charset="0"/>
                        </a:rPr>
                        <a:t> Suscrito</a:t>
                      </a:r>
                      <a:endParaRPr sz="9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Muebles &amp; Enseres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Utilidades Acumuladas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Vehículos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 del Periodo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Intangibles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dirty="0" err="1">
                          <a:solidFill>
                            <a:schemeClr val="accent1"/>
                          </a:solidFill>
                          <a:latin typeface="Century Gothic" panose="020B0502020202020204" pitchFamily="34" charset="0"/>
                        </a:rPr>
                        <a:t>Reservas</a:t>
                      </a:r>
                      <a:r>
                        <a:rPr sz="900" spc="56" dirty="0">
                          <a:solidFill>
                            <a:schemeClr val="accent1"/>
                          </a:solidFill>
                          <a:latin typeface="Century Gothic" panose="020B0502020202020204" pitchFamily="34" charset="0"/>
                        </a:rPr>
                        <a:t> </a:t>
                      </a:r>
                      <a:r>
                        <a:rPr sz="900" spc="56" dirty="0" err="1">
                          <a:solidFill>
                            <a:schemeClr val="accent1"/>
                          </a:solidFill>
                          <a:latin typeface="Century Gothic" panose="020B0502020202020204" pitchFamily="34" charset="0"/>
                        </a:rPr>
                        <a:t>Legales</a:t>
                      </a:r>
                      <a:endParaRPr sz="9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a:t>
                      </a:r>
                      <a:r>
                        <a:rPr sz="900" spc="56" err="1">
                          <a:solidFill>
                            <a:schemeClr val="accent1"/>
                          </a:solidFill>
                          <a:latin typeface="Century Gothic" panose="020B0502020202020204" pitchFamily="34" charset="0"/>
                        </a:rPr>
                        <a:t>Permanentes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r>
                        <a:rPr lang="es-CO" sz="900">
                          <a:solidFill>
                            <a:schemeClr val="accent1"/>
                          </a:solidFill>
                          <a:latin typeface="Century Gothic" panose="020B0502020202020204" pitchFamily="34" charset="0"/>
                        </a:rPr>
                        <a:t>ORI</a:t>
                      </a: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181" name="Shape 181"/>
          <p:cNvSpPr/>
          <p:nvPr/>
        </p:nvSpPr>
        <p:spPr>
          <a:xfrm>
            <a:off x="8835943" y="2997030"/>
            <a:ext cx="2774688"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2000"/>
            </a:lvl1pPr>
          </a:lstStyle>
          <a:p>
            <a:pPr lvl="0">
              <a:defRPr sz="1800">
                <a:solidFill>
                  <a:srgbClr val="000000"/>
                </a:solidFill>
              </a:defRPr>
            </a:pPr>
            <a:r>
              <a:rPr sz="1600" b="1" err="1">
                <a:solidFill>
                  <a:schemeClr val="accent6"/>
                </a:solidFill>
                <a:latin typeface="Century Gothic" panose="020B0502020202020204" pitchFamily="34" charset="0"/>
              </a:rPr>
              <a:t>Recursos</a:t>
            </a:r>
            <a:r>
              <a:rPr sz="1600" b="1">
                <a:solidFill>
                  <a:schemeClr val="accent6"/>
                </a:solidFill>
                <a:latin typeface="Century Gothic" panose="020B0502020202020204" pitchFamily="34" charset="0"/>
              </a:rPr>
              <a:t> </a:t>
            </a:r>
            <a:r>
              <a:rPr sz="1600" b="1" err="1">
                <a:solidFill>
                  <a:schemeClr val="accent6"/>
                </a:solidFill>
                <a:latin typeface="Century Gothic" panose="020B0502020202020204" pitchFamily="34" charset="0"/>
              </a:rPr>
              <a:t>Ajenos</a:t>
            </a:r>
            <a:endParaRPr sz="1600" b="1">
              <a:solidFill>
                <a:schemeClr val="accent6"/>
              </a:solidFill>
              <a:latin typeface="Century Gothic" panose="020B0502020202020204" pitchFamily="34" charset="0"/>
            </a:endParaRPr>
          </a:p>
        </p:txBody>
      </p:sp>
      <p:sp>
        <p:nvSpPr>
          <p:cNvPr id="182" name="Shape 182"/>
          <p:cNvSpPr/>
          <p:nvPr/>
        </p:nvSpPr>
        <p:spPr>
          <a:xfrm>
            <a:off x="8621486" y="5162621"/>
            <a:ext cx="1964791"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2000"/>
            </a:lvl1pPr>
          </a:lstStyle>
          <a:p>
            <a:pPr lvl="0" algn="ctr">
              <a:defRPr sz="1800">
                <a:solidFill>
                  <a:srgbClr val="000000"/>
                </a:solidFill>
              </a:defRPr>
            </a:pPr>
            <a:r>
              <a:rPr sz="1600" b="1" err="1">
                <a:solidFill>
                  <a:schemeClr val="accent1"/>
                </a:solidFill>
                <a:latin typeface="Century Gothic" panose="020B0502020202020204" pitchFamily="34" charset="0"/>
              </a:rPr>
              <a:t>Recursos</a:t>
            </a:r>
            <a:r>
              <a:rPr sz="1600" b="1">
                <a:solidFill>
                  <a:schemeClr val="accent1"/>
                </a:solidFill>
                <a:latin typeface="Century Gothic" panose="020B0502020202020204" pitchFamily="34" charset="0"/>
              </a:rPr>
              <a:t> </a:t>
            </a:r>
            <a:r>
              <a:rPr sz="1600" b="1" err="1">
                <a:solidFill>
                  <a:schemeClr val="accent1"/>
                </a:solidFill>
                <a:latin typeface="Century Gothic" panose="020B0502020202020204" pitchFamily="34" charset="0"/>
              </a:rPr>
              <a:t>Propios</a:t>
            </a:r>
            <a:endParaRPr sz="1600" b="1">
              <a:solidFill>
                <a:schemeClr val="accent1"/>
              </a:solidFill>
              <a:latin typeface="Century Gothic" panose="020B0502020202020204" pitchFamily="34" charset="0"/>
            </a:endParaRPr>
          </a:p>
        </p:txBody>
      </p:sp>
      <p:sp>
        <p:nvSpPr>
          <p:cNvPr id="14" name="Title 1"/>
          <p:cNvSpPr>
            <a:spLocks noGrp="1"/>
          </p:cNvSpPr>
          <p:nvPr>
            <p:ph type="title"/>
          </p:nvPr>
        </p:nvSpPr>
        <p:spPr>
          <a:xfrm>
            <a:off x="438687" y="993246"/>
            <a:ext cx="10645869" cy="803647"/>
          </a:xfrm>
        </p:spPr>
        <p:txBody>
          <a:bodyPr/>
          <a:lstStyle/>
          <a:p>
            <a:r>
              <a:rPr lang="es-ES_tradnl" dirty="0">
                <a:latin typeface="Century Gothic" panose="020B0502020202020204" pitchFamily="34" charset="0"/>
              </a:rPr>
              <a:t>EL ESTADO DE SITUACIÓN FINANCIERA</a:t>
            </a:r>
          </a:p>
        </p:txBody>
      </p:sp>
      <p:sp>
        <p:nvSpPr>
          <p:cNvPr id="2" name="Cerrar llave 1"/>
          <p:cNvSpPr/>
          <p:nvPr/>
        </p:nvSpPr>
        <p:spPr>
          <a:xfrm>
            <a:off x="8199555" y="2090057"/>
            <a:ext cx="421931" cy="2717074"/>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3" name="Cerrar llave 12"/>
          <p:cNvSpPr/>
          <p:nvPr/>
        </p:nvSpPr>
        <p:spPr>
          <a:xfrm>
            <a:off x="8255656" y="4807131"/>
            <a:ext cx="421931" cy="180440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 name="Rectángulo 2">
            <a:extLst>
              <a:ext uri="{FF2B5EF4-FFF2-40B4-BE49-F238E27FC236}">
                <a16:creationId xmlns:a16="http://schemas.microsoft.com/office/drawing/2014/main" id="{396BD728-41E9-340B-A5AA-676829A4916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D074728-B169-1924-49D4-7A840B2B5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1EB8823-F943-319F-E8AB-AFE412E1C29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BFD4761-AACF-DBC4-C411-C79EE22547A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1786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1"/>
                                        </p:tgtEl>
                                        <p:attrNameLst>
                                          <p:attrName>style.visibility</p:attrName>
                                        </p:attrNameLst>
                                      </p:cBhvr>
                                      <p:to>
                                        <p:strVal val="visible"/>
                                      </p:to>
                                    </p:set>
                                    <p:animEffect transition="in" filter="barn(inVertical)">
                                      <p:cBhvr>
                                        <p:cTn id="10" dur="500"/>
                                        <p:tgtEl>
                                          <p:spTgt spid="18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2"/>
                                        </p:tgtEl>
                                        <p:attrNameLst>
                                          <p:attrName>style.visibility</p:attrName>
                                        </p:attrNameLst>
                                      </p:cBhvr>
                                      <p:to>
                                        <p:strVal val="visible"/>
                                      </p:to>
                                    </p:set>
                                    <p:animEffect transition="in" filter="barn(inVertical)">
                                      <p:cBhvr>
                                        <p:cTn id="18"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p:bldP spid="182" grpId="0" animBg="1"/>
      <p:bldP spid="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3" y="2186451"/>
            <a:ext cx="11029615"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BC389CB1-F026-03F3-3D74-49724A7F07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AB6A361-2BEC-0878-3B23-13F4CC729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7DB880FE-9687-9884-AA9B-FEA6B53C8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07AFAF1-A188-DE4B-E9AE-B189761FAC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E348AE5-FE19-FD1F-F109-B4EBCC062C6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136669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43614" y="2186451"/>
            <a:ext cx="11067194"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174E028B-9DA7-E8E5-3F79-94E293B9FF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82963A9-A66F-A6D3-B4DF-ADE41313F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lustración de diseño de dibujos animados planos de concepto de inversión  de idea de dinero financiero | Vector Premium">
            <a:extLst>
              <a:ext uri="{FF2B5EF4-FFF2-40B4-BE49-F238E27FC236}">
                <a16:creationId xmlns:a16="http://schemas.microsoft.com/office/drawing/2014/main" id="{F5004CF6-4C3F-25DD-8D9D-76DB0048D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2CC102D-C7B9-03B2-E39B-580167D3A0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6D5CA4B7-1235-272D-91D6-73F232F36C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4228218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806200" y="3007585"/>
            <a:ext cx="1388522"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0F17BD7A-B2D3-A55B-6A06-56FC30FF00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DC3CBDE-F417-0985-148B-39B3ECD093E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387948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ppt_y</p:attrName>
                                        </p:attrNameLst>
                                      </p:cBhvr>
                                      <p:tavLst>
                                        <p:tav tm="0">
                                          <p:val>
                                            <p:strVal val="#ppt_y+#ppt_h*1.125000"/>
                                          </p:val>
                                        </p:tav>
                                        <p:tav tm="100000">
                                          <p:val>
                                            <p:strVal val="#ppt_y"/>
                                          </p:val>
                                        </p:tav>
                                      </p:tavLst>
                                    </p:anim>
                                    <p:animEffect transition="in" filter="wipe(up)">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3"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
                                        <p:tgtEl>
                                          <p:spTgt spid="8"/>
                                        </p:tgtEl>
                                      </p:cBhvr>
                                    </p:animEffect>
                                    <p:anim calcmode="lin" valueType="num">
                                      <p:cBhvr>
                                        <p:cTn id="20" dur="400" fill="hold"/>
                                        <p:tgtEl>
                                          <p:spTgt spid="8"/>
                                        </p:tgtEl>
                                        <p:attrNameLst>
                                          <p:attrName>ppt_x</p:attrName>
                                        </p:attrNameLst>
                                      </p:cBhvr>
                                      <p:tavLst>
                                        <p:tav tm="0">
                                          <p:val>
                                            <p:strVal val="#ppt_x"/>
                                          </p:val>
                                        </p:tav>
                                        <p:tav tm="100000">
                                          <p:val>
                                            <p:strVal val="#ppt_x"/>
                                          </p:val>
                                        </p:tav>
                                      </p:tavLst>
                                    </p:anim>
                                    <p:anim calcmode="lin" valueType="num">
                                      <p:cBhvr>
                                        <p:cTn id="21" dur="400" fill="hold"/>
                                        <p:tgtEl>
                                          <p:spTgt spid="8"/>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4" presetID="43"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31"/>
                                          </p:val>
                                        </p:tav>
                                        <p:tav tm="100000">
                                          <p:val>
                                            <p:strVal val="#ppt_y+0.31"/>
                                          </p:val>
                                        </p:tav>
                                      </p:tavLst>
                                    </p:anim>
                                    <p:anim calcmode="lin" valueType="num">
                                      <p:cBhvr>
                                        <p:cTn id="29"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0"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2" y="2037364"/>
            <a:ext cx="11029616" cy="3678303"/>
          </a:xfrm>
        </p:spPr>
        <p:txBody>
          <a:bodyPr>
            <a:normAutofit/>
          </a:bodyPr>
          <a:lstStyle/>
          <a:p>
            <a:pPr marL="0" indent="0" algn="just">
              <a:buNone/>
            </a:pPr>
            <a:r>
              <a:rPr lang="es-ES" dirty="0">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b="1" u="sng" dirty="0">
                <a:solidFill>
                  <a:schemeClr val="accent3">
                    <a:lumMod val="50000"/>
                  </a:schemeClr>
                </a:solidFill>
                <a:latin typeface="Century Gothic" panose="020B0502020202020204" pitchFamily="34" charset="0"/>
              </a:rPr>
              <a:t>Con esa plata, compra maquinaria que le cuesta 70 millones de pesos.</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966F9296-CC24-862D-0EF4-0FF19CE84A6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B9FCA33-F355-43EB-E3F1-03B3A02D8C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88A7B213-A7AE-3520-721C-4FDC66DA7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2230FDF-945C-F424-52E1-E90FB1B598F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F871155-C2E2-D631-A5AE-3B970993B4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2994050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616692"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43926" y="3053424"/>
            <a:ext cx="2183611"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 – 70 = 30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Rectángulo 17">
            <a:extLst>
              <a:ext uri="{FF2B5EF4-FFF2-40B4-BE49-F238E27FC236}">
                <a16:creationId xmlns:a16="http://schemas.microsoft.com/office/drawing/2014/main" id="{99B3A084-3D94-1F3D-0204-D40113DB815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17207DA3-82A7-56C9-DD23-9BF59BBCC57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197051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p:tgtEl>
                                          <p:spTgt spid="1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ppt_y</p:attrName>
                                        </p:attrNameLst>
                                      </p:cBhvr>
                                      <p:tavLst>
                                        <p:tav tm="0">
                                          <p:val>
                                            <p:strVal val="#ppt_y+#ppt_h*1.125000"/>
                                          </p:val>
                                        </p:tav>
                                        <p:tav tm="100000">
                                          <p:val>
                                            <p:strVal val="#ppt_y"/>
                                          </p:val>
                                        </p:tav>
                                      </p:tavLst>
                                    </p:anim>
                                    <p:animEffect transition="in" filter="wipe(up)">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43"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31"/>
                                          </p:val>
                                        </p:tav>
                                        <p:tav tm="100000">
                                          <p:val>
                                            <p:strVal val="#ppt_y+0.31"/>
                                          </p:val>
                                        </p:tav>
                                      </p:tavLst>
                                    </p:anim>
                                    <p:anim calcmode="lin" valueType="num">
                                      <p:cBhvr>
                                        <p:cTn id="28"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9"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30" presetID="43"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
                                        <p:tgtEl>
                                          <p:spTgt spid="9"/>
                                        </p:tgtEl>
                                      </p:cBhvr>
                                    </p:animEffect>
                                    <p:anim calcmode="lin" valueType="num">
                                      <p:cBhvr>
                                        <p:cTn id="33" dur="400" fill="hold"/>
                                        <p:tgtEl>
                                          <p:spTgt spid="9"/>
                                        </p:tgtEl>
                                        <p:attrNameLst>
                                          <p:attrName>ppt_x</p:attrName>
                                        </p:attrNameLst>
                                      </p:cBhvr>
                                      <p:tavLst>
                                        <p:tav tm="0">
                                          <p:val>
                                            <p:strVal val="#ppt_x"/>
                                          </p:val>
                                        </p:tav>
                                        <p:tav tm="100000">
                                          <p:val>
                                            <p:strVal val="#ppt_x"/>
                                          </p:val>
                                        </p:tav>
                                      </p:tavLst>
                                    </p:anim>
                                    <p:anim calcmode="lin" valueType="num">
                                      <p:cBhvr>
                                        <p:cTn id="34" dur="400" fill="hold"/>
                                        <p:tgtEl>
                                          <p:spTgt spid="9"/>
                                        </p:tgtEl>
                                        <p:attrNameLst>
                                          <p:attrName>ppt_y</p:attrName>
                                        </p:attrNameLst>
                                      </p:cBhvr>
                                      <p:tavLst>
                                        <p:tav tm="0">
                                          <p:val>
                                            <p:strVal val="#ppt_y+0.31"/>
                                          </p:val>
                                        </p:tav>
                                        <p:tav tm="100000">
                                          <p:val>
                                            <p:strVal val="#ppt_y+0.31"/>
                                          </p:val>
                                        </p:tav>
                                      </p:tavLst>
                                    </p:anim>
                                    <p:anim calcmode="lin" valueType="num">
                                      <p:cBhvr>
                                        <p:cTn id="35"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6"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641965" y="2186451"/>
            <a:ext cx="11029615" cy="3678303"/>
          </a:xfrm>
        </p:spPr>
        <p:txBody>
          <a:bodyPr>
            <a:normAutofit/>
          </a:bodyPr>
          <a:lstStyle/>
          <a:p>
            <a:pPr marL="0" indent="0">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buNone/>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buFont typeface="Wingdings" pitchFamily="2" charset="2"/>
              <a:buChar char="q"/>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50686F2F-56B4-BEC1-9BCE-67144C1498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09068DB-21D7-635A-4F75-ADC34D0D3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97DD7F81-586D-AF65-2A07-6DCE871C1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2D91B68-2C13-DBA6-1F05-425D44978EE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7405A58-893B-F803-DB41-0A75463ECE2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3224579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23841" y="5728534"/>
            <a:ext cx="2446504"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9" name="CuadroTexto 8"/>
          <p:cNvSpPr txBox="1"/>
          <p:nvPr/>
        </p:nvSpPr>
        <p:spPr>
          <a:xfrm>
            <a:off x="4890485" y="5728534"/>
            <a:ext cx="4113627"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69982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96781" y="3054830"/>
            <a:ext cx="1984839"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30 – 30 = 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CuadroTexto 17">
            <a:extLst>
              <a:ext uri="{FF2B5EF4-FFF2-40B4-BE49-F238E27FC236}">
                <a16:creationId xmlns:a16="http://schemas.microsoft.com/office/drawing/2014/main" id="{3B5A227F-1097-934F-BB28-4FDC403C1450}"/>
              </a:ext>
            </a:extLst>
          </p:cNvPr>
          <p:cNvSpPr txBox="1"/>
          <p:nvPr/>
        </p:nvSpPr>
        <p:spPr>
          <a:xfrm>
            <a:off x="2805845" y="4545935"/>
            <a:ext cx="2127506"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Lote y Edificación = 50</a:t>
            </a:r>
          </a:p>
        </p:txBody>
      </p:sp>
      <p:sp>
        <p:nvSpPr>
          <p:cNvPr id="19" name="CuadroTexto 18">
            <a:extLst>
              <a:ext uri="{FF2B5EF4-FFF2-40B4-BE49-F238E27FC236}">
                <a16:creationId xmlns:a16="http://schemas.microsoft.com/office/drawing/2014/main" id="{22F24F24-0183-8643-A2C9-1F788467430D}"/>
              </a:ext>
            </a:extLst>
          </p:cNvPr>
          <p:cNvSpPr txBox="1"/>
          <p:nvPr/>
        </p:nvSpPr>
        <p:spPr>
          <a:xfrm>
            <a:off x="5522104" y="3034395"/>
            <a:ext cx="2238113"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Préstamo Bancario = 20</a:t>
            </a:r>
          </a:p>
        </p:txBody>
      </p:sp>
      <p:sp>
        <p:nvSpPr>
          <p:cNvPr id="20" name="Rectángulo 19">
            <a:extLst>
              <a:ext uri="{FF2B5EF4-FFF2-40B4-BE49-F238E27FC236}">
                <a16:creationId xmlns:a16="http://schemas.microsoft.com/office/drawing/2014/main" id="{A9ACD5E6-5740-DFB6-5335-7CF5D5C80ED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4778466-EACB-29E5-7168-A9E975C68D3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146539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p:tgtEl>
                                          <p:spTgt spid="18"/>
                                        </p:tgtEl>
                                        <p:attrNameLst>
                                          <p:attrName>ppt_y</p:attrName>
                                        </p:attrNameLst>
                                      </p:cBhvr>
                                      <p:tavLst>
                                        <p:tav tm="0">
                                          <p:val>
                                            <p:strVal val="#ppt_y+#ppt_h*1.125000"/>
                                          </p:val>
                                        </p:tav>
                                        <p:tav tm="100000">
                                          <p:val>
                                            <p:strVal val="#ppt_y"/>
                                          </p:val>
                                        </p:tav>
                                      </p:tavLst>
                                    </p:anim>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p:tgtEl>
                                          <p:spTgt spid="19"/>
                                        </p:tgtEl>
                                        <p:attrNameLst>
                                          <p:attrName>ppt_y</p:attrName>
                                        </p:attrNameLst>
                                      </p:cBhvr>
                                      <p:tavLst>
                                        <p:tav tm="0">
                                          <p:val>
                                            <p:strVal val="#ppt_y+#ppt_h*1.125000"/>
                                          </p:val>
                                        </p:tav>
                                        <p:tav tm="100000">
                                          <p:val>
                                            <p:strVal val="#ppt_y"/>
                                          </p:val>
                                        </p:tav>
                                      </p:tavLst>
                                    </p:anim>
                                    <p:animEffect transition="in" filter="wipe(up)">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p:tgtEl>
                                          <p:spTgt spid="11"/>
                                        </p:tgtEl>
                                        <p:attrNameLst>
                                          <p:attrName>ppt_y</p:attrName>
                                        </p:attrNameLst>
                                      </p:cBhvr>
                                      <p:tavLst>
                                        <p:tav tm="0">
                                          <p:val>
                                            <p:strVal val="#ppt_y+#ppt_h*1.125000"/>
                                          </p:val>
                                        </p:tav>
                                        <p:tav tm="100000">
                                          <p:val>
                                            <p:strVal val="#ppt_y"/>
                                          </p:val>
                                        </p:tav>
                                      </p:tavLst>
                                    </p:anim>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43"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
                                        <p:tgtEl>
                                          <p:spTgt spid="8"/>
                                        </p:tgtEl>
                                      </p:cBhvr>
                                    </p:animEffect>
                                    <p:anim calcmode="lin" valueType="num">
                                      <p:cBhvr>
                                        <p:cTn id="38" dur="400" fill="hold"/>
                                        <p:tgtEl>
                                          <p:spTgt spid="8"/>
                                        </p:tgtEl>
                                        <p:attrNameLst>
                                          <p:attrName>ppt_x</p:attrName>
                                        </p:attrNameLst>
                                      </p:cBhvr>
                                      <p:tavLst>
                                        <p:tav tm="0">
                                          <p:val>
                                            <p:strVal val="#ppt_x"/>
                                          </p:val>
                                        </p:tav>
                                        <p:tav tm="100000">
                                          <p:val>
                                            <p:strVal val="#ppt_x"/>
                                          </p:val>
                                        </p:tav>
                                      </p:tavLst>
                                    </p:anim>
                                    <p:anim calcmode="lin" valueType="num">
                                      <p:cBhvr>
                                        <p:cTn id="39" dur="400" fill="hold"/>
                                        <p:tgtEl>
                                          <p:spTgt spid="8"/>
                                        </p:tgtEl>
                                        <p:attrNameLst>
                                          <p:attrName>ppt_y</p:attrName>
                                        </p:attrNameLst>
                                      </p:cBhvr>
                                      <p:tavLst>
                                        <p:tav tm="0">
                                          <p:val>
                                            <p:strVal val="#ppt_y+0.31"/>
                                          </p:val>
                                        </p:tav>
                                        <p:tav tm="100000">
                                          <p:val>
                                            <p:strVal val="#ppt_y+0.31"/>
                                          </p:val>
                                        </p:tav>
                                      </p:tavLst>
                                    </p:anim>
                                    <p:anim calcmode="lin" valueType="num">
                                      <p:cBhvr>
                                        <p:cTn id="40"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1"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42" presetID="43"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
                                        <p:tgtEl>
                                          <p:spTgt spid="9"/>
                                        </p:tgtEl>
                                      </p:cBhvr>
                                    </p:animEffect>
                                    <p:anim calcmode="lin" valueType="num">
                                      <p:cBhvr>
                                        <p:cTn id="45" dur="400" fill="hold"/>
                                        <p:tgtEl>
                                          <p:spTgt spid="9"/>
                                        </p:tgtEl>
                                        <p:attrNameLst>
                                          <p:attrName>ppt_x</p:attrName>
                                        </p:attrNameLst>
                                      </p:cBhvr>
                                      <p:tavLst>
                                        <p:tav tm="0">
                                          <p:val>
                                            <p:strVal val="#ppt_x"/>
                                          </p:val>
                                        </p:tav>
                                        <p:tav tm="100000">
                                          <p:val>
                                            <p:strVal val="#ppt_x"/>
                                          </p:val>
                                        </p:tav>
                                      </p:tavLst>
                                    </p:anim>
                                    <p:anim calcmode="lin" valueType="num">
                                      <p:cBhvr>
                                        <p:cTn id="46" dur="400" fill="hold"/>
                                        <p:tgtEl>
                                          <p:spTgt spid="9"/>
                                        </p:tgtEl>
                                        <p:attrNameLst>
                                          <p:attrName>ppt_y</p:attrName>
                                        </p:attrNameLst>
                                      </p:cBhvr>
                                      <p:tavLst>
                                        <p:tav tm="0">
                                          <p:val>
                                            <p:strVal val="#ppt_y+0.31"/>
                                          </p:val>
                                        </p:tav>
                                        <p:tav tm="100000">
                                          <p:val>
                                            <p:strVal val="#ppt_y+0.31"/>
                                          </p:val>
                                        </p:tav>
                                      </p:tavLst>
                                    </p:anim>
                                    <p:anim calcmode="lin" valueType="num">
                                      <p:cBhvr>
                                        <p:cTn id="47"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8"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a:latin typeface="Century Gothic" panose="020B0502020202020204" pitchFamily="34" charset="0"/>
              </a:rPr>
              <a:t>EL ESTADO DE SITUACIÓN FINANCIERA</a:t>
            </a:r>
            <a:endParaRPr lang="es-ES">
              <a:latin typeface="Century Gothic" panose="020B0502020202020204" pitchFamily="34" charset="0"/>
            </a:endParaRPr>
          </a:p>
        </p:txBody>
      </p:sp>
      <p:sp>
        <p:nvSpPr>
          <p:cNvPr id="3" name="Marcador de contenido 2"/>
          <p:cNvSpPr>
            <a:spLocks noGrp="1"/>
          </p:cNvSpPr>
          <p:nvPr>
            <p:ph idx="1"/>
          </p:nvPr>
        </p:nvSpPr>
        <p:spPr>
          <a:xfrm>
            <a:off x="3842236" y="2290360"/>
            <a:ext cx="7242318" cy="3678303"/>
          </a:xfrm>
        </p:spPr>
        <p:txBody>
          <a:bodyPr>
            <a:normAutofit/>
          </a:bodyPr>
          <a:lstStyle/>
          <a:p>
            <a:pPr marL="0" indent="0" algn="ctr">
              <a:buNone/>
            </a:pPr>
            <a:r>
              <a:rPr lang="es-ES" sz="2000">
                <a:solidFill>
                  <a:schemeClr val="accent1"/>
                </a:solidFill>
                <a:latin typeface="Century Gothic" panose="020B0502020202020204" pitchFamily="34" charset="0"/>
              </a:rPr>
              <a:t>El anterior ejercicio es una versión </a:t>
            </a:r>
            <a:r>
              <a:rPr lang="es-ES" sz="2000" b="1">
                <a:solidFill>
                  <a:srgbClr val="C00000"/>
                </a:solidFill>
                <a:latin typeface="Century Gothic" panose="020B0502020202020204" pitchFamily="34" charset="0"/>
              </a:rPr>
              <a:t>excesivamente simplificada </a:t>
            </a:r>
            <a:r>
              <a:rPr lang="es-ES" sz="2000">
                <a:solidFill>
                  <a:schemeClr val="accent1"/>
                </a:solidFill>
                <a:latin typeface="Century Gothic" panose="020B0502020202020204" pitchFamily="34" charset="0"/>
              </a:rPr>
              <a:t>de un Estado de Situación Financiera.</a:t>
            </a:r>
          </a:p>
          <a:p>
            <a:pPr marL="0" indent="0" algn="ctr">
              <a:buNone/>
            </a:pPr>
            <a:endParaRPr lang="es-ES" sz="2000">
              <a:solidFill>
                <a:schemeClr val="accent1"/>
              </a:solidFill>
              <a:latin typeface="Century Gothic" panose="020B0502020202020204" pitchFamily="34" charset="0"/>
            </a:endParaRPr>
          </a:p>
          <a:p>
            <a:pPr marL="0" indent="0" algn="ctr">
              <a:buNone/>
            </a:pPr>
            <a:r>
              <a:rPr lang="es-ES" sz="2000">
                <a:solidFill>
                  <a:schemeClr val="accent1"/>
                </a:solidFill>
                <a:latin typeface="Century Gothic" panose="020B0502020202020204" pitchFamily="34" charset="0"/>
              </a:rPr>
              <a:t>No obstante, para efectos de los conceptos más básicos del Estado de Situación Financiera, permite ilustrar la intuición y lógica general de dicho Estado Financiero.</a:t>
            </a:r>
          </a:p>
        </p:txBody>
      </p:sp>
      <p:pic>
        <p:nvPicPr>
          <p:cNvPr id="5" name="Imagen 4"/>
          <p:cNvPicPr>
            <a:picLocks noChangeAspect="1"/>
          </p:cNvPicPr>
          <p:nvPr/>
        </p:nvPicPr>
        <p:blipFill rotWithShape="1">
          <a:blip r:embed="rId2">
            <a:clrChange>
              <a:clrFrom>
                <a:srgbClr val="FFFFFF"/>
              </a:clrFrom>
              <a:clrTo>
                <a:srgbClr val="FFFFFF">
                  <a:alpha val="0"/>
                </a:srgbClr>
              </a:clrTo>
            </a:clrChange>
          </a:blip>
          <a:srcRect l="12830" t="10894" r="11589" b="13743"/>
          <a:stretch/>
        </p:blipFill>
        <p:spPr>
          <a:xfrm>
            <a:off x="1206018" y="2890124"/>
            <a:ext cx="2460853" cy="2453721"/>
          </a:xfrm>
          <a:prstGeom prst="rect">
            <a:avLst/>
          </a:prstGeom>
        </p:spPr>
      </p:pic>
      <p:sp>
        <p:nvSpPr>
          <p:cNvPr id="10" name="Rectángulo 9">
            <a:extLst>
              <a:ext uri="{FF2B5EF4-FFF2-40B4-BE49-F238E27FC236}">
                <a16:creationId xmlns:a16="http://schemas.microsoft.com/office/drawing/2014/main" id="{F5933DD0-7750-0E2B-B0FC-1AAF0762A5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79FD37C-512D-1B10-1AF9-F4D8E0FDA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BB94EC-A6AF-D523-FC67-980E9D5F379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F573B7FC-6A55-55A2-F0F7-4E407C0A2D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177455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ESTADO DE RESULTADOS</a:t>
            </a:r>
          </a:p>
        </p:txBody>
      </p:sp>
      <p:sp>
        <p:nvSpPr>
          <p:cNvPr id="2" name="Content Placeholder 1"/>
          <p:cNvSpPr>
            <a:spLocks noGrp="1"/>
          </p:cNvSpPr>
          <p:nvPr>
            <p:ph idx="1"/>
          </p:nvPr>
        </p:nvSpPr>
        <p:spPr>
          <a:xfrm>
            <a:off x="983117" y="2075738"/>
            <a:ext cx="3915454" cy="1440113"/>
          </a:xfrm>
        </p:spPr>
        <p:txBody>
          <a:bodyPr>
            <a:normAutofit/>
          </a:bodyPr>
          <a:lstStyle/>
          <a:p>
            <a:pPr marL="0" indent="0" algn="ctr">
              <a:buNone/>
            </a:pPr>
            <a:r>
              <a:rPr lang="es-ES_tradnl">
                <a:solidFill>
                  <a:schemeClr val="accent1"/>
                </a:solidFill>
                <a:latin typeface="Century Gothic" panose="020B0502020202020204" pitchFamily="34" charset="0"/>
              </a:rPr>
              <a:t>Refleja los resultados de la gestión realizada en un periodo.</a:t>
            </a:r>
          </a:p>
        </p:txBody>
      </p:sp>
      <p:sp>
        <p:nvSpPr>
          <p:cNvPr id="8" name="Rectangle 7"/>
          <p:cNvSpPr/>
          <p:nvPr/>
        </p:nvSpPr>
        <p:spPr>
          <a:xfrm>
            <a:off x="5456586" y="2410024"/>
            <a:ext cx="3496577" cy="501914"/>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Costo de Ventas</a:t>
            </a:r>
          </a:p>
        </p:txBody>
      </p:sp>
      <p:sp>
        <p:nvSpPr>
          <p:cNvPr id="9" name="Rectangle 8"/>
          <p:cNvSpPr/>
          <p:nvPr/>
        </p:nvSpPr>
        <p:spPr>
          <a:xfrm>
            <a:off x="5456585" y="3326120"/>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Gastos Operacionales (AOM)</a:t>
            </a:r>
          </a:p>
        </p:txBody>
      </p:sp>
      <p:sp>
        <p:nvSpPr>
          <p:cNvPr id="14" name="Rectangle 13"/>
          <p:cNvSpPr/>
          <p:nvPr/>
        </p:nvSpPr>
        <p:spPr>
          <a:xfrm>
            <a:off x="5456585" y="4611260"/>
            <a:ext cx="3496577" cy="378540"/>
          </a:xfrm>
          <a:prstGeom prst="rect">
            <a:avLst/>
          </a:prstGeom>
          <a:solidFill>
            <a:srgbClr val="92D05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Otros Ingresos</a:t>
            </a:r>
          </a:p>
        </p:txBody>
      </p:sp>
      <p:sp>
        <p:nvSpPr>
          <p:cNvPr id="15" name="Rectangle 14"/>
          <p:cNvSpPr/>
          <p:nvPr/>
        </p:nvSpPr>
        <p:spPr>
          <a:xfrm>
            <a:off x="5456584" y="5800309"/>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Impuestos</a:t>
            </a:r>
          </a:p>
        </p:txBody>
      </p:sp>
      <p:sp>
        <p:nvSpPr>
          <p:cNvPr id="16" name="Rectangle 15"/>
          <p:cNvSpPr/>
          <p:nvPr/>
        </p:nvSpPr>
        <p:spPr>
          <a:xfrm>
            <a:off x="5456584" y="6214335"/>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3" name="Rectangle 2"/>
          <p:cNvSpPr/>
          <p:nvPr/>
        </p:nvSpPr>
        <p:spPr>
          <a:xfrm>
            <a:off x="5456585" y="413740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dirty="0">
                <a:latin typeface="Century Gothic" panose="020B0502020202020204" pitchFamily="34" charset="0"/>
              </a:rPr>
              <a:t>EBIT (UAII)</a:t>
            </a:r>
          </a:p>
        </p:txBody>
      </p:sp>
      <p:sp>
        <p:nvSpPr>
          <p:cNvPr id="6" name="Rectangle 5"/>
          <p:cNvSpPr/>
          <p:nvPr/>
        </p:nvSpPr>
        <p:spPr>
          <a:xfrm>
            <a:off x="5456586" y="1933045"/>
            <a:ext cx="3496577" cy="479214"/>
          </a:xfrm>
          <a:prstGeom prst="rect">
            <a:avLst/>
          </a:prstGeom>
          <a:solidFill>
            <a:srgbClr val="92D05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2" name="Left Brace 9"/>
          <p:cNvSpPr/>
          <p:nvPr/>
        </p:nvSpPr>
        <p:spPr>
          <a:xfrm rot="10800000">
            <a:off x="9103331" y="1972734"/>
            <a:ext cx="393651" cy="2164669"/>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Content Placeholder 6"/>
          <p:cNvSpPr txBox="1">
            <a:spLocks/>
          </p:cNvSpPr>
          <p:nvPr/>
        </p:nvSpPr>
        <p:spPr>
          <a:xfrm>
            <a:off x="9483107" y="2883891"/>
            <a:ext cx="1979747" cy="4288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1"/>
                </a:solidFill>
                <a:latin typeface="Century Gothic" panose="020B0502020202020204" pitchFamily="34" charset="0"/>
              </a:rPr>
              <a:t>Operacionales</a:t>
            </a:r>
          </a:p>
        </p:txBody>
      </p:sp>
      <p:sp>
        <p:nvSpPr>
          <p:cNvPr id="17" name="Left Brace 9"/>
          <p:cNvSpPr/>
          <p:nvPr/>
        </p:nvSpPr>
        <p:spPr>
          <a:xfrm rot="10800000">
            <a:off x="9089456" y="4606135"/>
            <a:ext cx="393651" cy="755846"/>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Content Placeholder 6"/>
          <p:cNvSpPr txBox="1">
            <a:spLocks/>
          </p:cNvSpPr>
          <p:nvPr/>
        </p:nvSpPr>
        <p:spPr>
          <a:xfrm>
            <a:off x="9496982" y="4769019"/>
            <a:ext cx="2257338" cy="428845"/>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6"/>
                </a:solidFill>
                <a:latin typeface="Century Gothic" panose="020B0502020202020204" pitchFamily="34" charset="0"/>
              </a:rPr>
              <a:t>No Operacionales</a:t>
            </a:r>
          </a:p>
        </p:txBody>
      </p:sp>
      <p:sp>
        <p:nvSpPr>
          <p:cNvPr id="19" name="Rectangle 8"/>
          <p:cNvSpPr/>
          <p:nvPr/>
        </p:nvSpPr>
        <p:spPr>
          <a:xfrm>
            <a:off x="5456586" y="2911939"/>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20" name="Rectangle 8"/>
          <p:cNvSpPr/>
          <p:nvPr/>
        </p:nvSpPr>
        <p:spPr>
          <a:xfrm>
            <a:off x="5456584" y="3726918"/>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Depreciación/Amortización</a:t>
            </a:r>
          </a:p>
        </p:txBody>
      </p:sp>
      <p:sp>
        <p:nvSpPr>
          <p:cNvPr id="23" name="Rectangle 13"/>
          <p:cNvSpPr/>
          <p:nvPr/>
        </p:nvSpPr>
        <p:spPr>
          <a:xfrm>
            <a:off x="5456584" y="4983442"/>
            <a:ext cx="3496577" cy="378540"/>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Otros Egresos</a:t>
            </a:r>
          </a:p>
        </p:txBody>
      </p:sp>
      <p:sp>
        <p:nvSpPr>
          <p:cNvPr id="24" name="Rectangle 2"/>
          <p:cNvSpPr/>
          <p:nvPr/>
        </p:nvSpPr>
        <p:spPr>
          <a:xfrm>
            <a:off x="5456586" y="5339982"/>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pic>
        <p:nvPicPr>
          <p:cNvPr id="2050" name="Picture 2" descr="Resultado de imagen para resultados de gestion"/>
          <p:cNvPicPr>
            <a:picLocks noChangeAspect="1" noChangeArrowheads="1"/>
          </p:cNvPicPr>
          <p:nvPr/>
        </p:nvPicPr>
        <p:blipFill>
          <a:blip r:embed="rId3">
            <a:clrChange>
              <a:clrFrom>
                <a:srgbClr val="7FAEF2"/>
              </a:clrFrom>
              <a:clrTo>
                <a:srgbClr val="7FAEF2">
                  <a:alpha val="0"/>
                </a:srgbClr>
              </a:clrTo>
            </a:clrChange>
            <a:extLst>
              <a:ext uri="{28A0092B-C50C-407E-A947-70E740481C1C}">
                <a14:useLocalDpi xmlns:a14="http://schemas.microsoft.com/office/drawing/2010/main" val="0"/>
              </a:ext>
            </a:extLst>
          </a:blip>
          <a:srcRect/>
          <a:stretch>
            <a:fillRect/>
          </a:stretch>
        </p:blipFill>
        <p:spPr bwMode="auto">
          <a:xfrm>
            <a:off x="1325478" y="3621129"/>
            <a:ext cx="3017549" cy="179616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B2C680D-30BB-37C1-9D4B-634DE0D043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96B80A16-6C0D-E1E2-F136-0A949E371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840C12C1-3813-D29C-B821-AE7EB6275B2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9089BE53-7D95-ACAF-78F8-685590AD261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20412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animBg="1"/>
      <p:bldP spid="15" grpId="0" animBg="1"/>
      <p:bldP spid="16" grpId="0" animBg="1"/>
      <p:bldP spid="3" grpId="0" animBg="1"/>
      <p:bldP spid="6" grpId="0" animBg="1"/>
      <p:bldP spid="12" grpId="0" animBg="1"/>
      <p:bldP spid="13" grpId="0"/>
      <p:bldP spid="17" grpId="0" animBg="1"/>
      <p:bldP spid="18" grpId="0"/>
      <p:bldP spid="19" grpId="0" animBg="1"/>
      <p:bldP spid="20"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BBAC-55A5-DE17-A675-06D9355B371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C6FCFFD-3EE1-EC73-5E42-591C4B88A468}"/>
              </a:ext>
            </a:extLst>
          </p:cNvPr>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ESTADO DE RESULTADOS</a:t>
            </a:r>
          </a:p>
        </p:txBody>
      </p:sp>
      <p:sp>
        <p:nvSpPr>
          <p:cNvPr id="3" name="Marcador de contenido 2">
            <a:extLst>
              <a:ext uri="{FF2B5EF4-FFF2-40B4-BE49-F238E27FC236}">
                <a16:creationId xmlns:a16="http://schemas.microsoft.com/office/drawing/2014/main" id="{1CF7BF1B-174B-B159-9CA0-1D57A62E82F3}"/>
              </a:ext>
            </a:extLst>
          </p:cNvPr>
          <p:cNvSpPr>
            <a:spLocks noGrp="1"/>
          </p:cNvSpPr>
          <p:nvPr>
            <p:ph idx="1"/>
          </p:nvPr>
        </p:nvSpPr>
        <p:spPr>
          <a:xfrm>
            <a:off x="438687" y="2037363"/>
            <a:ext cx="5928246" cy="3678303"/>
          </a:xfrm>
        </p:spPr>
        <p:txBody>
          <a:bodyPr>
            <a:normAutofit fontScale="85000" lnSpcReduction="10000"/>
          </a:bodyPr>
          <a:lstStyle/>
          <a:p>
            <a:pPr marL="0" indent="0" algn="just">
              <a:buNone/>
            </a:pPr>
            <a:r>
              <a:rPr lang="es-ES" dirty="0">
                <a:solidFill>
                  <a:schemeClr val="accent1"/>
                </a:solidFill>
                <a:latin typeface="Century Gothic" panose="020B0502020202020204" pitchFamily="34" charset="0"/>
              </a:rPr>
              <a:t>Construyamos un Estado de Resultados muy sencillo. </a:t>
            </a:r>
            <a:r>
              <a:rPr lang="es-CO" dirty="0">
                <a:solidFill>
                  <a:schemeClr val="accent1"/>
                </a:solidFill>
                <a:latin typeface="Century Gothic" panose="020B0502020202020204" pitchFamily="34" charset="0"/>
              </a:rPr>
              <a:t>La misma empresa que ya montó le proporciona esta información.</a:t>
            </a:r>
          </a:p>
          <a:p>
            <a:pPr marL="0" indent="0" algn="just">
              <a:buNone/>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Después de operar un año, su empresa vendió 30 millones de pesos.</a:t>
            </a:r>
          </a:p>
          <a:p>
            <a:pPr algn="just">
              <a:buFont typeface="Wingdings" pitchFamily="2" charset="2"/>
              <a:buChar char="q"/>
            </a:pPr>
            <a:r>
              <a:rPr lang="es-ES" dirty="0">
                <a:solidFill>
                  <a:schemeClr val="accent1"/>
                </a:solidFill>
                <a:latin typeface="Century Gothic" panose="020B0502020202020204" pitchFamily="34" charset="0"/>
              </a:rPr>
              <a:t>Sus costos de ventas fueron de 10 millones de pesos.</a:t>
            </a:r>
          </a:p>
          <a:p>
            <a:pPr algn="just">
              <a:buFont typeface="Wingdings" pitchFamily="2" charset="2"/>
              <a:buChar char="q"/>
            </a:pPr>
            <a:r>
              <a:rPr lang="es-ES" dirty="0">
                <a:solidFill>
                  <a:schemeClr val="accent1"/>
                </a:solidFill>
                <a:latin typeface="Century Gothic" panose="020B0502020202020204" pitchFamily="34" charset="0"/>
              </a:rPr>
              <a:t>Los gastos de administración fueron 6 millones de pesos.</a:t>
            </a:r>
          </a:p>
          <a:p>
            <a:pPr algn="just">
              <a:buFont typeface="Wingdings" pitchFamily="2" charset="2"/>
              <a:buChar char="q"/>
            </a:pPr>
            <a:r>
              <a:rPr lang="es-ES" dirty="0">
                <a:solidFill>
                  <a:schemeClr val="accent1"/>
                </a:solidFill>
                <a:latin typeface="Century Gothic" panose="020B0502020202020204" pitchFamily="34" charset="0"/>
              </a:rPr>
              <a:t>La depreciación de sus activos fue de 2 millones de pesos.</a:t>
            </a:r>
          </a:p>
          <a:p>
            <a:pPr algn="just">
              <a:buFont typeface="Wingdings" pitchFamily="2" charset="2"/>
              <a:buChar char="q"/>
            </a:pPr>
            <a:r>
              <a:rPr lang="es-ES" dirty="0">
                <a:solidFill>
                  <a:schemeClr val="accent1"/>
                </a:solidFill>
                <a:latin typeface="Century Gothic" panose="020B0502020202020204" pitchFamily="34" charset="0"/>
              </a:rPr>
              <a:t>Los gastos financieros fueron de 2 millones de pesos.</a:t>
            </a:r>
          </a:p>
          <a:p>
            <a:pPr algn="just">
              <a:buFont typeface="Wingdings" pitchFamily="2" charset="2"/>
              <a:buChar char="q"/>
            </a:pPr>
            <a:r>
              <a:rPr lang="es-ES" dirty="0">
                <a:solidFill>
                  <a:schemeClr val="accent1"/>
                </a:solidFill>
                <a:latin typeface="Century Gothic" panose="020B0502020202020204" pitchFamily="34" charset="0"/>
              </a:rPr>
              <a:t>Usted pagó impuestos a una tasa de </a:t>
            </a:r>
            <a:r>
              <a:rPr lang="es-ES" dirty="0">
                <a:solidFill>
                  <a:srgbClr val="FF0000"/>
                </a:solidFill>
                <a:latin typeface="Century Gothic" panose="020B0502020202020204" pitchFamily="34" charset="0"/>
              </a:rPr>
              <a:t>30%.</a:t>
            </a:r>
          </a:p>
        </p:txBody>
      </p:sp>
      <p:sp>
        <p:nvSpPr>
          <p:cNvPr id="2" name="Rectángulo 1">
            <a:extLst>
              <a:ext uri="{FF2B5EF4-FFF2-40B4-BE49-F238E27FC236}">
                <a16:creationId xmlns:a16="http://schemas.microsoft.com/office/drawing/2014/main" id="{8F3F3F86-B921-6AFF-11D1-085FE40AA6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A21941B-C55C-517E-9476-D6D05458A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46AE10-EAD2-D1E0-CA15-FCC91D51B8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angle 7">
            <a:extLst>
              <a:ext uri="{FF2B5EF4-FFF2-40B4-BE49-F238E27FC236}">
                <a16:creationId xmlns:a16="http://schemas.microsoft.com/office/drawing/2014/main" id="{EE1D01CE-CE3C-B99E-4D47-EE7B9297506D}"/>
              </a:ext>
            </a:extLst>
          </p:cNvPr>
          <p:cNvSpPr/>
          <p:nvPr/>
        </p:nvSpPr>
        <p:spPr>
          <a:xfrm>
            <a:off x="6540320" y="2384623"/>
            <a:ext cx="3496577"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Costo de Ventas</a:t>
            </a:r>
          </a:p>
        </p:txBody>
      </p:sp>
      <p:sp>
        <p:nvSpPr>
          <p:cNvPr id="9" name="Rectangle 8">
            <a:extLst>
              <a:ext uri="{FF2B5EF4-FFF2-40B4-BE49-F238E27FC236}">
                <a16:creationId xmlns:a16="http://schemas.microsoft.com/office/drawing/2014/main" id="{F2FDB344-7519-5308-C104-58A77EB3B6E3}"/>
              </a:ext>
            </a:extLst>
          </p:cNvPr>
          <p:cNvSpPr/>
          <p:nvPr/>
        </p:nvSpPr>
        <p:spPr>
          <a:xfrm>
            <a:off x="6540319" y="3300719"/>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Gastos AOM</a:t>
            </a:r>
          </a:p>
        </p:txBody>
      </p:sp>
      <p:sp>
        <p:nvSpPr>
          <p:cNvPr id="12" name="Rectangle 14">
            <a:extLst>
              <a:ext uri="{FF2B5EF4-FFF2-40B4-BE49-F238E27FC236}">
                <a16:creationId xmlns:a16="http://schemas.microsoft.com/office/drawing/2014/main" id="{E3860ABC-262E-D04D-549E-E3FBC7B783A2}"/>
              </a:ext>
            </a:extLst>
          </p:cNvPr>
          <p:cNvSpPr/>
          <p:nvPr/>
        </p:nvSpPr>
        <p:spPr>
          <a:xfrm>
            <a:off x="6540318" y="5402371"/>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Impuestos</a:t>
            </a:r>
          </a:p>
        </p:txBody>
      </p:sp>
      <p:sp>
        <p:nvSpPr>
          <p:cNvPr id="13" name="Rectangle 15">
            <a:extLst>
              <a:ext uri="{FF2B5EF4-FFF2-40B4-BE49-F238E27FC236}">
                <a16:creationId xmlns:a16="http://schemas.microsoft.com/office/drawing/2014/main" id="{6608B396-B480-A580-44C3-12866F1EBC9A}"/>
              </a:ext>
            </a:extLst>
          </p:cNvPr>
          <p:cNvSpPr/>
          <p:nvPr/>
        </p:nvSpPr>
        <p:spPr>
          <a:xfrm>
            <a:off x="6540318" y="5816397"/>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14" name="Rectangle 2">
            <a:extLst>
              <a:ext uri="{FF2B5EF4-FFF2-40B4-BE49-F238E27FC236}">
                <a16:creationId xmlns:a16="http://schemas.microsoft.com/office/drawing/2014/main" id="{A8A3F081-9331-47A1-9798-6BC3B74268B0}"/>
              </a:ext>
            </a:extLst>
          </p:cNvPr>
          <p:cNvSpPr/>
          <p:nvPr/>
        </p:nvSpPr>
        <p:spPr>
          <a:xfrm>
            <a:off x="6540319" y="4112003"/>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15" name="Rectangle 5">
            <a:extLst>
              <a:ext uri="{FF2B5EF4-FFF2-40B4-BE49-F238E27FC236}">
                <a16:creationId xmlns:a16="http://schemas.microsoft.com/office/drawing/2014/main" id="{BA3A1A0F-353E-814E-0B7F-7896E3ABB94B}"/>
              </a:ext>
            </a:extLst>
          </p:cNvPr>
          <p:cNvSpPr/>
          <p:nvPr/>
        </p:nvSpPr>
        <p:spPr>
          <a:xfrm>
            <a:off x="6540320" y="1907644"/>
            <a:ext cx="3496577"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6" name="Rectangle 8">
            <a:extLst>
              <a:ext uri="{FF2B5EF4-FFF2-40B4-BE49-F238E27FC236}">
                <a16:creationId xmlns:a16="http://schemas.microsoft.com/office/drawing/2014/main" id="{2E2F36D5-DCFF-17EC-C24C-6EF462C72FFB}"/>
              </a:ext>
            </a:extLst>
          </p:cNvPr>
          <p:cNvSpPr/>
          <p:nvPr/>
        </p:nvSpPr>
        <p:spPr>
          <a:xfrm>
            <a:off x="6540320" y="2886538"/>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17" name="Rectangle 8">
            <a:extLst>
              <a:ext uri="{FF2B5EF4-FFF2-40B4-BE49-F238E27FC236}">
                <a16:creationId xmlns:a16="http://schemas.microsoft.com/office/drawing/2014/main" id="{7BEFECB3-48A3-057D-6B61-18380128E7A6}"/>
              </a:ext>
            </a:extLst>
          </p:cNvPr>
          <p:cNvSpPr/>
          <p:nvPr/>
        </p:nvSpPr>
        <p:spPr>
          <a:xfrm>
            <a:off x="6540318" y="3701517"/>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 Depreciación &amp; Amortización</a:t>
            </a:r>
          </a:p>
        </p:txBody>
      </p:sp>
      <p:sp>
        <p:nvSpPr>
          <p:cNvPr id="18" name="Rectangle 13">
            <a:extLst>
              <a:ext uri="{FF2B5EF4-FFF2-40B4-BE49-F238E27FC236}">
                <a16:creationId xmlns:a16="http://schemas.microsoft.com/office/drawing/2014/main" id="{1471B657-DC83-9020-C355-6C9C182E68AB}"/>
              </a:ext>
            </a:extLst>
          </p:cNvPr>
          <p:cNvSpPr/>
          <p:nvPr/>
        </p:nvSpPr>
        <p:spPr>
          <a:xfrm>
            <a:off x="6540318" y="4585504"/>
            <a:ext cx="3496577"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Otros Egresos</a:t>
            </a:r>
          </a:p>
        </p:txBody>
      </p:sp>
      <p:sp>
        <p:nvSpPr>
          <p:cNvPr id="19" name="Rectangle 2">
            <a:extLst>
              <a:ext uri="{FF2B5EF4-FFF2-40B4-BE49-F238E27FC236}">
                <a16:creationId xmlns:a16="http://schemas.microsoft.com/office/drawing/2014/main" id="{10B5FD4C-E831-A94E-0DA9-5998B1DA9CDB}"/>
              </a:ext>
            </a:extLst>
          </p:cNvPr>
          <p:cNvSpPr/>
          <p:nvPr/>
        </p:nvSpPr>
        <p:spPr>
          <a:xfrm>
            <a:off x="6540320" y="494204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sp>
        <p:nvSpPr>
          <p:cNvPr id="20" name="Rectangle 7">
            <a:extLst>
              <a:ext uri="{FF2B5EF4-FFF2-40B4-BE49-F238E27FC236}">
                <a16:creationId xmlns:a16="http://schemas.microsoft.com/office/drawing/2014/main" id="{6DCEA783-E2D9-2B31-C33B-4EAFF47C9D49}"/>
              </a:ext>
            </a:extLst>
          </p:cNvPr>
          <p:cNvSpPr/>
          <p:nvPr/>
        </p:nvSpPr>
        <p:spPr>
          <a:xfrm>
            <a:off x="9954962" y="2384265"/>
            <a:ext cx="1206680"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10</a:t>
            </a:r>
          </a:p>
        </p:txBody>
      </p:sp>
      <p:sp>
        <p:nvSpPr>
          <p:cNvPr id="21" name="Rectangle 8">
            <a:extLst>
              <a:ext uri="{FF2B5EF4-FFF2-40B4-BE49-F238E27FC236}">
                <a16:creationId xmlns:a16="http://schemas.microsoft.com/office/drawing/2014/main" id="{7644CD10-5D96-1631-685E-14232926F918}"/>
              </a:ext>
            </a:extLst>
          </p:cNvPr>
          <p:cNvSpPr/>
          <p:nvPr/>
        </p:nvSpPr>
        <p:spPr>
          <a:xfrm>
            <a:off x="9954961" y="3300361"/>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6</a:t>
            </a:r>
          </a:p>
        </p:txBody>
      </p:sp>
      <p:sp>
        <p:nvSpPr>
          <p:cNvPr id="22" name="Rectangle 14">
            <a:extLst>
              <a:ext uri="{FF2B5EF4-FFF2-40B4-BE49-F238E27FC236}">
                <a16:creationId xmlns:a16="http://schemas.microsoft.com/office/drawing/2014/main" id="{ABB21015-ED66-04FF-6516-CD3F6F43630D}"/>
              </a:ext>
            </a:extLst>
          </p:cNvPr>
          <p:cNvSpPr/>
          <p:nvPr/>
        </p:nvSpPr>
        <p:spPr>
          <a:xfrm>
            <a:off x="9954960" y="5402013"/>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3</a:t>
            </a:r>
          </a:p>
        </p:txBody>
      </p:sp>
      <p:sp>
        <p:nvSpPr>
          <p:cNvPr id="23" name="Rectangle 15">
            <a:extLst>
              <a:ext uri="{FF2B5EF4-FFF2-40B4-BE49-F238E27FC236}">
                <a16:creationId xmlns:a16="http://schemas.microsoft.com/office/drawing/2014/main" id="{6BDB88D4-D396-CC80-418F-C66036473AE3}"/>
              </a:ext>
            </a:extLst>
          </p:cNvPr>
          <p:cNvSpPr/>
          <p:nvPr/>
        </p:nvSpPr>
        <p:spPr>
          <a:xfrm>
            <a:off x="9954960" y="5816039"/>
            <a:ext cx="1206680"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7</a:t>
            </a:r>
          </a:p>
        </p:txBody>
      </p:sp>
      <p:sp>
        <p:nvSpPr>
          <p:cNvPr id="24" name="Rectangle 2">
            <a:extLst>
              <a:ext uri="{FF2B5EF4-FFF2-40B4-BE49-F238E27FC236}">
                <a16:creationId xmlns:a16="http://schemas.microsoft.com/office/drawing/2014/main" id="{95258D86-BEFE-E8C5-F780-782EF35BB9C3}"/>
              </a:ext>
            </a:extLst>
          </p:cNvPr>
          <p:cNvSpPr/>
          <p:nvPr/>
        </p:nvSpPr>
        <p:spPr>
          <a:xfrm>
            <a:off x="9954961" y="4111645"/>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12</a:t>
            </a:r>
          </a:p>
        </p:txBody>
      </p:sp>
      <p:sp>
        <p:nvSpPr>
          <p:cNvPr id="25" name="Rectangle 5">
            <a:extLst>
              <a:ext uri="{FF2B5EF4-FFF2-40B4-BE49-F238E27FC236}">
                <a16:creationId xmlns:a16="http://schemas.microsoft.com/office/drawing/2014/main" id="{8B827310-4605-D167-86B2-A5927DE00E8A}"/>
              </a:ext>
            </a:extLst>
          </p:cNvPr>
          <p:cNvSpPr/>
          <p:nvPr/>
        </p:nvSpPr>
        <p:spPr>
          <a:xfrm>
            <a:off x="9954962" y="1907286"/>
            <a:ext cx="1206680"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30</a:t>
            </a:r>
          </a:p>
        </p:txBody>
      </p:sp>
      <p:sp>
        <p:nvSpPr>
          <p:cNvPr id="26" name="Rectangle 8">
            <a:extLst>
              <a:ext uri="{FF2B5EF4-FFF2-40B4-BE49-F238E27FC236}">
                <a16:creationId xmlns:a16="http://schemas.microsoft.com/office/drawing/2014/main" id="{C96F8D20-5627-34A6-9A98-A9878668C80D}"/>
              </a:ext>
            </a:extLst>
          </p:cNvPr>
          <p:cNvSpPr/>
          <p:nvPr/>
        </p:nvSpPr>
        <p:spPr>
          <a:xfrm>
            <a:off x="9954962" y="2886180"/>
            <a:ext cx="1206680"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20</a:t>
            </a:r>
          </a:p>
        </p:txBody>
      </p:sp>
      <p:sp>
        <p:nvSpPr>
          <p:cNvPr id="27" name="Rectangle 8">
            <a:extLst>
              <a:ext uri="{FF2B5EF4-FFF2-40B4-BE49-F238E27FC236}">
                <a16:creationId xmlns:a16="http://schemas.microsoft.com/office/drawing/2014/main" id="{34C53DE5-2654-0C75-291D-126BE9231C06}"/>
              </a:ext>
            </a:extLst>
          </p:cNvPr>
          <p:cNvSpPr/>
          <p:nvPr/>
        </p:nvSpPr>
        <p:spPr>
          <a:xfrm>
            <a:off x="9954960" y="3701159"/>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8" name="Rectangle 13">
            <a:extLst>
              <a:ext uri="{FF2B5EF4-FFF2-40B4-BE49-F238E27FC236}">
                <a16:creationId xmlns:a16="http://schemas.microsoft.com/office/drawing/2014/main" id="{92746CE3-65D2-D0C7-E16F-2AF068FF274D}"/>
              </a:ext>
            </a:extLst>
          </p:cNvPr>
          <p:cNvSpPr/>
          <p:nvPr/>
        </p:nvSpPr>
        <p:spPr>
          <a:xfrm>
            <a:off x="9954960" y="4585146"/>
            <a:ext cx="1206680"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9" name="Rectangle 2">
            <a:extLst>
              <a:ext uri="{FF2B5EF4-FFF2-40B4-BE49-F238E27FC236}">
                <a16:creationId xmlns:a16="http://schemas.microsoft.com/office/drawing/2014/main" id="{A0E482ED-2686-D99B-2163-0AC32BA44081}"/>
              </a:ext>
            </a:extLst>
          </p:cNvPr>
          <p:cNvSpPr/>
          <p:nvPr/>
        </p:nvSpPr>
        <p:spPr>
          <a:xfrm>
            <a:off x="9954962" y="4941686"/>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10</a:t>
            </a:r>
          </a:p>
        </p:txBody>
      </p:sp>
      <p:sp>
        <p:nvSpPr>
          <p:cNvPr id="5" name="Marcador de número de diapositiva 3">
            <a:extLst>
              <a:ext uri="{FF2B5EF4-FFF2-40B4-BE49-F238E27FC236}">
                <a16:creationId xmlns:a16="http://schemas.microsoft.com/office/drawing/2014/main" id="{93DF25B3-497B-462C-183E-12FF28CA9A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328423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fade">
                                      <p:cBhvr>
                                        <p:cTn id="62" dur="500"/>
                                        <p:tgtEl>
                                          <p:spTgt spid="2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fade">
                                      <p:cBhvr>
                                        <p:cTn id="72" dur="500"/>
                                        <p:tgtEl>
                                          <p:spTgt spid="2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fade">
                                      <p:cBhvr>
                                        <p:cTn id="82" dur="500"/>
                                        <p:tgtEl>
                                          <p:spTgt spid="2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9"/>
                                        </p:tgtEl>
                                        <p:attrNameLst>
                                          <p:attrName>style.visibility</p:attrName>
                                        </p:attrNameLst>
                                      </p:cBhvr>
                                      <p:to>
                                        <p:strVal val="visible"/>
                                      </p:to>
                                    </p:set>
                                    <p:animEffect transition="in" filter="fade">
                                      <p:cBhvr>
                                        <p:cTn id="92" dur="500"/>
                                        <p:tgtEl>
                                          <p:spTgt spid="29"/>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¿Cómo SE ESTIMA EL EFECTIVO?</a:t>
            </a:r>
          </a:p>
        </p:txBody>
      </p:sp>
      <p:sp>
        <p:nvSpPr>
          <p:cNvPr id="3" name="Marcador de contenido 2"/>
          <p:cNvSpPr>
            <a:spLocks noGrp="1"/>
          </p:cNvSpPr>
          <p:nvPr>
            <p:ph idx="1"/>
          </p:nvPr>
        </p:nvSpPr>
        <p:spPr>
          <a:xfrm>
            <a:off x="776607" y="2277834"/>
            <a:ext cx="8595360" cy="3678303"/>
          </a:xfrm>
        </p:spPr>
        <p:txBody>
          <a:bodyPr>
            <a:normAutofit/>
          </a:bodyPr>
          <a:lstStyle/>
          <a:p>
            <a:pPr marL="0" indent="0">
              <a:buNone/>
            </a:pPr>
            <a:r>
              <a:rPr lang="es-ES" dirty="0">
                <a:solidFill>
                  <a:schemeClr val="accent1"/>
                </a:solidFill>
                <a:latin typeface="Century Gothic" panose="020B0502020202020204" pitchFamily="34" charset="0"/>
              </a:rPr>
              <a:t>Con lo anterior en mente, ¿Qué utilizarían ustedes como flujos de caja para evaluar un proyecto/compañía?</a:t>
            </a:r>
          </a:p>
          <a:p>
            <a:pPr marL="0" indent="0">
              <a:buNone/>
            </a:pPr>
            <a:endParaRPr lang="es-ES" dirty="0">
              <a:solidFill>
                <a:schemeClr val="accent1"/>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Una primera aproximación a los flujos de caja es, entonces, la utilidad.</a:t>
            </a:r>
          </a:p>
          <a:p>
            <a:pPr marL="0" indent="0">
              <a:buNone/>
            </a:pPr>
            <a:endParaRPr lang="es-ES" dirty="0">
              <a:latin typeface="Century Gothic" panose="020B0502020202020204" pitchFamily="34" charset="0"/>
            </a:endParaRPr>
          </a:p>
          <a:p>
            <a:pPr marL="0" indent="0" algn="ctr">
              <a:buNone/>
            </a:pPr>
            <a:r>
              <a:rPr lang="es-ES" b="1" dirty="0">
                <a:solidFill>
                  <a:srgbClr val="D7A700"/>
                </a:solidFill>
                <a:latin typeface="Century Gothic" panose="020B0502020202020204" pitchFamily="34" charset="0"/>
              </a:rPr>
              <a:t>Pero ¿es la utilidad adecuada para reflejar los flujos de efectivo de un proyecto/compañía?</a:t>
            </a:r>
          </a:p>
          <a:p>
            <a:pPr marL="0" indent="0" algn="ctr">
              <a:buNone/>
            </a:pPr>
            <a:endParaRPr lang="es-ES" dirty="0">
              <a:solidFill>
                <a:srgbClr val="800000"/>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Veamos varios ejemplos ilustrativos para demostrar que</a:t>
            </a:r>
            <a:r>
              <a:rPr lang="es-ES" dirty="0">
                <a:latin typeface="Century Gothic" panose="020B0502020202020204" pitchFamily="34" charset="0"/>
              </a:rPr>
              <a:t> </a:t>
            </a:r>
            <a:r>
              <a:rPr lang="es-ES" b="1" dirty="0">
                <a:solidFill>
                  <a:srgbClr val="C00000"/>
                </a:solidFill>
                <a:latin typeface="Century Gothic" panose="020B0502020202020204" pitchFamily="34" charset="0"/>
              </a:rPr>
              <a:t>NO</a:t>
            </a:r>
            <a:r>
              <a:rPr lang="es-ES" dirty="0">
                <a:latin typeface="Century Gothic" panose="020B0502020202020204" pitchFamily="34" charset="0"/>
              </a:rPr>
              <a:t> </a:t>
            </a:r>
            <a:r>
              <a:rPr lang="es-ES" dirty="0">
                <a:solidFill>
                  <a:schemeClr val="accent1"/>
                </a:solidFill>
                <a:latin typeface="Century Gothic" panose="020B0502020202020204" pitchFamily="34" charset="0"/>
              </a:rPr>
              <a:t>es así.</a:t>
            </a:r>
          </a:p>
        </p:txBody>
      </p:sp>
      <p:sp>
        <p:nvSpPr>
          <p:cNvPr id="9" name="Rectángulo 8">
            <a:extLst>
              <a:ext uri="{FF2B5EF4-FFF2-40B4-BE49-F238E27FC236}">
                <a16:creationId xmlns:a16="http://schemas.microsoft.com/office/drawing/2014/main" id="{66D04C5D-92E2-8381-6E03-83C4B11397D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BF6818-F5E1-44D5-D914-674DA7083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4F37FF22-0477-1ED4-710C-26A592B2696D}"/>
              </a:ext>
            </a:extLst>
          </p:cNvPr>
          <p:cNvPicPr>
            <a:picLocks noChangeAspect="1"/>
          </p:cNvPicPr>
          <p:nvPr/>
        </p:nvPicPr>
        <p:blipFill>
          <a:blip r:embed="rId3"/>
          <a:stretch>
            <a:fillRect/>
          </a:stretch>
        </p:blipFill>
        <p:spPr>
          <a:xfrm>
            <a:off x="9182259" y="3427856"/>
            <a:ext cx="2555114" cy="1758435"/>
          </a:xfrm>
          <a:prstGeom prst="rect">
            <a:avLst/>
          </a:prstGeom>
        </p:spPr>
      </p:pic>
      <p:sp>
        <p:nvSpPr>
          <p:cNvPr id="5" name="Rectángulo 4">
            <a:extLst>
              <a:ext uri="{FF2B5EF4-FFF2-40B4-BE49-F238E27FC236}">
                <a16:creationId xmlns:a16="http://schemas.microsoft.com/office/drawing/2014/main" id="{06E97902-63D4-8618-3842-7EB60545676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0AA94D2-30D0-7571-D65C-C5C20792AF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359644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E4E4A3B-0A35-5B75-A6B5-ADC955D1A7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944D0F83-49A0-2CBF-3128-07D6DFE1109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368201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917748" y="2684691"/>
            <a:ext cx="5189358" cy="767570"/>
          </a:xfrm>
        </p:spPr>
        <p:txBody>
          <a:bodyPr>
            <a:noAutofit/>
          </a:bodyPr>
          <a:lstStyle/>
          <a:p>
            <a:pPr marL="0" indent="0" algn="just">
              <a:buNone/>
            </a:pPr>
            <a:r>
              <a:rPr lang="es-ES" sz="2000" b="1" dirty="0">
                <a:solidFill>
                  <a:srgbClr val="C00000"/>
                </a:solidFill>
                <a:latin typeface="Century Gothic" panose="020B0502020202020204" pitchFamily="34" charset="0"/>
              </a:rPr>
              <a:t>Ejemplo 1: </a:t>
            </a:r>
          </a:p>
          <a:p>
            <a:pPr marL="0" indent="0" algn="just">
              <a:buNone/>
            </a:pPr>
            <a:r>
              <a:rPr lang="es-ES" dirty="0">
                <a:solidFill>
                  <a:schemeClr val="accent1"/>
                </a:solidFill>
                <a:latin typeface="Century Gothic" panose="020B0502020202020204" pitchFamily="34" charset="0"/>
              </a:rPr>
              <a:t>Usted tiene un smartphone como el que se muestra a continuación.</a:t>
            </a:r>
          </a:p>
          <a:p>
            <a:pPr algn="just"/>
            <a:endParaRPr lang="es-ES" dirty="0">
              <a:solidFill>
                <a:schemeClr val="accent1"/>
              </a:solidFill>
              <a:latin typeface="Century Gothic" panose="020B0502020202020204" pitchFamily="34" charset="0"/>
            </a:endParaRPr>
          </a:p>
        </p:txBody>
      </p:sp>
      <p:sp>
        <p:nvSpPr>
          <p:cNvPr id="5" name="Marcador de contenido 2"/>
          <p:cNvSpPr txBox="1">
            <a:spLocks/>
          </p:cNvSpPr>
          <p:nvPr/>
        </p:nvSpPr>
        <p:spPr>
          <a:xfrm>
            <a:off x="917748" y="5937477"/>
            <a:ext cx="7610476" cy="76757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sz="1800">
                <a:solidFill>
                  <a:schemeClr val="accent1"/>
                </a:solidFill>
                <a:latin typeface="Century Gothic" panose="020B0502020202020204" pitchFamily="34" charset="0"/>
              </a:rPr>
              <a:t>Usted, por alguna razón, decide vender su celular.</a:t>
            </a:r>
          </a:p>
        </p:txBody>
      </p:sp>
      <p:pic>
        <p:nvPicPr>
          <p:cNvPr id="3074" name="Picture 2" descr="Resultado de imagen para iphon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1512" y="1993755"/>
            <a:ext cx="3962382" cy="396238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FECE644-BA30-E448-A886-B132400BEE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4DA86E4-C0C9-9449-7570-4E2EB8F89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E72B061-D37D-79BC-9691-8E56E9C260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DEF1285-0B2B-6290-EC06-E24476AFCD6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81993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3769299" y="2574298"/>
            <a:ext cx="7629385" cy="3278295"/>
          </a:xfrm>
        </p:spPr>
        <p:txBody>
          <a:bodyPr>
            <a:normAutofit/>
          </a:bodyPr>
          <a:lstStyle/>
          <a:p>
            <a:pPr marL="0" indent="0" algn="ctr">
              <a:buNone/>
            </a:pPr>
            <a:r>
              <a:rPr lang="es-ES">
                <a:solidFill>
                  <a:schemeClr val="accent1"/>
                </a:solidFill>
                <a:latin typeface="Century Gothic" panose="020B0502020202020204" pitchFamily="34" charset="0"/>
              </a:rPr>
              <a:t>Su comprador, escaso de plata, le promete pagarle su celular en seis meses.</a:t>
            </a:r>
          </a:p>
          <a:p>
            <a:pPr marL="0" indent="0" algn="ctr">
              <a:buNone/>
            </a:pPr>
            <a:endParaRPr lang="es-ES">
              <a:solidFill>
                <a:schemeClr val="accent1"/>
              </a:solidFill>
              <a:latin typeface="Century Gothic" panose="020B0502020202020204" pitchFamily="34" charset="0"/>
            </a:endParaRPr>
          </a:p>
          <a:p>
            <a:pPr marL="0" indent="0" algn="ctr">
              <a:buNone/>
            </a:pPr>
            <a:r>
              <a:rPr lang="es-ES" b="1">
                <a:solidFill>
                  <a:schemeClr val="accent3">
                    <a:lumMod val="75000"/>
                  </a:schemeClr>
                </a:solidFill>
                <a:latin typeface="Century Gothic" panose="020B0502020202020204" pitchFamily="34" charset="0"/>
              </a:rPr>
              <a:t>¿En qué momento entrega usted el celular?</a:t>
            </a:r>
            <a:r>
              <a:rPr lang="es-ES">
                <a:solidFill>
                  <a:schemeClr val="accent1"/>
                </a:solidFill>
                <a:latin typeface="Century Gothic" panose="020B0502020202020204" pitchFamily="34" charset="0"/>
              </a:rPr>
              <a:t> </a:t>
            </a:r>
            <a:r>
              <a:rPr lang="es-ES" b="1">
                <a:solidFill>
                  <a:srgbClr val="C00000"/>
                </a:solidFill>
                <a:latin typeface="Century Gothic" panose="020B0502020202020204" pitchFamily="34" charset="0"/>
              </a:rPr>
              <a:t>(Obligación de venta)</a:t>
            </a:r>
          </a:p>
          <a:p>
            <a:pPr marL="0" indent="0" algn="ctr">
              <a:buNone/>
            </a:pPr>
            <a:r>
              <a:rPr lang="es-ES" b="1">
                <a:solidFill>
                  <a:schemeClr val="accent3">
                    <a:lumMod val="75000"/>
                  </a:schemeClr>
                </a:solidFill>
                <a:latin typeface="Century Gothic" panose="020B0502020202020204" pitchFamily="34" charset="0"/>
              </a:rPr>
              <a:t>¿En qué momento le pagan el celular?</a:t>
            </a:r>
          </a:p>
          <a:p>
            <a:pPr marL="0" indent="0" algn="ctr">
              <a:buNone/>
            </a:pPr>
            <a:r>
              <a:rPr lang="es-ES" b="1">
                <a:solidFill>
                  <a:schemeClr val="accent3">
                    <a:lumMod val="75000"/>
                  </a:schemeClr>
                </a:solidFill>
                <a:latin typeface="Century Gothic" panose="020B0502020202020204" pitchFamily="34" charset="0"/>
              </a:rPr>
              <a:t>¿Son siempre el mismo momento?</a:t>
            </a:r>
          </a:p>
          <a:p>
            <a:pPr marL="0" indent="0" algn="ctr">
              <a:buNone/>
            </a:pPr>
            <a:endParaRPr lang="es-ES">
              <a:solidFill>
                <a:schemeClr val="accent1"/>
              </a:solidFill>
              <a:latin typeface="Century Gothic" panose="020B0502020202020204" pitchFamily="34" charset="0"/>
            </a:endParaRPr>
          </a:p>
        </p:txBody>
      </p:sp>
      <p:pic>
        <p:nvPicPr>
          <p:cNvPr id="1026" name="Picture 2" descr="Resultado de imagen para sin plata gif">
            <a:extLst>
              <a:ext uri="{FF2B5EF4-FFF2-40B4-BE49-F238E27FC236}">
                <a16:creationId xmlns:a16="http://schemas.microsoft.com/office/drawing/2014/main" id="{8449CC25-676B-4CD2-863A-B7A4653B34CC}"/>
              </a:ext>
            </a:extLst>
          </p:cNvPr>
          <p:cNvPicPr>
            <a:picLocks noChangeAspect="1" noChangeArrowheads="1" noCrop="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1192" y="2191583"/>
            <a:ext cx="3278295" cy="32782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041188B-9966-3278-14E5-0E90143CDF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C9BF5DA-69C1-2EBF-3860-E113A720B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41334A-9606-683A-A19A-C1B655E29A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5C8FF40F-059E-8504-74DE-7964601076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132751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cxnSp>
        <p:nvCxnSpPr>
          <p:cNvPr id="7" name="6 Conector recto"/>
          <p:cNvCxnSpPr/>
          <p:nvPr/>
        </p:nvCxnSpPr>
        <p:spPr>
          <a:xfrm>
            <a:off x="3747287" y="4520821"/>
            <a:ext cx="623031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a:off x="4258730" y="4133364"/>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a:off x="9386086" y="4084286"/>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1" name="10 CuadroTexto"/>
          <p:cNvSpPr txBox="1"/>
          <p:nvPr/>
        </p:nvSpPr>
        <p:spPr>
          <a:xfrm>
            <a:off x="3328829" y="5095572"/>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Causación</a:t>
            </a:r>
          </a:p>
        </p:txBody>
      </p:sp>
      <p:sp>
        <p:nvSpPr>
          <p:cNvPr id="12" name="11 CuadroTexto"/>
          <p:cNvSpPr txBox="1"/>
          <p:nvPr/>
        </p:nvSpPr>
        <p:spPr>
          <a:xfrm>
            <a:off x="8463937" y="5125299"/>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Pago</a:t>
            </a:r>
          </a:p>
        </p:txBody>
      </p:sp>
      <p:sp>
        <p:nvSpPr>
          <p:cNvPr id="13" name="12 CuadroTexto"/>
          <p:cNvSpPr txBox="1"/>
          <p:nvPr/>
        </p:nvSpPr>
        <p:spPr>
          <a:xfrm>
            <a:off x="5342727" y="2320433"/>
            <a:ext cx="4166491" cy="646331"/>
          </a:xfrm>
          <a:prstGeom prst="rect">
            <a:avLst/>
          </a:prstGeom>
          <a:noFill/>
        </p:spPr>
        <p:txBody>
          <a:bodyPr wrap="square" rtlCol="0">
            <a:spAutoFit/>
          </a:bodyPr>
          <a:lstStyle/>
          <a:p>
            <a:pPr algn="ctr" defTabSz="914400">
              <a:spcBef>
                <a:spcPts val="2000"/>
              </a:spcBef>
              <a:buClr>
                <a:schemeClr val="accent1"/>
              </a:buClr>
            </a:pPr>
            <a:r>
              <a:rPr lang="es-CO" b="1">
                <a:solidFill>
                  <a:srgbClr val="C00000"/>
                </a:solidFill>
                <a:latin typeface="Century Gothic" panose="020B0502020202020204" pitchFamily="34" charset="0"/>
              </a:rPr>
              <a:t>¡¡¡No siempre son en el mismo momento!!!</a:t>
            </a:r>
          </a:p>
        </p:txBody>
      </p:sp>
      <p:pic>
        <p:nvPicPr>
          <p:cNvPr id="2050" name="Picture 2" descr="Imagen relacionada">
            <a:extLst>
              <a:ext uri="{FF2B5EF4-FFF2-40B4-BE49-F238E27FC236}">
                <a16:creationId xmlns:a16="http://schemas.microsoft.com/office/drawing/2014/main" id="{B16AE007-3FA9-4103-BEA7-D7596C941D2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92357" y="2069407"/>
            <a:ext cx="1450370" cy="127149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57CACF9-7C5B-8C04-47F1-45C2D613D2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3F50B9A-B298-46CA-1A2E-08173A385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332C2BDE-56D0-544C-9894-B16EC8EAEF7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10042C6-90C0-021B-DDC5-A541CD1CBCA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299618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3"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100"/>
                                        <p:tgtEl>
                                          <p:spTgt spid="2050"/>
                                        </p:tgtEl>
                                      </p:cBhvr>
                                    </p:animEffect>
                                    <p:anim calcmode="lin" valueType="num">
                                      <p:cBhvr>
                                        <p:cTn id="18" dur="400" fill="hold"/>
                                        <p:tgtEl>
                                          <p:spTgt spid="2050"/>
                                        </p:tgtEl>
                                        <p:attrNameLst>
                                          <p:attrName>ppt_x</p:attrName>
                                        </p:attrNameLst>
                                      </p:cBhvr>
                                      <p:tavLst>
                                        <p:tav tm="0">
                                          <p:val>
                                            <p:strVal val="#ppt_x"/>
                                          </p:val>
                                        </p:tav>
                                        <p:tav tm="100000">
                                          <p:val>
                                            <p:strVal val="#ppt_x"/>
                                          </p:val>
                                        </p:tav>
                                      </p:tavLst>
                                    </p:anim>
                                    <p:anim calcmode="lin" valueType="num">
                                      <p:cBhvr>
                                        <p:cTn id="19" dur="400" fill="hold"/>
                                        <p:tgtEl>
                                          <p:spTgt spid="2050"/>
                                        </p:tgtEl>
                                        <p:attrNameLst>
                                          <p:attrName>ppt_y</p:attrName>
                                        </p:attrNameLst>
                                      </p:cBhvr>
                                      <p:tavLst>
                                        <p:tav tm="0">
                                          <p:val>
                                            <p:strVal val="#ppt_y+0.31"/>
                                          </p:val>
                                        </p:tav>
                                        <p:tav tm="100000">
                                          <p:val>
                                            <p:strVal val="#ppt_y+0.31"/>
                                          </p:val>
                                        </p:tav>
                                      </p:tavLst>
                                    </p:anim>
                                    <p:anim calcmode="lin" valueType="num">
                                      <p:cBhvr>
                                        <p:cTn id="20" dur="600" decel="50000" fill="hold">
                                          <p:stCondLst>
                                            <p:cond delay="400"/>
                                          </p:stCondLst>
                                        </p:cTn>
                                        <p:tgtEl>
                                          <p:spTgt spid="205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1" dur="600" decel="50000" fill="hold">
                                          <p:stCondLst>
                                            <p:cond delay="400"/>
                                          </p:stCondLst>
                                        </p:cTn>
                                        <p:tgtEl>
                                          <p:spTgt spid="205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2" presetID="43"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
                                        <p:tgtEl>
                                          <p:spTgt spid="13"/>
                                        </p:tgtEl>
                                      </p:cBhvr>
                                    </p:animEffect>
                                    <p:anim calcmode="lin" valueType="num">
                                      <p:cBhvr>
                                        <p:cTn id="25" dur="400" fill="hold"/>
                                        <p:tgtEl>
                                          <p:spTgt spid="13"/>
                                        </p:tgtEl>
                                        <p:attrNameLst>
                                          <p:attrName>ppt_x</p:attrName>
                                        </p:attrNameLst>
                                      </p:cBhvr>
                                      <p:tavLst>
                                        <p:tav tm="0">
                                          <p:val>
                                            <p:strVal val="#ppt_x"/>
                                          </p:val>
                                        </p:tav>
                                        <p:tav tm="100000">
                                          <p:val>
                                            <p:strVal val="#ppt_x"/>
                                          </p:val>
                                        </p:tav>
                                      </p:tavLst>
                                    </p:anim>
                                    <p:anim calcmode="lin" valueType="num">
                                      <p:cBhvr>
                                        <p:cTn id="26" dur="400" fill="hold"/>
                                        <p:tgtEl>
                                          <p:spTgt spid="13"/>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1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1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641966" y="2449081"/>
            <a:ext cx="8194864" cy="3278295"/>
          </a:xfrm>
        </p:spPr>
        <p:txBody>
          <a:bodyPr>
            <a:normAutofit/>
          </a:bodyPr>
          <a:lstStyle/>
          <a:p>
            <a:pPr marL="0" indent="0" algn="ctr">
              <a:buNone/>
            </a:pPr>
            <a:r>
              <a:rPr lang="es-ES">
                <a:solidFill>
                  <a:schemeClr val="accent1"/>
                </a:solidFill>
                <a:latin typeface="Century Gothic" panose="020B0502020202020204" pitchFamily="34" charset="0"/>
              </a:rPr>
              <a:t>Las anteriores preguntas permiten identificar con claridad la diferencia entre el principio de causación y el principio de caja.</a:t>
            </a:r>
          </a:p>
          <a:p>
            <a:pPr marL="0" indent="0" algn="ctr">
              <a:buNone/>
            </a:pPr>
            <a:endParaRPr lang="es-ES">
              <a:solidFill>
                <a:schemeClr val="accent1"/>
              </a:solidFill>
              <a:latin typeface="Century Gothic" panose="020B0502020202020204" pitchFamily="34" charset="0"/>
            </a:endParaRPr>
          </a:p>
          <a:p>
            <a:pPr marL="0" indent="0" algn="ctr">
              <a:buNone/>
            </a:pPr>
            <a:r>
              <a:rPr lang="es-ES" b="1">
                <a:solidFill>
                  <a:schemeClr val="accent3">
                    <a:lumMod val="50000"/>
                  </a:schemeClr>
                </a:solidFill>
                <a:latin typeface="Century Gothic" panose="020B0502020202020204" pitchFamily="34" charset="0"/>
              </a:rPr>
              <a:t>Mientras que el principio de causación indica que las transacciones se deben contabilizar cuando la transacción tiene origen, el principio de caja contabiliza las transacciones en el momento en que se recibe o se realiza el pago.</a:t>
            </a:r>
          </a:p>
          <a:p>
            <a:pPr marL="0" indent="0" algn="ctr">
              <a:buNone/>
            </a:pPr>
            <a:endParaRPr lang="es-ES">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B111EC2A-F544-87B2-5D3C-F4943CEB0B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28FEBC6-6649-022F-C26A-1F208BDBF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5B2239AC-201B-4DDD-F9AC-F6E83A4CB257}"/>
              </a:ext>
            </a:extLst>
          </p:cNvPr>
          <p:cNvPicPr>
            <a:picLocks noChangeAspect="1"/>
          </p:cNvPicPr>
          <p:nvPr/>
        </p:nvPicPr>
        <p:blipFill>
          <a:blip r:embed="rId3"/>
          <a:stretch>
            <a:fillRect/>
          </a:stretch>
        </p:blipFill>
        <p:spPr>
          <a:xfrm>
            <a:off x="8795541" y="3070659"/>
            <a:ext cx="2492976" cy="1530775"/>
          </a:xfrm>
          <a:prstGeom prst="rect">
            <a:avLst/>
          </a:prstGeom>
        </p:spPr>
      </p:pic>
      <p:sp>
        <p:nvSpPr>
          <p:cNvPr id="5" name="Rectángulo 4">
            <a:extLst>
              <a:ext uri="{FF2B5EF4-FFF2-40B4-BE49-F238E27FC236}">
                <a16:creationId xmlns:a16="http://schemas.microsoft.com/office/drawing/2014/main" id="{B602F1B0-AFEA-B0C1-9825-812E1C5846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9C4838DC-FAB1-6926-1936-55E703AF4E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13640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450937" y="2261286"/>
            <a:ext cx="8505173" cy="403734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Estado de Resultados (Estado de Pérdidas y Ganancias) se rige por el </a:t>
            </a:r>
            <a:r>
              <a:rPr lang="es-ES" b="1">
                <a:solidFill>
                  <a:srgbClr val="C00000"/>
                </a:solidFill>
                <a:latin typeface="Century Gothic" panose="020B0502020202020204" pitchFamily="34" charset="0"/>
              </a:rPr>
              <a:t>Principio de Causación</a:t>
            </a:r>
            <a:r>
              <a:rPr lang="es-ES" i="1">
                <a:solidFill>
                  <a:srgbClr val="800000"/>
                </a:solidFill>
                <a:latin typeface="Century Gothic" panose="020B0502020202020204" pitchFamily="34" charset="0"/>
              </a:rPr>
              <a:t>.</a:t>
            </a:r>
          </a:p>
          <a:p>
            <a:pPr algn="just">
              <a:buFont typeface="Wingdings" pitchFamily="2" charset="2"/>
              <a:buChar char="q"/>
            </a:pPr>
            <a:endParaRPr lang="es-ES" i="1">
              <a:solidFill>
                <a:srgbClr val="800000"/>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El Principio de Causación postula que los Ingresos, Costos y Gastos se imputan contablemente cuando se genera la obligación y/o el derecho.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En otras palabras, se causan los Ingresos, Costos y Gastos cuando se origina la obligación o el derecho, </a:t>
            </a:r>
            <a:r>
              <a:rPr lang="es-ES" b="1">
                <a:solidFill>
                  <a:srgbClr val="D7A700"/>
                </a:solidFill>
                <a:latin typeface="Century Gothic" panose="020B0502020202020204" pitchFamily="34" charset="0"/>
              </a:rPr>
              <a:t>INDEPENDIENTEMENTE</a:t>
            </a:r>
            <a:r>
              <a:rPr lang="es-ES">
                <a:solidFill>
                  <a:schemeClr val="accent1"/>
                </a:solidFill>
                <a:latin typeface="Century Gothic" panose="020B0502020202020204" pitchFamily="34" charset="0"/>
              </a:rPr>
              <a:t> de si ha habido un pago (movimiento) real de efectivo. Ejemplos: Ventas a Crédito.</a:t>
            </a:r>
          </a:p>
        </p:txBody>
      </p:sp>
      <p:sp>
        <p:nvSpPr>
          <p:cNvPr id="9" name="Rectángulo 8">
            <a:extLst>
              <a:ext uri="{FF2B5EF4-FFF2-40B4-BE49-F238E27FC236}">
                <a16:creationId xmlns:a16="http://schemas.microsoft.com/office/drawing/2014/main" id="{20F45781-80C5-E305-21EF-12C2D25282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F3FA1F-06B2-1249-DC5F-F3F552E34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nversiones permanentes - Qué es, definición y concepto">
            <a:extLst>
              <a:ext uri="{FF2B5EF4-FFF2-40B4-BE49-F238E27FC236}">
                <a16:creationId xmlns:a16="http://schemas.microsoft.com/office/drawing/2014/main" id="{7CD3FAE1-74D6-4B0D-90AB-1BF846FE07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77" r="14257"/>
          <a:stretch/>
        </p:blipFill>
        <p:spPr bwMode="auto">
          <a:xfrm>
            <a:off x="9144000" y="3429000"/>
            <a:ext cx="1853514" cy="143740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606A8F3-0F26-FBD6-46B3-0577400CC1F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1AD1B895-7746-9753-4588-A5ADD6DF8D3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191143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B586215-690C-81C9-D61A-9506FB3118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3CFB884-F53E-E93D-04B7-49F56A64F1A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27529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581192" y="2043717"/>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911101"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100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dirty="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2B2C527-88DE-C0B5-9A5B-427B2F7735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FCDB15F-0884-B8DB-1C70-FB472108B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368388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9" dur="5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4"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39753"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800493"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a:t>
            </a:r>
            <a:r>
              <a:rPr lang="es-CO" sz="1600" b="1">
                <a:solidFill>
                  <a:schemeClr val="accent3">
                    <a:lumMod val="75000"/>
                  </a:schemeClr>
                </a:solidFill>
                <a:latin typeface="Century Gothic" panose="020B0502020202020204" pitchFamily="34" charset="0"/>
              </a:rPr>
              <a:t>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b="1">
                <a:solidFill>
                  <a:schemeClr val="accent3">
                    <a:lumMod val="75000"/>
                  </a:schemeClr>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3CFBDD3D-9359-BE4E-28D8-4CA07E8947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D14B762C-92B3-FB75-C7BE-DBAAF242267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584982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14701"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¿Cómo cambió la utilidad?</a:t>
            </a:r>
          </a:p>
          <a:p>
            <a:pPr algn="ctr"/>
            <a:endParaRPr lang="es-CO" sz="1600" b="1">
              <a:solidFill>
                <a:srgbClr val="D7A700"/>
              </a:solidFill>
              <a:latin typeface="Century Gothic" panose="020B0502020202020204" pitchFamily="34" charset="0"/>
            </a:endParaRP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cambió la liquidez?</a:t>
            </a:r>
          </a:p>
          <a:p>
            <a:pPr algn="ctr"/>
            <a:endParaRPr lang="es-CO" sz="1600" b="1">
              <a:solidFill>
                <a:schemeClr val="accent3">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53E209BC-82EA-325B-D2EB-8490411165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5A438BA8-CB90-3ED7-308B-4541E3FE5D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102688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1053105" y="2518175"/>
            <a:ext cx="7610476" cy="3278295"/>
          </a:xfrm>
        </p:spPr>
        <p:txBody>
          <a:bodyPr>
            <a:normAutofit/>
          </a:bodyPr>
          <a:lstStyle/>
          <a:p>
            <a:pPr marL="0" indent="0" algn="ctr">
              <a:buNone/>
            </a:pPr>
            <a:r>
              <a:rPr lang="es-ES" dirty="0">
                <a:solidFill>
                  <a:schemeClr val="accent1"/>
                </a:solidFill>
                <a:latin typeface="Century Gothic" panose="020B0502020202020204" pitchFamily="34" charset="0"/>
              </a:rPr>
              <a:t>Es entonces evidente como existen transacciones que, pese a afectar la liquidez, no afectarán la utilidad.</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Entendiendo que al evaluar alternativas de inversión el eje analítico son los flujos de efectivo, la utilidad debería ajustarse para incorporar estos flujos de efectivo </a:t>
            </a:r>
            <a:r>
              <a:rPr lang="es-ES" b="1" dirty="0">
                <a:solidFill>
                  <a:srgbClr val="C00000"/>
                </a:solidFill>
                <a:latin typeface="Century Gothic" panose="020B0502020202020204" pitchFamily="34" charset="0"/>
              </a:rPr>
              <a:t>pertinentes</a:t>
            </a:r>
            <a:r>
              <a:rPr lang="es-ES" dirty="0">
                <a:latin typeface="Century Gothic" panose="020B0502020202020204" pitchFamily="34" charset="0"/>
              </a:rPr>
              <a:t>.</a:t>
            </a:r>
          </a:p>
        </p:txBody>
      </p:sp>
      <p:sp>
        <p:nvSpPr>
          <p:cNvPr id="9" name="Rectángulo 8">
            <a:extLst>
              <a:ext uri="{FF2B5EF4-FFF2-40B4-BE49-F238E27FC236}">
                <a16:creationId xmlns:a16="http://schemas.microsoft.com/office/drawing/2014/main" id="{58A17E72-F4A8-775D-B726-12D5F5A79E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8DDA225-FA4A-73C3-1C0B-FE876991B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Fondos de inversión: qué son, ventajas y desventajas - SyPpT">
            <a:extLst>
              <a:ext uri="{FF2B5EF4-FFF2-40B4-BE49-F238E27FC236}">
                <a16:creationId xmlns:a16="http://schemas.microsoft.com/office/drawing/2014/main" id="{75608659-5D53-B37C-1151-DE1769F82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9692" y="3291831"/>
            <a:ext cx="3463962" cy="155201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85E415-5E49-8A54-8A19-3C303B88A23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BDBC3BDD-8485-D7E9-0CD3-897205B7413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114093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86D2249-DF17-E2A8-32A3-BDDE34D946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6ED11971-CEAA-9BAC-24A3-DF62E61E4D8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341060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581192" y="2025180"/>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sp>
        <p:nvSpPr>
          <p:cNvPr id="12" name="11 CuadroTexto"/>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901654462"/>
              </p:ext>
            </p:extLst>
          </p:nvPr>
        </p:nvGraphicFramePr>
        <p:xfrm>
          <a:off x="1088579" y="3361419"/>
          <a:ext cx="3311122" cy="2372360"/>
        </p:xfrm>
        <a:graphic>
          <a:graphicData uri="http://schemas.openxmlformats.org/drawingml/2006/table">
            <a:tbl>
              <a:tblPr firstRow="1" bandRow="1">
                <a:tableStyleId>{2D5ABB26-0587-4C30-8999-92F81FD0307C}</a:tableStyleId>
              </a:tblPr>
              <a:tblGrid>
                <a:gridCol w="909554">
                  <a:extLst>
                    <a:ext uri="{9D8B030D-6E8A-4147-A177-3AD203B41FA5}">
                      <a16:colId xmlns:a16="http://schemas.microsoft.com/office/drawing/2014/main" val="20000"/>
                    </a:ext>
                  </a:extLst>
                </a:gridCol>
                <a:gridCol w="397934">
                  <a:extLst>
                    <a:ext uri="{9D8B030D-6E8A-4147-A177-3AD203B41FA5}">
                      <a16:colId xmlns:a16="http://schemas.microsoft.com/office/drawing/2014/main" val="20001"/>
                    </a:ext>
                  </a:extLst>
                </a:gridCol>
                <a:gridCol w="254893">
                  <a:extLst>
                    <a:ext uri="{9D8B030D-6E8A-4147-A177-3AD203B41FA5}">
                      <a16:colId xmlns:a16="http://schemas.microsoft.com/office/drawing/2014/main" val="20002"/>
                    </a:ext>
                  </a:extLst>
                </a:gridCol>
                <a:gridCol w="1190828">
                  <a:extLst>
                    <a:ext uri="{9D8B030D-6E8A-4147-A177-3AD203B41FA5}">
                      <a16:colId xmlns:a16="http://schemas.microsoft.com/office/drawing/2014/main" val="20003"/>
                    </a:ext>
                  </a:extLst>
                </a:gridCol>
                <a:gridCol w="557913">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gridSpan="2">
                  <a:txBody>
                    <a:bodyPr/>
                    <a:lstStyle/>
                    <a:p>
                      <a:pPr algn="ctr"/>
                      <a:r>
                        <a:rPr lang="es-CO" sz="1400" noProof="0">
                          <a:solidFill>
                            <a:schemeClr val="accent1"/>
                          </a:solidFill>
                          <a:latin typeface="Century Gothic" panose="020B0502020202020204" pitchFamily="34" charset="0"/>
                        </a:rPr>
                        <a:t>120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gridSpan="2">
                  <a:txBody>
                    <a:bodyPr/>
                    <a:lstStyle/>
                    <a:p>
                      <a:pPr algn="ctr"/>
                      <a:r>
                        <a:rPr lang="es-CO" sz="1400" noProof="0">
                          <a:solidFill>
                            <a:schemeClr val="accent1"/>
                          </a:solidFill>
                          <a:latin typeface="Century Gothic" panose="020B0502020202020204" pitchFamily="34" charset="0"/>
                        </a:rPr>
                        <a:t>80</a:t>
                      </a:r>
                    </a:p>
                  </a:txBody>
                  <a:tcPr>
                    <a:lnR w="28575" cap="flat" cmpd="sng" algn="ctr">
                      <a:solidFill>
                        <a:srgbClr val="D7A700"/>
                      </a:solidFill>
                      <a:prstDash val="solid"/>
                      <a:round/>
                      <a:headEnd type="none" w="med" len="med"/>
                      <a:tailEnd type="none" w="med" len="med"/>
                    </a:lnR>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4097913979"/>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5AC13EA-8A8C-ABF9-7860-649CDA0BB0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D65F8E23-AEFA-48ED-EAB3-839E5B023D9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338888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56641" y="2067619"/>
            <a:ext cx="10878718" cy="798567"/>
          </a:xfrm>
        </p:spPr>
        <p:txBody>
          <a:bodyPr>
            <a:noAutofit/>
          </a:bodyPr>
          <a:lstStyle/>
          <a:p>
            <a:pPr marL="0" indent="0" algn="just">
              <a:buNone/>
            </a:pPr>
            <a:r>
              <a:rPr lang="es-ES" b="1" dirty="0">
                <a:solidFill>
                  <a:srgbClr val="C00000"/>
                </a:solidFill>
                <a:latin typeface="Century Gothic" panose="020B0502020202020204" pitchFamily="34" charset="0"/>
              </a:rPr>
              <a:t>Ejemplo 3: </a:t>
            </a:r>
          </a:p>
          <a:p>
            <a:pPr marL="0" indent="0" algn="just">
              <a:buNone/>
            </a:pPr>
            <a:r>
              <a:rPr lang="es-ES" dirty="0">
                <a:solidFill>
                  <a:schemeClr val="accent1"/>
                </a:solidFill>
                <a:latin typeface="Century Gothic" panose="020B0502020202020204" pitchFamily="34" charset="0"/>
              </a:rPr>
              <a:t>Suponga que el Estado de la Situación Financiera de una compañía hipotética es el siguiente, después de un año:</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83469211"/>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1987795874"/>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11 CuadroTexto">
            <a:extLst>
              <a:ext uri="{FF2B5EF4-FFF2-40B4-BE49-F238E27FC236}">
                <a16:creationId xmlns:a16="http://schemas.microsoft.com/office/drawing/2014/main" id="{B408F867-A1A8-7066-93B1-3B3513D9816C}"/>
              </a:ext>
            </a:extLst>
          </p:cNvPr>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sp>
        <p:nvSpPr>
          <p:cNvPr id="9" name="Rectángulo 8">
            <a:extLst>
              <a:ext uri="{FF2B5EF4-FFF2-40B4-BE49-F238E27FC236}">
                <a16:creationId xmlns:a16="http://schemas.microsoft.com/office/drawing/2014/main" id="{01C460BF-9E81-BBF2-2EEF-0A7C4DB89D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3A5CC195-C0E6-D6C5-103E-94D6AC8669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3396734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41965" y="2100524"/>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077781878"/>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11 CuadroTexto">
            <a:extLst>
              <a:ext uri="{FF2B5EF4-FFF2-40B4-BE49-F238E27FC236}">
                <a16:creationId xmlns:a16="http://schemas.microsoft.com/office/drawing/2014/main" id="{7DA3B817-D897-EF66-5682-062D039D4135}"/>
              </a:ext>
            </a:extLst>
          </p:cNvPr>
          <p:cNvSpPr txBox="1"/>
          <p:nvPr/>
        </p:nvSpPr>
        <p:spPr>
          <a:xfrm>
            <a:off x="7448967" y="3986654"/>
            <a:ext cx="2667570" cy="830997"/>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¿Impacta la utilidad?</a:t>
            </a:r>
          </a:p>
          <a:p>
            <a:pPr algn="ctr"/>
            <a:endParaRPr lang="es-CO" sz="1600">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¿Impacta la liquidez?</a:t>
            </a:r>
          </a:p>
        </p:txBody>
      </p:sp>
      <p:sp>
        <p:nvSpPr>
          <p:cNvPr id="10" name="Rectángulo 9">
            <a:extLst>
              <a:ext uri="{FF2B5EF4-FFF2-40B4-BE49-F238E27FC236}">
                <a16:creationId xmlns:a16="http://schemas.microsoft.com/office/drawing/2014/main" id="{6120157F-550D-5849-A39A-BCA37438EB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CE9BE3AB-3F3C-D3F2-73E8-9EE6572A40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235957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13" name="Marcador de contenido 2"/>
          <p:cNvSpPr>
            <a:spLocks noGrp="1"/>
          </p:cNvSpPr>
          <p:nvPr>
            <p:ph idx="1"/>
          </p:nvPr>
        </p:nvSpPr>
        <p:spPr>
          <a:xfrm>
            <a:off x="829475" y="2677842"/>
            <a:ext cx="7966066" cy="3278295"/>
          </a:xfrm>
        </p:spPr>
        <p:txBody>
          <a:bodyPr>
            <a:normAutofit/>
          </a:bodyPr>
          <a:lstStyle/>
          <a:p>
            <a:pPr marL="0" indent="0" algn="ctr">
              <a:buNone/>
            </a:pPr>
            <a:r>
              <a:rPr lang="es-ES" dirty="0">
                <a:solidFill>
                  <a:schemeClr val="accent1"/>
                </a:solidFill>
                <a:latin typeface="Century Gothic" panose="020B0502020202020204" pitchFamily="34" charset="0"/>
              </a:rPr>
              <a:t>Por último, notamos que algunos costos y gastos que están en el Estado de Resultados, tales como las amortizaciones y depreciaciones, son gastos no efectivos. </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Es decir, son gastos que no afectan la liquidez de la compañía.</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Entendiendo que, al evaluar alternativas de inversión, el eje analítico son los flujos de efectivo, la utilidad debería ajustarse para corregir la existencia de</a:t>
            </a:r>
            <a:r>
              <a:rPr lang="es-ES" i="1" dirty="0">
                <a:solidFill>
                  <a:schemeClr val="accent1"/>
                </a:solidFill>
                <a:latin typeface="Century Gothic" panose="020B0502020202020204" pitchFamily="34" charset="0"/>
              </a:rPr>
              <a:t> </a:t>
            </a:r>
            <a:r>
              <a:rPr lang="es-ES" b="1" dirty="0">
                <a:solidFill>
                  <a:srgbClr val="C00000"/>
                </a:solidFill>
                <a:latin typeface="Century Gothic" panose="020B0502020202020204" pitchFamily="34" charset="0"/>
              </a:rPr>
              <a:t>flujos no efectivos</a:t>
            </a:r>
            <a:r>
              <a:rPr lang="es-ES" i="1" dirty="0">
                <a:solidFill>
                  <a:srgbClr val="C00000"/>
                </a:solidFill>
                <a:latin typeface="Century Gothic" panose="020B0502020202020204" pitchFamily="34" charset="0"/>
              </a:rPr>
              <a:t>.</a:t>
            </a:r>
          </a:p>
        </p:txBody>
      </p:sp>
      <p:sp>
        <p:nvSpPr>
          <p:cNvPr id="3" name="Rectángulo 2">
            <a:extLst>
              <a:ext uri="{FF2B5EF4-FFF2-40B4-BE49-F238E27FC236}">
                <a16:creationId xmlns:a16="http://schemas.microsoft.com/office/drawing/2014/main" id="{11D9AA79-3639-D343-2FEF-EBBC4DEEE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0BACD88-F442-D5AB-EF9D-3759777F2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Los riesgos de no invertir – Finanzas y Tecnología – Axend Blog">
            <a:extLst>
              <a:ext uri="{FF2B5EF4-FFF2-40B4-BE49-F238E27FC236}">
                <a16:creationId xmlns:a16="http://schemas.microsoft.com/office/drawing/2014/main" id="{8526E9C2-C089-8F11-98A4-E545A4819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22" r="3842" b="6666"/>
          <a:stretch/>
        </p:blipFill>
        <p:spPr bwMode="auto">
          <a:xfrm>
            <a:off x="8587945" y="3123473"/>
            <a:ext cx="3022863" cy="1729946"/>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BA43CA4-A452-9152-9F40-C47990A21D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2B65A49-0B7E-9BB5-BF6E-C00CF8C6FE4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190986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dirty="0">
                <a:solidFill>
                  <a:schemeClr val="tx2">
                    <a:lumMod val="20000"/>
                    <a:lumOff val="80000"/>
                  </a:schemeClr>
                </a:solidFill>
                <a:latin typeface="Century Gothic"/>
                <a:cs typeface="Arial"/>
              </a:rPr>
              <a:t>Construcción del Flujo de Caja Libre.</a:t>
            </a:r>
            <a:endParaRPr lang="es-ES" sz="1600" dirty="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dirty="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dirty="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dirty="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dirty="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dirty="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dirty="0">
              <a:solidFill>
                <a:schemeClr val="accent1"/>
              </a:solidFill>
              <a:latin typeface="Century Gothic"/>
              <a:cs typeface="Arial"/>
            </a:endParaRPr>
          </a:p>
          <a:p>
            <a:pPr marL="342900" indent="-342900">
              <a:buClr>
                <a:srgbClr val="48BE7A"/>
              </a:buClr>
              <a:buFontTx/>
              <a:buAutoNum type="arabicPeriod"/>
            </a:pPr>
            <a:r>
              <a:rPr lang="es-CO" sz="1600" dirty="0">
                <a:solidFill>
                  <a:schemeClr val="accent1"/>
                </a:solidFill>
                <a:latin typeface="Century Gothic"/>
                <a:cs typeface="Arial"/>
              </a:rPr>
              <a:t>Flujo de Caja Libre (FCL).</a:t>
            </a:r>
            <a:endParaRPr lang="es-CO" sz="1600" dirty="0">
              <a:solidFill>
                <a:schemeClr val="accent1"/>
              </a:solidFill>
              <a:latin typeface="Century Gothic" panose="020B0502020202020204" pitchFamily="34" charset="0"/>
              <a:cs typeface="Arial"/>
            </a:endParaRPr>
          </a:p>
          <a:p>
            <a:pPr>
              <a:buClr>
                <a:schemeClr val="accent3">
                  <a:lumMod val="75000"/>
                </a:schemeClr>
              </a:buClr>
            </a:pPr>
            <a:endParaRPr lang="es-CO" sz="1600"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37E5B2F-CB65-D14C-0BC3-3AD16891AD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3F22307-9E46-785C-646E-32D100868D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a:latin typeface="Century Gothic" panose="020B0502020202020204" pitchFamily="34" charset="0"/>
            </a:endParaRPr>
          </a:p>
        </p:txBody>
      </p:sp>
    </p:spTree>
    <p:extLst>
      <p:ext uri="{BB962C8B-B14F-4D97-AF65-F5344CB8AC3E}">
        <p14:creationId xmlns:p14="http://schemas.microsoft.com/office/powerpoint/2010/main" val="305581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47159" y="2450123"/>
            <a:ext cx="7848382" cy="3400921"/>
          </a:xfrm>
        </p:spPr>
        <p:txBody>
          <a:bodyPr>
            <a:normAutofit/>
          </a:bodyPr>
          <a:lstStyle/>
          <a:p>
            <a:pPr algn="just">
              <a:buFont typeface="Wingdings" pitchFamily="2" charset="2"/>
              <a:buChar char="q"/>
            </a:pPr>
            <a:r>
              <a:rPr lang="es-ES" dirty="0">
                <a:solidFill>
                  <a:schemeClr val="accent1"/>
                </a:solidFill>
                <a:latin typeface="Century Gothic" panose="020B0502020202020204" pitchFamily="34" charset="0"/>
              </a:rPr>
              <a:t>En el contexto de evaluación de proyectos, se entenderá liquidez como la capacidad de una compañía de generar un flujo de efectivo (dinero).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Por el contrario, la utilidad será la ganancia contable que genera la compañía en un periodo de tiempo determinado.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Dado que la utilidad se rige por el </a:t>
            </a:r>
            <a:r>
              <a:rPr lang="es-ES" b="1" dirty="0">
                <a:solidFill>
                  <a:srgbClr val="C00000"/>
                </a:solidFill>
                <a:latin typeface="Century Gothic" panose="020B0502020202020204" pitchFamily="34" charset="0"/>
              </a:rPr>
              <a:t>Principio de Causación</a:t>
            </a:r>
            <a:r>
              <a:rPr lang="es-ES" dirty="0">
                <a:solidFill>
                  <a:schemeClr val="accent1"/>
                </a:solidFill>
                <a:latin typeface="Century Gothic" panose="020B0502020202020204" pitchFamily="34" charset="0"/>
              </a:rPr>
              <a:t>, no será una buena estimación de los flujos para evaluar los proyectos.</a:t>
            </a:r>
            <a:endParaRPr lang="es-ES" i="1" dirty="0">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4C3FB447-1783-3A52-94B7-AA53F613C55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D1E8C6A-3D5B-400F-5A94-43E27A222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Quieres invertir dinero? Antes de hacerlo deberías leer esto • Mesfix Blog">
            <a:extLst>
              <a:ext uri="{FF2B5EF4-FFF2-40B4-BE49-F238E27FC236}">
                <a16:creationId xmlns:a16="http://schemas.microsoft.com/office/drawing/2014/main" id="{2A78FB05-7F99-8F59-F1A5-4CC11954E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678" y="3215104"/>
            <a:ext cx="2396130" cy="1599811"/>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2D6C70C-88EF-94C4-EAC6-9ADF1A5074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9F4A1DF-D1EA-C0A9-6655-2B1DD68C11B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spTree>
    <p:extLst>
      <p:ext uri="{BB962C8B-B14F-4D97-AF65-F5344CB8AC3E}">
        <p14:creationId xmlns:p14="http://schemas.microsoft.com/office/powerpoint/2010/main" val="354149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69308" y="2248931"/>
            <a:ext cx="7826234" cy="4072332"/>
          </a:xfrm>
        </p:spPr>
        <p:txBody>
          <a:bodyPr>
            <a:noAutofit/>
          </a:bodyPr>
          <a:lstStyle/>
          <a:p>
            <a:pPr algn="just">
              <a:buFont typeface="Wingdings" pitchFamily="2" charset="2"/>
              <a:buChar char="q"/>
            </a:pPr>
            <a:r>
              <a:rPr lang="es-ES">
                <a:solidFill>
                  <a:schemeClr val="accent1"/>
                </a:solidFill>
                <a:latin typeface="Century Gothic" panose="020B0502020202020204" pitchFamily="34" charset="0"/>
              </a:rPr>
              <a:t>Además, se debe recordar que la utilidad no refleja necesariamente todos los flujos de efectivo </a:t>
            </a:r>
            <a:r>
              <a:rPr lang="es-ES" b="1">
                <a:solidFill>
                  <a:srgbClr val="C00000"/>
                </a:solidFill>
                <a:latin typeface="Century Gothic" panose="020B0502020202020204" pitchFamily="34" charset="0"/>
              </a:rPr>
              <a:t>pertinentes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Más aún, la utilidad incorpora flujos y registros contables que </a:t>
            </a:r>
            <a:r>
              <a:rPr lang="es-ES" b="1">
                <a:solidFill>
                  <a:srgbClr val="D7A700"/>
                </a:solidFill>
                <a:latin typeface="Century Gothic" panose="020B0502020202020204" pitchFamily="34" charset="0"/>
              </a:rPr>
              <a:t>no son efectivos </a:t>
            </a:r>
            <a:r>
              <a:rPr lang="es-ES">
                <a:solidFill>
                  <a:schemeClr val="accent1"/>
                </a:solidFill>
                <a:latin typeface="Century Gothic" panose="020B0502020202020204" pitchFamily="34" charset="0"/>
              </a:rPr>
              <a:t>(no implican ingresos/salidas de dinero).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entonces necesario ajustar la utilidad por el principio de </a:t>
            </a:r>
            <a:r>
              <a:rPr lang="es-ES" b="1">
                <a:solidFill>
                  <a:srgbClr val="C00000"/>
                </a:solidFill>
                <a:latin typeface="Century Gothic" panose="020B0502020202020204" pitchFamily="34" charset="0"/>
              </a:rPr>
              <a:t>causación</a:t>
            </a:r>
            <a:r>
              <a:rPr lang="es-ES">
                <a:solidFill>
                  <a:srgbClr val="800000"/>
                </a:solidFill>
                <a:latin typeface="Century Gothic" panose="020B0502020202020204" pitchFamily="34" charset="0"/>
              </a:rPr>
              <a:t>, </a:t>
            </a:r>
            <a:r>
              <a:rPr lang="es-ES">
                <a:solidFill>
                  <a:schemeClr val="accent1"/>
                </a:solidFill>
                <a:latin typeface="Century Gothic" panose="020B0502020202020204" pitchFamily="34" charset="0"/>
              </a:rPr>
              <a:t>por el principio de </a:t>
            </a:r>
            <a:r>
              <a:rPr lang="es-ES" b="1">
                <a:solidFill>
                  <a:srgbClr val="C00000"/>
                </a:solidFill>
                <a:latin typeface="Century Gothic" panose="020B0502020202020204" pitchFamily="34" charset="0"/>
              </a:rPr>
              <a:t>pertinencia</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y</a:t>
            </a:r>
            <a:r>
              <a:rPr lang="es-ES">
                <a:latin typeface="Century Gothic" panose="020B0502020202020204" pitchFamily="34" charset="0"/>
              </a:rPr>
              <a:t> </a:t>
            </a:r>
            <a:r>
              <a:rPr lang="es-ES" b="1">
                <a:solidFill>
                  <a:srgbClr val="C00000"/>
                </a:solidFill>
                <a:latin typeface="Century Gothic" panose="020B0502020202020204" pitchFamily="34" charset="0"/>
              </a:rPr>
              <a:t>gastos no efectivos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aquí donde aparece el denominado Flujo de Caja Libre.</a:t>
            </a:r>
            <a:endParaRPr lang="es-ES">
              <a:latin typeface="Century Gothic" panose="020B0502020202020204" pitchFamily="34" charset="0"/>
            </a:endParaRPr>
          </a:p>
          <a:p>
            <a:pPr algn="just"/>
            <a:endParaRPr lang="es-ES"/>
          </a:p>
        </p:txBody>
      </p:sp>
      <p:sp>
        <p:nvSpPr>
          <p:cNvPr id="9" name="Rectángulo 8">
            <a:extLst>
              <a:ext uri="{FF2B5EF4-FFF2-40B4-BE49-F238E27FC236}">
                <a16:creationId xmlns:a16="http://schemas.microsoft.com/office/drawing/2014/main" id="{2B08A6B0-B5A9-1E20-6882-64264592BAC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B38A9D3-7546-1D68-F6BC-E923A1C5B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ómo invertir bien cuando el mayor riesgo para tu dinero es no invertirlo |  AE para UEStudio">
            <a:extLst>
              <a:ext uri="{FF2B5EF4-FFF2-40B4-BE49-F238E27FC236}">
                <a16:creationId xmlns:a16="http://schemas.microsoft.com/office/drawing/2014/main" id="{7F7840F3-FF1E-D96E-35D6-CEDD9B61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5227" y="3191524"/>
            <a:ext cx="2705581" cy="218714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B41D238-FFA2-E16F-5254-83AD91ED684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5670EDAD-6B19-90F5-43A2-AF5ED428FB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57</a:t>
            </a:fld>
            <a:endParaRPr lang="en-US" sz="2000" b="1">
              <a:latin typeface="Century Gothic" panose="020B0502020202020204" pitchFamily="34" charset="0"/>
            </a:endParaRPr>
          </a:p>
        </p:txBody>
      </p:sp>
    </p:spTree>
    <p:extLst>
      <p:ext uri="{BB962C8B-B14F-4D97-AF65-F5344CB8AC3E}">
        <p14:creationId xmlns:p14="http://schemas.microsoft.com/office/powerpoint/2010/main" val="126192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237D73F-0012-4163-88EC-4C834275B3F2}"/>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869562" y="2654267"/>
            <a:ext cx="7925979" cy="363210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Flujo de Caja Libre (FCL) o Free Cash Flow </a:t>
            </a:r>
            <a:r>
              <a:rPr lang="es-ES" err="1">
                <a:solidFill>
                  <a:schemeClr val="accent1"/>
                </a:solidFill>
                <a:latin typeface="Century Gothic" panose="020B0502020202020204" pitchFamily="34" charset="0"/>
              </a:rPr>
              <a:t>to</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the</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Firm</a:t>
            </a:r>
            <a:r>
              <a:rPr lang="es-ES">
                <a:solidFill>
                  <a:schemeClr val="accent1"/>
                </a:solidFill>
                <a:latin typeface="Century Gothic" panose="020B0502020202020204" pitchFamily="34" charset="0"/>
              </a:rPr>
              <a:t> (FCFF) tiene como objetivo estudiar el proyecto de inversión en sí mismo</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decir, los flujos de caja que genera la </a:t>
            </a:r>
            <a:r>
              <a:rPr lang="es-ES" b="1">
                <a:solidFill>
                  <a:srgbClr val="C00000"/>
                </a:solidFill>
                <a:latin typeface="Century Gothic" panose="020B0502020202020204" pitchFamily="34" charset="0"/>
              </a:rPr>
              <a:t>OPERACIÓN DEL NEGOCIO</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sin considerar la estructura de capital.</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Se busca responder la pregunta: </a:t>
            </a:r>
            <a:r>
              <a:rPr lang="es-ES" b="1">
                <a:solidFill>
                  <a:srgbClr val="D7A700"/>
                </a:solidFill>
                <a:latin typeface="Century Gothic" panose="020B0502020202020204" pitchFamily="34" charset="0"/>
              </a:rPr>
              <a:t>¿Cuáles son los flujos de caja que “prometen” los proyectos actuales y futuros sin considerar la estructura de financiación?</a:t>
            </a:r>
          </a:p>
          <a:p>
            <a:pPr>
              <a:buFont typeface="Arial"/>
              <a:buChar char="•"/>
            </a:pPr>
            <a:endParaRPr lang="es-ES" sz="2400">
              <a:latin typeface="Century Gothic" panose="020B0502020202020204" pitchFamily="34" charset="0"/>
            </a:endParaRPr>
          </a:p>
        </p:txBody>
      </p:sp>
      <p:sp>
        <p:nvSpPr>
          <p:cNvPr id="2" name="Rectángulo 1">
            <a:extLst>
              <a:ext uri="{FF2B5EF4-FFF2-40B4-BE49-F238E27FC236}">
                <a16:creationId xmlns:a16="http://schemas.microsoft.com/office/drawing/2014/main" id="{4EC2A44B-C03D-B957-9565-04AF319A3A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6AB5171E-03EE-07FD-74E9-B64B9A585B99}"/>
              </a:ext>
            </a:extLst>
          </p:cNvPr>
          <p:cNvSpPr/>
          <p:nvPr/>
        </p:nvSpPr>
        <p:spPr>
          <a:xfrm>
            <a:off x="8795541" y="118110"/>
            <a:ext cx="29418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Profesora</a:t>
            </a:r>
            <a:r>
              <a:rPr lang="es-CO" sz="1100">
                <a:solidFill>
                  <a:schemeClr val="accent2">
                    <a:lumMod val="50000"/>
                  </a:schemeClr>
                </a:solidFill>
                <a:latin typeface="Century Gothic" panose="020B0502020202020204" pitchFamily="34" charset="0"/>
                <a:sym typeface="Gill Sans Light"/>
              </a:rPr>
              <a:t> Andrea Yohana Cortés Mojica</a:t>
            </a:r>
            <a:endParaRPr lang="es-CO" sz="1100">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6FD45C5-FEBE-E13F-AA79-0A91EC7A5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9A02B20E-DF0B-6B0C-C137-7F63DCA65B01}"/>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6" name="Picture 4" descr="Los riesgos de no invertir – Finanzas y Tecnología – Axend Blog">
            <a:extLst>
              <a:ext uri="{FF2B5EF4-FFF2-40B4-BE49-F238E27FC236}">
                <a16:creationId xmlns:a16="http://schemas.microsoft.com/office/drawing/2014/main" id="{0AA0AA70-72AD-D98D-AA4D-26376BBCDD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2" r="3651" b="7676"/>
          <a:stretch/>
        </p:blipFill>
        <p:spPr bwMode="auto">
          <a:xfrm>
            <a:off x="8981778" y="3272421"/>
            <a:ext cx="2565238" cy="147257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75D6F1F-47FD-2CDF-86B2-55E4A6A2A68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Marcador de número de diapositiva 3">
            <a:extLst>
              <a:ext uri="{FF2B5EF4-FFF2-40B4-BE49-F238E27FC236}">
                <a16:creationId xmlns:a16="http://schemas.microsoft.com/office/drawing/2014/main" id="{CFBE72E6-F3C2-B06E-FE76-0BAC76B50F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58</a:t>
            </a:fld>
            <a:endParaRPr lang="en-US" sz="2000" b="1">
              <a:latin typeface="Century Gothic" panose="020B0502020202020204" pitchFamily="34" charset="0"/>
            </a:endParaRPr>
          </a:p>
        </p:txBody>
      </p:sp>
    </p:spTree>
    <p:extLst>
      <p:ext uri="{BB962C8B-B14F-4D97-AF65-F5344CB8AC3E}">
        <p14:creationId xmlns:p14="http://schemas.microsoft.com/office/powerpoint/2010/main" val="252741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Impuestos Operacionales</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3899726" y="5080925"/>
            <a:ext cx="4134556"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4" y="3134505"/>
            <a:ext cx="4035778"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BA87F511-3CF3-D5B5-9814-2DE865B8DF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D899C24-5F57-D844-DB86-A1F86D9FC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Qué son fondos de inversión?">
            <a:extLst>
              <a:ext uri="{FF2B5EF4-FFF2-40B4-BE49-F238E27FC236}">
                <a16:creationId xmlns:a16="http://schemas.microsoft.com/office/drawing/2014/main" id="{072958EC-7F4B-7DE3-7576-4EC360E092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04" r="6655"/>
          <a:stretch/>
        </p:blipFill>
        <p:spPr bwMode="auto">
          <a:xfrm>
            <a:off x="9115602" y="3342293"/>
            <a:ext cx="2662183" cy="15579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EAD20E7-2983-0810-1622-235B21A6E6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C583235-209A-70F3-668A-B5ABC13F79C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59</a:t>
            </a:fld>
            <a:endParaRPr lang="en-US" sz="2000" b="1">
              <a:latin typeface="Century Gothic" panose="020B0502020202020204" pitchFamily="34" charset="0"/>
            </a:endParaRPr>
          </a:p>
        </p:txBody>
      </p:sp>
    </p:spTree>
    <p:extLst>
      <p:ext uri="{BB962C8B-B14F-4D97-AF65-F5344CB8AC3E}">
        <p14:creationId xmlns:p14="http://schemas.microsoft.com/office/powerpoint/2010/main" val="240524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7" name="AutoShape 1">
            <a:extLst>
              <a:ext uri="{FF2B5EF4-FFF2-40B4-BE49-F238E27FC236}">
                <a16:creationId xmlns:a16="http://schemas.microsoft.com/office/drawing/2014/main" id="{5E103885-005B-4BCA-A81B-3F98CFF65882}"/>
              </a:ext>
            </a:extLst>
          </p:cNvPr>
          <p:cNvSpPr>
            <a:spLocks/>
          </p:cNvSpPr>
          <p:nvPr/>
        </p:nvSpPr>
        <p:spPr bwMode="auto">
          <a:xfrm>
            <a:off x="6107828" y="2590613"/>
            <a:ext cx="4025900" cy="2930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r>
              <a:rPr lang="es-ES" sz="1200" b="1" dirty="0">
                <a:solidFill>
                  <a:srgbClr val="C00000"/>
                </a:solidFill>
                <a:latin typeface="Century Gothic" panose="020B0502020202020204" pitchFamily="34" charset="0"/>
                <a:cs typeface="Arial" charset="0"/>
                <a:sym typeface="Arial" charset="0"/>
              </a:rPr>
              <a:t>EBIT (</a:t>
            </a:r>
            <a:r>
              <a:rPr lang="es-ES" sz="1200" b="1" dirty="0" err="1">
                <a:solidFill>
                  <a:srgbClr val="C00000"/>
                </a:solidFill>
                <a:latin typeface="Century Gothic" panose="020B0502020202020204" pitchFamily="34" charset="0"/>
                <a:cs typeface="Arial" charset="0"/>
                <a:sym typeface="Arial" charset="0"/>
              </a:rPr>
              <a:t>UAII</a:t>
            </a:r>
            <a:r>
              <a:rPr lang="es-ES" sz="1200" b="1" dirty="0">
                <a:solidFill>
                  <a:srgbClr val="C00000"/>
                </a:solidFill>
                <a:latin typeface="Century Gothic" panose="020B0502020202020204" pitchFamily="34" charset="0"/>
                <a:cs typeface="Arial" charset="0"/>
                <a:sym typeface="Arial" charset="0"/>
              </a:rPr>
              <a:t>)</a:t>
            </a:r>
            <a:endParaRPr lang="es-ES" sz="1600" dirty="0">
              <a:solidFill>
                <a:srgbClr val="C00000"/>
              </a:solidFill>
              <a:latin typeface="Century Gothic" panose="020B0502020202020204" pitchFamily="34" charset="0"/>
              <a:cs typeface="Arial" charset="0"/>
              <a:sym typeface="Arial" charset="0"/>
            </a:endParaRPr>
          </a:p>
          <a:p>
            <a:pPr lvl="1"/>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Depreciación &amp; Amortización</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EBITDA</a:t>
            </a:r>
            <a:endParaRPr lang="es-ES" sz="1600" dirty="0">
              <a:solidFill>
                <a:srgbClr val="C00000"/>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a:t>
            </a:r>
            <a:r>
              <a:rPr lang="es-ES" sz="1200" dirty="0" err="1">
                <a:solidFill>
                  <a:schemeClr val="accent1"/>
                </a:solidFill>
                <a:latin typeface="Century Gothic" panose="020B0502020202020204" pitchFamily="34" charset="0"/>
                <a:cs typeface="Arial" charset="0"/>
                <a:sym typeface="Arial" charset="0"/>
              </a:rPr>
              <a:t>WK</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PPE e Intangibles (CAPEX)</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Impuestos operacionales</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b="1"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Flujo de Caja Libre (</a:t>
            </a:r>
            <a:r>
              <a:rPr lang="es-ES" sz="1200" b="1" dirty="0" err="1">
                <a:solidFill>
                  <a:srgbClr val="C00000"/>
                </a:solidFill>
                <a:latin typeface="Century Gothic" panose="020B0502020202020204" pitchFamily="34" charset="0"/>
                <a:cs typeface="Arial" charset="0"/>
                <a:sym typeface="Arial" charset="0"/>
              </a:rPr>
              <a:t>FCL</a:t>
            </a:r>
            <a:r>
              <a:rPr lang="es-ES" sz="1200" b="1" dirty="0">
                <a:solidFill>
                  <a:srgbClr val="C00000"/>
                </a:solidFill>
                <a:latin typeface="Century Gothic" panose="020B0502020202020204" pitchFamily="34" charset="0"/>
                <a:cs typeface="Arial" charset="0"/>
                <a:sym typeface="Arial" charset="0"/>
              </a:rPr>
              <a:t>)</a:t>
            </a:r>
            <a:endParaRPr lang="es-ES" sz="1600" b="1" dirty="0">
              <a:solidFill>
                <a:srgbClr val="C00000"/>
              </a:solidFill>
              <a:latin typeface="Century Gothic" panose="020B0502020202020204" pitchFamily="34" charset="0"/>
              <a:cs typeface="Arial" charset="0"/>
              <a:sym typeface="Arial" charset="0"/>
            </a:endParaRPr>
          </a:p>
        </p:txBody>
      </p:sp>
      <p:sp>
        <p:nvSpPr>
          <p:cNvPr id="11" name="Line 2">
            <a:extLst>
              <a:ext uri="{FF2B5EF4-FFF2-40B4-BE49-F238E27FC236}">
                <a16:creationId xmlns:a16="http://schemas.microsoft.com/office/drawing/2014/main" id="{95965A60-2465-44D6-936E-670947EB4270}"/>
              </a:ext>
            </a:extLst>
          </p:cNvPr>
          <p:cNvSpPr>
            <a:spLocks noChangeShapeType="1"/>
          </p:cNvSpPr>
          <p:nvPr/>
        </p:nvSpPr>
        <p:spPr bwMode="auto">
          <a:xfrm flipV="1">
            <a:off x="6107828" y="3293072"/>
            <a:ext cx="3540125" cy="127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12" name="Line 3">
            <a:extLst>
              <a:ext uri="{FF2B5EF4-FFF2-40B4-BE49-F238E27FC236}">
                <a16:creationId xmlns:a16="http://schemas.microsoft.com/office/drawing/2014/main" id="{8F41999D-96F8-4F8F-B673-8079EE020A2F}"/>
              </a:ext>
            </a:extLst>
          </p:cNvPr>
          <p:cNvSpPr>
            <a:spLocks noChangeShapeType="1"/>
          </p:cNvSpPr>
          <p:nvPr/>
        </p:nvSpPr>
        <p:spPr bwMode="auto">
          <a:xfrm flipV="1">
            <a:off x="6096000" y="4764656"/>
            <a:ext cx="3540125" cy="14287"/>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grpSp>
        <p:nvGrpSpPr>
          <p:cNvPr id="13" name="Group 4">
            <a:extLst>
              <a:ext uri="{FF2B5EF4-FFF2-40B4-BE49-F238E27FC236}">
                <a16:creationId xmlns:a16="http://schemas.microsoft.com/office/drawing/2014/main" id="{C00C16A1-67E3-4133-BE90-BC0FA154A4B7}"/>
              </a:ext>
            </a:extLst>
          </p:cNvPr>
          <p:cNvGrpSpPr>
            <a:grpSpLocks/>
          </p:cNvGrpSpPr>
          <p:nvPr/>
        </p:nvGrpSpPr>
        <p:grpSpPr bwMode="auto">
          <a:xfrm>
            <a:off x="8795541" y="2582099"/>
            <a:ext cx="2089276" cy="591255"/>
            <a:chOff x="-503459" y="0"/>
            <a:chExt cx="2089669" cy="591792"/>
          </a:xfrm>
        </p:grpSpPr>
        <p:sp>
          <p:nvSpPr>
            <p:cNvPr id="14" name="AutoShape 5">
              <a:extLst>
                <a:ext uri="{FF2B5EF4-FFF2-40B4-BE49-F238E27FC236}">
                  <a16:creationId xmlns:a16="http://schemas.microsoft.com/office/drawing/2014/main" id="{F2E07C4B-76FB-4470-82E1-FD7B3FA574AE}"/>
                </a:ext>
              </a:extLst>
            </p:cNvPr>
            <p:cNvSpPr>
              <a:spLocks/>
            </p:cNvSpPr>
            <p:nvPr/>
          </p:nvSpPr>
          <p:spPr bwMode="auto">
            <a:xfrm>
              <a:off x="439548" y="0"/>
              <a:ext cx="1146662"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15" name="Line 6">
              <a:extLst>
                <a:ext uri="{FF2B5EF4-FFF2-40B4-BE49-F238E27FC236}">
                  <a16:creationId xmlns:a16="http://schemas.microsoft.com/office/drawing/2014/main" id="{81E71644-F173-49C4-8944-9F549066BFD6}"/>
                </a:ext>
              </a:extLst>
            </p:cNvPr>
            <p:cNvSpPr>
              <a:spLocks noChangeShapeType="1"/>
            </p:cNvSpPr>
            <p:nvPr/>
          </p:nvSpPr>
          <p:spPr bwMode="auto">
            <a:xfrm flipH="1">
              <a:off x="-503459" y="298861"/>
              <a:ext cx="943006" cy="224528"/>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16" name="AutoShape 7">
              <a:extLst>
                <a:ext uri="{FF2B5EF4-FFF2-40B4-BE49-F238E27FC236}">
                  <a16:creationId xmlns:a16="http://schemas.microsoft.com/office/drawing/2014/main" id="{2DDE185C-E335-4CA8-B7D2-E1F0FE078FBF}"/>
                </a:ext>
              </a:extLst>
            </p:cNvPr>
            <p:cNvSpPr>
              <a:spLocks/>
            </p:cNvSpPr>
            <p:nvPr/>
          </p:nvSpPr>
          <p:spPr bwMode="auto">
            <a:xfrm>
              <a:off x="439548" y="2525"/>
              <a:ext cx="1146662"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No es un movimiento de efectivo</a:t>
              </a:r>
              <a:endParaRPr lang="es-ES">
                <a:latin typeface="Century Gothic" panose="020B0502020202020204" pitchFamily="34" charset="0"/>
              </a:endParaRPr>
            </a:p>
          </p:txBody>
        </p:sp>
      </p:grpSp>
      <p:grpSp>
        <p:nvGrpSpPr>
          <p:cNvPr id="17" name="Group 8">
            <a:extLst>
              <a:ext uri="{FF2B5EF4-FFF2-40B4-BE49-F238E27FC236}">
                <a16:creationId xmlns:a16="http://schemas.microsoft.com/office/drawing/2014/main" id="{FA3A9814-B4EA-43D8-AAC5-07D29AE1EE7A}"/>
              </a:ext>
            </a:extLst>
          </p:cNvPr>
          <p:cNvGrpSpPr>
            <a:grpSpLocks/>
          </p:cNvGrpSpPr>
          <p:nvPr/>
        </p:nvGrpSpPr>
        <p:grpSpPr bwMode="auto">
          <a:xfrm>
            <a:off x="9552340" y="3909654"/>
            <a:ext cx="2011920" cy="592667"/>
            <a:chOff x="-27549" y="20598"/>
            <a:chExt cx="2012196" cy="591792"/>
          </a:xfrm>
        </p:grpSpPr>
        <p:sp>
          <p:nvSpPr>
            <p:cNvPr id="18" name="AutoShape 9">
              <a:extLst>
                <a:ext uri="{FF2B5EF4-FFF2-40B4-BE49-F238E27FC236}">
                  <a16:creationId xmlns:a16="http://schemas.microsoft.com/office/drawing/2014/main" id="{E248657D-1458-4909-BCAE-C907AE0F9C0D}"/>
                </a:ext>
              </a:extLst>
            </p:cNvPr>
            <p:cNvSpPr>
              <a:spLocks/>
            </p:cNvSpPr>
            <p:nvPr/>
          </p:nvSpPr>
          <p:spPr bwMode="auto">
            <a:xfrm>
              <a:off x="549959" y="20598"/>
              <a:ext cx="1434688"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latin typeface="Century Gothic" panose="020B0502020202020204" pitchFamily="34" charset="0"/>
              </a:endParaRPr>
            </a:p>
          </p:txBody>
        </p:sp>
        <p:sp>
          <p:nvSpPr>
            <p:cNvPr id="19" name="Line 10">
              <a:extLst>
                <a:ext uri="{FF2B5EF4-FFF2-40B4-BE49-F238E27FC236}">
                  <a16:creationId xmlns:a16="http://schemas.microsoft.com/office/drawing/2014/main" id="{09E79C21-9730-4B35-B1C8-843A50358411}"/>
                </a:ext>
              </a:extLst>
            </p:cNvPr>
            <p:cNvSpPr>
              <a:spLocks noChangeShapeType="1"/>
            </p:cNvSpPr>
            <p:nvPr/>
          </p:nvSpPr>
          <p:spPr bwMode="auto">
            <a:xfrm flipH="1" flipV="1">
              <a:off x="-27549" y="318617"/>
              <a:ext cx="577507" cy="7431"/>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Century Gothic" panose="020B0502020202020204" pitchFamily="34" charset="0"/>
                <a:cs typeface="Helvetica" charset="0"/>
                <a:sym typeface="Helvetica" charset="0"/>
              </a:endParaRPr>
            </a:p>
          </p:txBody>
        </p:sp>
        <p:sp>
          <p:nvSpPr>
            <p:cNvPr id="20" name="AutoShape 11">
              <a:extLst>
                <a:ext uri="{FF2B5EF4-FFF2-40B4-BE49-F238E27FC236}">
                  <a16:creationId xmlns:a16="http://schemas.microsoft.com/office/drawing/2014/main" id="{D0CACD57-2A90-4531-965E-B80A3B1105B2}"/>
                </a:ext>
              </a:extLst>
            </p:cNvPr>
            <p:cNvSpPr>
              <a:spLocks/>
            </p:cNvSpPr>
            <p:nvPr/>
          </p:nvSpPr>
          <p:spPr bwMode="auto">
            <a:xfrm>
              <a:off x="549959" y="85075"/>
              <a:ext cx="1434688" cy="4216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dirty="0">
                  <a:solidFill>
                    <a:srgbClr val="404040"/>
                  </a:solidFill>
                  <a:latin typeface="Century Gothic" panose="020B0502020202020204" pitchFamily="34" charset="0"/>
                </a:rPr>
                <a:t>Ajusta por el principio de pertinencia</a:t>
              </a:r>
              <a:endParaRPr lang="es-ES" dirty="0">
                <a:latin typeface="Century Gothic" panose="020B0502020202020204" pitchFamily="34" charset="0"/>
              </a:endParaRPr>
            </a:p>
          </p:txBody>
        </p:sp>
      </p:grpSp>
      <p:sp>
        <p:nvSpPr>
          <p:cNvPr id="21" name="AutoShape 12">
            <a:extLst>
              <a:ext uri="{FF2B5EF4-FFF2-40B4-BE49-F238E27FC236}">
                <a16:creationId xmlns:a16="http://schemas.microsoft.com/office/drawing/2014/main" id="{0AB2EF50-16C8-4D4A-92FC-452F1F6D0547}"/>
              </a:ext>
            </a:extLst>
          </p:cNvPr>
          <p:cNvSpPr>
            <a:spLocks/>
          </p:cNvSpPr>
          <p:nvPr/>
        </p:nvSpPr>
        <p:spPr bwMode="auto">
          <a:xfrm>
            <a:off x="1499315" y="1808079"/>
            <a:ext cx="5403850" cy="304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lnSpc>
                <a:spcPct val="120000"/>
              </a:lnSpc>
            </a:pPr>
            <a:r>
              <a:rPr lang="es-ES" sz="1600" b="1" dirty="0">
                <a:solidFill>
                  <a:srgbClr val="800000"/>
                </a:solidFill>
                <a:latin typeface="Century Gothic" panose="020B0502020202020204" pitchFamily="34" charset="0"/>
                <a:cs typeface="Arial" charset="0"/>
                <a:sym typeface="Arial" charset="0"/>
              </a:rPr>
              <a:t>Estado de Resultados</a:t>
            </a:r>
            <a:endParaRPr lang="es-ES" sz="1600" b="1" dirty="0">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Ingresos</a:t>
            </a:r>
          </a:p>
          <a:p>
            <a:pPr lvl="1">
              <a:lnSpc>
                <a:spcPct val="120000"/>
              </a:lnSpc>
            </a:pPr>
            <a:r>
              <a:rPr lang="es-ES" sz="1600" dirty="0">
                <a:solidFill>
                  <a:schemeClr val="accent1"/>
                </a:solidFill>
                <a:latin typeface="Century Gothic" panose="020B0502020202020204" pitchFamily="34" charset="0"/>
                <a:cs typeface="Arial" charset="0"/>
                <a:sym typeface="Arial" charset="0"/>
              </a:rPr>
              <a:t>(-)  Costos de Ventas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Bruta</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Gastos </a:t>
            </a:r>
            <a:r>
              <a:rPr lang="es-ES" sz="1600" dirty="0" err="1">
                <a:solidFill>
                  <a:schemeClr val="accent1"/>
                </a:solidFill>
                <a:latin typeface="Century Gothic" panose="020B0502020202020204" pitchFamily="34" charset="0"/>
                <a:cs typeface="Arial" charset="0"/>
                <a:sym typeface="Arial" charset="0"/>
              </a:rPr>
              <a:t>AOM</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Depreciaciones &amp; Amortizaciones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EBIT</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Otros ingresos/Otros egresos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Antes de Impuestos</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Impuestos</a:t>
            </a:r>
          </a:p>
          <a:p>
            <a:pPr lvl="1">
              <a:lnSpc>
                <a:spcPct val="120000"/>
              </a:lnSpc>
            </a:pPr>
            <a:r>
              <a:rPr lang="es-ES" sz="1600" b="1" dirty="0">
                <a:solidFill>
                  <a:srgbClr val="800000"/>
                </a:solidFill>
                <a:latin typeface="Century Gothic" panose="020B0502020202020204" pitchFamily="34" charset="0"/>
                <a:cs typeface="Arial" charset="0"/>
                <a:sym typeface="Arial" charset="0"/>
              </a:rPr>
              <a:t>     Utilidad Neta</a:t>
            </a:r>
            <a:endParaRPr lang="es-ES" sz="1600" dirty="0">
              <a:latin typeface="Century Gothic" panose="020B0502020202020204" pitchFamily="34" charset="0"/>
            </a:endParaRPr>
          </a:p>
        </p:txBody>
      </p:sp>
      <p:sp>
        <p:nvSpPr>
          <p:cNvPr id="22" name="Line 13">
            <a:extLst>
              <a:ext uri="{FF2B5EF4-FFF2-40B4-BE49-F238E27FC236}">
                <a16:creationId xmlns:a16="http://schemas.microsoft.com/office/drawing/2014/main" id="{7F948A51-3689-49F4-AAB7-0943164E33E2}"/>
              </a:ext>
            </a:extLst>
          </p:cNvPr>
          <p:cNvSpPr>
            <a:spLocks noChangeShapeType="1"/>
          </p:cNvSpPr>
          <p:nvPr/>
        </p:nvSpPr>
        <p:spPr bwMode="auto">
          <a:xfrm flipV="1">
            <a:off x="1980327" y="2134764"/>
            <a:ext cx="3236441" cy="0"/>
          </a:xfrm>
          <a:prstGeom prst="line">
            <a:avLst/>
          </a:prstGeom>
          <a:noFill/>
          <a:ln w="28575"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3" name="Line 14">
            <a:extLst>
              <a:ext uri="{FF2B5EF4-FFF2-40B4-BE49-F238E27FC236}">
                <a16:creationId xmlns:a16="http://schemas.microsoft.com/office/drawing/2014/main" id="{48E6580B-A7DC-442B-8F03-7898164659B2}"/>
              </a:ext>
            </a:extLst>
          </p:cNvPr>
          <p:cNvSpPr>
            <a:spLocks noChangeShapeType="1"/>
          </p:cNvSpPr>
          <p:nvPr/>
        </p:nvSpPr>
        <p:spPr bwMode="auto">
          <a:xfrm>
            <a:off x="1980327" y="2755329"/>
            <a:ext cx="3232065" cy="19035"/>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4" name="Line 15">
            <a:extLst>
              <a:ext uri="{FF2B5EF4-FFF2-40B4-BE49-F238E27FC236}">
                <a16:creationId xmlns:a16="http://schemas.microsoft.com/office/drawing/2014/main" id="{587FAFE0-035A-4178-850C-0B77729D02A8}"/>
              </a:ext>
            </a:extLst>
          </p:cNvPr>
          <p:cNvSpPr>
            <a:spLocks noChangeShapeType="1"/>
          </p:cNvSpPr>
          <p:nvPr/>
        </p:nvSpPr>
        <p:spPr bwMode="auto">
          <a:xfrm flipV="1">
            <a:off x="2016841" y="3602791"/>
            <a:ext cx="3232065" cy="24501"/>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5" name="Line 16">
            <a:extLst>
              <a:ext uri="{FF2B5EF4-FFF2-40B4-BE49-F238E27FC236}">
                <a16:creationId xmlns:a16="http://schemas.microsoft.com/office/drawing/2014/main" id="{5785FD63-D41B-46BB-ACA3-3C024718DC88}"/>
              </a:ext>
            </a:extLst>
          </p:cNvPr>
          <p:cNvSpPr>
            <a:spLocks noChangeShapeType="1"/>
          </p:cNvSpPr>
          <p:nvPr/>
        </p:nvSpPr>
        <p:spPr bwMode="auto">
          <a:xfrm flipV="1">
            <a:off x="2016841" y="4181488"/>
            <a:ext cx="3232065"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6" name="Line 17">
            <a:extLst>
              <a:ext uri="{FF2B5EF4-FFF2-40B4-BE49-F238E27FC236}">
                <a16:creationId xmlns:a16="http://schemas.microsoft.com/office/drawing/2014/main" id="{D43C1828-2757-45F4-860C-8BB2FC846152}"/>
              </a:ext>
            </a:extLst>
          </p:cNvPr>
          <p:cNvSpPr>
            <a:spLocks noChangeShapeType="1"/>
          </p:cNvSpPr>
          <p:nvPr/>
        </p:nvSpPr>
        <p:spPr bwMode="auto">
          <a:xfrm>
            <a:off x="2016841" y="4772354"/>
            <a:ext cx="3195551"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7" name="AutoShape 18">
            <a:extLst>
              <a:ext uri="{FF2B5EF4-FFF2-40B4-BE49-F238E27FC236}">
                <a16:creationId xmlns:a16="http://schemas.microsoft.com/office/drawing/2014/main" id="{263612B4-87A7-4E3B-98B9-3598B1BEF3D0}"/>
              </a:ext>
            </a:extLst>
          </p:cNvPr>
          <p:cNvSpPr>
            <a:spLocks/>
          </p:cNvSpPr>
          <p:nvPr/>
        </p:nvSpPr>
        <p:spPr bwMode="auto">
          <a:xfrm rot="10800000" flipH="1">
            <a:off x="3023315" y="2791076"/>
            <a:ext cx="3513138" cy="9676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16816" y="0"/>
                </a:lnTo>
                <a:lnTo>
                  <a:pt x="16816" y="21599"/>
                </a:lnTo>
                <a:lnTo>
                  <a:pt x="21599" y="21599"/>
                </a:lnTo>
              </a:path>
            </a:pathLst>
          </a:custGeom>
          <a:noFill/>
          <a:ln w="25400" cap="flat" cmpd="sng">
            <a:solidFill>
              <a:srgbClr val="C00000"/>
            </a:solidFill>
            <a:prstDash val="solid"/>
            <a:round/>
            <a:headEnd/>
            <a:tailEnd type="triangle" w="med" len="med"/>
          </a:ln>
          <a:effectLst>
            <a:outerShdw blurRad="38100" dist="20000" dir="5400000" algn="ctr" rotWithShape="0">
              <a:srgbClr val="000000">
                <a:alpha val="37999"/>
              </a:srgbClr>
            </a:outerShdw>
          </a:effectLst>
          <a:extLst>
            <a:ext uri="{909E8E84-426E-40dd-AFC4-6F175D3DCCD1}">
              <a14:hiddenFill xmlns:a14="http://schemas.microsoft.com/office/drawing/2010/main" xmlns="">
                <a:solidFill>
                  <a:srgbClr val="FFFFFF"/>
                </a:solidFill>
              </a14:hiddenFill>
            </a:ext>
          </a:extLst>
        </p:spPr>
        <p:txBody>
          <a:bodyPr lIns="0" tIns="0" rIns="0" bIns="0" anchor="ctr"/>
          <a:lstStyle/>
          <a:p>
            <a:endParaRPr lang="es-ES"/>
          </a:p>
        </p:txBody>
      </p:sp>
      <p:grpSp>
        <p:nvGrpSpPr>
          <p:cNvPr id="28" name="Group 19">
            <a:extLst>
              <a:ext uri="{FF2B5EF4-FFF2-40B4-BE49-F238E27FC236}">
                <a16:creationId xmlns:a16="http://schemas.microsoft.com/office/drawing/2014/main" id="{A97BEFA3-859A-4CAD-831E-B2031B56659E}"/>
              </a:ext>
            </a:extLst>
          </p:cNvPr>
          <p:cNvGrpSpPr>
            <a:grpSpLocks/>
          </p:cNvGrpSpPr>
          <p:nvPr/>
        </p:nvGrpSpPr>
        <p:grpSpPr bwMode="auto">
          <a:xfrm>
            <a:off x="4279028" y="3895757"/>
            <a:ext cx="1865315" cy="1923831"/>
            <a:chOff x="0" y="-160233"/>
            <a:chExt cx="1865919" cy="1925196"/>
          </a:xfrm>
        </p:grpSpPr>
        <p:sp>
          <p:nvSpPr>
            <p:cNvPr id="29" name="AutoShape 20">
              <a:extLst>
                <a:ext uri="{FF2B5EF4-FFF2-40B4-BE49-F238E27FC236}">
                  <a16:creationId xmlns:a16="http://schemas.microsoft.com/office/drawing/2014/main" id="{B0DCA8CC-F8DD-4A20-ADCE-4B921B7BE6E5}"/>
                </a:ext>
              </a:extLst>
            </p:cNvPr>
            <p:cNvSpPr>
              <a:spLocks/>
            </p:cNvSpPr>
            <p:nvPr/>
          </p:nvSpPr>
          <p:spPr bwMode="auto">
            <a:xfrm>
              <a:off x="0" y="881726"/>
              <a:ext cx="1668950" cy="88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30" name="Line 21">
              <a:extLst>
                <a:ext uri="{FF2B5EF4-FFF2-40B4-BE49-F238E27FC236}">
                  <a16:creationId xmlns:a16="http://schemas.microsoft.com/office/drawing/2014/main" id="{30F96E37-4578-4D76-8629-E9BFD198A448}"/>
                </a:ext>
              </a:extLst>
            </p:cNvPr>
            <p:cNvSpPr>
              <a:spLocks noChangeShapeType="1"/>
            </p:cNvSpPr>
            <p:nvPr/>
          </p:nvSpPr>
          <p:spPr bwMode="auto">
            <a:xfrm flipV="1">
              <a:off x="933666" y="-160233"/>
              <a:ext cx="932253" cy="1048425"/>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31" name="AutoShape 22">
              <a:extLst>
                <a:ext uri="{FF2B5EF4-FFF2-40B4-BE49-F238E27FC236}">
                  <a16:creationId xmlns:a16="http://schemas.microsoft.com/office/drawing/2014/main" id="{A4E8CEF7-16A7-4A1D-9D8A-4B6D8CEC0C38}"/>
                </a:ext>
              </a:extLst>
            </p:cNvPr>
            <p:cNvSpPr>
              <a:spLocks/>
            </p:cNvSpPr>
            <p:nvPr/>
          </p:nvSpPr>
          <p:spPr bwMode="auto">
            <a:xfrm>
              <a:off x="0" y="1029974"/>
              <a:ext cx="1668950"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dirty="0">
                  <a:solidFill>
                    <a:srgbClr val="404040"/>
                  </a:solidFill>
                  <a:latin typeface="Century Gothic" panose="020B0502020202020204" pitchFamily="34" charset="0"/>
                </a:rPr>
                <a:t>Ajusta el principio de causación para que refleje el principio de caja</a:t>
              </a:r>
              <a:endParaRPr lang="es-ES" dirty="0">
                <a:latin typeface="Century Gothic" panose="020B0502020202020204" pitchFamily="34" charset="0"/>
              </a:endParaRPr>
            </a:p>
          </p:txBody>
        </p:sp>
      </p:grpSp>
      <p:sp>
        <p:nvSpPr>
          <p:cNvPr id="32" name="Rectángulo 31">
            <a:extLst>
              <a:ext uri="{FF2B5EF4-FFF2-40B4-BE49-F238E27FC236}">
                <a16:creationId xmlns:a16="http://schemas.microsoft.com/office/drawing/2014/main" id="{19F1C3A5-A8F4-465B-8CC6-6D3AC4653773}"/>
              </a:ext>
            </a:extLst>
          </p:cNvPr>
          <p:cNvSpPr/>
          <p:nvPr/>
        </p:nvSpPr>
        <p:spPr>
          <a:xfrm>
            <a:off x="1767011" y="6058936"/>
            <a:ext cx="7898318" cy="584775"/>
          </a:xfrm>
          <a:prstGeom prst="rect">
            <a:avLst/>
          </a:prstGeom>
          <a:solidFill>
            <a:srgbClr val="DFFFFF"/>
          </a:solidFill>
          <a:ln w="28575">
            <a:solidFill>
              <a:srgbClr val="0070C0"/>
            </a:solidFill>
          </a:ln>
        </p:spPr>
        <p:txBody>
          <a:bodyPr wrap="square">
            <a:spAutoFit/>
          </a:bodyPr>
          <a:lstStyle/>
          <a:p>
            <a:pPr algn="ctr">
              <a:spcBef>
                <a:spcPts val="400"/>
              </a:spcBef>
              <a:buClr>
                <a:srgbClr val="808080"/>
              </a:buClr>
              <a:buSzPct val="100000"/>
            </a:pPr>
            <a:r>
              <a:rPr lang="es-ES" sz="1600">
                <a:solidFill>
                  <a:schemeClr val="accent1"/>
                </a:solidFill>
                <a:latin typeface="Century Gothic" panose="020B0502020202020204" pitchFamily="34" charset="0"/>
                <a:sym typeface="Arial" charset="0"/>
              </a:rPr>
              <a:t>Este resultado sí representa las </a:t>
            </a:r>
            <a:r>
              <a:rPr lang="es-ES" sz="1600" b="1">
                <a:solidFill>
                  <a:srgbClr val="800000"/>
                </a:solidFill>
                <a:latin typeface="Century Gothic" panose="020B0502020202020204" pitchFamily="34" charset="0"/>
                <a:sym typeface="Arial" charset="0"/>
              </a:rPr>
              <a:t>entradas y salidas efectivas</a:t>
            </a:r>
            <a:r>
              <a:rPr lang="es-ES" sz="1600">
                <a:latin typeface="Century Gothic" panose="020B0502020202020204" pitchFamily="34" charset="0"/>
                <a:sym typeface="Arial" charset="0"/>
              </a:rPr>
              <a:t> </a:t>
            </a:r>
            <a:r>
              <a:rPr lang="es-ES" sz="1600">
                <a:solidFill>
                  <a:schemeClr val="accent1"/>
                </a:solidFill>
                <a:latin typeface="Century Gothic" panose="020B0502020202020204" pitchFamily="34" charset="0"/>
                <a:sym typeface="Arial" charset="0"/>
              </a:rPr>
              <a:t>de dinero, y da la información real sobre el desempeño de la operación de la compañía.</a:t>
            </a:r>
            <a:endParaRPr lang="es-ES" sz="1600">
              <a:solidFill>
                <a:schemeClr val="accent1"/>
              </a:solidFill>
              <a:latin typeface="Century Gothic" panose="020B0502020202020204" pitchFamily="34" charset="0"/>
            </a:endParaRPr>
          </a:p>
        </p:txBody>
      </p:sp>
      <p:cxnSp>
        <p:nvCxnSpPr>
          <p:cNvPr id="33" name="Conector recto 32">
            <a:extLst>
              <a:ext uri="{FF2B5EF4-FFF2-40B4-BE49-F238E27FC236}">
                <a16:creationId xmlns:a16="http://schemas.microsoft.com/office/drawing/2014/main" id="{2E9F8A88-7033-4E79-836A-38D5F8A3ACC3}"/>
              </a:ext>
            </a:extLst>
          </p:cNvPr>
          <p:cNvCxnSpPr/>
          <p:nvPr/>
        </p:nvCxnSpPr>
        <p:spPr>
          <a:xfrm>
            <a:off x="8765263" y="5343855"/>
            <a:ext cx="443869" cy="678095"/>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5EDF1856-C6F2-4239-B2B4-07818AB2A2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DE02BA4-74A6-4889-0C6E-AA5A874D6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F6656D9-F4F9-94DC-EEA1-70045695F4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561CEDC6-5834-7931-5B8F-0D2B898888C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60</a:t>
            </a:fld>
            <a:endParaRPr lang="en-US" sz="2000" b="1">
              <a:latin typeface="Century Gothic" panose="020B0502020202020204" pitchFamily="34" charset="0"/>
            </a:endParaRPr>
          </a:p>
        </p:txBody>
      </p:sp>
    </p:spTree>
    <p:extLst>
      <p:ext uri="{BB962C8B-B14F-4D97-AF65-F5344CB8AC3E}">
        <p14:creationId xmlns:p14="http://schemas.microsoft.com/office/powerpoint/2010/main" val="132566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33686888" presetClass="entr" presetSubtype="0" fill="hold" grpId="0" nodeType="click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33686888" presetClass="entr" presetSubtype="0" fill="hold" grpId="0" nodeType="clickEffect">
                                  <p:stCondLst>
                                    <p:cond delay="0"/>
                                  </p:stCondLst>
                                  <p:childTnLst>
                                    <p:set>
                                      <p:cBhvr>
                                        <p:cTn id="10"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33686888" presetClass="entr" presetSubtype="0" fill="hold" grpId="0" nodeType="clickEffect">
                                  <p:stCondLst>
                                    <p:cond delay="0"/>
                                  </p:stCondLst>
                                  <p:childTnLst>
                                    <p:set>
                                      <p:cBhvr>
                                        <p:cTn id="14" dur="1" fill="hold">
                                          <p:stCondLst>
                                            <p:cond delay="499"/>
                                          </p:stCondLst>
                                        </p:cTn>
                                        <p:tgtEl>
                                          <p:spTgt spid="7">
                                            <p:txEl>
                                              <p:pRg st="2" end="2"/>
                                            </p:txEl>
                                          </p:spTgt>
                                        </p:tgtEl>
                                        <p:attrNameLst>
                                          <p:attrName>style.visibility</p:attrName>
                                        </p:attrNameLst>
                                      </p:cBhvr>
                                      <p:to>
                                        <p:strVal val="visible"/>
                                      </p:to>
                                    </p:set>
                                  </p:childTnLst>
                                </p:cTn>
                              </p:par>
                            </p:childTnLst>
                          </p:cTn>
                        </p:par>
                        <p:par>
                          <p:cTn id="15" fill="hold">
                            <p:stCondLst>
                              <p:cond delay="500"/>
                            </p:stCondLst>
                            <p:childTnLst>
                              <p:par>
                                <p:cTn id="16" presetID="-2133686888" presetClass="entr" presetSubtype="0" fill="hold" nodeType="afterEffect">
                                  <p:stCondLst>
                                    <p:cond delay="0"/>
                                  </p:stCondLst>
                                  <p:childTnLst>
                                    <p:set>
                                      <p:cBhvr>
                                        <p:cTn id="17" dur="1" fill="hold">
                                          <p:stCondLst>
                                            <p:cond delay="499"/>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33686888" presetClass="entr" presetSubtype="0" fill="hold" grpId="0" nodeType="clickEffect">
                                  <p:stCondLst>
                                    <p:cond delay="0"/>
                                  </p:stCondLst>
                                  <p:childTnLst>
                                    <p:set>
                                      <p:cBhvr>
                                        <p:cTn id="21" dur="1" fill="hold">
                                          <p:stCondLst>
                                            <p:cond delay="499"/>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33686888" presetClass="entr" presetSubtype="0" fill="hold" grpId="0" nodeType="clickEffect">
                                  <p:stCondLst>
                                    <p:cond delay="0"/>
                                  </p:stCondLst>
                                  <p:childTnLst>
                                    <p:set>
                                      <p:cBhvr>
                                        <p:cTn id="25"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133686888" presetClass="entr" presetSubtype="0" fill="hold" grpId="0" nodeType="clickEffect">
                                  <p:stCondLst>
                                    <p:cond delay="0"/>
                                  </p:stCondLst>
                                  <p:childTnLst>
                                    <p:set>
                                      <p:cBhvr>
                                        <p:cTn id="29" dur="1" fill="hold">
                                          <p:stCondLst>
                                            <p:cond delay="499"/>
                                          </p:stCondLst>
                                        </p:cTn>
                                        <p:tgtEl>
                                          <p:spTgt spid="7">
                                            <p:txEl>
                                              <p:pRg st="6" end="6"/>
                                            </p:txEl>
                                          </p:spTgt>
                                        </p:tgtEl>
                                        <p:attrNameLst>
                                          <p:attrName>style.visibility</p:attrName>
                                        </p:attrNameLst>
                                      </p:cBhvr>
                                      <p:to>
                                        <p:strVal val="visible"/>
                                      </p:to>
                                    </p:set>
                                  </p:childTnLst>
                                </p:cTn>
                              </p:par>
                            </p:childTnLst>
                          </p:cTn>
                        </p:par>
                        <p:par>
                          <p:cTn id="30" fill="hold">
                            <p:stCondLst>
                              <p:cond delay="500"/>
                            </p:stCondLst>
                            <p:childTnLst>
                              <p:par>
                                <p:cTn id="31" presetID="-2133686888" presetClass="entr" presetSubtype="0" fill="hold" nodeType="afterEffect">
                                  <p:stCondLst>
                                    <p:cond delay="0"/>
                                  </p:stCondLst>
                                  <p:childTnLst>
                                    <p:set>
                                      <p:cBhvr>
                                        <p:cTn id="32" dur="1" fill="hold">
                                          <p:stCondLst>
                                            <p:cond delay="499"/>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133686888" presetClass="entr" presetSubtype="0" fill="hold" grpId="0" nodeType="clickEffect">
                                  <p:stCondLst>
                                    <p:cond delay="0"/>
                                  </p:stCondLst>
                                  <p:childTnLst>
                                    <p:set>
                                      <p:cBhvr>
                                        <p:cTn id="36" dur="1" fill="hold">
                                          <p:stCondLst>
                                            <p:cond delay="499"/>
                                          </p:stCondLst>
                                        </p:cTn>
                                        <p:tgtEl>
                                          <p:spTgt spid="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33686888" presetClass="entr" presetSubtype="0" fill="hold" nodeType="clickEffect">
                                  <p:stCondLst>
                                    <p:cond delay="0"/>
                                  </p:stCondLst>
                                  <p:childTnLst>
                                    <p:set>
                                      <p:cBhvr>
                                        <p:cTn id="40" dur="1" fill="hold">
                                          <p:stCondLst>
                                            <p:cond delay="499"/>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133686888" presetClass="entr" presetSubtype="0" fill="hold" grpId="0" nodeType="clickEffect">
                                  <p:stCondLst>
                                    <p:cond delay="0"/>
                                  </p:stCondLst>
                                  <p:childTnLst>
                                    <p:set>
                                      <p:cBhvr>
                                        <p:cTn id="44" dur="1" fill="hold">
                                          <p:stCondLst>
                                            <p:cond delay="499"/>
                                          </p:stCondLst>
                                        </p:cTn>
                                        <p:tgtEl>
                                          <p:spTgt spid="7">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33686888" presetClass="entr" presetSubtype="0" fill="hold" grpId="0" nodeType="clickEffect">
                                  <p:stCondLst>
                                    <p:cond delay="0"/>
                                  </p:stCondLst>
                                  <p:childTnLst>
                                    <p:set>
                                      <p:cBhvr>
                                        <p:cTn id="48" dur="1" fill="hold">
                                          <p:stCondLst>
                                            <p:cond delay="499"/>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133686888" presetClass="entr" presetSubtype="0" fill="hold" grpId="0" nodeType="clickEffect">
                                  <p:stCondLst>
                                    <p:cond delay="0"/>
                                  </p:stCondLst>
                                  <p:childTnLst>
                                    <p:set>
                                      <p:cBhvr>
                                        <p:cTn id="52" dur="1" fill="hold">
                                          <p:stCondLst>
                                            <p:cond delay="499"/>
                                          </p:stCondLst>
                                        </p:cTn>
                                        <p:tgtEl>
                                          <p:spTgt spid="7">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utoUpdateAnimBg="0"/>
      <p:bldP spid="11" grpId="0" animBg="1" autoUpdateAnimBg="0"/>
      <p:bldP spid="12" grpId="0" animBg="1" autoUpdateAnimBg="0"/>
      <p:bldP spid="27" grpId="0" animBg="1" autoUpdateAnimBg="0"/>
      <p:bldP spid="3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15" name="Marcador de contenido 2">
            <a:extLst>
              <a:ext uri="{FF2B5EF4-FFF2-40B4-BE49-F238E27FC236}">
                <a16:creationId xmlns:a16="http://schemas.microsoft.com/office/drawing/2014/main" id="{08821477-E518-41DF-A301-308E69BDC7E6}"/>
              </a:ext>
            </a:extLst>
          </p:cNvPr>
          <p:cNvSpPr>
            <a:spLocks noGrp="1"/>
          </p:cNvSpPr>
          <p:nvPr>
            <p:ph idx="1"/>
          </p:nvPr>
        </p:nvSpPr>
        <p:spPr>
          <a:xfrm>
            <a:off x="1149179" y="2155698"/>
            <a:ext cx="7053207" cy="3983001"/>
          </a:xfrm>
        </p:spPr>
        <p:txBody>
          <a:bodyPr>
            <a:normAutofit/>
          </a:bodyPr>
          <a:lstStyle/>
          <a:p>
            <a:pPr marL="0" indent="0" algn="ctr">
              <a:buNone/>
            </a:pPr>
            <a:r>
              <a:rPr lang="es-ES" dirty="0">
                <a:solidFill>
                  <a:schemeClr val="accent1"/>
                </a:solidFill>
                <a:latin typeface="Century Gothic" panose="020B0502020202020204" pitchFamily="34" charset="0"/>
              </a:rPr>
              <a:t>Obsérvese que el Flujo de Caja Libre (FCL) resulta después de deducir de los ingresos operacionales todos los costos y/o gastos operacionales, los impuestos y luego de hacer las correcciones por pertinencia, gastos no efectivos y causación.</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 otras palabras, es el flujo de caja que queda libre después de cubrir todas las necesidades de caja operativas, dejando lo restante para remunerar la </a:t>
            </a:r>
            <a:r>
              <a:rPr lang="es-ES" b="1" dirty="0">
                <a:solidFill>
                  <a:srgbClr val="C00000"/>
                </a:solidFill>
                <a:latin typeface="Century Gothic" panose="020B0502020202020204" pitchFamily="34" charset="0"/>
              </a:rPr>
              <a:t>DEUDA</a:t>
            </a:r>
            <a:r>
              <a:rPr lang="es-ES" dirty="0">
                <a:latin typeface="Century Gothic" panose="020B0502020202020204" pitchFamily="34" charset="0"/>
              </a:rPr>
              <a:t> </a:t>
            </a:r>
            <a:r>
              <a:rPr lang="es-ES" dirty="0">
                <a:solidFill>
                  <a:schemeClr val="accent1"/>
                </a:solidFill>
                <a:latin typeface="Century Gothic" panose="020B0502020202020204" pitchFamily="34" charset="0"/>
              </a:rPr>
              <a:t>y el </a:t>
            </a:r>
            <a:r>
              <a:rPr lang="es-ES" b="1" i="1" dirty="0">
                <a:solidFill>
                  <a:srgbClr val="C00000"/>
                </a:solidFill>
                <a:latin typeface="Century Gothic" panose="020B0502020202020204" pitchFamily="34" charset="0"/>
              </a:rPr>
              <a:t>EQUITY</a:t>
            </a:r>
            <a:r>
              <a:rPr lang="es-ES" dirty="0">
                <a:latin typeface="Century Gothic" panose="020B0502020202020204" pitchFamily="34" charset="0"/>
              </a:rPr>
              <a:t>.</a:t>
            </a:r>
          </a:p>
        </p:txBody>
      </p:sp>
      <p:sp>
        <p:nvSpPr>
          <p:cNvPr id="2" name="Rectángulo 1">
            <a:extLst>
              <a:ext uri="{FF2B5EF4-FFF2-40B4-BE49-F238E27FC236}">
                <a16:creationId xmlns:a16="http://schemas.microsoft.com/office/drawing/2014/main" id="{5B0480CE-05A7-57BE-517F-565BB38B5D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0166C5D8-C8A9-1523-D048-02EF8BFEB9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rea un fondo de inversión: ¿Se puede? - GENERAMÁS">
            <a:extLst>
              <a:ext uri="{FF2B5EF4-FFF2-40B4-BE49-F238E27FC236}">
                <a16:creationId xmlns:a16="http://schemas.microsoft.com/office/drawing/2014/main" id="{20936F7E-0248-E274-EF98-94A92EFF25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7946" y="2961224"/>
            <a:ext cx="2822447" cy="2180821"/>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1077781-3734-7FFE-563B-82A5F977F3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43E1B744-5397-56C8-CF4A-A2C1D03ECA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61</a:t>
            </a:fld>
            <a:endParaRPr lang="en-US" sz="2000" b="1">
              <a:latin typeface="Century Gothic" panose="020B0502020202020204" pitchFamily="34" charset="0"/>
            </a:endParaRPr>
          </a:p>
        </p:txBody>
      </p:sp>
    </p:spTree>
    <p:extLst>
      <p:ext uri="{BB962C8B-B14F-4D97-AF65-F5344CB8AC3E}">
        <p14:creationId xmlns:p14="http://schemas.microsoft.com/office/powerpoint/2010/main" val="325941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Impuestos</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4000342" y="5127933"/>
            <a:ext cx="4134556"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3" y="3185502"/>
            <a:ext cx="4035778"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5" name="Shape 78">
            <a:extLst>
              <a:ext uri="{FF2B5EF4-FFF2-40B4-BE49-F238E27FC236}">
                <a16:creationId xmlns:a16="http://schemas.microsoft.com/office/drawing/2014/main" id="{DF81CB1C-4A3C-4CD6-998D-00DE3E2D1A3B}"/>
              </a:ext>
            </a:extLst>
          </p:cNvPr>
          <p:cNvSpPr/>
          <p:nvPr/>
        </p:nvSpPr>
        <p:spPr>
          <a:xfrm>
            <a:off x="3897887" y="2553036"/>
            <a:ext cx="4237011" cy="573851"/>
          </a:xfrm>
          <a:prstGeom prst="roundRect">
            <a:avLst>
              <a:gd name="adj" fmla="val 19531"/>
            </a:avLst>
          </a:prstGeom>
          <a:blipFill>
            <a:blip r:embed="rId2">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2" name="Rectángulo 1">
            <a:extLst>
              <a:ext uri="{FF2B5EF4-FFF2-40B4-BE49-F238E27FC236}">
                <a16:creationId xmlns:a16="http://schemas.microsoft.com/office/drawing/2014/main" id="{3C119E13-613D-ACF5-9385-D08BEB0510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8417361E-A7B6-1526-84C1-AF196E60A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Protección al público inversor | Argentina.gob.ar">
            <a:extLst>
              <a:ext uri="{FF2B5EF4-FFF2-40B4-BE49-F238E27FC236}">
                <a16:creationId xmlns:a16="http://schemas.microsoft.com/office/drawing/2014/main" id="{452C9680-C348-0DD4-6133-977D63D5F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000" y="3067039"/>
            <a:ext cx="3091341" cy="2060894"/>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4A30C25-711E-2A3D-B9AF-052F49B220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4EC6A1C-DCF5-FCE1-7DB4-95EDB997CA8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62</a:t>
            </a:fld>
            <a:endParaRPr lang="en-US" sz="2000" b="1">
              <a:latin typeface="Century Gothic" panose="020B0502020202020204" pitchFamily="34" charset="0"/>
            </a:endParaRPr>
          </a:p>
        </p:txBody>
      </p:sp>
    </p:spTree>
    <p:extLst>
      <p:ext uri="{BB962C8B-B14F-4D97-AF65-F5344CB8AC3E}">
        <p14:creationId xmlns:p14="http://schemas.microsoft.com/office/powerpoint/2010/main" val="406938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134957" y="3342889"/>
            <a:ext cx="2695807" cy="2695807"/>
          </a:xfrm>
          <a:prstGeom prst="rect">
            <a:avLst/>
          </a:prstGeom>
        </p:spPr>
      </p:pic>
      <p:sp>
        <p:nvSpPr>
          <p:cNvPr id="10" name="Título 1">
            <a:extLst>
              <a:ext uri="{FF2B5EF4-FFF2-40B4-BE49-F238E27FC236}">
                <a16:creationId xmlns:a16="http://schemas.microsoft.com/office/drawing/2014/main" id="{71B4665E-5818-A201-3D91-B92FC5A0D1FE}"/>
              </a:ext>
            </a:extLst>
          </p:cNvPr>
          <p:cNvSpPr txBox="1">
            <a:spLocks/>
          </p:cNvSpPr>
          <p:nvPr/>
        </p:nvSpPr>
        <p:spPr>
          <a:xfrm>
            <a:off x="486108" y="1814732"/>
            <a:ext cx="10550396" cy="826833"/>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2" name="Rectángulo 1">
            <a:extLst>
              <a:ext uri="{FF2B5EF4-FFF2-40B4-BE49-F238E27FC236}">
                <a16:creationId xmlns:a16="http://schemas.microsoft.com/office/drawing/2014/main" id="{AD2D8E76-3089-95CB-65BF-2D71AD9839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CuadroTexto 3">
            <a:extLst>
              <a:ext uri="{FF2B5EF4-FFF2-40B4-BE49-F238E27FC236}">
                <a16:creationId xmlns:a16="http://schemas.microsoft.com/office/drawing/2014/main" id="{49A8C3A8-2EB9-80A7-6E38-729A4BF27A8D}"/>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1488</TotalTime>
  <Words>4809</Words>
  <Application>Microsoft Macintosh PowerPoint</Application>
  <PresentationFormat>Widescreen</PresentationFormat>
  <Paragraphs>862</Paragraphs>
  <Slides>63</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63</vt:i4>
      </vt:variant>
    </vt:vector>
  </HeadingPairs>
  <TitlesOfParts>
    <vt:vector size="72" baseType="lpstr">
      <vt:lpstr>Arial</vt:lpstr>
      <vt:lpstr>Calibri</vt:lpstr>
      <vt:lpstr>Century Gothic</vt:lpstr>
      <vt:lpstr>Courier New</vt:lpstr>
      <vt:lpstr>Gill Sans MT</vt:lpstr>
      <vt:lpstr>Helvetica</vt:lpstr>
      <vt:lpstr>Wingdings</vt:lpstr>
      <vt:lpstr>Wingdings 2</vt:lpstr>
      <vt:lpstr>Dividendo</vt:lpstr>
      <vt:lpstr>LA CONSTRUCCIÓN DEL FLUJO DE CAJA LIBRE DE UN PROYECTO (parte i)</vt:lpstr>
      <vt:lpstr>AGENDA PROPUESTA</vt:lpstr>
      <vt:lpstr>AGENDA PROPUESTA</vt:lpstr>
      <vt:lpstr>PowerPoint Presentation</vt:lpstr>
      <vt:lpstr>Construcción del flujo de caja libre</vt:lpstr>
      <vt:lpstr>Construcción del flujo de caja libre</vt:lpstr>
      <vt:lpstr>¿Qué es la contabilidad?</vt:lpstr>
      <vt:lpstr>AGENDA PROPUESTA</vt:lpstr>
      <vt:lpstr>¿Dónde se registra la contabilidad?</vt:lpstr>
      <vt:lpstr>LOS ESTADOS FINANCIEROS (E.E.F.F.)</vt:lpstr>
      <vt:lpstr>¿Qué es el ESTADO DE SITUACIÓN FINANCIERA?</vt:lpstr>
      <vt:lpstr>¿Qué es el ESTADO DE SITUACIÓN FINANCIERA?</vt:lpstr>
      <vt:lpstr>EL ESTADO DE SITUACIÓN FINANCIERA</vt:lpstr>
      <vt:lpstr>EL ESTADO DE SITUACIÓN FINANCIERA</vt:lpstr>
      <vt:lpstr>¿Qué es un activo?</vt:lpstr>
      <vt:lpstr>¿Cómo es la estructura del ESTADO DE SITUACIÓN FINANCIERA?</vt:lpstr>
      <vt:lpstr>¿Cómo es la estructura del ESTADO DE SITUACIÓN FINANCIERA?</vt:lpstr>
      <vt:lpstr>Activos Corrientes</vt:lpstr>
      <vt:lpstr>¿Cómo es la estructura del ESTADO DE SITUACIÓN FINANCIERA?</vt:lpstr>
      <vt:lpstr>Activos NO CORRIENTES</vt:lpstr>
      <vt:lpstr>Los Pasivos</vt:lpstr>
      <vt:lpstr>PowerPoint Presentation</vt:lpstr>
      <vt:lpstr>Los Pasivos</vt:lpstr>
      <vt:lpstr>El Patrimonio</vt:lpstr>
      <vt:lpstr>Los Pasivos</vt:lpstr>
      <vt:lpstr>El Patrimonio</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ESTADO DE RESULTADOS</vt:lpstr>
      <vt:lpstr>ESTADO DE RESULTADOS</vt:lpstr>
      <vt:lpstr>¿Cómo SE ESTIMA EL EFECTIVO?</vt:lpstr>
      <vt:lpstr>AGENDA PROPUESTA</vt:lpstr>
      <vt:lpstr>Principio de Causación vs. Caja</vt:lpstr>
      <vt:lpstr>Principio de Causación vs. Caja</vt:lpstr>
      <vt:lpstr>Principio de Causación vs. Caja</vt:lpstr>
      <vt:lpstr>Principio de Causación vs. Caja</vt:lpstr>
      <vt:lpstr>Principio de Causación vs. Caja</vt:lpstr>
      <vt:lpstr>AGENDA PROPUESTA</vt:lpstr>
      <vt:lpstr>Principio de Pertinencia</vt:lpstr>
      <vt:lpstr>Principio de Pertinencia</vt:lpstr>
      <vt:lpstr>Principio de Pertinencia</vt:lpstr>
      <vt:lpstr>Principio de Pertinencia</vt:lpstr>
      <vt:lpstr>AGENDA PROPUESTA</vt:lpstr>
      <vt:lpstr>GASTOS NO EFECTIVOS</vt:lpstr>
      <vt:lpstr>GASTOS NO EFECTIVOS</vt:lpstr>
      <vt:lpstr>GASTOS NO EFECTIVOS</vt:lpstr>
      <vt:lpstr>GASTOS NO EFECTIVOS</vt:lpstr>
      <vt:lpstr>AGENDA PROPUESTA</vt:lpstr>
      <vt:lpstr>FLUJO DE CAJA LIBRE (FCL)</vt:lpstr>
      <vt:lpstr>FLUJO DE CAJA LIBRE (FCL)</vt:lpstr>
      <vt:lpstr>FLUJO DE CAJA LIBRE (FCL)</vt:lpstr>
      <vt:lpstr>FLUJO DE CAJA LIBRE (FCL)</vt:lpstr>
      <vt:lpstr>FLUJO DE CAJA LIBRE (FCL)</vt:lpstr>
      <vt:lpstr>FLUJO DE CAJA LIBRE (FCL)</vt:lpstr>
      <vt:lpstr>FLUJO DE CAJA LIBRE (FCL)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6</cp:revision>
  <dcterms:created xsi:type="dcterms:W3CDTF">2019-06-20T04:25:04Z</dcterms:created>
  <dcterms:modified xsi:type="dcterms:W3CDTF">2026-02-26T15:03:08Z</dcterms:modified>
</cp:coreProperties>
</file>