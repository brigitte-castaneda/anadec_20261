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28"/>
  </p:notesMasterIdLst>
  <p:handoutMasterIdLst>
    <p:handoutMasterId r:id="rId29"/>
  </p:handoutMasterIdLst>
  <p:sldIdLst>
    <p:sldId id="398" r:id="rId2"/>
    <p:sldId id="354" r:id="rId3"/>
    <p:sldId id="776" r:id="rId4"/>
    <p:sldId id="715" r:id="rId5"/>
    <p:sldId id="672" r:id="rId6"/>
    <p:sldId id="766" r:id="rId7"/>
    <p:sldId id="756" r:id="rId8"/>
    <p:sldId id="757" r:id="rId9"/>
    <p:sldId id="758" r:id="rId10"/>
    <p:sldId id="759" r:id="rId11"/>
    <p:sldId id="767" r:id="rId12"/>
    <p:sldId id="762" r:id="rId13"/>
    <p:sldId id="777" r:id="rId14"/>
    <p:sldId id="763" r:id="rId15"/>
    <p:sldId id="764" r:id="rId16"/>
    <p:sldId id="768" r:id="rId17"/>
    <p:sldId id="778" r:id="rId18"/>
    <p:sldId id="760" r:id="rId19"/>
    <p:sldId id="771" r:id="rId20"/>
    <p:sldId id="769" r:id="rId21"/>
    <p:sldId id="770" r:id="rId22"/>
    <p:sldId id="772" r:id="rId23"/>
    <p:sldId id="773" r:id="rId24"/>
    <p:sldId id="774" r:id="rId25"/>
    <p:sldId id="775" r:id="rId26"/>
    <p:sldId id="76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C75"/>
    <a:srgbClr val="DFFFFF"/>
    <a:srgbClr val="A6DFBF"/>
    <a:srgbClr val="D7A700"/>
    <a:srgbClr val="485056"/>
    <a:srgbClr val="FF0000"/>
    <a:srgbClr val="FFEFEF"/>
    <a:srgbClr val="00B050"/>
    <a:srgbClr val="FAEEDA"/>
    <a:srgbClr val="F5DC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5ECF8E-DF0A-9023-30F2-0CE1EB4A9F20}" v="71" dt="2026-04-22T20:37:01.776"/>
    <p1510:client id="{96208A59-726D-6C49-A35A-A2F74615C46D}" v="1" dt="2026-04-23T15:42:33.20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33" autoAdjust="0"/>
    <p:restoredTop sz="94694"/>
  </p:normalViewPr>
  <p:slideViewPr>
    <p:cSldViewPr snapToGrid="0">
      <p:cViewPr varScale="1">
        <p:scale>
          <a:sx n="110" d="100"/>
          <a:sy n="110" d="100"/>
        </p:scale>
        <p:origin x="184"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gitte Castañeda Rodriguez" userId="S::k.castaneda@uniandes.edu.co::5c201908-82f6-498c-9281-7eaa96fb17b4" providerId="AD" clId="Web-{55B25B9A-74AC-E339-AEB3-F6263BBAC28D}"/>
    <pc:docChg chg="modSld">
      <pc:chgData name="Brigitte Castañeda Rodriguez" userId="S::k.castaneda@uniandes.edu.co::5c201908-82f6-498c-9281-7eaa96fb17b4" providerId="AD" clId="Web-{55B25B9A-74AC-E339-AEB3-F6263BBAC28D}" dt="2026-03-30T23:21:31.341" v="95" actId="14100"/>
      <pc:docMkLst>
        <pc:docMk/>
      </pc:docMkLst>
      <pc:sldChg chg="modSp">
        <pc:chgData name="Brigitte Castañeda Rodriguez" userId="S::k.castaneda@uniandes.edu.co::5c201908-82f6-498c-9281-7eaa96fb17b4" providerId="AD" clId="Web-{55B25B9A-74AC-E339-AEB3-F6263BBAC28D}" dt="2026-03-30T23:17:21.634" v="1" actId="20577"/>
        <pc:sldMkLst>
          <pc:docMk/>
          <pc:sldMk cId="2805089939" sldId="715"/>
        </pc:sldMkLst>
        <pc:spChg chg="mod">
          <ac:chgData name="Brigitte Castañeda Rodriguez" userId="S::k.castaneda@uniandes.edu.co::5c201908-82f6-498c-9281-7eaa96fb17b4" providerId="AD" clId="Web-{55B25B9A-74AC-E339-AEB3-F6263BBAC28D}" dt="2026-03-30T23:17:21.634" v="1" actId="20577"/>
          <ac:spMkLst>
            <pc:docMk/>
            <pc:sldMk cId="2805089939" sldId="715"/>
            <ac:spMk id="9" creationId="{292B7941-38ED-47B7-5F64-6CCA2A485D04}"/>
          </ac:spMkLst>
        </pc:spChg>
      </pc:sldChg>
      <pc:sldChg chg="modSp">
        <pc:chgData name="Brigitte Castañeda Rodriguez" userId="S::k.castaneda@uniandes.edu.co::5c201908-82f6-498c-9281-7eaa96fb17b4" providerId="AD" clId="Web-{55B25B9A-74AC-E339-AEB3-F6263BBAC28D}" dt="2026-03-30T23:19:29.276" v="21" actId="20577"/>
        <pc:sldMkLst>
          <pc:docMk/>
          <pc:sldMk cId="4227421044" sldId="759"/>
        </pc:sldMkLst>
        <pc:spChg chg="mod">
          <ac:chgData name="Brigitte Castañeda Rodriguez" userId="S::k.castaneda@uniandes.edu.co::5c201908-82f6-498c-9281-7eaa96fb17b4" providerId="AD" clId="Web-{55B25B9A-74AC-E339-AEB3-F6263BBAC28D}" dt="2026-03-30T23:19:29.276" v="21" actId="20577"/>
          <ac:spMkLst>
            <pc:docMk/>
            <pc:sldMk cId="4227421044" sldId="759"/>
            <ac:spMk id="9" creationId="{0EF9A41B-7C6E-7F2B-3FBE-2D8DF62188EE}"/>
          </ac:spMkLst>
        </pc:spChg>
      </pc:sldChg>
    </pc:docChg>
  </pc:docChgLst>
  <pc:docChgLst>
    <pc:chgData name="Brigitte Castañeda Rodriguez" userId="5c201908-82f6-498c-9281-7eaa96fb17b4" providerId="ADAL" clId="{96208A59-726D-6C49-A35A-A2F74615C46D}"/>
    <pc:docChg chg="custSel addSld modSld">
      <pc:chgData name="Brigitte Castañeda Rodriguez" userId="5c201908-82f6-498c-9281-7eaa96fb17b4" providerId="ADAL" clId="{96208A59-726D-6C49-A35A-A2F74615C46D}" dt="2026-04-23T15:42:38.509" v="35" actId="1076"/>
      <pc:docMkLst>
        <pc:docMk/>
      </pc:docMkLst>
      <pc:sldChg chg="addSp modSp new mod">
        <pc:chgData name="Brigitte Castañeda Rodriguez" userId="5c201908-82f6-498c-9281-7eaa96fb17b4" providerId="ADAL" clId="{96208A59-726D-6C49-A35A-A2F74615C46D}" dt="2026-04-23T15:42:38.509" v="35" actId="1076"/>
        <pc:sldMkLst>
          <pc:docMk/>
          <pc:sldMk cId="2655160125" sldId="778"/>
        </pc:sldMkLst>
        <pc:spChg chg="mod">
          <ac:chgData name="Brigitte Castañeda Rodriguez" userId="5c201908-82f6-498c-9281-7eaa96fb17b4" providerId="ADAL" clId="{96208A59-726D-6C49-A35A-A2F74615C46D}" dt="2026-04-23T15:42:04.275" v="25" actId="6549"/>
          <ac:spMkLst>
            <pc:docMk/>
            <pc:sldMk cId="2655160125" sldId="778"/>
            <ac:spMk id="2" creationId="{23136875-8418-02BE-6ACA-84CBCB473928}"/>
          </ac:spMkLst>
        </pc:spChg>
        <pc:spChg chg="mod">
          <ac:chgData name="Brigitte Castañeda Rodriguez" userId="5c201908-82f6-498c-9281-7eaa96fb17b4" providerId="ADAL" clId="{96208A59-726D-6C49-A35A-A2F74615C46D}" dt="2026-04-23T15:42:16.432" v="31" actId="403"/>
          <ac:spMkLst>
            <pc:docMk/>
            <pc:sldMk cId="2655160125" sldId="778"/>
            <ac:spMk id="3" creationId="{DC5E0704-DE1F-640C-B553-7AEEDF85D25E}"/>
          </ac:spMkLst>
        </pc:spChg>
        <pc:picChg chg="add mod">
          <ac:chgData name="Brigitte Castañeda Rodriguez" userId="5c201908-82f6-498c-9281-7eaa96fb17b4" providerId="ADAL" clId="{96208A59-726D-6C49-A35A-A2F74615C46D}" dt="2026-04-23T15:42:38.509" v="35" actId="1076"/>
          <ac:picMkLst>
            <pc:docMk/>
            <pc:sldMk cId="2655160125" sldId="778"/>
            <ac:picMk id="5" creationId="{FBC84C15-3B43-1E9A-F32F-35A34055BC7F}"/>
          </ac:picMkLst>
        </pc:picChg>
      </pc:sldChg>
    </pc:docChg>
  </pc:docChgLst>
  <pc:docChgLst>
    <pc:chgData name="Brigitte Castañeda Rodriguez" userId="5c201908-82f6-498c-9281-7eaa96fb17b4" providerId="ADAL" clId="{9298D172-BAEF-CF45-AE68-057F332F5223}"/>
    <pc:docChg chg="undo custSel addSld delSld modSld sldOrd">
      <pc:chgData name="Brigitte Castañeda Rodriguez" userId="5c201908-82f6-498c-9281-7eaa96fb17b4" providerId="ADAL" clId="{9298D172-BAEF-CF45-AE68-057F332F5223}" dt="2026-04-21T23:44:57.752" v="993" actId="1076"/>
      <pc:docMkLst>
        <pc:docMk/>
      </pc:docMkLst>
      <pc:sldChg chg="modSp add modAnim">
        <pc:chgData name="Brigitte Castañeda Rodriguez" userId="5c201908-82f6-498c-9281-7eaa96fb17b4" providerId="ADAL" clId="{9298D172-BAEF-CF45-AE68-057F332F5223}" dt="2026-04-21T23:43:31.994" v="971" actId="20577"/>
        <pc:sldMkLst>
          <pc:docMk/>
          <pc:sldMk cId="3254971150" sldId="354"/>
        </pc:sldMkLst>
        <pc:spChg chg="mod">
          <ac:chgData name="Brigitte Castañeda Rodriguez" userId="5c201908-82f6-498c-9281-7eaa96fb17b4" providerId="ADAL" clId="{9298D172-BAEF-CF45-AE68-057F332F5223}" dt="2026-04-21T23:43:31.994" v="971" actId="20577"/>
          <ac:spMkLst>
            <pc:docMk/>
            <pc:sldMk cId="3254971150" sldId="354"/>
            <ac:spMk id="23" creationId="{8F837980-0A38-47A1-8A30-C7AFF3A98D5A}"/>
          </ac:spMkLst>
        </pc:spChg>
      </pc:sldChg>
      <pc:sldChg chg="add del">
        <pc:chgData name="Brigitte Castañeda Rodriguez" userId="5c201908-82f6-498c-9281-7eaa96fb17b4" providerId="ADAL" clId="{9298D172-BAEF-CF45-AE68-057F332F5223}" dt="2026-04-21T23:43:52.714" v="975" actId="2696"/>
        <pc:sldMkLst>
          <pc:docMk/>
          <pc:sldMk cId="918560185" sldId="638"/>
        </pc:sldMkLst>
      </pc:sldChg>
      <pc:sldChg chg="modSp add mod modShow">
        <pc:chgData name="Brigitte Castañeda Rodriguez" userId="5c201908-82f6-498c-9281-7eaa96fb17b4" providerId="ADAL" clId="{9298D172-BAEF-CF45-AE68-057F332F5223}" dt="2026-04-21T22:57:58.218" v="81" actId="729"/>
        <pc:sldMkLst>
          <pc:docMk/>
          <pc:sldMk cId="2045831371" sldId="672"/>
        </pc:sldMkLst>
        <pc:spChg chg="mod">
          <ac:chgData name="Brigitte Castañeda Rodriguez" userId="5c201908-82f6-498c-9281-7eaa96fb17b4" providerId="ADAL" clId="{9298D172-BAEF-CF45-AE68-057F332F5223}" dt="2026-04-21T22:55:58.202" v="19" actId="20577"/>
          <ac:spMkLst>
            <pc:docMk/>
            <pc:sldMk cId="2045831371" sldId="672"/>
            <ac:spMk id="15" creationId="{33C625F0-3BAC-8365-39EC-535270FA3EA5}"/>
          </ac:spMkLst>
        </pc:spChg>
      </pc:sldChg>
      <pc:sldChg chg="modSp mod">
        <pc:chgData name="Brigitte Castañeda Rodriguez" userId="5c201908-82f6-498c-9281-7eaa96fb17b4" providerId="ADAL" clId="{9298D172-BAEF-CF45-AE68-057F332F5223}" dt="2026-04-21T21:10:46.722" v="3" actId="114"/>
        <pc:sldMkLst>
          <pc:docMk/>
          <pc:sldMk cId="2592680745" sldId="758"/>
        </pc:sldMkLst>
        <pc:spChg chg="mod">
          <ac:chgData name="Brigitte Castañeda Rodriguez" userId="5c201908-82f6-498c-9281-7eaa96fb17b4" providerId="ADAL" clId="{9298D172-BAEF-CF45-AE68-057F332F5223}" dt="2026-04-21T21:10:46.722" v="3" actId="114"/>
          <ac:spMkLst>
            <pc:docMk/>
            <pc:sldMk cId="2592680745" sldId="758"/>
            <ac:spMk id="13" creationId="{E0C49866-203B-8731-085E-E3C5291A3AB3}"/>
          </ac:spMkLst>
        </pc:spChg>
        <pc:spChg chg="mod">
          <ac:chgData name="Brigitte Castañeda Rodriguez" userId="5c201908-82f6-498c-9281-7eaa96fb17b4" providerId="ADAL" clId="{9298D172-BAEF-CF45-AE68-057F332F5223}" dt="2026-04-21T21:10:43.281" v="2" actId="114"/>
          <ac:spMkLst>
            <pc:docMk/>
            <pc:sldMk cId="2592680745" sldId="758"/>
            <ac:spMk id="14" creationId="{5E25B19E-7BE3-552F-D0F8-F0FAD5E310EB}"/>
          </ac:spMkLst>
        </pc:spChg>
      </pc:sldChg>
      <pc:sldChg chg="addSp delSp modSp mod delAnim modAnim">
        <pc:chgData name="Brigitte Castañeda Rodriguez" userId="5c201908-82f6-498c-9281-7eaa96fb17b4" providerId="ADAL" clId="{9298D172-BAEF-CF45-AE68-057F332F5223}" dt="2026-04-21T23:00:13.606" v="105" actId="1076"/>
        <pc:sldMkLst>
          <pc:docMk/>
          <pc:sldMk cId="4227421044" sldId="759"/>
        </pc:sldMkLst>
        <pc:spChg chg="add del mod">
          <ac:chgData name="Brigitte Castañeda Rodriguez" userId="5c201908-82f6-498c-9281-7eaa96fb17b4" providerId="ADAL" clId="{9298D172-BAEF-CF45-AE68-057F332F5223}" dt="2026-04-21T22:59:52.986" v="99"/>
          <ac:spMkLst>
            <pc:docMk/>
            <pc:sldMk cId="4227421044" sldId="759"/>
            <ac:spMk id="3" creationId="{E49FB82C-1F76-91B3-4BED-5DFF5DABFA0E}"/>
          </ac:spMkLst>
        </pc:spChg>
        <pc:spChg chg="add mod">
          <ac:chgData name="Brigitte Castañeda Rodriguez" userId="5c201908-82f6-498c-9281-7eaa96fb17b4" providerId="ADAL" clId="{9298D172-BAEF-CF45-AE68-057F332F5223}" dt="2026-04-21T22:59:46.472" v="95" actId="1076"/>
          <ac:spMkLst>
            <pc:docMk/>
            <pc:sldMk cId="4227421044" sldId="759"/>
            <ac:spMk id="7" creationId="{4F495A52-EBC1-0DA0-B457-7394D1748F92}"/>
          </ac:spMkLst>
        </pc:spChg>
        <pc:spChg chg="add mod">
          <ac:chgData name="Brigitte Castañeda Rodriguez" userId="5c201908-82f6-498c-9281-7eaa96fb17b4" providerId="ADAL" clId="{9298D172-BAEF-CF45-AE68-057F332F5223}" dt="2026-04-21T22:59:49.317" v="96" actId="1076"/>
          <ac:spMkLst>
            <pc:docMk/>
            <pc:sldMk cId="4227421044" sldId="759"/>
            <ac:spMk id="8" creationId="{26A1B8E4-8358-D42F-8239-8FD0C3995B66}"/>
          </ac:spMkLst>
        </pc:spChg>
        <pc:spChg chg="mod">
          <ac:chgData name="Brigitte Castañeda Rodriguez" userId="5c201908-82f6-498c-9281-7eaa96fb17b4" providerId="ADAL" clId="{9298D172-BAEF-CF45-AE68-057F332F5223}" dt="2026-04-21T22:58:54.164" v="86"/>
          <ac:spMkLst>
            <pc:docMk/>
            <pc:sldMk cId="4227421044" sldId="759"/>
            <ac:spMk id="9" creationId="{0EF9A41B-7C6E-7F2B-3FBE-2D8DF62188EE}"/>
          </ac:spMkLst>
        </pc:spChg>
        <pc:spChg chg="add mod">
          <ac:chgData name="Brigitte Castañeda Rodriguez" userId="5c201908-82f6-498c-9281-7eaa96fb17b4" providerId="ADAL" clId="{9298D172-BAEF-CF45-AE68-057F332F5223}" dt="2026-04-21T22:59:58.939" v="102" actId="14100"/>
          <ac:spMkLst>
            <pc:docMk/>
            <pc:sldMk cId="4227421044" sldId="759"/>
            <ac:spMk id="14" creationId="{A9BE58E7-0FCC-7897-CDCB-0FEEDB4BB78F}"/>
          </ac:spMkLst>
        </pc:spChg>
        <pc:spChg chg="add mod">
          <ac:chgData name="Brigitte Castañeda Rodriguez" userId="5c201908-82f6-498c-9281-7eaa96fb17b4" providerId="ADAL" clId="{9298D172-BAEF-CF45-AE68-057F332F5223}" dt="2026-04-21T22:59:43.875" v="94" actId="1076"/>
          <ac:spMkLst>
            <pc:docMk/>
            <pc:sldMk cId="4227421044" sldId="759"/>
            <ac:spMk id="15" creationId="{74388B8B-0F38-AD4D-2563-B715C8B8FFB8}"/>
          </ac:spMkLst>
        </pc:spChg>
        <pc:grpChg chg="add mod">
          <ac:chgData name="Brigitte Castañeda Rodriguez" userId="5c201908-82f6-498c-9281-7eaa96fb17b4" providerId="ADAL" clId="{9298D172-BAEF-CF45-AE68-057F332F5223}" dt="2026-04-21T23:00:13.606" v="105" actId="1076"/>
          <ac:grpSpMkLst>
            <pc:docMk/>
            <pc:sldMk cId="4227421044" sldId="759"/>
            <ac:grpSpMk id="24" creationId="{D0321C68-0E3F-B3ED-CEC9-E8FAC223FCDC}"/>
          </ac:grpSpMkLst>
        </pc:grpChg>
        <pc:cxnChg chg="add mod">
          <ac:chgData name="Brigitte Castañeda Rodriguez" userId="5c201908-82f6-498c-9281-7eaa96fb17b4" providerId="ADAL" clId="{9298D172-BAEF-CF45-AE68-057F332F5223}" dt="2026-04-21T22:59:49.317" v="96" actId="1076"/>
          <ac:cxnSpMkLst>
            <pc:docMk/>
            <pc:sldMk cId="4227421044" sldId="759"/>
            <ac:cxnSpMk id="11" creationId="{519B7635-950F-1E09-450A-F3DC487083AB}"/>
          </ac:cxnSpMkLst>
        </pc:cxnChg>
        <pc:cxnChg chg="add mod">
          <ac:chgData name="Brigitte Castañeda Rodriguez" userId="5c201908-82f6-498c-9281-7eaa96fb17b4" providerId="ADAL" clId="{9298D172-BAEF-CF45-AE68-057F332F5223}" dt="2026-04-21T22:59:58.939" v="102" actId="14100"/>
          <ac:cxnSpMkLst>
            <pc:docMk/>
            <pc:sldMk cId="4227421044" sldId="759"/>
            <ac:cxnSpMk id="13" creationId="{22FAD19C-D240-D0E6-697C-D9A099B69563}"/>
          </ac:cxnSpMkLst>
        </pc:cxnChg>
        <pc:cxnChg chg="add mod">
          <ac:chgData name="Brigitte Castañeda Rodriguez" userId="5c201908-82f6-498c-9281-7eaa96fb17b4" providerId="ADAL" clId="{9298D172-BAEF-CF45-AE68-057F332F5223}" dt="2026-04-21T22:59:49.317" v="96" actId="1076"/>
          <ac:cxnSpMkLst>
            <pc:docMk/>
            <pc:sldMk cId="4227421044" sldId="759"/>
            <ac:cxnSpMk id="16" creationId="{B8E05C13-2738-A37B-CBE2-20B6E66A3EF3}"/>
          </ac:cxnSpMkLst>
        </pc:cxnChg>
      </pc:sldChg>
      <pc:sldChg chg="modSp mod ord">
        <pc:chgData name="Brigitte Castañeda Rodriguez" userId="5c201908-82f6-498c-9281-7eaa96fb17b4" providerId="ADAL" clId="{9298D172-BAEF-CF45-AE68-057F332F5223}" dt="2026-04-21T23:16:18.575" v="406" actId="6549"/>
        <pc:sldMkLst>
          <pc:docMk/>
          <pc:sldMk cId="397830009" sldId="760"/>
        </pc:sldMkLst>
        <pc:spChg chg="mod">
          <ac:chgData name="Brigitte Castañeda Rodriguez" userId="5c201908-82f6-498c-9281-7eaa96fb17b4" providerId="ADAL" clId="{9298D172-BAEF-CF45-AE68-057F332F5223}" dt="2026-04-21T23:16:18.575" v="406" actId="6549"/>
          <ac:spMkLst>
            <pc:docMk/>
            <pc:sldMk cId="397830009" sldId="760"/>
            <ac:spMk id="11" creationId="{D31B00E1-3459-0CE2-CD14-CA987B78A270}"/>
          </ac:spMkLst>
        </pc:spChg>
      </pc:sldChg>
      <pc:sldChg chg="addSp delSp modSp del mod ord">
        <pc:chgData name="Brigitte Castañeda Rodriguez" userId="5c201908-82f6-498c-9281-7eaa96fb17b4" providerId="ADAL" clId="{9298D172-BAEF-CF45-AE68-057F332F5223}" dt="2026-04-21T23:12:08.605" v="347" actId="2696"/>
        <pc:sldMkLst>
          <pc:docMk/>
          <pc:sldMk cId="2044364447" sldId="761"/>
        </pc:sldMkLst>
        <pc:spChg chg="mod">
          <ac:chgData name="Brigitte Castañeda Rodriguez" userId="5c201908-82f6-498c-9281-7eaa96fb17b4" providerId="ADAL" clId="{9298D172-BAEF-CF45-AE68-057F332F5223}" dt="2026-04-21T23:05:27.191" v="168" actId="1076"/>
          <ac:spMkLst>
            <pc:docMk/>
            <pc:sldMk cId="2044364447" sldId="761"/>
            <ac:spMk id="8" creationId="{81A587E4-60CF-69B3-3B31-6E3667A84606}"/>
          </ac:spMkLst>
        </pc:spChg>
        <pc:graphicFrameChg chg="del">
          <ac:chgData name="Brigitte Castañeda Rodriguez" userId="5c201908-82f6-498c-9281-7eaa96fb17b4" providerId="ADAL" clId="{9298D172-BAEF-CF45-AE68-057F332F5223}" dt="2026-04-21T23:04:31.620" v="159" actId="478"/>
          <ac:graphicFrameMkLst>
            <pc:docMk/>
            <pc:sldMk cId="2044364447" sldId="761"/>
            <ac:graphicFrameMk id="7" creationId="{29B60057-1E22-3672-67A1-B660949967E3}"/>
          </ac:graphicFrameMkLst>
        </pc:graphicFrameChg>
        <pc:graphicFrameChg chg="add mod modGraphic">
          <ac:chgData name="Brigitte Castañeda Rodriguez" userId="5c201908-82f6-498c-9281-7eaa96fb17b4" providerId="ADAL" clId="{9298D172-BAEF-CF45-AE68-057F332F5223}" dt="2026-04-21T23:04:51.453" v="167" actId="1076"/>
          <ac:graphicFrameMkLst>
            <pc:docMk/>
            <pc:sldMk cId="2044364447" sldId="761"/>
            <ac:graphicFrameMk id="9" creationId="{6F1CCBF5-E3C3-5EC9-6B16-17CAE8A45B6A}"/>
          </ac:graphicFrameMkLst>
        </pc:graphicFrameChg>
      </pc:sldChg>
      <pc:sldChg chg="modSp mod">
        <pc:chgData name="Brigitte Castañeda Rodriguez" userId="5c201908-82f6-498c-9281-7eaa96fb17b4" providerId="ADAL" clId="{9298D172-BAEF-CF45-AE68-057F332F5223}" dt="2026-04-21T21:11:39.894" v="4"/>
        <pc:sldMkLst>
          <pc:docMk/>
          <pc:sldMk cId="2086598530" sldId="762"/>
        </pc:sldMkLst>
        <pc:spChg chg="mod">
          <ac:chgData name="Brigitte Castañeda Rodriguez" userId="5c201908-82f6-498c-9281-7eaa96fb17b4" providerId="ADAL" clId="{9298D172-BAEF-CF45-AE68-057F332F5223}" dt="2026-04-21T21:11:39.894" v="4"/>
          <ac:spMkLst>
            <pc:docMk/>
            <pc:sldMk cId="2086598530" sldId="762"/>
            <ac:spMk id="3" creationId="{7208269F-FC9B-50EF-271D-857DB59E61F9}"/>
          </ac:spMkLst>
        </pc:spChg>
      </pc:sldChg>
      <pc:sldChg chg="modSp mod ord">
        <pc:chgData name="Brigitte Castañeda Rodriguez" userId="5c201908-82f6-498c-9281-7eaa96fb17b4" providerId="ADAL" clId="{9298D172-BAEF-CF45-AE68-057F332F5223}" dt="2026-04-21T23:02:24.900" v="152" actId="113"/>
        <pc:sldMkLst>
          <pc:docMk/>
          <pc:sldMk cId="1818506698" sldId="763"/>
        </pc:sldMkLst>
        <pc:spChg chg="mod">
          <ac:chgData name="Brigitte Castañeda Rodriguez" userId="5c201908-82f6-498c-9281-7eaa96fb17b4" providerId="ADAL" clId="{9298D172-BAEF-CF45-AE68-057F332F5223}" dt="2026-04-21T23:02:03.827" v="150" actId="20577"/>
          <ac:spMkLst>
            <pc:docMk/>
            <pc:sldMk cId="1818506698" sldId="763"/>
            <ac:spMk id="6" creationId="{E105B83C-2D47-6A6E-7A9D-E2D0C6E3A34F}"/>
          </ac:spMkLst>
        </pc:spChg>
        <pc:spChg chg="mod">
          <ac:chgData name="Brigitte Castañeda Rodriguez" userId="5c201908-82f6-498c-9281-7eaa96fb17b4" providerId="ADAL" clId="{9298D172-BAEF-CF45-AE68-057F332F5223}" dt="2026-04-21T23:02:24.900" v="152" actId="113"/>
          <ac:spMkLst>
            <pc:docMk/>
            <pc:sldMk cId="1818506698" sldId="763"/>
            <ac:spMk id="7" creationId="{4AC594CF-9EA9-429F-4B4C-26A8D40E2230}"/>
          </ac:spMkLst>
        </pc:spChg>
      </pc:sldChg>
      <pc:sldChg chg="modSp mod ord">
        <pc:chgData name="Brigitte Castañeda Rodriguez" userId="5c201908-82f6-498c-9281-7eaa96fb17b4" providerId="ADAL" clId="{9298D172-BAEF-CF45-AE68-057F332F5223}" dt="2026-04-21T23:02:46.542" v="154"/>
        <pc:sldMkLst>
          <pc:docMk/>
          <pc:sldMk cId="487855243" sldId="764"/>
        </pc:sldMkLst>
        <pc:spChg chg="mod">
          <ac:chgData name="Brigitte Castañeda Rodriguez" userId="5c201908-82f6-498c-9281-7eaa96fb17b4" providerId="ADAL" clId="{9298D172-BAEF-CF45-AE68-057F332F5223}" dt="2026-04-21T23:02:40.851" v="153"/>
          <ac:spMkLst>
            <pc:docMk/>
            <pc:sldMk cId="487855243" sldId="764"/>
            <ac:spMk id="6" creationId="{96AD9209-FD6C-CAE1-F48C-E8C77242A8DE}"/>
          </ac:spMkLst>
        </pc:spChg>
        <pc:spChg chg="mod">
          <ac:chgData name="Brigitte Castañeda Rodriguez" userId="5c201908-82f6-498c-9281-7eaa96fb17b4" providerId="ADAL" clId="{9298D172-BAEF-CF45-AE68-057F332F5223}" dt="2026-04-21T23:02:46.542" v="154"/>
          <ac:spMkLst>
            <pc:docMk/>
            <pc:sldMk cId="487855243" sldId="764"/>
            <ac:spMk id="7" creationId="{E0D99ECF-68C9-CEE7-0C82-A0E7A61D1BD3}"/>
          </ac:spMkLst>
        </pc:spChg>
      </pc:sldChg>
      <pc:sldChg chg="add mod modShow">
        <pc:chgData name="Brigitte Castañeda Rodriguez" userId="5c201908-82f6-498c-9281-7eaa96fb17b4" providerId="ADAL" clId="{9298D172-BAEF-CF45-AE68-057F332F5223}" dt="2026-04-21T22:57:59.815" v="82" actId="729"/>
        <pc:sldMkLst>
          <pc:docMk/>
          <pc:sldMk cId="3490314683" sldId="766"/>
        </pc:sldMkLst>
      </pc:sldChg>
      <pc:sldChg chg="delSp modSp add mod modAnim">
        <pc:chgData name="Brigitte Castañeda Rodriguez" userId="5c201908-82f6-498c-9281-7eaa96fb17b4" providerId="ADAL" clId="{9298D172-BAEF-CF45-AE68-057F332F5223}" dt="2026-04-21T23:00:20.601" v="107" actId="6549"/>
        <pc:sldMkLst>
          <pc:docMk/>
          <pc:sldMk cId="2714612873" sldId="767"/>
        </pc:sldMkLst>
        <pc:spChg chg="mod">
          <ac:chgData name="Brigitte Castañeda Rodriguez" userId="5c201908-82f6-498c-9281-7eaa96fb17b4" providerId="ADAL" clId="{9298D172-BAEF-CF45-AE68-057F332F5223}" dt="2026-04-21T23:00:20.601" v="107" actId="6549"/>
          <ac:spMkLst>
            <pc:docMk/>
            <pc:sldMk cId="2714612873" sldId="767"/>
            <ac:spMk id="9" creationId="{BFF39BFA-82BE-E772-6A92-632217C628D7}"/>
          </ac:spMkLst>
        </pc:spChg>
        <pc:spChg chg="del">
          <ac:chgData name="Brigitte Castañeda Rodriguez" userId="5c201908-82f6-498c-9281-7eaa96fb17b4" providerId="ADAL" clId="{9298D172-BAEF-CF45-AE68-057F332F5223}" dt="2026-04-21T23:00:18.901" v="106" actId="478"/>
          <ac:spMkLst>
            <pc:docMk/>
            <pc:sldMk cId="2714612873" sldId="767"/>
            <ac:spMk id="12" creationId="{4896C1FC-96E4-6A41-10F9-47384562CC4D}"/>
          </ac:spMkLst>
        </pc:spChg>
      </pc:sldChg>
      <pc:sldChg chg="addSp delSp modSp add mod delAnim modAnim">
        <pc:chgData name="Brigitte Castañeda Rodriguez" userId="5c201908-82f6-498c-9281-7eaa96fb17b4" providerId="ADAL" clId="{9298D172-BAEF-CF45-AE68-057F332F5223}" dt="2026-04-21T23:43:05.275" v="969" actId="12385"/>
        <pc:sldMkLst>
          <pc:docMk/>
          <pc:sldMk cId="262275382" sldId="768"/>
        </pc:sldMkLst>
        <pc:spChg chg="mod">
          <ac:chgData name="Brigitte Castañeda Rodriguez" userId="5c201908-82f6-498c-9281-7eaa96fb17b4" providerId="ADAL" clId="{9298D172-BAEF-CF45-AE68-057F332F5223}" dt="2026-04-21T23:13:45.362" v="369" actId="27636"/>
          <ac:spMkLst>
            <pc:docMk/>
            <pc:sldMk cId="262275382" sldId="768"/>
            <ac:spMk id="3" creationId="{4CDB0758-0631-7EB2-F392-E9E2266DD9A6}"/>
          </ac:spMkLst>
        </pc:spChg>
        <pc:spChg chg="del mod">
          <ac:chgData name="Brigitte Castañeda Rodriguez" userId="5c201908-82f6-498c-9281-7eaa96fb17b4" providerId="ADAL" clId="{9298D172-BAEF-CF45-AE68-057F332F5223}" dt="2026-04-21T23:06:34.768" v="174" actId="478"/>
          <ac:spMkLst>
            <pc:docMk/>
            <pc:sldMk cId="262275382" sldId="768"/>
            <ac:spMk id="8" creationId="{24F3F589-343C-F282-3FB4-2DCE575C4C62}"/>
          </ac:spMkLst>
        </pc:spChg>
        <pc:spChg chg="add del mod">
          <ac:chgData name="Brigitte Castañeda Rodriguez" userId="5c201908-82f6-498c-9281-7eaa96fb17b4" providerId="ADAL" clId="{9298D172-BAEF-CF45-AE68-057F332F5223}" dt="2026-04-21T23:09:46.397" v="285"/>
          <ac:spMkLst>
            <pc:docMk/>
            <pc:sldMk cId="262275382" sldId="768"/>
            <ac:spMk id="12" creationId="{276E0653-43C1-789E-6223-2761C1845A8B}"/>
          </ac:spMkLst>
        </pc:spChg>
        <pc:graphicFrameChg chg="add mod modGraphic">
          <ac:chgData name="Brigitte Castañeda Rodriguez" userId="5c201908-82f6-498c-9281-7eaa96fb17b4" providerId="ADAL" clId="{9298D172-BAEF-CF45-AE68-057F332F5223}" dt="2026-04-21T23:12:17.314" v="348" actId="1076"/>
          <ac:graphicFrameMkLst>
            <pc:docMk/>
            <pc:sldMk cId="262275382" sldId="768"/>
            <ac:graphicFrameMk id="7" creationId="{D29629F8-8E1D-0E17-FF06-B5411E2FD11F}"/>
          </ac:graphicFrameMkLst>
        </pc:graphicFrameChg>
        <pc:graphicFrameChg chg="modGraphic">
          <ac:chgData name="Brigitte Castañeda Rodriguez" userId="5c201908-82f6-498c-9281-7eaa96fb17b4" providerId="ADAL" clId="{9298D172-BAEF-CF45-AE68-057F332F5223}" dt="2026-04-21T23:43:05.275" v="969" actId="12385"/>
          <ac:graphicFrameMkLst>
            <pc:docMk/>
            <pc:sldMk cId="262275382" sldId="768"/>
            <ac:graphicFrameMk id="9" creationId="{10249874-A05E-5109-DC58-B5C5E770A5B6}"/>
          </ac:graphicFrameMkLst>
        </pc:graphicFrameChg>
        <pc:graphicFrameChg chg="add del mod">
          <ac:chgData name="Brigitte Castañeda Rodriguez" userId="5c201908-82f6-498c-9281-7eaa96fb17b4" providerId="ADAL" clId="{9298D172-BAEF-CF45-AE68-057F332F5223}" dt="2026-04-21T23:09:38.050" v="281" actId="478"/>
          <ac:graphicFrameMkLst>
            <pc:docMk/>
            <pc:sldMk cId="262275382" sldId="768"/>
            <ac:graphicFrameMk id="11" creationId="{E0780972-5ADF-7CF3-77C4-A0204E7EC9DF}"/>
          </ac:graphicFrameMkLst>
        </pc:graphicFrameChg>
        <pc:graphicFrameChg chg="add del mod">
          <ac:chgData name="Brigitte Castañeda Rodriguez" userId="5c201908-82f6-498c-9281-7eaa96fb17b4" providerId="ADAL" clId="{9298D172-BAEF-CF45-AE68-057F332F5223}" dt="2026-04-21T23:09:51.344" v="286" actId="478"/>
          <ac:graphicFrameMkLst>
            <pc:docMk/>
            <pc:sldMk cId="262275382" sldId="768"/>
            <ac:graphicFrameMk id="13" creationId="{181DFCEA-23D2-B766-8865-3C1EBFF0C024}"/>
          </ac:graphicFrameMkLst>
        </pc:graphicFrameChg>
        <pc:graphicFrameChg chg="add del mod modGraphic">
          <ac:chgData name="Brigitte Castañeda Rodriguez" userId="5c201908-82f6-498c-9281-7eaa96fb17b4" providerId="ADAL" clId="{9298D172-BAEF-CF45-AE68-057F332F5223}" dt="2026-04-21T23:12:19.157" v="349" actId="1076"/>
          <ac:graphicFrameMkLst>
            <pc:docMk/>
            <pc:sldMk cId="262275382" sldId="768"/>
            <ac:graphicFrameMk id="14" creationId="{11371E07-214E-8CF4-5618-9118148CA269}"/>
          </ac:graphicFrameMkLst>
        </pc:graphicFrameChg>
        <pc:graphicFrameChg chg="add mod">
          <ac:chgData name="Brigitte Castañeda Rodriguez" userId="5c201908-82f6-498c-9281-7eaa96fb17b4" providerId="ADAL" clId="{9298D172-BAEF-CF45-AE68-057F332F5223}" dt="2026-04-21T23:10:01.356" v="288"/>
          <ac:graphicFrameMkLst>
            <pc:docMk/>
            <pc:sldMk cId="262275382" sldId="768"/>
            <ac:graphicFrameMk id="15" creationId="{0C363CFA-E476-2552-4BE4-B50DC7E98DEA}"/>
          </ac:graphicFrameMkLst>
        </pc:graphicFrameChg>
      </pc:sldChg>
      <pc:sldChg chg="addSp delSp modSp new mod">
        <pc:chgData name="Brigitte Castañeda Rodriguez" userId="5c201908-82f6-498c-9281-7eaa96fb17b4" providerId="ADAL" clId="{9298D172-BAEF-CF45-AE68-057F332F5223}" dt="2026-04-21T23:25:34.983" v="573" actId="20577"/>
        <pc:sldMkLst>
          <pc:docMk/>
          <pc:sldMk cId="1810554697" sldId="769"/>
        </pc:sldMkLst>
        <pc:spChg chg="mod">
          <ac:chgData name="Brigitte Castañeda Rodriguez" userId="5c201908-82f6-498c-9281-7eaa96fb17b4" providerId="ADAL" clId="{9298D172-BAEF-CF45-AE68-057F332F5223}" dt="2026-04-21T23:15:08.621" v="399"/>
          <ac:spMkLst>
            <pc:docMk/>
            <pc:sldMk cId="1810554697" sldId="769"/>
            <ac:spMk id="2" creationId="{E7503193-1CC0-0B60-67AC-EF0E4C6B8293}"/>
          </ac:spMkLst>
        </pc:spChg>
        <pc:spChg chg="mod">
          <ac:chgData name="Brigitte Castañeda Rodriguez" userId="5c201908-82f6-498c-9281-7eaa96fb17b4" providerId="ADAL" clId="{9298D172-BAEF-CF45-AE68-057F332F5223}" dt="2026-04-21T23:24:58.629" v="518" actId="14100"/>
          <ac:spMkLst>
            <pc:docMk/>
            <pc:sldMk cId="1810554697" sldId="769"/>
            <ac:spMk id="3" creationId="{A58FCEDC-3B30-D79C-76E8-5598C6E75250}"/>
          </ac:spMkLst>
        </pc:spChg>
        <pc:spChg chg="add del mod">
          <ac:chgData name="Brigitte Castañeda Rodriguez" userId="5c201908-82f6-498c-9281-7eaa96fb17b4" providerId="ADAL" clId="{9298D172-BAEF-CF45-AE68-057F332F5223}" dt="2026-04-21T23:24:49.707" v="514"/>
          <ac:spMkLst>
            <pc:docMk/>
            <pc:sldMk cId="1810554697" sldId="769"/>
            <ac:spMk id="9" creationId="{31D90428-BCD4-2016-D3B6-B7526BD29D44}"/>
          </ac:spMkLst>
        </pc:spChg>
        <pc:spChg chg="add mod">
          <ac:chgData name="Brigitte Castañeda Rodriguez" userId="5c201908-82f6-498c-9281-7eaa96fb17b4" providerId="ADAL" clId="{9298D172-BAEF-CF45-AE68-057F332F5223}" dt="2026-04-21T23:25:34.983" v="573" actId="20577"/>
          <ac:spMkLst>
            <pc:docMk/>
            <pc:sldMk cId="1810554697" sldId="769"/>
            <ac:spMk id="10" creationId="{827E1E15-0433-6403-9723-06C2E0E0BDFA}"/>
          </ac:spMkLst>
        </pc:spChg>
        <pc:spChg chg="add mod">
          <ac:chgData name="Brigitte Castañeda Rodriguez" userId="5c201908-82f6-498c-9281-7eaa96fb17b4" providerId="ADAL" clId="{9298D172-BAEF-CF45-AE68-057F332F5223}" dt="2026-04-21T23:25:14.339" v="553" actId="20577"/>
          <ac:spMkLst>
            <pc:docMk/>
            <pc:sldMk cId="1810554697" sldId="769"/>
            <ac:spMk id="12" creationId="{20DA385A-23F1-88EA-137E-5C183947A385}"/>
          </ac:spMkLst>
        </pc:spChg>
        <pc:graphicFrameChg chg="add mod">
          <ac:chgData name="Brigitte Castañeda Rodriguez" userId="5c201908-82f6-498c-9281-7eaa96fb17b4" providerId="ADAL" clId="{9298D172-BAEF-CF45-AE68-057F332F5223}" dt="2026-04-21T23:16:28.164" v="407"/>
          <ac:graphicFrameMkLst>
            <pc:docMk/>
            <pc:sldMk cId="1810554697" sldId="769"/>
            <ac:graphicFrameMk id="5" creationId="{125C7F47-E224-F0EA-E155-D2FE3633476A}"/>
          </ac:graphicFrameMkLst>
        </pc:graphicFrameChg>
        <pc:graphicFrameChg chg="add del mod modGraphic">
          <ac:chgData name="Brigitte Castañeda Rodriguez" userId="5c201908-82f6-498c-9281-7eaa96fb17b4" providerId="ADAL" clId="{9298D172-BAEF-CF45-AE68-057F332F5223}" dt="2026-04-21T23:25:00.899" v="519" actId="1076"/>
          <ac:graphicFrameMkLst>
            <pc:docMk/>
            <pc:sldMk cId="1810554697" sldId="769"/>
            <ac:graphicFrameMk id="6" creationId="{D8982BDD-5BB5-FB7C-2777-16E5BC0C4852}"/>
          </ac:graphicFrameMkLst>
        </pc:graphicFrameChg>
        <pc:graphicFrameChg chg="add del mod modGraphic">
          <ac:chgData name="Brigitte Castañeda Rodriguez" userId="5c201908-82f6-498c-9281-7eaa96fb17b4" providerId="ADAL" clId="{9298D172-BAEF-CF45-AE68-057F332F5223}" dt="2026-04-21T23:18:15.657" v="420" actId="1076"/>
          <ac:graphicFrameMkLst>
            <pc:docMk/>
            <pc:sldMk cId="1810554697" sldId="769"/>
            <ac:graphicFrameMk id="7" creationId="{8A477E4C-A4B0-23B3-58E5-0C438B8FE46F}"/>
          </ac:graphicFrameMkLst>
        </pc:graphicFrameChg>
        <pc:graphicFrameChg chg="add mod modGraphic">
          <ac:chgData name="Brigitte Castañeda Rodriguez" userId="5c201908-82f6-498c-9281-7eaa96fb17b4" providerId="ADAL" clId="{9298D172-BAEF-CF45-AE68-057F332F5223}" dt="2026-04-21T23:23:55.298" v="504" actId="1076"/>
          <ac:graphicFrameMkLst>
            <pc:docMk/>
            <pc:sldMk cId="1810554697" sldId="769"/>
            <ac:graphicFrameMk id="8" creationId="{1059AF91-5D22-0F16-6628-8E5953F587AB}"/>
          </ac:graphicFrameMkLst>
        </pc:graphicFrameChg>
      </pc:sldChg>
      <pc:sldChg chg="delSp modSp add mod">
        <pc:chgData name="Brigitte Castañeda Rodriguez" userId="5c201908-82f6-498c-9281-7eaa96fb17b4" providerId="ADAL" clId="{9298D172-BAEF-CF45-AE68-057F332F5223}" dt="2026-04-21T23:28:27.606" v="611" actId="1076"/>
        <pc:sldMkLst>
          <pc:docMk/>
          <pc:sldMk cId="1419784266" sldId="770"/>
        </pc:sldMkLst>
        <pc:spChg chg="mod">
          <ac:chgData name="Brigitte Castañeda Rodriguez" userId="5c201908-82f6-498c-9281-7eaa96fb17b4" providerId="ADAL" clId="{9298D172-BAEF-CF45-AE68-057F332F5223}" dt="2026-04-21T23:28:18.038" v="609" actId="113"/>
          <ac:spMkLst>
            <pc:docMk/>
            <pc:sldMk cId="1419784266" sldId="770"/>
            <ac:spMk id="3" creationId="{4FEA9699-EF4E-BF38-5E69-E65CC0097939}"/>
          </ac:spMkLst>
        </pc:spChg>
        <pc:spChg chg="del">
          <ac:chgData name="Brigitte Castañeda Rodriguez" userId="5c201908-82f6-498c-9281-7eaa96fb17b4" providerId="ADAL" clId="{9298D172-BAEF-CF45-AE68-057F332F5223}" dt="2026-04-21T23:28:04.119" v="605" actId="478"/>
          <ac:spMkLst>
            <pc:docMk/>
            <pc:sldMk cId="1419784266" sldId="770"/>
            <ac:spMk id="10" creationId="{667FD970-B30A-9459-20FD-CED54F6C4238}"/>
          </ac:spMkLst>
        </pc:spChg>
        <pc:spChg chg="mod">
          <ac:chgData name="Brigitte Castañeda Rodriguez" userId="5c201908-82f6-498c-9281-7eaa96fb17b4" providerId="ADAL" clId="{9298D172-BAEF-CF45-AE68-057F332F5223}" dt="2026-04-21T23:28:27.606" v="611" actId="1076"/>
          <ac:spMkLst>
            <pc:docMk/>
            <pc:sldMk cId="1419784266" sldId="770"/>
            <ac:spMk id="12" creationId="{BDF4B13D-3547-0C92-DC3A-FA9A2366FD5E}"/>
          </ac:spMkLst>
        </pc:spChg>
        <pc:graphicFrameChg chg="modGraphic">
          <ac:chgData name="Brigitte Castañeda Rodriguez" userId="5c201908-82f6-498c-9281-7eaa96fb17b4" providerId="ADAL" clId="{9298D172-BAEF-CF45-AE68-057F332F5223}" dt="2026-04-21T23:27:39.284" v="601" actId="20577"/>
          <ac:graphicFrameMkLst>
            <pc:docMk/>
            <pc:sldMk cId="1419784266" sldId="770"/>
            <ac:graphicFrameMk id="6" creationId="{C81AA22A-70D6-291F-EF7E-45DF700020C3}"/>
          </ac:graphicFrameMkLst>
        </pc:graphicFrameChg>
        <pc:graphicFrameChg chg="del">
          <ac:chgData name="Brigitte Castañeda Rodriguez" userId="5c201908-82f6-498c-9281-7eaa96fb17b4" providerId="ADAL" clId="{9298D172-BAEF-CF45-AE68-057F332F5223}" dt="2026-04-21T23:28:01.413" v="604" actId="478"/>
          <ac:graphicFrameMkLst>
            <pc:docMk/>
            <pc:sldMk cId="1419784266" sldId="770"/>
            <ac:graphicFrameMk id="8" creationId="{59E54214-5561-B112-1EF1-07DC96A45938}"/>
          </ac:graphicFrameMkLst>
        </pc:graphicFrameChg>
      </pc:sldChg>
      <pc:sldChg chg="delSp modSp add mod ord">
        <pc:chgData name="Brigitte Castañeda Rodriguez" userId="5c201908-82f6-498c-9281-7eaa96fb17b4" providerId="ADAL" clId="{9298D172-BAEF-CF45-AE68-057F332F5223}" dt="2026-04-21T23:26:42.945" v="587" actId="20578"/>
        <pc:sldMkLst>
          <pc:docMk/>
          <pc:sldMk cId="1657318313" sldId="771"/>
        </pc:sldMkLst>
        <pc:spChg chg="del mod">
          <ac:chgData name="Brigitte Castañeda Rodriguez" userId="5c201908-82f6-498c-9281-7eaa96fb17b4" providerId="ADAL" clId="{9298D172-BAEF-CF45-AE68-057F332F5223}" dt="2026-04-21T23:26:35.991" v="584" actId="478"/>
          <ac:spMkLst>
            <pc:docMk/>
            <pc:sldMk cId="1657318313" sldId="771"/>
            <ac:spMk id="10" creationId="{929A5C51-0798-80CD-34F0-754F0A69D189}"/>
          </ac:spMkLst>
        </pc:spChg>
        <pc:spChg chg="del">
          <ac:chgData name="Brigitte Castañeda Rodriguez" userId="5c201908-82f6-498c-9281-7eaa96fb17b4" providerId="ADAL" clId="{9298D172-BAEF-CF45-AE68-057F332F5223}" dt="2026-04-21T23:26:34.709" v="582" actId="478"/>
          <ac:spMkLst>
            <pc:docMk/>
            <pc:sldMk cId="1657318313" sldId="771"/>
            <ac:spMk id="12" creationId="{2C59F137-5EC3-A9DC-21AA-6980A2FDE415}"/>
          </ac:spMkLst>
        </pc:spChg>
        <pc:graphicFrameChg chg="modGraphic">
          <ac:chgData name="Brigitte Castañeda Rodriguez" userId="5c201908-82f6-498c-9281-7eaa96fb17b4" providerId="ADAL" clId="{9298D172-BAEF-CF45-AE68-057F332F5223}" dt="2026-04-21T23:26:31.293" v="581" actId="6549"/>
          <ac:graphicFrameMkLst>
            <pc:docMk/>
            <pc:sldMk cId="1657318313" sldId="771"/>
            <ac:graphicFrameMk id="6" creationId="{F8D5D298-1649-B4E8-0040-D7C0A06A38E1}"/>
          </ac:graphicFrameMkLst>
        </pc:graphicFrameChg>
        <pc:graphicFrameChg chg="del modGraphic">
          <ac:chgData name="Brigitte Castañeda Rodriguez" userId="5c201908-82f6-498c-9281-7eaa96fb17b4" providerId="ADAL" clId="{9298D172-BAEF-CF45-AE68-057F332F5223}" dt="2026-04-21T23:26:39.664" v="586" actId="478"/>
          <ac:graphicFrameMkLst>
            <pc:docMk/>
            <pc:sldMk cId="1657318313" sldId="771"/>
            <ac:graphicFrameMk id="8" creationId="{E4FE08E3-AD43-565B-AFBF-055C0A9E34AF}"/>
          </ac:graphicFrameMkLst>
        </pc:graphicFrameChg>
      </pc:sldChg>
      <pc:sldChg chg="delSp modSp add mod ord">
        <pc:chgData name="Brigitte Castañeda Rodriguez" userId="5c201908-82f6-498c-9281-7eaa96fb17b4" providerId="ADAL" clId="{9298D172-BAEF-CF45-AE68-057F332F5223}" dt="2026-04-21T23:30:42.285" v="650" actId="478"/>
        <pc:sldMkLst>
          <pc:docMk/>
          <pc:sldMk cId="3616728729" sldId="772"/>
        </pc:sldMkLst>
        <pc:spChg chg="mod">
          <ac:chgData name="Brigitte Castañeda Rodriguez" userId="5c201908-82f6-498c-9281-7eaa96fb17b4" providerId="ADAL" clId="{9298D172-BAEF-CF45-AE68-057F332F5223}" dt="2026-04-21T23:30:17.466" v="647" actId="20577"/>
          <ac:spMkLst>
            <pc:docMk/>
            <pc:sldMk cId="3616728729" sldId="772"/>
            <ac:spMk id="3" creationId="{B999F96A-86E2-1BC0-D20A-C9FAEB102811}"/>
          </ac:spMkLst>
        </pc:spChg>
        <pc:spChg chg="mod">
          <ac:chgData name="Brigitte Castañeda Rodriguez" userId="5c201908-82f6-498c-9281-7eaa96fb17b4" providerId="ADAL" clId="{9298D172-BAEF-CF45-AE68-057F332F5223}" dt="2026-04-21T23:29:01.088" v="621" actId="113"/>
          <ac:spMkLst>
            <pc:docMk/>
            <pc:sldMk cId="3616728729" sldId="772"/>
            <ac:spMk id="12" creationId="{28E26803-F672-6EC2-F692-1E38179F12F4}"/>
          </ac:spMkLst>
        </pc:spChg>
        <pc:graphicFrameChg chg="del mod">
          <ac:chgData name="Brigitte Castañeda Rodriguez" userId="5c201908-82f6-498c-9281-7eaa96fb17b4" providerId="ADAL" clId="{9298D172-BAEF-CF45-AE68-057F332F5223}" dt="2026-04-21T23:30:42.285" v="650" actId="478"/>
          <ac:graphicFrameMkLst>
            <pc:docMk/>
            <pc:sldMk cId="3616728729" sldId="772"/>
            <ac:graphicFrameMk id="6" creationId="{C261F563-541B-136C-0138-5B35A8AF2590}"/>
          </ac:graphicFrameMkLst>
        </pc:graphicFrameChg>
      </pc:sldChg>
      <pc:sldChg chg="addSp delSp modSp add mod">
        <pc:chgData name="Brigitte Castañeda Rodriguez" userId="5c201908-82f6-498c-9281-7eaa96fb17b4" providerId="ADAL" clId="{9298D172-BAEF-CF45-AE68-057F332F5223}" dt="2026-04-21T23:31:57.132" v="674" actId="1076"/>
        <pc:sldMkLst>
          <pc:docMk/>
          <pc:sldMk cId="2477093802" sldId="773"/>
        </pc:sldMkLst>
        <pc:spChg chg="add del">
          <ac:chgData name="Brigitte Castañeda Rodriguez" userId="5c201908-82f6-498c-9281-7eaa96fb17b4" providerId="ADAL" clId="{9298D172-BAEF-CF45-AE68-057F332F5223}" dt="2026-04-21T23:31:40.135" v="667" actId="478"/>
          <ac:spMkLst>
            <pc:docMk/>
            <pc:sldMk cId="2477093802" sldId="773"/>
            <ac:spMk id="7" creationId="{E6027D35-2916-A321-9BC9-346BBEDA959E}"/>
          </ac:spMkLst>
        </pc:spChg>
        <pc:spChg chg="del mod">
          <ac:chgData name="Brigitte Castañeda Rodriguez" userId="5c201908-82f6-498c-9281-7eaa96fb17b4" providerId="ADAL" clId="{9298D172-BAEF-CF45-AE68-057F332F5223}" dt="2026-04-21T23:31:28.319" v="665" actId="478"/>
          <ac:spMkLst>
            <pc:docMk/>
            <pc:sldMk cId="2477093802" sldId="773"/>
            <ac:spMk id="12" creationId="{37F2342C-F081-5359-B6E8-37A5C9E22AE6}"/>
          </ac:spMkLst>
        </pc:spChg>
        <pc:graphicFrameChg chg="mod modGraphic">
          <ac:chgData name="Brigitte Castañeda Rodriguez" userId="5c201908-82f6-498c-9281-7eaa96fb17b4" providerId="ADAL" clId="{9298D172-BAEF-CF45-AE68-057F332F5223}" dt="2026-04-21T23:31:57.132" v="674" actId="1076"/>
          <ac:graphicFrameMkLst>
            <pc:docMk/>
            <pc:sldMk cId="2477093802" sldId="773"/>
            <ac:graphicFrameMk id="6" creationId="{521AAD80-BA7A-46AA-8C9D-C10DD82EA4BB}"/>
          </ac:graphicFrameMkLst>
        </pc:graphicFrameChg>
        <pc:graphicFrameChg chg="add mod modGraphic">
          <ac:chgData name="Brigitte Castañeda Rodriguez" userId="5c201908-82f6-498c-9281-7eaa96fb17b4" providerId="ADAL" clId="{9298D172-BAEF-CF45-AE68-057F332F5223}" dt="2026-04-21T23:31:52.917" v="673" actId="20577"/>
          <ac:graphicFrameMkLst>
            <pc:docMk/>
            <pc:sldMk cId="2477093802" sldId="773"/>
            <ac:graphicFrameMk id="8" creationId="{28CC1ABA-B04D-86C7-3728-D50E7369AF34}"/>
          </ac:graphicFrameMkLst>
        </pc:graphicFrameChg>
      </pc:sldChg>
      <pc:sldChg chg="addSp delSp modSp add mod ord">
        <pc:chgData name="Brigitte Castañeda Rodriguez" userId="5c201908-82f6-498c-9281-7eaa96fb17b4" providerId="ADAL" clId="{9298D172-BAEF-CF45-AE68-057F332F5223}" dt="2026-04-21T23:43:17.874" v="970" actId="12385"/>
        <pc:sldMkLst>
          <pc:docMk/>
          <pc:sldMk cId="2333570182" sldId="774"/>
        </pc:sldMkLst>
        <pc:spChg chg="mod">
          <ac:chgData name="Brigitte Castañeda Rodriguez" userId="5c201908-82f6-498c-9281-7eaa96fb17b4" providerId="ADAL" clId="{9298D172-BAEF-CF45-AE68-057F332F5223}" dt="2026-04-21T23:36:09.991" v="838"/>
          <ac:spMkLst>
            <pc:docMk/>
            <pc:sldMk cId="2333570182" sldId="774"/>
            <ac:spMk id="3" creationId="{FEE1A0D5-99ED-593A-A673-12C8425496E5}"/>
          </ac:spMkLst>
        </pc:spChg>
        <pc:spChg chg="mod">
          <ac:chgData name="Brigitte Castañeda Rodriguez" userId="5c201908-82f6-498c-9281-7eaa96fb17b4" providerId="ADAL" clId="{9298D172-BAEF-CF45-AE68-057F332F5223}" dt="2026-04-21T23:33:44.639" v="709" actId="1036"/>
          <ac:spMkLst>
            <pc:docMk/>
            <pc:sldMk cId="2333570182" sldId="774"/>
            <ac:spMk id="4" creationId="{DD546E2F-D30B-3A6B-AE63-AAA7D387B72C}"/>
          </ac:spMkLst>
        </pc:spChg>
        <pc:spChg chg="mod">
          <ac:chgData name="Brigitte Castañeda Rodriguez" userId="5c201908-82f6-498c-9281-7eaa96fb17b4" providerId="ADAL" clId="{9298D172-BAEF-CF45-AE68-057F332F5223}" dt="2026-04-21T23:38:27.061" v="926" actId="20577"/>
          <ac:spMkLst>
            <pc:docMk/>
            <pc:sldMk cId="2333570182" sldId="774"/>
            <ac:spMk id="6" creationId="{E9537FFC-7DB5-EE2E-FAAE-89369EBC6A8C}"/>
          </ac:spMkLst>
        </pc:spChg>
        <pc:spChg chg="add del mod">
          <ac:chgData name="Brigitte Castañeda Rodriguez" userId="5c201908-82f6-498c-9281-7eaa96fb17b4" providerId="ADAL" clId="{9298D172-BAEF-CF45-AE68-057F332F5223}" dt="2026-04-21T23:33:00.901" v="685" actId="478"/>
          <ac:spMkLst>
            <pc:docMk/>
            <pc:sldMk cId="2333570182" sldId="774"/>
            <ac:spMk id="11" creationId="{9B69834E-303D-1F92-C4C7-4D5E05001811}"/>
          </ac:spMkLst>
        </pc:spChg>
        <pc:spChg chg="add mod">
          <ac:chgData name="Brigitte Castañeda Rodriguez" userId="5c201908-82f6-498c-9281-7eaa96fb17b4" providerId="ADAL" clId="{9298D172-BAEF-CF45-AE68-057F332F5223}" dt="2026-04-21T23:33:21.178" v="694" actId="1076"/>
          <ac:spMkLst>
            <pc:docMk/>
            <pc:sldMk cId="2333570182" sldId="774"/>
            <ac:spMk id="13" creationId="{EBAD0802-DF65-9E5C-0B86-7C2990E1F8FA}"/>
          </ac:spMkLst>
        </pc:spChg>
        <pc:graphicFrameChg chg="mod modGraphic">
          <ac:chgData name="Brigitte Castañeda Rodriguez" userId="5c201908-82f6-498c-9281-7eaa96fb17b4" providerId="ADAL" clId="{9298D172-BAEF-CF45-AE68-057F332F5223}" dt="2026-04-21T23:36:20.861" v="839"/>
          <ac:graphicFrameMkLst>
            <pc:docMk/>
            <pc:sldMk cId="2333570182" sldId="774"/>
            <ac:graphicFrameMk id="7" creationId="{3D43CACD-74F3-AEC2-2310-B5405CE43D38}"/>
          </ac:graphicFrameMkLst>
        </pc:graphicFrameChg>
        <pc:graphicFrameChg chg="mod modGraphic">
          <ac:chgData name="Brigitte Castañeda Rodriguez" userId="5c201908-82f6-498c-9281-7eaa96fb17b4" providerId="ADAL" clId="{9298D172-BAEF-CF45-AE68-057F332F5223}" dt="2026-04-21T23:43:17.874" v="970" actId="12385"/>
          <ac:graphicFrameMkLst>
            <pc:docMk/>
            <pc:sldMk cId="2333570182" sldId="774"/>
            <ac:graphicFrameMk id="9" creationId="{195D0FF8-802F-BB68-E4D2-22EE2B06A207}"/>
          </ac:graphicFrameMkLst>
        </pc:graphicFrameChg>
        <pc:graphicFrameChg chg="mod">
          <ac:chgData name="Brigitte Castañeda Rodriguez" userId="5c201908-82f6-498c-9281-7eaa96fb17b4" providerId="ADAL" clId="{9298D172-BAEF-CF45-AE68-057F332F5223}" dt="2026-04-21T23:33:44.639" v="709" actId="1036"/>
          <ac:graphicFrameMkLst>
            <pc:docMk/>
            <pc:sldMk cId="2333570182" sldId="774"/>
            <ac:graphicFrameMk id="14" creationId="{A4AEF04B-D939-8F03-6DDB-94B830C8FC00}"/>
          </ac:graphicFrameMkLst>
        </pc:graphicFrameChg>
      </pc:sldChg>
      <pc:sldChg chg="addSp delSp modSp add mod">
        <pc:chgData name="Brigitte Castañeda Rodriguez" userId="5c201908-82f6-498c-9281-7eaa96fb17b4" providerId="ADAL" clId="{9298D172-BAEF-CF45-AE68-057F332F5223}" dt="2026-04-21T23:44:57.752" v="993" actId="1076"/>
        <pc:sldMkLst>
          <pc:docMk/>
          <pc:sldMk cId="735392198" sldId="775"/>
        </pc:sldMkLst>
        <pc:spChg chg="mod">
          <ac:chgData name="Brigitte Castañeda Rodriguez" userId="5c201908-82f6-498c-9281-7eaa96fb17b4" providerId="ADAL" clId="{9298D172-BAEF-CF45-AE68-057F332F5223}" dt="2026-04-21T23:44:53.413" v="991" actId="120"/>
          <ac:spMkLst>
            <pc:docMk/>
            <pc:sldMk cId="735392198" sldId="775"/>
            <ac:spMk id="3" creationId="{AD8BB0EC-DE56-03DB-6B65-EE17A80986AE}"/>
          </ac:spMkLst>
        </pc:spChg>
        <pc:spChg chg="mod">
          <ac:chgData name="Brigitte Castañeda Rodriguez" userId="5c201908-82f6-498c-9281-7eaa96fb17b4" providerId="ADAL" clId="{9298D172-BAEF-CF45-AE68-057F332F5223}" dt="2026-04-21T23:38:34.804" v="938" actId="6549"/>
          <ac:spMkLst>
            <pc:docMk/>
            <pc:sldMk cId="735392198" sldId="775"/>
            <ac:spMk id="6" creationId="{26802741-08AE-62FA-9FB0-6D7B696B8B98}"/>
          </ac:spMkLst>
        </pc:spChg>
        <pc:spChg chg="mod">
          <ac:chgData name="Brigitte Castañeda Rodriguez" userId="5c201908-82f6-498c-9281-7eaa96fb17b4" providerId="ADAL" clId="{9298D172-BAEF-CF45-AE68-057F332F5223}" dt="2026-04-21T23:37:46.191" v="899" actId="313"/>
          <ac:spMkLst>
            <pc:docMk/>
            <pc:sldMk cId="735392198" sldId="775"/>
            <ac:spMk id="13" creationId="{9EC8D5E6-8207-1507-5B2F-0EA892FE840E}"/>
          </ac:spMkLst>
        </pc:spChg>
        <pc:spChg chg="add mod">
          <ac:chgData name="Brigitte Castañeda Rodriguez" userId="5c201908-82f6-498c-9281-7eaa96fb17b4" providerId="ADAL" clId="{9298D172-BAEF-CF45-AE68-057F332F5223}" dt="2026-04-21T23:44:57.752" v="993" actId="1076"/>
          <ac:spMkLst>
            <pc:docMk/>
            <pc:sldMk cId="735392198" sldId="775"/>
            <ac:spMk id="15" creationId="{B0CD2996-ABF2-B90D-DD66-7369CB5FD139}"/>
          </ac:spMkLst>
        </pc:spChg>
        <pc:graphicFrameChg chg="del">
          <ac:chgData name="Brigitte Castañeda Rodriguez" userId="5c201908-82f6-498c-9281-7eaa96fb17b4" providerId="ADAL" clId="{9298D172-BAEF-CF45-AE68-057F332F5223}" dt="2026-04-21T23:39:38.096" v="947" actId="478"/>
          <ac:graphicFrameMkLst>
            <pc:docMk/>
            <pc:sldMk cId="735392198" sldId="775"/>
            <ac:graphicFrameMk id="7" creationId="{E257D2B2-A74E-61B1-EB0B-C8FDDBD7F934}"/>
          </ac:graphicFrameMkLst>
        </pc:graphicFrameChg>
        <pc:graphicFrameChg chg="add mod">
          <ac:chgData name="Brigitte Castañeda Rodriguez" userId="5c201908-82f6-498c-9281-7eaa96fb17b4" providerId="ADAL" clId="{9298D172-BAEF-CF45-AE68-057F332F5223}" dt="2026-04-21T23:39:49.226" v="949"/>
          <ac:graphicFrameMkLst>
            <pc:docMk/>
            <pc:sldMk cId="735392198" sldId="775"/>
            <ac:graphicFrameMk id="8" creationId="{EC1FFADC-DE4A-F574-A7A4-BB86F311F6ED}"/>
          </ac:graphicFrameMkLst>
        </pc:graphicFrameChg>
        <pc:graphicFrameChg chg="mod modGraphic">
          <ac:chgData name="Brigitte Castañeda Rodriguez" userId="5c201908-82f6-498c-9281-7eaa96fb17b4" providerId="ADAL" clId="{9298D172-BAEF-CF45-AE68-057F332F5223}" dt="2026-04-21T23:40:24.441" v="954" actId="12385"/>
          <ac:graphicFrameMkLst>
            <pc:docMk/>
            <pc:sldMk cId="735392198" sldId="775"/>
            <ac:graphicFrameMk id="9" creationId="{115E26E7-D097-CD72-6C79-EC5544782844}"/>
          </ac:graphicFrameMkLst>
        </pc:graphicFrameChg>
        <pc:graphicFrameChg chg="add mod modGraphic">
          <ac:chgData name="Brigitte Castañeda Rodriguez" userId="5c201908-82f6-498c-9281-7eaa96fb17b4" providerId="ADAL" clId="{9298D172-BAEF-CF45-AE68-057F332F5223}" dt="2026-04-21T23:41:08.612" v="960" actId="2165"/>
          <ac:graphicFrameMkLst>
            <pc:docMk/>
            <pc:sldMk cId="735392198" sldId="775"/>
            <ac:graphicFrameMk id="11" creationId="{2EF7218A-4472-CE9E-0FA7-C9BB9DEBCBDC}"/>
          </ac:graphicFrameMkLst>
        </pc:graphicFrameChg>
        <pc:graphicFrameChg chg="del">
          <ac:chgData name="Brigitte Castañeda Rodriguez" userId="5c201908-82f6-498c-9281-7eaa96fb17b4" providerId="ADAL" clId="{9298D172-BAEF-CF45-AE68-057F332F5223}" dt="2026-04-21T23:39:40.471" v="948" actId="478"/>
          <ac:graphicFrameMkLst>
            <pc:docMk/>
            <pc:sldMk cId="735392198" sldId="775"/>
            <ac:graphicFrameMk id="14" creationId="{8193DFF4-CCFF-CDD4-218E-B7F45FE52675}"/>
          </ac:graphicFrameMkLst>
        </pc:graphicFrameChg>
      </pc:sldChg>
      <pc:sldChg chg="modSp add">
        <pc:chgData name="Brigitte Castañeda Rodriguez" userId="5c201908-82f6-498c-9281-7eaa96fb17b4" providerId="ADAL" clId="{9298D172-BAEF-CF45-AE68-057F332F5223}" dt="2026-04-21T23:43:47.270" v="973" actId="207"/>
        <pc:sldMkLst>
          <pc:docMk/>
          <pc:sldMk cId="272970" sldId="776"/>
        </pc:sldMkLst>
        <pc:spChg chg="mod">
          <ac:chgData name="Brigitte Castañeda Rodriguez" userId="5c201908-82f6-498c-9281-7eaa96fb17b4" providerId="ADAL" clId="{9298D172-BAEF-CF45-AE68-057F332F5223}" dt="2026-04-21T23:43:47.270" v="973" actId="207"/>
          <ac:spMkLst>
            <pc:docMk/>
            <pc:sldMk cId="272970" sldId="776"/>
            <ac:spMk id="23" creationId="{61CECEA0-7060-CB77-FFFF-47823244CA79}"/>
          </ac:spMkLst>
        </pc:spChg>
      </pc:sldChg>
      <pc:sldChg chg="modSp add ord">
        <pc:chgData name="Brigitte Castañeda Rodriguez" userId="5c201908-82f6-498c-9281-7eaa96fb17b4" providerId="ADAL" clId="{9298D172-BAEF-CF45-AE68-057F332F5223}" dt="2026-04-21T23:44:03.346" v="977" actId="207"/>
        <pc:sldMkLst>
          <pc:docMk/>
          <pc:sldMk cId="1587648255" sldId="777"/>
        </pc:sldMkLst>
        <pc:spChg chg="mod">
          <ac:chgData name="Brigitte Castañeda Rodriguez" userId="5c201908-82f6-498c-9281-7eaa96fb17b4" providerId="ADAL" clId="{9298D172-BAEF-CF45-AE68-057F332F5223}" dt="2026-04-21T23:44:03.346" v="977" actId="207"/>
          <ac:spMkLst>
            <pc:docMk/>
            <pc:sldMk cId="1587648255" sldId="777"/>
            <ac:spMk id="23" creationId="{4A483092-8CE7-8237-94FD-B8859D9AEAEE}"/>
          </ac:spMkLst>
        </pc:spChg>
      </pc:sldChg>
    </pc:docChg>
  </pc:docChgLst>
  <pc:docChgLst>
    <pc:chgData name="Maria Fernanda Valero Sanchez" userId="S::mf.valero10@uniandes.edu.co::62dc2257-13d0-41b3-be9b-615cc5816b2a" providerId="AD" clId="Web-{1A5ECF8E-DF0A-9023-30F2-0CE1EB4A9F20}"/>
    <pc:docChg chg="modSld">
      <pc:chgData name="Maria Fernanda Valero Sanchez" userId="S::mf.valero10@uniandes.edu.co::62dc2257-13d0-41b3-be9b-615cc5816b2a" providerId="AD" clId="Web-{1A5ECF8E-DF0A-9023-30F2-0CE1EB4A9F20}" dt="2026-04-22T20:37:01.776" v="70"/>
      <pc:docMkLst>
        <pc:docMk/>
      </pc:docMkLst>
      <pc:sldChg chg="modSp">
        <pc:chgData name="Maria Fernanda Valero Sanchez" userId="S::mf.valero10@uniandes.edu.co::62dc2257-13d0-41b3-be9b-615cc5816b2a" providerId="AD" clId="Web-{1A5ECF8E-DF0A-9023-30F2-0CE1EB4A9F20}" dt="2026-04-22T20:35:47.433" v="29"/>
        <pc:sldMkLst>
          <pc:docMk/>
          <pc:sldMk cId="262275382" sldId="768"/>
        </pc:sldMkLst>
        <pc:graphicFrameChg chg="mod modGraphic">
          <ac:chgData name="Maria Fernanda Valero Sanchez" userId="S::mf.valero10@uniandes.edu.co::62dc2257-13d0-41b3-be9b-615cc5816b2a" providerId="AD" clId="Web-{1A5ECF8E-DF0A-9023-30F2-0CE1EB4A9F20}" dt="2026-04-22T20:35:34.542" v="21"/>
          <ac:graphicFrameMkLst>
            <pc:docMk/>
            <pc:sldMk cId="262275382" sldId="768"/>
            <ac:graphicFrameMk id="7" creationId="{D29629F8-8E1D-0E17-FF06-B5411E2FD11F}"/>
          </ac:graphicFrameMkLst>
        </pc:graphicFrameChg>
        <pc:graphicFrameChg chg="mod modGraphic">
          <ac:chgData name="Maria Fernanda Valero Sanchez" userId="S::mf.valero10@uniandes.edu.co::62dc2257-13d0-41b3-be9b-615cc5816b2a" providerId="AD" clId="Web-{1A5ECF8E-DF0A-9023-30F2-0CE1EB4A9F20}" dt="2026-04-22T20:35:47.433" v="29"/>
          <ac:graphicFrameMkLst>
            <pc:docMk/>
            <pc:sldMk cId="262275382" sldId="768"/>
            <ac:graphicFrameMk id="14" creationId="{11371E07-214E-8CF4-5618-9118148CA269}"/>
          </ac:graphicFrameMkLst>
        </pc:graphicFrameChg>
      </pc:sldChg>
      <pc:sldChg chg="modSp">
        <pc:chgData name="Maria Fernanda Valero Sanchez" userId="S::mf.valero10@uniandes.edu.co::62dc2257-13d0-41b3-be9b-615cc5816b2a" providerId="AD" clId="Web-{1A5ECF8E-DF0A-9023-30F2-0CE1EB4A9F20}" dt="2026-04-22T20:36:12.620" v="30" actId="20577"/>
        <pc:sldMkLst>
          <pc:docMk/>
          <pc:sldMk cId="3616728729" sldId="772"/>
        </pc:sldMkLst>
        <pc:spChg chg="mod">
          <ac:chgData name="Maria Fernanda Valero Sanchez" userId="S::mf.valero10@uniandes.edu.co::62dc2257-13d0-41b3-be9b-615cc5816b2a" providerId="AD" clId="Web-{1A5ECF8E-DF0A-9023-30F2-0CE1EB4A9F20}" dt="2026-04-22T20:36:12.620" v="30" actId="20577"/>
          <ac:spMkLst>
            <pc:docMk/>
            <pc:sldMk cId="3616728729" sldId="772"/>
            <ac:spMk id="3" creationId="{B999F96A-86E2-1BC0-D20A-C9FAEB102811}"/>
          </ac:spMkLst>
        </pc:spChg>
      </pc:sldChg>
      <pc:sldChg chg="modSp">
        <pc:chgData name="Maria Fernanda Valero Sanchez" userId="S::mf.valero10@uniandes.edu.co::62dc2257-13d0-41b3-be9b-615cc5816b2a" providerId="AD" clId="Web-{1A5ECF8E-DF0A-9023-30F2-0CE1EB4A9F20}" dt="2026-04-22T20:37:01.776" v="70"/>
        <pc:sldMkLst>
          <pc:docMk/>
          <pc:sldMk cId="2333570182" sldId="774"/>
        </pc:sldMkLst>
        <pc:graphicFrameChg chg="mod modGraphic">
          <ac:chgData name="Maria Fernanda Valero Sanchez" userId="S::mf.valero10@uniandes.edu.co::62dc2257-13d0-41b3-be9b-615cc5816b2a" providerId="AD" clId="Web-{1A5ECF8E-DF0A-9023-30F2-0CE1EB4A9F20}" dt="2026-04-22T20:37:01.776" v="70"/>
          <ac:graphicFrameMkLst>
            <pc:docMk/>
            <pc:sldMk cId="2333570182" sldId="774"/>
            <ac:graphicFrameMk id="7" creationId="{3D43CACD-74F3-AEC2-2310-B5405CE43D38}"/>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23/04/26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23/04/26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910117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4/23/26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746721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A523018D-1CC0-468E-BE3B-579A148A0691}" type="datetime1">
              <a:rPr lang="en-US" smtClean="0"/>
              <a:t>4/23/26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08640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4/23/26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839716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C51F0D08-E4F7-43DB-810A-34BADF6468F7}" type="datetime1">
              <a:rPr lang="en-US" smtClean="0"/>
              <a:t>4/23/26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96037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ADFE1DAC-EC09-4DEA-BBB4-788DDBA09515}" type="datetime1">
              <a:rPr lang="en-US" smtClean="0"/>
              <a:t>4/23/26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18604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A9BFF582-E74C-4A8A-87B2-214B0CF47F99}" type="datetime1">
              <a:rPr lang="en-US" smtClean="0"/>
              <a:t>4/23/26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911111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4/23/26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295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4/23/26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720775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4/23/26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73386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326DF8C-FC0D-41BB-BB53-20BBB44E4230}" type="datetime1">
              <a:rPr lang="en-US" smtClean="0"/>
              <a:t>4/23/26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39791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4/23/26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504801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4/23/26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8932310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86108" y="1527048"/>
            <a:ext cx="10550396" cy="1122137"/>
          </a:xfrm>
        </p:spPr>
        <p:txBody>
          <a:bodyPr>
            <a:noAutofit/>
          </a:bodyPr>
          <a:lstStyle/>
          <a:p>
            <a:r>
              <a:rPr lang="es-ES" sz="3200" dirty="0">
                <a:latin typeface="Century Gothic"/>
              </a:rPr>
              <a:t>Costo promedio ponderado de capital (WACC)</a:t>
            </a:r>
            <a:endParaRPr lang="es-CO" sz="3200" dirty="0">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89A2F7FD-DB75-B2F6-96F6-C7A714073C9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5" name="Gráfico 4" descr="Open book contorno">
            <a:extLst>
              <a:ext uri="{FF2B5EF4-FFF2-40B4-BE49-F238E27FC236}">
                <a16:creationId xmlns:a16="http://schemas.microsoft.com/office/drawing/2014/main" id="{3D62EEA9-E977-2B15-6DB5-97AE283992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7" name="CuadroTexto 6">
            <a:extLst>
              <a:ext uri="{FF2B5EF4-FFF2-40B4-BE49-F238E27FC236}">
                <a16:creationId xmlns:a16="http://schemas.microsoft.com/office/drawing/2014/main" id="{CDACCAD9-71B4-2FA0-1592-3F9D80605EB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34046"/>
            <a:ext cx="8540907" cy="830997"/>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1600" dirty="0">
                <a:solidFill>
                  <a:schemeClr val="accent1"/>
                </a:solidFill>
                <a:latin typeface="Century Gothic"/>
                <a:cs typeface="Arial"/>
              </a:rPr>
              <a:t>Costo Promedio Ponderado de Capital (WACC)</a:t>
            </a:r>
          </a:p>
          <a:p>
            <a:pPr marL="342900" indent="-342900">
              <a:buClr>
                <a:schemeClr val="accent3">
                  <a:lumMod val="75000"/>
                </a:schemeClr>
              </a:buClr>
              <a:buFont typeface="Gill Sans MT" panose="020B0502020104020203"/>
              <a:buAutoNum type="arabicPeriod"/>
            </a:pPr>
            <a:endParaRPr lang="es-CO" sz="1600" dirty="0">
              <a:solidFill>
                <a:schemeClr val="accent1"/>
              </a:solidFill>
              <a:latin typeface="Century Gothic"/>
              <a:cs typeface="Arial"/>
            </a:endParaRPr>
          </a:p>
          <a:p>
            <a:pPr marL="342900" indent="-342900">
              <a:buClr>
                <a:schemeClr val="accent3">
                  <a:lumMod val="75000"/>
                </a:schemeClr>
              </a:buClr>
              <a:buFont typeface="Gill Sans MT" panose="020B0502020104020203"/>
              <a:buAutoNum type="arabicPeriod"/>
            </a:pPr>
            <a:r>
              <a:rPr lang="es-ES" sz="1600" dirty="0">
                <a:solidFill>
                  <a:schemeClr val="accent1"/>
                </a:solidFill>
                <a:latin typeface="Century Gothic"/>
                <a:cs typeface="Arial"/>
              </a:rPr>
              <a:t>Restricciones Deuda </a:t>
            </a:r>
            <a:r>
              <a:rPr lang="es-ES" sz="1600" dirty="0" err="1">
                <a:solidFill>
                  <a:schemeClr val="accent1"/>
                </a:solidFill>
                <a:latin typeface="Century Gothic"/>
                <a:cs typeface="Arial"/>
              </a:rPr>
              <a:t>Equity</a:t>
            </a:r>
            <a:r>
              <a:rPr lang="es-ES" sz="1600" dirty="0">
                <a:solidFill>
                  <a:schemeClr val="accent1"/>
                </a:solidFill>
                <a:latin typeface="Century Gothic"/>
                <a:cs typeface="Arial"/>
              </a:rPr>
              <a:t> (D/E)</a:t>
            </a:r>
            <a:r>
              <a:rPr lang="es-CO" sz="1600" dirty="0">
                <a:solidFill>
                  <a:schemeClr val="accent1"/>
                </a:solidFill>
                <a:latin typeface="Century Gothic"/>
                <a:cs typeface="Arial"/>
              </a:rPr>
              <a:t>.</a:t>
            </a: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0A804F0A-3A31-D532-1D1D-5395A053AC0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81D84-8A0A-56FF-0705-B34FEF921F6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DE6145-9CE1-2F56-B88D-48976D7815E8}"/>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F0A2C415-B9AB-423B-0E4D-306374D56FFD}"/>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964AB87B-B1C0-BA84-2E75-A094082B459E}"/>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61CECEA0-7060-CB77-FFFF-47823244CA79}"/>
              </a:ext>
            </a:extLst>
          </p:cNvPr>
          <p:cNvSpPr/>
          <p:nvPr/>
        </p:nvSpPr>
        <p:spPr>
          <a:xfrm>
            <a:off x="2806200" y="2734046"/>
            <a:ext cx="8540907" cy="830997"/>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1600" dirty="0">
                <a:solidFill>
                  <a:schemeClr val="accent1"/>
                </a:solidFill>
                <a:latin typeface="Century Gothic"/>
                <a:cs typeface="Arial"/>
              </a:rPr>
              <a:t>Costo Promedio Ponderado de Capital (WACC)</a:t>
            </a:r>
          </a:p>
          <a:p>
            <a:pPr marL="342900" indent="-342900">
              <a:buClr>
                <a:schemeClr val="accent3">
                  <a:lumMod val="75000"/>
                </a:schemeClr>
              </a:buClr>
              <a:buFont typeface="Gill Sans MT" panose="020B0502020104020203"/>
              <a:buAutoNum type="arabicPeriod"/>
            </a:pPr>
            <a:endParaRPr lang="es-CO" sz="1600" dirty="0">
              <a:solidFill>
                <a:schemeClr val="accent1"/>
              </a:solidFill>
              <a:latin typeface="Century Gothic"/>
              <a:cs typeface="Arial"/>
            </a:endParaRPr>
          </a:p>
          <a:p>
            <a:pPr marL="342900" indent="-342900">
              <a:buClr>
                <a:schemeClr val="accent3">
                  <a:lumMod val="75000"/>
                </a:schemeClr>
              </a:buClr>
              <a:buFont typeface="Gill Sans MT" panose="020B0502020104020203"/>
              <a:buAutoNum type="arabicPeriod"/>
            </a:pPr>
            <a:r>
              <a:rPr lang="es-ES" sz="1600" dirty="0">
                <a:solidFill>
                  <a:schemeClr val="tx2">
                    <a:lumMod val="20000"/>
                    <a:lumOff val="80000"/>
                  </a:schemeClr>
                </a:solidFill>
                <a:latin typeface="Century Gothic"/>
                <a:cs typeface="Arial"/>
              </a:rPr>
              <a:t>Restricciones Deuda </a:t>
            </a:r>
            <a:r>
              <a:rPr lang="es-ES" sz="1600" dirty="0" err="1">
                <a:solidFill>
                  <a:schemeClr val="tx2">
                    <a:lumMod val="20000"/>
                    <a:lumOff val="80000"/>
                  </a:schemeClr>
                </a:solidFill>
                <a:latin typeface="Century Gothic"/>
                <a:cs typeface="Arial"/>
              </a:rPr>
              <a:t>Equity</a:t>
            </a:r>
            <a:r>
              <a:rPr lang="es-ES" sz="1600" dirty="0">
                <a:solidFill>
                  <a:schemeClr val="tx2">
                    <a:lumMod val="20000"/>
                    <a:lumOff val="80000"/>
                  </a:schemeClr>
                </a:solidFill>
                <a:latin typeface="Century Gothic"/>
                <a:cs typeface="Arial"/>
              </a:rPr>
              <a:t> (D/E)</a:t>
            </a:r>
            <a:r>
              <a:rPr lang="es-CO" sz="1600" dirty="0">
                <a:solidFill>
                  <a:schemeClr val="tx2">
                    <a:lumMod val="20000"/>
                    <a:lumOff val="80000"/>
                  </a:schemeClr>
                </a:solidFill>
                <a:latin typeface="Century Gothic"/>
                <a:cs typeface="Arial"/>
              </a:rPr>
              <a:t>.</a:t>
            </a:r>
          </a:p>
        </p:txBody>
      </p:sp>
      <p:sp>
        <p:nvSpPr>
          <p:cNvPr id="3" name="Rectángulo 2">
            <a:extLst>
              <a:ext uri="{FF2B5EF4-FFF2-40B4-BE49-F238E27FC236}">
                <a16:creationId xmlns:a16="http://schemas.microsoft.com/office/drawing/2014/main" id="{DC7194A8-2481-3D8B-2E43-4C3D02366512}"/>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0F6CDB94-7BE5-A98C-315A-9889350DA5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B29F7B4A-EAC2-9C10-D390-7125CB8D624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72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81056-724D-5AE0-5E19-B32ABA0B3C5E}"/>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F2B58F26-3B71-5541-2D9E-136F478D7C17}"/>
              </a:ext>
            </a:extLst>
          </p:cNvPr>
          <p:cNvSpPr>
            <a:spLocks noGrp="1"/>
          </p:cNvSpPr>
          <p:nvPr>
            <p:ph type="sldNum" sz="quarter" idx="12"/>
          </p:nvPr>
        </p:nvSpPr>
        <p:spPr/>
        <p:txBody>
          <a:bodyPr/>
          <a:lstStyle/>
          <a:p>
            <a:fld id="{5E3E23BA-6E79-2442-BA73-D218A5E297C3}" type="slidenum">
              <a:rPr lang="en-US" sz="1800" smtClean="0"/>
              <a:t>4</a:t>
            </a:fld>
            <a:endParaRPr lang="en-US" sz="1800"/>
          </a:p>
        </p:txBody>
      </p:sp>
      <p:sp>
        <p:nvSpPr>
          <p:cNvPr id="2" name="Rectángulo 1">
            <a:extLst>
              <a:ext uri="{FF2B5EF4-FFF2-40B4-BE49-F238E27FC236}">
                <a16:creationId xmlns:a16="http://schemas.microsoft.com/office/drawing/2014/main" id="{174AA32A-E7B7-EEDB-0D6E-A4011A101EA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DE9D4A51-F1B0-E035-2742-CD766193BE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87B2A808-E8F9-A0D1-2D80-F13D0CAD5FC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6" name="Título 1">
            <a:extLst>
              <a:ext uri="{FF2B5EF4-FFF2-40B4-BE49-F238E27FC236}">
                <a16:creationId xmlns:a16="http://schemas.microsoft.com/office/drawing/2014/main" id="{25C6CC22-2589-953D-EF38-0D1224BC2FD2}"/>
              </a:ext>
            </a:extLst>
          </p:cNvPr>
          <p:cNvSpPr>
            <a:spLocks noGrp="1"/>
          </p:cNvSpPr>
          <p:nvPr>
            <p:ph type="title"/>
          </p:nvPr>
        </p:nvSpPr>
        <p:spPr>
          <a:xfrm>
            <a:off x="581192" y="702156"/>
            <a:ext cx="11029616" cy="1013800"/>
          </a:xfrm>
        </p:spPr>
        <p:txBody>
          <a:bodyPr>
            <a:normAutofit/>
          </a:bodyPr>
          <a:lstStyle/>
          <a:p>
            <a:r>
              <a:rPr lang="es-ES" dirty="0">
                <a:latin typeface="Century Gothic" panose="020B0502020202020204" pitchFamily="34" charset="0"/>
              </a:rPr>
              <a:t>COSTO PROMEDIO PONDERADO DE CAPITAL </a:t>
            </a:r>
            <a:br>
              <a:rPr lang="es-ES" dirty="0">
                <a:latin typeface="Century Gothic" panose="020B0502020202020204" pitchFamily="34" charset="0"/>
              </a:rPr>
            </a:br>
            <a:r>
              <a:rPr lang="es-ES" dirty="0">
                <a:latin typeface="Century Gothic" panose="020B0502020202020204" pitchFamily="34" charset="0"/>
              </a:rPr>
              <a:t>(WACC)</a:t>
            </a:r>
          </a:p>
        </p:txBody>
      </p:sp>
      <p:sp>
        <p:nvSpPr>
          <p:cNvPr id="9" name="Marcador de contenido 2">
            <a:extLst>
              <a:ext uri="{FF2B5EF4-FFF2-40B4-BE49-F238E27FC236}">
                <a16:creationId xmlns:a16="http://schemas.microsoft.com/office/drawing/2014/main" id="{292B7941-38ED-47B7-5F64-6CCA2A485D04}"/>
              </a:ext>
            </a:extLst>
          </p:cNvPr>
          <p:cNvSpPr>
            <a:spLocks noGrp="1"/>
          </p:cNvSpPr>
          <p:nvPr>
            <p:ph idx="1"/>
          </p:nvPr>
        </p:nvSpPr>
        <p:spPr>
          <a:xfrm>
            <a:off x="1095842" y="2140455"/>
            <a:ext cx="10000316" cy="3815682"/>
          </a:xfrm>
        </p:spPr>
        <p:txBody>
          <a:bodyPr>
            <a:normAutofit/>
          </a:bodyPr>
          <a:lstStyle/>
          <a:p>
            <a:pPr marL="629920" lvl="1" indent="-305435"/>
            <a:r>
              <a:rPr lang="es-ES" sz="1800" dirty="0">
                <a:solidFill>
                  <a:schemeClr val="accent1"/>
                </a:solidFill>
                <a:latin typeface="Century Gothic"/>
              </a:rPr>
              <a:t>Ya hemos desarrollado las herramientas necesarias para estimar el costo de la deuda y el costo del </a:t>
            </a:r>
            <a:r>
              <a:rPr lang="es-ES" sz="1800" i="1" dirty="0" err="1">
                <a:solidFill>
                  <a:schemeClr val="accent1"/>
                </a:solidFill>
                <a:latin typeface="Century Gothic"/>
              </a:rPr>
              <a:t>equity</a:t>
            </a:r>
            <a:r>
              <a:rPr lang="es-ES" sz="1800" dirty="0">
                <a:solidFill>
                  <a:schemeClr val="accent1"/>
                </a:solidFill>
                <a:latin typeface="Century Gothic"/>
              </a:rPr>
              <a:t>.</a:t>
            </a:r>
            <a:endParaRPr lang="es-ES">
              <a:solidFill>
                <a:schemeClr val="accent1"/>
              </a:solidFill>
              <a:latin typeface="Century Gothic"/>
            </a:endParaRPr>
          </a:p>
          <a:p>
            <a:pPr lvl="1"/>
            <a:endParaRPr lang="es-ES" sz="1800" dirty="0">
              <a:solidFill>
                <a:schemeClr val="accent1"/>
              </a:solidFill>
              <a:latin typeface="Century Gothic" panose="020B0502020202020204" pitchFamily="34" charset="0"/>
            </a:endParaRPr>
          </a:p>
          <a:p>
            <a:pPr lvl="1"/>
            <a:r>
              <a:rPr lang="es-ES" sz="1800" dirty="0">
                <a:solidFill>
                  <a:schemeClr val="accent1"/>
                </a:solidFill>
                <a:latin typeface="Century Gothic" panose="020B0502020202020204" pitchFamily="34" charset="0"/>
              </a:rPr>
              <a:t>Sin embargo, lo que nos interesa es el costo de capital total del proyecto.</a:t>
            </a:r>
          </a:p>
          <a:p>
            <a:pPr lvl="1"/>
            <a:endParaRPr lang="es-ES" sz="1800" dirty="0">
              <a:solidFill>
                <a:schemeClr val="accent1"/>
              </a:solidFill>
              <a:latin typeface="Century Gothic" panose="020B0502020202020204" pitchFamily="34" charset="0"/>
            </a:endParaRPr>
          </a:p>
          <a:p>
            <a:pPr marL="629920" lvl="1" indent="-305435"/>
            <a:r>
              <a:rPr lang="es-ES" sz="1800" dirty="0">
                <a:solidFill>
                  <a:schemeClr val="accent1"/>
                </a:solidFill>
                <a:latin typeface="Century Gothic"/>
              </a:rPr>
              <a:t>Es intuitivo pensar que, dado que el proyecto se fondea a través de una mezcla de deuda y acciones, su costo será una mezcla del costo de oportunidad de la deuda y el </a:t>
            </a:r>
            <a:r>
              <a:rPr lang="es-ES" sz="1800" i="1" dirty="0" err="1">
                <a:solidFill>
                  <a:schemeClr val="accent1"/>
                </a:solidFill>
                <a:latin typeface="Century Gothic"/>
              </a:rPr>
              <a:t>equity</a:t>
            </a:r>
            <a:r>
              <a:rPr lang="es-ES" sz="1800" dirty="0">
                <a:solidFill>
                  <a:schemeClr val="accent1"/>
                </a:solidFill>
                <a:latin typeface="Century Gothic"/>
              </a:rPr>
              <a:t>.</a:t>
            </a:r>
          </a:p>
          <a:p>
            <a:pPr lvl="1"/>
            <a:endParaRPr lang="es-ES" sz="1800" dirty="0">
              <a:solidFill>
                <a:schemeClr val="accent1"/>
              </a:solidFill>
              <a:latin typeface="Century Gothic" panose="020B0502020202020204" pitchFamily="34" charset="0"/>
            </a:endParaRPr>
          </a:p>
          <a:p>
            <a:pPr lvl="1"/>
            <a:r>
              <a:rPr lang="es-ES" sz="1800" dirty="0">
                <a:solidFill>
                  <a:schemeClr val="accent1"/>
                </a:solidFill>
                <a:latin typeface="Century Gothic" panose="020B0502020202020204" pitchFamily="34" charset="0"/>
              </a:rPr>
              <a:t>Este enfoque es conocido como el WACC.</a:t>
            </a:r>
          </a:p>
        </p:txBody>
      </p:sp>
    </p:spTree>
    <p:extLst>
      <p:ext uri="{BB962C8B-B14F-4D97-AF65-F5344CB8AC3E}">
        <p14:creationId xmlns:p14="http://schemas.microsoft.com/office/powerpoint/2010/main" val="2805089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3EE67-EB1C-A418-2783-E0F9F7C3F9C0}"/>
              </a:ext>
            </a:extLst>
          </p:cNvPr>
          <p:cNvSpPr>
            <a:spLocks noGrp="1"/>
          </p:cNvSpPr>
          <p:nvPr>
            <p:ph type="title"/>
          </p:nvPr>
        </p:nvSpPr>
        <p:spPr/>
        <p:txBody>
          <a:bodyPr/>
          <a:lstStyle/>
          <a:p>
            <a:r>
              <a:rPr lang="es-ES" dirty="0">
                <a:latin typeface="Century Gothic" panose="020B0502020202020204" pitchFamily="34" charset="0"/>
              </a:rPr>
              <a:t>Costo del </a:t>
            </a:r>
            <a:r>
              <a:rPr lang="es-ES" dirty="0" err="1">
                <a:latin typeface="Century Gothic" panose="020B0502020202020204" pitchFamily="34" charset="0"/>
              </a:rPr>
              <a:t>equity</a:t>
            </a:r>
            <a:r>
              <a:rPr lang="es-ES" dirty="0">
                <a:latin typeface="Century Gothic" panose="020B0502020202020204" pitchFamily="34" charset="0"/>
              </a:rPr>
              <a:t> – RESUMEN</a:t>
            </a:r>
            <a:endParaRPr lang="es-ES_tradnl" dirty="0"/>
          </a:p>
        </p:txBody>
      </p:sp>
      <p:sp>
        <p:nvSpPr>
          <p:cNvPr id="4" name="Slide Number Placeholder 3">
            <a:extLst>
              <a:ext uri="{FF2B5EF4-FFF2-40B4-BE49-F238E27FC236}">
                <a16:creationId xmlns:a16="http://schemas.microsoft.com/office/drawing/2014/main" id="{BC69D211-885E-1B0F-0BBA-7599ED01BCEA}"/>
              </a:ext>
            </a:extLst>
          </p:cNvPr>
          <p:cNvSpPr>
            <a:spLocks noGrp="1"/>
          </p:cNvSpPr>
          <p:nvPr>
            <p:ph type="sldNum" sz="quarter" idx="12"/>
          </p:nvPr>
        </p:nvSpPr>
        <p:spPr/>
        <p:txBody>
          <a:bodyPr/>
          <a:lstStyle/>
          <a:p>
            <a:fld id="{D57F1E4F-1CFF-5643-939E-217C01CDF565}" type="slidenum">
              <a:rPr lang="en-US" smtClean="0"/>
              <a:pPr/>
              <a:t>5</a:t>
            </a:fld>
            <a:endParaRPr lang="en-US"/>
          </a:p>
        </p:txBody>
      </p:sp>
      <p:sp>
        <p:nvSpPr>
          <p:cNvPr id="9" name="TextBox 8">
            <a:extLst>
              <a:ext uri="{FF2B5EF4-FFF2-40B4-BE49-F238E27FC236}">
                <a16:creationId xmlns:a16="http://schemas.microsoft.com/office/drawing/2014/main" id="{136B7806-1D74-6E48-F2EA-305203F129ED}"/>
              </a:ext>
            </a:extLst>
          </p:cNvPr>
          <p:cNvSpPr txBox="1"/>
          <p:nvPr/>
        </p:nvSpPr>
        <p:spPr>
          <a:xfrm>
            <a:off x="819687" y="2032679"/>
            <a:ext cx="3159839" cy="523220"/>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2800" b="0" i="0"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Utilidades Retenidas</a:t>
            </a:r>
            <a:endParaRPr kumimoji="0" lang="es-CO" sz="2800" b="0" i="0"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A3D2D51E-EF24-53C5-EF4A-CE1272107BDE}"/>
              </a:ext>
            </a:extLst>
          </p:cNvPr>
          <p:cNvSpPr txBox="1"/>
          <p:nvPr/>
        </p:nvSpPr>
        <p:spPr>
          <a:xfrm>
            <a:off x="7362193" y="1896185"/>
            <a:ext cx="3336935" cy="52322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Emisión de </a:t>
            </a:r>
            <a:r>
              <a:rPr kumimoji="0" lang="es-ES" sz="2800" b="0" i="0" u="none" strike="noStrike" kern="1200" cap="none" spc="0" normalizeH="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r>
              <a:rPr kumimoji="0" lang="es-ES" sz="28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Acciones</a:t>
            </a:r>
            <a:endParaRPr kumimoji="0" lang="es-CO" sz="28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6A46516-20EA-C2A1-AF02-93B082FC40B6}"/>
                  </a:ext>
                </a:extLst>
              </p:cNvPr>
              <p:cNvSpPr txBox="1"/>
              <p:nvPr/>
            </p:nvSpPr>
            <p:spPr>
              <a:xfrm>
                <a:off x="5733750" y="3429000"/>
                <a:ext cx="5877058" cy="113678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𝑘</m:t>
                          </m:r>
                        </m:e>
                        <m:sub>
                          <m:r>
                            <a:rPr lang="en-US" sz="3600" b="0" i="1" smtClean="0">
                              <a:latin typeface="Cambria Math" panose="02040503050406030204" pitchFamily="18" charset="0"/>
                            </a:rPr>
                            <m:t>𝑒</m:t>
                          </m:r>
                        </m:sub>
                      </m:sSub>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𝐷</m:t>
                              </m:r>
                            </m:e>
                            <m:sub>
                              <m:r>
                                <a:rPr lang="en-US" sz="3600" b="0" i="1" smtClean="0">
                                  <a:latin typeface="Cambria Math" panose="02040503050406030204" pitchFamily="18" charset="0"/>
                                </a:rPr>
                                <m:t>1</m:t>
                              </m:r>
                            </m:sub>
                          </m:sSub>
                        </m:num>
                        <m:den>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𝑃</m:t>
                              </m:r>
                            </m:e>
                            <m:sub>
                              <m:r>
                                <a:rPr lang="en-US" sz="3600" b="0" i="1" smtClean="0">
                                  <a:latin typeface="Cambria Math" panose="02040503050406030204" pitchFamily="18" charset="0"/>
                                </a:rPr>
                                <m:t>𝑠</m:t>
                              </m:r>
                            </m:sub>
                          </m:sSub>
                          <m:r>
                            <a:rPr lang="en-US" sz="3600" b="0" i="1" smtClean="0">
                              <a:latin typeface="Cambria Math" panose="02040503050406030204" pitchFamily="18" charset="0"/>
                            </a:rPr>
                            <m:t>−[</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𝐶</m:t>
                              </m:r>
                            </m:e>
                            <m:sub>
                              <m:r>
                                <a:rPr lang="en-US" sz="3600" b="0" i="1" smtClean="0">
                                  <a:latin typeface="Cambria Math" panose="02040503050406030204" pitchFamily="18" charset="0"/>
                                </a:rPr>
                                <m:t>𝑡</m:t>
                              </m:r>
                            </m:sub>
                          </m:sSub>
                          <m:r>
                            <a:rPr lang="en-US" sz="3600" b="0" i="1" smtClean="0">
                              <a:latin typeface="Cambria Math" panose="02040503050406030204" pitchFamily="18" charset="0"/>
                            </a:rPr>
                            <m:t>∗</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1−</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𝑇</m:t>
                                  </m:r>
                                </m:e>
                                <m:sub>
                                  <m:r>
                                    <a:rPr lang="en-US" sz="3600" b="0" i="1" smtClean="0">
                                      <a:latin typeface="Cambria Math" panose="02040503050406030204" pitchFamily="18" charset="0"/>
                                    </a:rPr>
                                    <m:t>𝑥</m:t>
                                  </m:r>
                                </m:sub>
                              </m:sSub>
                            </m:e>
                          </m:d>
                          <m:r>
                            <a:rPr lang="en-US" sz="3600" b="0" i="1" smtClean="0">
                              <a:latin typeface="Cambria Math" panose="02040503050406030204" pitchFamily="18" charset="0"/>
                            </a:rPr>
                            <m:t>]</m:t>
                          </m:r>
                        </m:den>
                      </m:f>
                      <m:r>
                        <a:rPr lang="en-US" sz="3600" b="0" i="1" smtClean="0">
                          <a:latin typeface="Cambria Math" panose="02040503050406030204" pitchFamily="18" charset="0"/>
                        </a:rPr>
                        <m:t>+</m:t>
                      </m:r>
                      <m:r>
                        <a:rPr lang="en-US" sz="3600" b="0" i="1" smtClean="0">
                          <a:latin typeface="Cambria Math" panose="02040503050406030204" pitchFamily="18" charset="0"/>
                        </a:rPr>
                        <m:t>𝑔</m:t>
                      </m:r>
                      <m:r>
                        <a:rPr lang="en-US" sz="3600" b="0" i="1" smtClean="0">
                          <a:latin typeface="Cambria Math" panose="02040503050406030204" pitchFamily="18" charset="0"/>
                        </a:rPr>
                        <m:t> </m:t>
                      </m:r>
                    </m:oMath>
                  </m:oMathPara>
                </a14:m>
                <a:endParaRPr lang="es-ES_tradnl" sz="3600" dirty="0"/>
              </a:p>
            </p:txBody>
          </p:sp>
        </mc:Choice>
        <mc:Fallback xmlns="">
          <p:sp>
            <p:nvSpPr>
              <p:cNvPr id="11" name="TextBox 10">
                <a:extLst>
                  <a:ext uri="{FF2B5EF4-FFF2-40B4-BE49-F238E27FC236}">
                    <a16:creationId xmlns:a16="http://schemas.microsoft.com/office/drawing/2014/main" id="{26A46516-20EA-C2A1-AF02-93B082FC40B6}"/>
                  </a:ext>
                </a:extLst>
              </p:cNvPr>
              <p:cNvSpPr txBox="1">
                <a:spLocks noRot="1" noChangeAspect="1" noMove="1" noResize="1" noEditPoints="1" noAdjustHandles="1" noChangeArrowheads="1" noChangeShapeType="1" noTextEdit="1"/>
              </p:cNvSpPr>
              <p:nvPr/>
            </p:nvSpPr>
            <p:spPr>
              <a:xfrm>
                <a:off x="5733750" y="3429000"/>
                <a:ext cx="5877058" cy="1136786"/>
              </a:xfrm>
              <a:prstGeom prst="rect">
                <a:avLst/>
              </a:prstGeom>
              <a:blipFill>
                <a:blip r:embed="rId2"/>
                <a:stretch>
                  <a:fillRect l="-1293" t="-1111" r="-2371" b="-18889"/>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5" name="Content Placeholder 14">
                <a:extLst>
                  <a:ext uri="{FF2B5EF4-FFF2-40B4-BE49-F238E27FC236}">
                    <a16:creationId xmlns:a16="http://schemas.microsoft.com/office/drawing/2014/main" id="{33C625F0-3BAC-8365-39EC-535270FA3EA5}"/>
                  </a:ext>
                </a:extLst>
              </p:cNvPr>
              <p:cNvSpPr txBox="1">
                <a:spLocks noGrp="1"/>
              </p:cNvSpPr>
              <p:nvPr>
                <p:ph idx="1"/>
              </p:nvPr>
            </p:nvSpPr>
            <p:spPr>
              <a:xfrm>
                <a:off x="673588" y="3344622"/>
                <a:ext cx="3871518" cy="1226233"/>
              </a:xfrm>
              <a:prstGeom prst="rect">
                <a:avLst/>
              </a:prstGeom>
              <a:noFill/>
            </p:spPr>
            <p:txBody>
              <a:bodyPr wrap="square" lIns="0" tIns="0" rIns="0" bIns="0" rtlCol="0">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𝑘</m:t>
                          </m:r>
                        </m:e>
                        <m:sub>
                          <m:r>
                            <a:rPr lang="en-US" sz="3600" b="0" i="1" smtClean="0">
                              <a:latin typeface="Cambria Math" panose="02040503050406030204" pitchFamily="18" charset="0"/>
                            </a:rPr>
                            <m:t>𝑒</m:t>
                          </m:r>
                        </m:sub>
                      </m:sSub>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𝐷</m:t>
                              </m:r>
                            </m:e>
                            <m:sub>
                              <m:r>
                                <a:rPr lang="en-US" sz="3600" b="0" i="1" smtClean="0">
                                  <a:latin typeface="Cambria Math" panose="02040503050406030204" pitchFamily="18" charset="0"/>
                                </a:rPr>
                                <m:t>1</m:t>
                              </m:r>
                            </m:sub>
                          </m:sSub>
                          <m:r>
                            <a:rPr lang="en-US" sz="3600" b="0" i="1" smtClean="0">
                              <a:latin typeface="Cambria Math" panose="02040503050406030204" pitchFamily="18" charset="0"/>
                            </a:rPr>
                            <m:t> </m:t>
                          </m:r>
                        </m:num>
                        <m:den>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𝑃</m:t>
                              </m:r>
                            </m:e>
                            <m:sub>
                              <m:r>
                                <a:rPr lang="en-US" sz="3600" b="0" i="1" smtClean="0">
                                  <a:latin typeface="Cambria Math" panose="02040503050406030204" pitchFamily="18" charset="0"/>
                                </a:rPr>
                                <m:t>0</m:t>
                              </m:r>
                            </m:sub>
                          </m:sSub>
                        </m:den>
                      </m:f>
                      <m:r>
                        <a:rPr lang="en-US" sz="3600" b="0" i="1" smtClean="0">
                          <a:latin typeface="Cambria Math" panose="02040503050406030204" pitchFamily="18" charset="0"/>
                        </a:rPr>
                        <m:t>+</m:t>
                      </m:r>
                      <m:r>
                        <a:rPr lang="en-US" sz="3600" b="0" i="1" smtClean="0">
                          <a:latin typeface="Cambria Math" panose="02040503050406030204" pitchFamily="18" charset="0"/>
                        </a:rPr>
                        <m:t>𝑔</m:t>
                      </m:r>
                      <m:r>
                        <a:rPr lang="en-US" sz="3600" b="0" i="1" smtClean="0">
                          <a:latin typeface="Cambria Math" panose="02040503050406030204" pitchFamily="18" charset="0"/>
                        </a:rPr>
                        <m:t> </m:t>
                      </m:r>
                    </m:oMath>
                  </m:oMathPara>
                </a14:m>
                <a:endParaRPr lang="es-ES_tradnl" sz="3600" dirty="0"/>
              </a:p>
            </p:txBody>
          </p:sp>
        </mc:Choice>
        <mc:Fallback xmlns="">
          <p:sp>
            <p:nvSpPr>
              <p:cNvPr id="15" name="Content Placeholder 14">
                <a:extLst>
                  <a:ext uri="{FF2B5EF4-FFF2-40B4-BE49-F238E27FC236}">
                    <a16:creationId xmlns:a16="http://schemas.microsoft.com/office/drawing/2014/main" id="{33C625F0-3BAC-8365-39EC-535270FA3EA5}"/>
                  </a:ext>
                </a:extLst>
              </p:cNvPr>
              <p:cNvSpPr txBox="1">
                <a:spLocks noGrp="1" noRot="1" noChangeAspect="1" noMove="1" noResize="1" noEditPoints="1" noAdjustHandles="1" noChangeArrowheads="1" noChangeShapeType="1" noTextEdit="1"/>
              </p:cNvSpPr>
              <p:nvPr>
                <p:ph idx="1"/>
              </p:nvPr>
            </p:nvSpPr>
            <p:spPr>
              <a:xfrm>
                <a:off x="673588" y="3344622"/>
                <a:ext cx="3871518" cy="1226233"/>
              </a:xfrm>
              <a:prstGeom prst="rect">
                <a:avLst/>
              </a:prstGeom>
              <a:blipFill>
                <a:blip r:embed="rId3"/>
                <a:stretch>
                  <a:fillRect t="-7216" b="-2062"/>
                </a:stretch>
              </a:blipFill>
            </p:spPr>
            <p:txBody>
              <a:bodyPr/>
              <a:lstStyle/>
              <a:p>
                <a:r>
                  <a:rPr lang="es-ES_tradnl">
                    <a:noFill/>
                  </a:rPr>
                  <a:t> </a:t>
                </a:r>
              </a:p>
            </p:txBody>
          </p:sp>
        </mc:Fallback>
      </mc:AlternateContent>
    </p:spTree>
    <p:extLst>
      <p:ext uri="{BB962C8B-B14F-4D97-AF65-F5344CB8AC3E}">
        <p14:creationId xmlns:p14="http://schemas.microsoft.com/office/powerpoint/2010/main" val="2045831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3EE67-EB1C-A418-2783-E0F9F7C3F9C0}"/>
              </a:ext>
            </a:extLst>
          </p:cNvPr>
          <p:cNvSpPr>
            <a:spLocks noGrp="1"/>
          </p:cNvSpPr>
          <p:nvPr>
            <p:ph type="title"/>
          </p:nvPr>
        </p:nvSpPr>
        <p:spPr/>
        <p:txBody>
          <a:bodyPr/>
          <a:lstStyle/>
          <a:p>
            <a:r>
              <a:rPr lang="es-ES" dirty="0">
                <a:latin typeface="Century Gothic" panose="020B0502020202020204" pitchFamily="34" charset="0"/>
              </a:rPr>
              <a:t>Costo de la deuda DESPUÉS DE IMPUESTOS</a:t>
            </a:r>
            <a:endParaRPr lang="es-ES_tradnl" dirty="0"/>
          </a:p>
        </p:txBody>
      </p:sp>
      <p:sp>
        <p:nvSpPr>
          <p:cNvPr id="4" name="Slide Number Placeholder 3">
            <a:extLst>
              <a:ext uri="{FF2B5EF4-FFF2-40B4-BE49-F238E27FC236}">
                <a16:creationId xmlns:a16="http://schemas.microsoft.com/office/drawing/2014/main" id="{BC69D211-885E-1B0F-0BBA-7599ED01BCEA}"/>
              </a:ext>
            </a:extLst>
          </p:cNvPr>
          <p:cNvSpPr>
            <a:spLocks noGrp="1"/>
          </p:cNvSpPr>
          <p:nvPr>
            <p:ph type="sldNum" sz="quarter" idx="12"/>
          </p:nvPr>
        </p:nvSpPr>
        <p:spPr/>
        <p:txBody>
          <a:bodyPr/>
          <a:lstStyle/>
          <a:p>
            <a:fld id="{D57F1E4F-1CFF-5643-939E-217C01CDF565}" type="slidenum">
              <a:rPr lang="en-US" smtClean="0"/>
              <a:pPr/>
              <a:t>6</a:t>
            </a:fld>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01D9522-90F3-CDB4-5555-527BBAFF8A98}"/>
                  </a:ext>
                </a:extLst>
              </p:cNvPr>
              <p:cNvSpPr txBox="1"/>
              <p:nvPr/>
            </p:nvSpPr>
            <p:spPr>
              <a:xfrm>
                <a:off x="3348290" y="2429556"/>
                <a:ext cx="5408019"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3600" b="0" i="1" smtClean="0">
                              <a:latin typeface="Cambria Math" panose="02040503050406030204" pitchFamily="18" charset="0"/>
                            </a:rPr>
                          </m:ctrlPr>
                        </m:sSubPr>
                        <m:e>
                          <m:r>
                            <a:rPr lang="es-CO" sz="3600" b="0" i="1" smtClean="0">
                              <a:latin typeface="Cambria Math" panose="02040503050406030204" pitchFamily="18" charset="0"/>
                            </a:rPr>
                            <m:t>𝐾</m:t>
                          </m:r>
                        </m:e>
                        <m:sub>
                          <m:r>
                            <a:rPr lang="es-CO" sz="3600" b="0" i="1" smtClean="0">
                              <a:latin typeface="Cambria Math" panose="02040503050406030204" pitchFamily="18" charset="0"/>
                            </a:rPr>
                            <m:t>𝑑</m:t>
                          </m:r>
                        </m:sub>
                      </m:sSub>
                      <m:r>
                        <a:rPr lang="es-CO" sz="3600" b="0" i="1" smtClean="0">
                          <a:latin typeface="Cambria Math" panose="02040503050406030204" pitchFamily="18" charset="0"/>
                        </a:rPr>
                        <m:t>∗</m:t>
                      </m:r>
                      <m:d>
                        <m:dPr>
                          <m:ctrlPr>
                            <a:rPr lang="es-CO" sz="3600" b="0" i="1" smtClean="0">
                              <a:latin typeface="Cambria Math" panose="02040503050406030204" pitchFamily="18" charset="0"/>
                            </a:rPr>
                          </m:ctrlPr>
                        </m:dPr>
                        <m:e>
                          <m:r>
                            <a:rPr lang="es-CO" sz="3600" b="0" i="1" smtClean="0">
                              <a:latin typeface="Cambria Math" panose="02040503050406030204" pitchFamily="18" charset="0"/>
                            </a:rPr>
                            <m:t>1−</m:t>
                          </m:r>
                          <m:r>
                            <a:rPr lang="es-CO" sz="3600" b="0" i="1" smtClean="0">
                              <a:latin typeface="Cambria Math" panose="02040503050406030204" pitchFamily="18" charset="0"/>
                            </a:rPr>
                            <m:t>𝜏</m:t>
                          </m:r>
                        </m:e>
                      </m:d>
                      <m:r>
                        <a:rPr lang="es-CO" sz="3600" b="0" i="1" smtClean="0">
                          <a:latin typeface="Cambria Math" panose="02040503050406030204" pitchFamily="18" charset="0"/>
                        </a:rPr>
                        <m:t>=</m:t>
                      </m:r>
                      <m:r>
                        <a:rPr lang="es-CO" sz="3600" b="0" i="1" smtClean="0">
                          <a:latin typeface="Cambria Math" panose="02040503050406030204" pitchFamily="18" charset="0"/>
                        </a:rPr>
                        <m:t>𝑖</m:t>
                      </m:r>
                      <m:r>
                        <a:rPr lang="es-CO" sz="3600" b="0" i="1" smtClean="0">
                          <a:latin typeface="Cambria Math" panose="02040503050406030204" pitchFamily="18" charset="0"/>
                        </a:rPr>
                        <m:t>∗(1−</m:t>
                      </m:r>
                      <m:r>
                        <a:rPr lang="es-CO" sz="3600" b="0" i="1" smtClean="0">
                          <a:latin typeface="Cambria Math" panose="02040503050406030204" pitchFamily="18" charset="0"/>
                        </a:rPr>
                        <m:t>𝑇𝑥</m:t>
                      </m:r>
                      <m:r>
                        <a:rPr lang="es-CO" sz="3600" b="0" i="1" smtClean="0">
                          <a:latin typeface="Cambria Math" panose="02040503050406030204" pitchFamily="18" charset="0"/>
                        </a:rPr>
                        <m:t>)</m:t>
                      </m:r>
                    </m:oMath>
                  </m:oMathPara>
                </a14:m>
                <a:endParaRPr lang="en-US" sz="3600" dirty="0"/>
              </a:p>
            </p:txBody>
          </p:sp>
        </mc:Choice>
        <mc:Fallback xmlns="">
          <p:sp>
            <p:nvSpPr>
              <p:cNvPr id="13" name="TextBox 12">
                <a:extLst>
                  <a:ext uri="{FF2B5EF4-FFF2-40B4-BE49-F238E27FC236}">
                    <a16:creationId xmlns:a16="http://schemas.microsoft.com/office/drawing/2014/main" id="{901D9522-90F3-CDB4-5555-527BBAFF8A98}"/>
                  </a:ext>
                </a:extLst>
              </p:cNvPr>
              <p:cNvSpPr txBox="1">
                <a:spLocks noRot="1" noChangeAspect="1" noMove="1" noResize="1" noEditPoints="1" noAdjustHandles="1" noChangeArrowheads="1" noChangeShapeType="1" noTextEdit="1"/>
              </p:cNvSpPr>
              <p:nvPr/>
            </p:nvSpPr>
            <p:spPr>
              <a:xfrm>
                <a:off x="3348290" y="2429556"/>
                <a:ext cx="5408019" cy="553998"/>
              </a:xfrm>
              <a:prstGeom prst="rect">
                <a:avLst/>
              </a:prstGeom>
              <a:blipFill>
                <a:blip r:embed="rId2"/>
                <a:stretch>
                  <a:fillRect l="-1171" r="-2108" b="-38636"/>
                </a:stretch>
              </a:blipFill>
            </p:spPr>
            <p:txBody>
              <a:bodyPr/>
              <a:lstStyle/>
              <a:p>
                <a:r>
                  <a:rPr lang="es-ES_tradnl">
                    <a:noFill/>
                  </a:rPr>
                  <a:t> </a:t>
                </a:r>
              </a:p>
            </p:txBody>
          </p:sp>
        </mc:Fallback>
      </mc:AlternateContent>
      <p:sp>
        <p:nvSpPr>
          <p:cNvPr id="14" name="Marcador de contenido 2">
            <a:extLst>
              <a:ext uri="{FF2B5EF4-FFF2-40B4-BE49-F238E27FC236}">
                <a16:creationId xmlns:a16="http://schemas.microsoft.com/office/drawing/2014/main" id="{EE1FC9A0-6C11-D81F-6A7D-F6C88954A154}"/>
              </a:ext>
            </a:extLst>
          </p:cNvPr>
          <p:cNvSpPr>
            <a:spLocks noGrp="1"/>
          </p:cNvSpPr>
          <p:nvPr>
            <p:ph idx="1"/>
          </p:nvPr>
        </p:nvSpPr>
        <p:spPr>
          <a:xfrm>
            <a:off x="581193" y="2169564"/>
            <a:ext cx="11029615" cy="3678303"/>
          </a:xfrm>
        </p:spPr>
        <p:txBody>
          <a:bodyPr anchor="t">
            <a:normAutofit/>
          </a:bodyPr>
          <a:lstStyle/>
          <a:p>
            <a:pPr marL="0" indent="0">
              <a:buNone/>
            </a:pPr>
            <a:r>
              <a:rPr lang="es-ES" b="1" dirty="0">
                <a:solidFill>
                  <a:srgbClr val="C00000"/>
                </a:solidFill>
                <a:latin typeface="Century Gothic" panose="020B0502020202020204" pitchFamily="34" charset="0"/>
              </a:rPr>
              <a:t>Forma rápida</a:t>
            </a:r>
          </a:p>
          <a:p>
            <a:pPr marL="0" indent="0">
              <a:buNone/>
            </a:pPr>
            <a:endParaRPr lang="es-ES" b="1" dirty="0">
              <a:solidFill>
                <a:srgbClr val="C00000"/>
              </a:solidFill>
              <a:latin typeface="Century Gothic" panose="020B0502020202020204" pitchFamily="34" charset="0"/>
            </a:endParaRPr>
          </a:p>
          <a:p>
            <a:pPr marL="0" indent="0">
              <a:buNone/>
            </a:pPr>
            <a:endParaRPr lang="es-ES" b="1" dirty="0">
              <a:solidFill>
                <a:srgbClr val="C00000"/>
              </a:solidFill>
              <a:latin typeface="Century Gothic" panose="020B0502020202020204" pitchFamily="34" charset="0"/>
            </a:endParaRPr>
          </a:p>
          <a:p>
            <a:pPr marL="0" indent="0">
              <a:buNone/>
            </a:pPr>
            <a:endParaRPr lang="es-ES" b="1" dirty="0">
              <a:solidFill>
                <a:srgbClr val="C00000"/>
              </a:solidFill>
              <a:latin typeface="Century Gothic" panose="020B0502020202020204" pitchFamily="34" charset="0"/>
            </a:endParaRPr>
          </a:p>
          <a:p>
            <a:pPr marL="0" indent="0">
              <a:buNone/>
            </a:pPr>
            <a:r>
              <a:rPr lang="es-ES" b="1" dirty="0">
                <a:solidFill>
                  <a:srgbClr val="C00000"/>
                </a:solidFill>
                <a:latin typeface="Century Gothic" panose="020B0502020202020204" pitchFamily="34" charset="0"/>
              </a:rPr>
              <a:t>Condiciones</a:t>
            </a:r>
          </a:p>
          <a:p>
            <a:pPr lvl="1">
              <a:buClr>
                <a:schemeClr val="accent3">
                  <a:lumMod val="75000"/>
                </a:schemeClr>
              </a:buClr>
            </a:pPr>
            <a:r>
              <a:rPr lang="es-ES" sz="1800" dirty="0">
                <a:solidFill>
                  <a:schemeClr val="accent1"/>
                </a:solidFill>
                <a:latin typeface="Century Gothic" panose="020B0502020202020204" pitchFamily="34" charset="0"/>
              </a:rPr>
              <a:t>No existe ningún costo de transacción ni reciprocidades.</a:t>
            </a:r>
          </a:p>
          <a:p>
            <a:pPr lvl="1">
              <a:buClr>
                <a:schemeClr val="accent3">
                  <a:lumMod val="75000"/>
                </a:schemeClr>
              </a:buClr>
            </a:pPr>
            <a:r>
              <a:rPr lang="es-ES" sz="1800" dirty="0">
                <a:solidFill>
                  <a:schemeClr val="accent1"/>
                </a:solidFill>
                <a:latin typeface="Century Gothic" panose="020B0502020202020204" pitchFamily="34" charset="0"/>
              </a:rPr>
              <a:t>La tasa de interés es efectiva o vencida.</a:t>
            </a:r>
          </a:p>
          <a:p>
            <a:pPr lvl="1">
              <a:buClr>
                <a:schemeClr val="accent3">
                  <a:lumMod val="75000"/>
                </a:schemeClr>
              </a:buClr>
            </a:pPr>
            <a:r>
              <a:rPr lang="es-ES" sz="1800" dirty="0">
                <a:solidFill>
                  <a:schemeClr val="accent1"/>
                </a:solidFill>
                <a:latin typeface="Century Gothic" panose="020B0502020202020204" pitchFamily="34" charset="0"/>
              </a:rPr>
              <a:t>La temporalidad de la tasa de interés es anual.</a:t>
            </a:r>
          </a:p>
        </p:txBody>
      </p:sp>
    </p:spTree>
    <p:extLst>
      <p:ext uri="{BB962C8B-B14F-4D97-AF65-F5344CB8AC3E}">
        <p14:creationId xmlns:p14="http://schemas.microsoft.com/office/powerpoint/2010/main" val="3490314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E5A3D-F3DA-B3B7-760A-6FBE0651A6D1}"/>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D3B78B2B-33F9-CDF9-F866-5FF71B5A787A}"/>
              </a:ext>
            </a:extLst>
          </p:cNvPr>
          <p:cNvSpPr>
            <a:spLocks noGrp="1"/>
          </p:cNvSpPr>
          <p:nvPr>
            <p:ph type="sldNum" sz="quarter" idx="12"/>
          </p:nvPr>
        </p:nvSpPr>
        <p:spPr/>
        <p:txBody>
          <a:bodyPr/>
          <a:lstStyle/>
          <a:p>
            <a:fld id="{5E3E23BA-6E79-2442-BA73-D218A5E297C3}" type="slidenum">
              <a:rPr lang="en-US" sz="1800" smtClean="0"/>
              <a:t>7</a:t>
            </a:fld>
            <a:endParaRPr lang="en-US" sz="1800"/>
          </a:p>
        </p:txBody>
      </p:sp>
      <p:sp>
        <p:nvSpPr>
          <p:cNvPr id="2" name="Rectángulo 1">
            <a:extLst>
              <a:ext uri="{FF2B5EF4-FFF2-40B4-BE49-F238E27FC236}">
                <a16:creationId xmlns:a16="http://schemas.microsoft.com/office/drawing/2014/main" id="{F69EDB2B-0DA3-98CE-B767-4E5DC2918E7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5BF0433C-BA9C-085A-4463-60BC48BBB0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B695B111-C8BF-BCF6-774B-8E7B3CB2ECD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6" name="Título 1">
            <a:extLst>
              <a:ext uri="{FF2B5EF4-FFF2-40B4-BE49-F238E27FC236}">
                <a16:creationId xmlns:a16="http://schemas.microsoft.com/office/drawing/2014/main" id="{4B96AA15-B031-EE79-E7CC-4B5B0A135B01}"/>
              </a:ext>
            </a:extLst>
          </p:cNvPr>
          <p:cNvSpPr>
            <a:spLocks noGrp="1"/>
          </p:cNvSpPr>
          <p:nvPr>
            <p:ph type="title"/>
          </p:nvPr>
        </p:nvSpPr>
        <p:spPr>
          <a:xfrm>
            <a:off x="581192" y="702156"/>
            <a:ext cx="11029616" cy="1013800"/>
          </a:xfrm>
        </p:spPr>
        <p:txBody>
          <a:bodyPr>
            <a:normAutofit/>
          </a:bodyPr>
          <a:lstStyle/>
          <a:p>
            <a:r>
              <a:rPr lang="es-ES" dirty="0">
                <a:latin typeface="Century Gothic" panose="020B0502020202020204" pitchFamily="34" charset="0"/>
              </a:rPr>
              <a:t>COSTO PROMEDIO PONDERADO DE CAPITAL </a:t>
            </a:r>
            <a:br>
              <a:rPr lang="es-ES" dirty="0">
                <a:latin typeface="Century Gothic" panose="020B0502020202020204" pitchFamily="34" charset="0"/>
              </a:rPr>
            </a:br>
            <a:r>
              <a:rPr lang="es-ES" dirty="0">
                <a:latin typeface="Century Gothic" panose="020B0502020202020204" pitchFamily="34" charset="0"/>
              </a:rPr>
              <a:t>(WACC)</a:t>
            </a:r>
          </a:p>
        </p:txBody>
      </p:sp>
      <p:pic>
        <p:nvPicPr>
          <p:cNvPr id="8" name="Picture 7">
            <a:extLst>
              <a:ext uri="{FF2B5EF4-FFF2-40B4-BE49-F238E27FC236}">
                <a16:creationId xmlns:a16="http://schemas.microsoft.com/office/drawing/2014/main" id="{8EAFA8CB-0436-5D6C-F089-8975F16810BC}"/>
              </a:ext>
            </a:extLst>
          </p:cNvPr>
          <p:cNvPicPr>
            <a:picLocks noChangeAspect="1"/>
          </p:cNvPicPr>
          <p:nvPr/>
        </p:nvPicPr>
        <p:blipFill>
          <a:blip r:embed="rId3"/>
          <a:stretch>
            <a:fillRect/>
          </a:stretch>
        </p:blipFill>
        <p:spPr>
          <a:xfrm>
            <a:off x="2578877" y="3576465"/>
            <a:ext cx="7380026" cy="743798"/>
          </a:xfrm>
          <a:prstGeom prst="rect">
            <a:avLst/>
          </a:prstGeom>
        </p:spPr>
      </p:pic>
      <p:sp>
        <p:nvSpPr>
          <p:cNvPr id="11" name="Marcador de contenido 2">
            <a:extLst>
              <a:ext uri="{FF2B5EF4-FFF2-40B4-BE49-F238E27FC236}">
                <a16:creationId xmlns:a16="http://schemas.microsoft.com/office/drawing/2014/main" id="{AB242696-B724-AB13-9DBE-626971D531A5}"/>
              </a:ext>
            </a:extLst>
          </p:cNvPr>
          <p:cNvSpPr>
            <a:spLocks noGrp="1"/>
          </p:cNvSpPr>
          <p:nvPr>
            <p:ph idx="1"/>
          </p:nvPr>
        </p:nvSpPr>
        <p:spPr>
          <a:xfrm>
            <a:off x="6364583" y="2809458"/>
            <a:ext cx="2444621" cy="449494"/>
          </a:xfrm>
        </p:spPr>
        <p:txBody>
          <a:bodyPr>
            <a:normAutofit/>
          </a:bodyPr>
          <a:lstStyle/>
          <a:p>
            <a:pPr marL="0" indent="0" algn="just">
              <a:buNone/>
            </a:pPr>
            <a:r>
              <a:rPr lang="es-ES" dirty="0">
                <a:solidFill>
                  <a:srgbClr val="0070C0"/>
                </a:solidFill>
                <a:latin typeface="Century Gothic" panose="020B0502020202020204" pitchFamily="34" charset="0"/>
              </a:rPr>
              <a:t>Antes de Impuestos</a:t>
            </a:r>
          </a:p>
        </p:txBody>
      </p:sp>
      <p:cxnSp>
        <p:nvCxnSpPr>
          <p:cNvPr id="12" name="Conector: angular 14">
            <a:extLst>
              <a:ext uri="{FF2B5EF4-FFF2-40B4-BE49-F238E27FC236}">
                <a16:creationId xmlns:a16="http://schemas.microsoft.com/office/drawing/2014/main" id="{EEEF18F0-611C-875C-85AE-A99103E14B62}"/>
              </a:ext>
            </a:extLst>
          </p:cNvPr>
          <p:cNvCxnSpPr>
            <a:cxnSpLocks/>
            <a:endCxn id="11" idx="1"/>
          </p:cNvCxnSpPr>
          <p:nvPr/>
        </p:nvCxnSpPr>
        <p:spPr>
          <a:xfrm rot="5400000" flipH="1" flipV="1">
            <a:off x="5729586" y="3062279"/>
            <a:ext cx="663070" cy="606923"/>
          </a:xfrm>
          <a:prstGeom prst="bentConnector2">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3" name="Cerrar llave 16">
            <a:extLst>
              <a:ext uri="{FF2B5EF4-FFF2-40B4-BE49-F238E27FC236}">
                <a16:creationId xmlns:a16="http://schemas.microsoft.com/office/drawing/2014/main" id="{4291C284-B695-2F70-2864-7E187CA95EE8}"/>
              </a:ext>
            </a:extLst>
          </p:cNvPr>
          <p:cNvSpPr/>
          <p:nvPr/>
        </p:nvSpPr>
        <p:spPr>
          <a:xfrm rot="5400000">
            <a:off x="6527885" y="3161461"/>
            <a:ext cx="318976" cy="2252831"/>
          </a:xfrm>
          <a:prstGeom prst="rightBrace">
            <a:avLst/>
          </a:prstGeom>
          <a:ln w="38100">
            <a:solidFill>
              <a:schemeClr val="accent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latin typeface="Century Gothic" panose="020B0502020202020204" pitchFamily="34" charset="0"/>
            </a:endParaRPr>
          </a:p>
        </p:txBody>
      </p:sp>
      <p:sp>
        <p:nvSpPr>
          <p:cNvPr id="14" name="Marcador de contenido 2">
            <a:extLst>
              <a:ext uri="{FF2B5EF4-FFF2-40B4-BE49-F238E27FC236}">
                <a16:creationId xmlns:a16="http://schemas.microsoft.com/office/drawing/2014/main" id="{766B986D-049C-7A83-B730-D8BD94DF453C}"/>
              </a:ext>
            </a:extLst>
          </p:cNvPr>
          <p:cNvSpPr txBox="1">
            <a:spLocks/>
          </p:cNvSpPr>
          <p:nvPr/>
        </p:nvSpPr>
        <p:spPr>
          <a:xfrm>
            <a:off x="7586893" y="4567692"/>
            <a:ext cx="2791547" cy="449494"/>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s-ES" dirty="0">
                <a:solidFill>
                  <a:schemeClr val="accent1">
                    <a:lumMod val="75000"/>
                    <a:lumOff val="25000"/>
                  </a:schemeClr>
                </a:solidFill>
                <a:latin typeface="Century Gothic" panose="020B0502020202020204" pitchFamily="34" charset="0"/>
              </a:rPr>
              <a:t>Después de Impuestos</a:t>
            </a:r>
          </a:p>
        </p:txBody>
      </p:sp>
      <p:cxnSp>
        <p:nvCxnSpPr>
          <p:cNvPr id="15" name="Conector: angular 19">
            <a:extLst>
              <a:ext uri="{FF2B5EF4-FFF2-40B4-BE49-F238E27FC236}">
                <a16:creationId xmlns:a16="http://schemas.microsoft.com/office/drawing/2014/main" id="{F9344478-53E5-3267-C748-476342E01828}"/>
              </a:ext>
            </a:extLst>
          </p:cNvPr>
          <p:cNvCxnSpPr>
            <a:cxnSpLocks/>
            <a:stCxn id="13" idx="1"/>
            <a:endCxn id="14" idx="1"/>
          </p:cNvCxnSpPr>
          <p:nvPr/>
        </p:nvCxnSpPr>
        <p:spPr>
          <a:xfrm rot="16200000" flipH="1">
            <a:off x="6964596" y="4170142"/>
            <a:ext cx="345074" cy="899520"/>
          </a:xfrm>
          <a:prstGeom prst="bentConnector4">
            <a:avLst>
              <a:gd name="adj1" fmla="val 100695"/>
              <a:gd name="adj2" fmla="val 58865"/>
            </a:avLst>
          </a:prstGeom>
          <a:ln w="38100">
            <a:solidFill>
              <a:schemeClr val="accent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0478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animBg="1"/>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E7F9B-AFEE-81AD-D7E9-DE4D41530C28}"/>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65FDF223-04CE-1229-DB92-EE18124D94C1}"/>
              </a:ext>
            </a:extLst>
          </p:cNvPr>
          <p:cNvSpPr>
            <a:spLocks noGrp="1"/>
          </p:cNvSpPr>
          <p:nvPr>
            <p:ph type="sldNum" sz="quarter" idx="12"/>
          </p:nvPr>
        </p:nvSpPr>
        <p:spPr/>
        <p:txBody>
          <a:bodyPr/>
          <a:lstStyle/>
          <a:p>
            <a:fld id="{5E3E23BA-6E79-2442-BA73-D218A5E297C3}" type="slidenum">
              <a:rPr lang="en-US" sz="1800" smtClean="0"/>
              <a:t>8</a:t>
            </a:fld>
            <a:endParaRPr lang="en-US" sz="1800"/>
          </a:p>
        </p:txBody>
      </p:sp>
      <p:sp>
        <p:nvSpPr>
          <p:cNvPr id="2" name="Rectángulo 1">
            <a:extLst>
              <a:ext uri="{FF2B5EF4-FFF2-40B4-BE49-F238E27FC236}">
                <a16:creationId xmlns:a16="http://schemas.microsoft.com/office/drawing/2014/main" id="{E9BBC709-C7B3-79C8-0CA9-408A707CC61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F00AB8E2-2CE3-49F4-FB07-9374C1537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7FDFDADB-BBAE-9CF3-2D84-40349DE17CB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6" name="Título 1">
            <a:extLst>
              <a:ext uri="{FF2B5EF4-FFF2-40B4-BE49-F238E27FC236}">
                <a16:creationId xmlns:a16="http://schemas.microsoft.com/office/drawing/2014/main" id="{A0353417-F31C-D390-C36C-214E4DA49C1A}"/>
              </a:ext>
            </a:extLst>
          </p:cNvPr>
          <p:cNvSpPr>
            <a:spLocks noGrp="1"/>
          </p:cNvSpPr>
          <p:nvPr>
            <p:ph type="title"/>
          </p:nvPr>
        </p:nvSpPr>
        <p:spPr>
          <a:xfrm>
            <a:off x="581192" y="702156"/>
            <a:ext cx="11029616" cy="1013800"/>
          </a:xfrm>
        </p:spPr>
        <p:txBody>
          <a:bodyPr>
            <a:normAutofit/>
          </a:bodyPr>
          <a:lstStyle/>
          <a:p>
            <a:r>
              <a:rPr lang="es-ES" dirty="0">
                <a:latin typeface="Century Gothic" panose="020B0502020202020204" pitchFamily="34" charset="0"/>
              </a:rPr>
              <a:t>COSTO PROMEDIO PONDERADO DE CAPITAL </a:t>
            </a:r>
            <a:br>
              <a:rPr lang="es-ES" dirty="0">
                <a:latin typeface="Century Gothic" panose="020B0502020202020204" pitchFamily="34" charset="0"/>
              </a:rPr>
            </a:br>
            <a:r>
              <a:rPr lang="es-ES" dirty="0">
                <a:latin typeface="Century Gothic" panose="020B0502020202020204" pitchFamily="34" charset="0"/>
              </a:rPr>
              <a:t>(WACC)</a:t>
            </a:r>
          </a:p>
        </p:txBody>
      </p:sp>
      <p:sp>
        <p:nvSpPr>
          <p:cNvPr id="9" name="Rectángulo 12">
            <a:extLst>
              <a:ext uri="{FF2B5EF4-FFF2-40B4-BE49-F238E27FC236}">
                <a16:creationId xmlns:a16="http://schemas.microsoft.com/office/drawing/2014/main" id="{54C28610-60D0-289F-17E4-9AB1F284F8AF}"/>
              </a:ext>
            </a:extLst>
          </p:cNvPr>
          <p:cNvSpPr/>
          <p:nvPr/>
        </p:nvSpPr>
        <p:spPr>
          <a:xfrm>
            <a:off x="1638908" y="2176130"/>
            <a:ext cx="8919392" cy="661720"/>
          </a:xfrm>
          <a:prstGeom prst="rect">
            <a:avLst/>
          </a:prstGeom>
        </p:spPr>
        <p:txBody>
          <a:bodyPr wrap="square">
            <a:spAutoFit/>
          </a:bodyPr>
          <a:lstStyle/>
          <a:p>
            <a:pPr algn="ctr"/>
            <a:r>
              <a:rPr lang="es-ES" sz="1850" b="1" dirty="0">
                <a:solidFill>
                  <a:srgbClr val="C00000"/>
                </a:solidFill>
                <a:latin typeface="Century Gothic" panose="020B0502020202020204" pitchFamily="34" charset="0"/>
              </a:rPr>
              <a:t>¿Cómo sería la fórmula del WACC si se tienen dos (2) fuentes de financiación vía deuda y una (1) fuente de financiación vía </a:t>
            </a:r>
            <a:r>
              <a:rPr lang="es-ES" sz="1850" b="1" dirty="0" err="1">
                <a:solidFill>
                  <a:srgbClr val="C00000"/>
                </a:solidFill>
                <a:latin typeface="Century Gothic" panose="020B0502020202020204" pitchFamily="34" charset="0"/>
              </a:rPr>
              <a:t>equity</a:t>
            </a:r>
            <a:r>
              <a:rPr lang="es-ES" sz="1850" b="1" dirty="0">
                <a:solidFill>
                  <a:srgbClr val="C00000"/>
                </a:solidFill>
                <a:latin typeface="Century Gothic" panose="020B0502020202020204" pitchFamily="34" charset="0"/>
              </a:rPr>
              <a:t>?</a:t>
            </a:r>
            <a:endParaRPr lang="es-CO" sz="1850" b="1" dirty="0">
              <a:solidFill>
                <a:srgbClr val="C00000"/>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16" name="CuadroTexto 10">
                <a:extLst>
                  <a:ext uri="{FF2B5EF4-FFF2-40B4-BE49-F238E27FC236}">
                    <a16:creationId xmlns:a16="http://schemas.microsoft.com/office/drawing/2014/main" id="{922028BE-9CB6-4127-80EE-018552F41440}"/>
                  </a:ext>
                </a:extLst>
              </p:cNvPr>
              <p:cNvSpPr txBox="1"/>
              <p:nvPr/>
            </p:nvSpPr>
            <p:spPr>
              <a:xfrm>
                <a:off x="2178068" y="3053634"/>
                <a:ext cx="8216608" cy="689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200" b="0" i="1" smtClean="0">
                          <a:solidFill>
                            <a:schemeClr val="tx1"/>
                          </a:solidFill>
                          <a:latin typeface="Cambria Math" panose="02040503050406030204" pitchFamily="18" charset="0"/>
                        </a:rPr>
                        <m:t>𝑊𝐴𝐶𝐶</m:t>
                      </m:r>
                      <m:r>
                        <a:rPr lang="es-CO" sz="2200" b="0" i="1" smtClean="0">
                          <a:solidFill>
                            <a:schemeClr val="tx1"/>
                          </a:solidFill>
                          <a:latin typeface="Cambria Math" panose="02040503050406030204" pitchFamily="18" charset="0"/>
                        </a:rPr>
                        <m:t>=</m:t>
                      </m:r>
                      <m:f>
                        <m:fPr>
                          <m:ctrlPr>
                            <a:rPr lang="es-CO" sz="2200" b="0" i="1" smtClean="0">
                              <a:solidFill>
                                <a:schemeClr val="tx1"/>
                              </a:solidFill>
                              <a:latin typeface="Cambria Math" panose="02040503050406030204" pitchFamily="18" charset="0"/>
                            </a:rPr>
                          </m:ctrlPr>
                        </m:fPr>
                        <m:num>
                          <m:sSub>
                            <m:sSubPr>
                              <m:ctrlPr>
                                <a:rPr lang="es-CO" sz="2200" b="0" i="1" smtClean="0">
                                  <a:solidFill>
                                    <a:schemeClr val="tx1"/>
                                  </a:solidFill>
                                  <a:latin typeface="Cambria Math" panose="02040503050406030204" pitchFamily="18" charset="0"/>
                                </a:rPr>
                              </m:ctrlPr>
                            </m:sSubPr>
                            <m:e>
                              <m:r>
                                <a:rPr lang="es-CO" sz="2200" b="0" i="1" smtClean="0">
                                  <a:solidFill>
                                    <a:schemeClr val="tx1"/>
                                  </a:solidFill>
                                  <a:latin typeface="Cambria Math" panose="02040503050406030204" pitchFamily="18" charset="0"/>
                                </a:rPr>
                                <m:t>𝐷</m:t>
                              </m:r>
                            </m:e>
                            <m:sub>
                              <m:r>
                                <a:rPr lang="es-CO" sz="2200" b="0" i="1" smtClean="0">
                                  <a:solidFill>
                                    <a:schemeClr val="tx1"/>
                                  </a:solidFill>
                                  <a:latin typeface="Cambria Math" panose="02040503050406030204" pitchFamily="18" charset="0"/>
                                </a:rPr>
                                <m:t>1</m:t>
                              </m:r>
                            </m:sub>
                          </m:sSub>
                        </m:num>
                        <m:den>
                          <m:sSub>
                            <m:sSubPr>
                              <m:ctrlPr>
                                <a:rPr lang="es-CO" sz="2200" b="0" i="1" smtClean="0">
                                  <a:solidFill>
                                    <a:schemeClr val="tx1"/>
                                  </a:solidFill>
                                  <a:latin typeface="Cambria Math" panose="02040503050406030204" pitchFamily="18" charset="0"/>
                                </a:rPr>
                              </m:ctrlPr>
                            </m:sSubPr>
                            <m:e>
                              <m:r>
                                <a:rPr lang="es-CO" sz="2200" b="0" i="1" smtClean="0">
                                  <a:solidFill>
                                    <a:schemeClr val="tx1"/>
                                  </a:solidFill>
                                  <a:latin typeface="Cambria Math" panose="02040503050406030204" pitchFamily="18" charset="0"/>
                                </a:rPr>
                                <m:t>𝐷</m:t>
                              </m:r>
                            </m:e>
                            <m:sub>
                              <m:r>
                                <a:rPr lang="es-CO" sz="2200" b="0" i="1" smtClean="0">
                                  <a:solidFill>
                                    <a:schemeClr val="tx1"/>
                                  </a:solidFill>
                                  <a:latin typeface="Cambria Math" panose="02040503050406030204" pitchFamily="18" charset="0"/>
                                </a:rPr>
                                <m:t>1</m:t>
                              </m:r>
                            </m:sub>
                          </m:sSub>
                          <m:r>
                            <a:rPr lang="es-CO" sz="2200" b="0" i="1" smtClean="0">
                              <a:solidFill>
                                <a:schemeClr val="tx1"/>
                              </a:solidFill>
                              <a:latin typeface="Cambria Math" panose="02040503050406030204" pitchFamily="18" charset="0"/>
                            </a:rPr>
                            <m:t>+</m:t>
                          </m:r>
                          <m:sSub>
                            <m:sSubPr>
                              <m:ctrlPr>
                                <a:rPr lang="es-CO" sz="2200" b="0" i="1" smtClean="0">
                                  <a:solidFill>
                                    <a:schemeClr val="tx1"/>
                                  </a:solidFill>
                                  <a:latin typeface="Cambria Math" panose="02040503050406030204" pitchFamily="18" charset="0"/>
                                </a:rPr>
                              </m:ctrlPr>
                            </m:sSubPr>
                            <m:e>
                              <m:r>
                                <a:rPr lang="es-CO" sz="2200" b="0" i="1" smtClean="0">
                                  <a:solidFill>
                                    <a:schemeClr val="tx1"/>
                                  </a:solidFill>
                                  <a:latin typeface="Cambria Math" panose="02040503050406030204" pitchFamily="18" charset="0"/>
                                </a:rPr>
                                <m:t>𝐷</m:t>
                              </m:r>
                            </m:e>
                            <m:sub>
                              <m:r>
                                <a:rPr lang="es-CO" sz="2200" b="0" i="1" smtClean="0">
                                  <a:solidFill>
                                    <a:schemeClr val="tx1"/>
                                  </a:solidFill>
                                  <a:latin typeface="Cambria Math" panose="02040503050406030204" pitchFamily="18" charset="0"/>
                                </a:rPr>
                                <m:t>2</m:t>
                              </m:r>
                            </m:sub>
                          </m:sSub>
                          <m:r>
                            <a:rPr lang="es-CO" sz="2200" b="0" i="1" smtClean="0">
                              <a:solidFill>
                                <a:schemeClr val="tx1"/>
                              </a:solidFill>
                              <a:latin typeface="Cambria Math" panose="02040503050406030204" pitchFamily="18" charset="0"/>
                            </a:rPr>
                            <m:t>+</m:t>
                          </m:r>
                          <m:r>
                            <a:rPr lang="es-CO" sz="2200" b="0" i="1" smtClean="0">
                              <a:solidFill>
                                <a:schemeClr val="tx1"/>
                              </a:solidFill>
                              <a:latin typeface="Cambria Math" panose="02040503050406030204" pitchFamily="18" charset="0"/>
                            </a:rPr>
                            <m:t>𝐸</m:t>
                          </m:r>
                        </m:den>
                      </m:f>
                      <m:r>
                        <a:rPr lang="es-CO" sz="2200" b="0" i="1" smtClean="0">
                          <a:solidFill>
                            <a:schemeClr val="tx1"/>
                          </a:solidFill>
                          <a:latin typeface="Cambria Math" panose="02040503050406030204" pitchFamily="18" charset="0"/>
                          <a:ea typeface="Cambria Math" panose="02040503050406030204" pitchFamily="18" charset="0"/>
                        </a:rPr>
                        <m:t>∙</m:t>
                      </m:r>
                      <m:sSub>
                        <m:sSubPr>
                          <m:ctrlPr>
                            <a:rPr lang="es-CO" sz="2200" b="0" i="1" smtClean="0">
                              <a:solidFill>
                                <a:schemeClr val="tx1"/>
                              </a:solidFill>
                              <a:latin typeface="Cambria Math" panose="02040503050406030204" pitchFamily="18" charset="0"/>
                              <a:ea typeface="Cambria Math" panose="02040503050406030204" pitchFamily="18" charset="0"/>
                            </a:rPr>
                          </m:ctrlPr>
                        </m:sSubPr>
                        <m:e>
                          <m:r>
                            <a:rPr lang="es-CO" sz="2200" b="0" i="1" smtClean="0">
                              <a:solidFill>
                                <a:schemeClr val="tx1"/>
                              </a:solidFill>
                              <a:latin typeface="Cambria Math" panose="02040503050406030204" pitchFamily="18" charset="0"/>
                              <a:ea typeface="Cambria Math" panose="02040503050406030204" pitchFamily="18" charset="0"/>
                            </a:rPr>
                            <m:t>𝑘</m:t>
                          </m:r>
                        </m:e>
                        <m:sub>
                          <m:sSub>
                            <m:sSubPr>
                              <m:ctrlPr>
                                <a:rPr lang="es-CO" sz="2200" b="0" i="1" smtClean="0">
                                  <a:solidFill>
                                    <a:schemeClr val="tx1"/>
                                  </a:solidFill>
                                  <a:latin typeface="Cambria Math" panose="02040503050406030204" pitchFamily="18" charset="0"/>
                                  <a:ea typeface="Cambria Math" panose="02040503050406030204" pitchFamily="18" charset="0"/>
                                </a:rPr>
                              </m:ctrlPr>
                            </m:sSubPr>
                            <m:e>
                              <m:r>
                                <a:rPr lang="es-CO" sz="2200" b="0" i="1" smtClean="0">
                                  <a:solidFill>
                                    <a:schemeClr val="tx1"/>
                                  </a:solidFill>
                                  <a:latin typeface="Cambria Math" panose="02040503050406030204" pitchFamily="18" charset="0"/>
                                  <a:ea typeface="Cambria Math" panose="02040503050406030204" pitchFamily="18" charset="0"/>
                                </a:rPr>
                                <m:t>𝐷</m:t>
                              </m:r>
                            </m:e>
                            <m:sub>
                              <m:r>
                                <a:rPr lang="es-CO" sz="2200" b="0" i="1" smtClean="0">
                                  <a:solidFill>
                                    <a:schemeClr val="tx1"/>
                                  </a:solidFill>
                                  <a:latin typeface="Cambria Math" panose="02040503050406030204" pitchFamily="18" charset="0"/>
                                  <a:ea typeface="Cambria Math" panose="02040503050406030204" pitchFamily="18" charset="0"/>
                                </a:rPr>
                                <m:t>1</m:t>
                              </m:r>
                            </m:sub>
                          </m:sSub>
                        </m:sub>
                      </m:sSub>
                      <m:r>
                        <a:rPr lang="es-CO" sz="2200" b="0" i="1" smtClean="0">
                          <a:solidFill>
                            <a:schemeClr val="tx1"/>
                          </a:solidFill>
                          <a:latin typeface="Cambria Math" panose="02040503050406030204" pitchFamily="18" charset="0"/>
                          <a:ea typeface="Cambria Math" panose="02040503050406030204" pitchFamily="18" charset="0"/>
                        </a:rPr>
                        <m:t>+</m:t>
                      </m:r>
                      <m:f>
                        <m:fPr>
                          <m:ctrlPr>
                            <a:rPr lang="es-CO" sz="2200" i="1">
                              <a:solidFill>
                                <a:schemeClr val="tx1"/>
                              </a:solidFill>
                              <a:latin typeface="Cambria Math" panose="02040503050406030204" pitchFamily="18" charset="0"/>
                            </a:rPr>
                          </m:ctrlPr>
                        </m:fPr>
                        <m:num>
                          <m:sSub>
                            <m:sSubPr>
                              <m:ctrlPr>
                                <a:rPr lang="es-CO" sz="2200" i="1">
                                  <a:solidFill>
                                    <a:schemeClr val="tx1"/>
                                  </a:solidFill>
                                  <a:latin typeface="Cambria Math" panose="02040503050406030204" pitchFamily="18" charset="0"/>
                                </a:rPr>
                              </m:ctrlPr>
                            </m:sSubPr>
                            <m:e>
                              <m:r>
                                <a:rPr lang="es-CO" sz="2200" i="1">
                                  <a:solidFill>
                                    <a:schemeClr val="tx1"/>
                                  </a:solidFill>
                                  <a:latin typeface="Cambria Math" panose="02040503050406030204" pitchFamily="18" charset="0"/>
                                </a:rPr>
                                <m:t>𝐷</m:t>
                              </m:r>
                            </m:e>
                            <m:sub>
                              <m:r>
                                <a:rPr lang="es-CO" sz="2200" b="0" i="1" smtClean="0">
                                  <a:solidFill>
                                    <a:schemeClr val="tx1"/>
                                  </a:solidFill>
                                  <a:latin typeface="Cambria Math" panose="02040503050406030204" pitchFamily="18" charset="0"/>
                                </a:rPr>
                                <m:t>2</m:t>
                              </m:r>
                            </m:sub>
                          </m:sSub>
                        </m:num>
                        <m:den>
                          <m:sSub>
                            <m:sSubPr>
                              <m:ctrlPr>
                                <a:rPr lang="es-CO" sz="2200" i="1">
                                  <a:solidFill>
                                    <a:schemeClr val="tx1"/>
                                  </a:solidFill>
                                  <a:latin typeface="Cambria Math" panose="02040503050406030204" pitchFamily="18" charset="0"/>
                                </a:rPr>
                              </m:ctrlPr>
                            </m:sSubPr>
                            <m:e>
                              <m:r>
                                <a:rPr lang="es-CO" sz="2200" i="1">
                                  <a:solidFill>
                                    <a:schemeClr val="tx1"/>
                                  </a:solidFill>
                                  <a:latin typeface="Cambria Math" panose="02040503050406030204" pitchFamily="18" charset="0"/>
                                </a:rPr>
                                <m:t>𝐷</m:t>
                              </m:r>
                            </m:e>
                            <m:sub>
                              <m:r>
                                <a:rPr lang="es-CO" sz="2200" i="1">
                                  <a:solidFill>
                                    <a:schemeClr val="tx1"/>
                                  </a:solidFill>
                                  <a:latin typeface="Cambria Math" panose="02040503050406030204" pitchFamily="18" charset="0"/>
                                </a:rPr>
                                <m:t>1</m:t>
                              </m:r>
                            </m:sub>
                          </m:sSub>
                          <m:r>
                            <a:rPr lang="es-CO" sz="2200" i="1">
                              <a:solidFill>
                                <a:schemeClr val="tx1"/>
                              </a:solidFill>
                              <a:latin typeface="Cambria Math" panose="02040503050406030204" pitchFamily="18" charset="0"/>
                            </a:rPr>
                            <m:t>+</m:t>
                          </m:r>
                          <m:sSub>
                            <m:sSubPr>
                              <m:ctrlPr>
                                <a:rPr lang="es-CO" sz="2200" i="1">
                                  <a:solidFill>
                                    <a:schemeClr val="tx1"/>
                                  </a:solidFill>
                                  <a:latin typeface="Cambria Math" panose="02040503050406030204" pitchFamily="18" charset="0"/>
                                </a:rPr>
                              </m:ctrlPr>
                            </m:sSubPr>
                            <m:e>
                              <m:r>
                                <a:rPr lang="es-CO" sz="2200" i="1">
                                  <a:solidFill>
                                    <a:schemeClr val="tx1"/>
                                  </a:solidFill>
                                  <a:latin typeface="Cambria Math" panose="02040503050406030204" pitchFamily="18" charset="0"/>
                                </a:rPr>
                                <m:t>𝐷</m:t>
                              </m:r>
                            </m:e>
                            <m:sub>
                              <m:r>
                                <a:rPr lang="es-CO" sz="2200" i="1">
                                  <a:solidFill>
                                    <a:schemeClr val="tx1"/>
                                  </a:solidFill>
                                  <a:latin typeface="Cambria Math" panose="02040503050406030204" pitchFamily="18" charset="0"/>
                                </a:rPr>
                                <m:t>2</m:t>
                              </m:r>
                            </m:sub>
                          </m:sSub>
                          <m:r>
                            <a:rPr lang="es-CO" sz="2200" i="1">
                              <a:solidFill>
                                <a:schemeClr val="tx1"/>
                              </a:solidFill>
                              <a:latin typeface="Cambria Math" panose="02040503050406030204" pitchFamily="18" charset="0"/>
                            </a:rPr>
                            <m:t>+</m:t>
                          </m:r>
                          <m:r>
                            <a:rPr lang="es-CO" sz="2200" b="0" i="1" smtClean="0">
                              <a:solidFill>
                                <a:schemeClr val="tx1"/>
                              </a:solidFill>
                              <a:latin typeface="Cambria Math" panose="02040503050406030204" pitchFamily="18" charset="0"/>
                            </a:rPr>
                            <m:t>𝐸</m:t>
                          </m:r>
                        </m:den>
                      </m:f>
                      <m:r>
                        <a:rPr lang="es-CO" sz="2200" i="1">
                          <a:solidFill>
                            <a:schemeClr val="tx1"/>
                          </a:solidFill>
                          <a:latin typeface="Cambria Math" panose="02040503050406030204" pitchFamily="18" charset="0"/>
                          <a:ea typeface="Cambria Math" panose="02040503050406030204" pitchFamily="18" charset="0"/>
                        </a:rPr>
                        <m:t>∙</m:t>
                      </m:r>
                      <m:sSub>
                        <m:sSubPr>
                          <m:ctrlPr>
                            <a:rPr lang="es-CO" sz="2200" i="1">
                              <a:solidFill>
                                <a:schemeClr val="tx1"/>
                              </a:solidFill>
                              <a:latin typeface="Cambria Math" panose="02040503050406030204" pitchFamily="18" charset="0"/>
                              <a:ea typeface="Cambria Math" panose="02040503050406030204" pitchFamily="18" charset="0"/>
                            </a:rPr>
                          </m:ctrlPr>
                        </m:sSubPr>
                        <m:e>
                          <m:r>
                            <a:rPr lang="es-CO" sz="2200" i="1">
                              <a:solidFill>
                                <a:schemeClr val="tx1"/>
                              </a:solidFill>
                              <a:latin typeface="Cambria Math" panose="02040503050406030204" pitchFamily="18" charset="0"/>
                              <a:ea typeface="Cambria Math" panose="02040503050406030204" pitchFamily="18" charset="0"/>
                            </a:rPr>
                            <m:t>𝑘</m:t>
                          </m:r>
                        </m:e>
                        <m:sub>
                          <m:sSub>
                            <m:sSubPr>
                              <m:ctrlPr>
                                <a:rPr lang="es-CO" sz="2200" i="1">
                                  <a:solidFill>
                                    <a:schemeClr val="tx1"/>
                                  </a:solidFill>
                                  <a:latin typeface="Cambria Math" panose="02040503050406030204" pitchFamily="18" charset="0"/>
                                  <a:ea typeface="Cambria Math" panose="02040503050406030204" pitchFamily="18" charset="0"/>
                                </a:rPr>
                              </m:ctrlPr>
                            </m:sSubPr>
                            <m:e>
                              <m:r>
                                <a:rPr lang="es-CO" sz="2200" i="1">
                                  <a:solidFill>
                                    <a:schemeClr val="tx1"/>
                                  </a:solidFill>
                                  <a:latin typeface="Cambria Math" panose="02040503050406030204" pitchFamily="18" charset="0"/>
                                  <a:ea typeface="Cambria Math" panose="02040503050406030204" pitchFamily="18" charset="0"/>
                                </a:rPr>
                                <m:t>𝐷</m:t>
                              </m:r>
                            </m:e>
                            <m:sub>
                              <m:r>
                                <a:rPr lang="es-CO" sz="2200" b="0" i="1" smtClean="0">
                                  <a:solidFill>
                                    <a:schemeClr val="tx1"/>
                                  </a:solidFill>
                                  <a:latin typeface="Cambria Math" panose="02040503050406030204" pitchFamily="18" charset="0"/>
                                  <a:ea typeface="Cambria Math" panose="02040503050406030204" pitchFamily="18" charset="0"/>
                                </a:rPr>
                                <m:t>2</m:t>
                              </m:r>
                            </m:sub>
                          </m:sSub>
                        </m:sub>
                      </m:sSub>
                      <m:r>
                        <a:rPr lang="es-CO" sz="2200" b="0" i="1" smtClean="0">
                          <a:solidFill>
                            <a:schemeClr val="tx1"/>
                          </a:solidFill>
                          <a:latin typeface="Cambria Math" panose="02040503050406030204" pitchFamily="18" charset="0"/>
                          <a:ea typeface="Cambria Math" panose="02040503050406030204" pitchFamily="18" charset="0"/>
                        </a:rPr>
                        <m:t>+</m:t>
                      </m:r>
                      <m:f>
                        <m:fPr>
                          <m:ctrlPr>
                            <a:rPr lang="es-CO" sz="2200" i="1">
                              <a:solidFill>
                                <a:schemeClr val="tx1"/>
                              </a:solidFill>
                              <a:latin typeface="Cambria Math" panose="02040503050406030204" pitchFamily="18" charset="0"/>
                            </a:rPr>
                          </m:ctrlPr>
                        </m:fPr>
                        <m:num>
                          <m:r>
                            <a:rPr lang="es-CO" sz="2200" i="1" smtClean="0">
                              <a:solidFill>
                                <a:schemeClr val="tx1"/>
                              </a:solidFill>
                              <a:latin typeface="Cambria Math" panose="02040503050406030204" pitchFamily="18" charset="0"/>
                            </a:rPr>
                            <m:t>𝐸</m:t>
                          </m:r>
                        </m:num>
                        <m:den>
                          <m:sSub>
                            <m:sSubPr>
                              <m:ctrlPr>
                                <a:rPr lang="es-CO" sz="2200" i="1">
                                  <a:solidFill>
                                    <a:schemeClr val="tx1"/>
                                  </a:solidFill>
                                  <a:latin typeface="Cambria Math" panose="02040503050406030204" pitchFamily="18" charset="0"/>
                                </a:rPr>
                              </m:ctrlPr>
                            </m:sSubPr>
                            <m:e>
                              <m:r>
                                <a:rPr lang="es-CO" sz="2200" i="1">
                                  <a:solidFill>
                                    <a:schemeClr val="tx1"/>
                                  </a:solidFill>
                                  <a:latin typeface="Cambria Math" panose="02040503050406030204" pitchFamily="18" charset="0"/>
                                </a:rPr>
                                <m:t>𝐷</m:t>
                              </m:r>
                            </m:e>
                            <m:sub>
                              <m:r>
                                <a:rPr lang="es-CO" sz="2200" i="1">
                                  <a:solidFill>
                                    <a:schemeClr val="tx1"/>
                                  </a:solidFill>
                                  <a:latin typeface="Cambria Math" panose="02040503050406030204" pitchFamily="18" charset="0"/>
                                </a:rPr>
                                <m:t>1</m:t>
                              </m:r>
                            </m:sub>
                          </m:sSub>
                          <m:r>
                            <a:rPr lang="es-CO" sz="2200" i="1">
                              <a:solidFill>
                                <a:schemeClr val="tx1"/>
                              </a:solidFill>
                              <a:latin typeface="Cambria Math" panose="02040503050406030204" pitchFamily="18" charset="0"/>
                            </a:rPr>
                            <m:t>+</m:t>
                          </m:r>
                          <m:sSub>
                            <m:sSubPr>
                              <m:ctrlPr>
                                <a:rPr lang="es-CO" sz="2200" i="1">
                                  <a:solidFill>
                                    <a:schemeClr val="tx1"/>
                                  </a:solidFill>
                                  <a:latin typeface="Cambria Math" panose="02040503050406030204" pitchFamily="18" charset="0"/>
                                </a:rPr>
                              </m:ctrlPr>
                            </m:sSubPr>
                            <m:e>
                              <m:r>
                                <a:rPr lang="es-CO" sz="2200" i="1">
                                  <a:solidFill>
                                    <a:schemeClr val="tx1"/>
                                  </a:solidFill>
                                  <a:latin typeface="Cambria Math" panose="02040503050406030204" pitchFamily="18" charset="0"/>
                                </a:rPr>
                                <m:t>𝐷</m:t>
                              </m:r>
                            </m:e>
                            <m:sub>
                              <m:r>
                                <a:rPr lang="es-CO" sz="2200" i="1">
                                  <a:solidFill>
                                    <a:schemeClr val="tx1"/>
                                  </a:solidFill>
                                  <a:latin typeface="Cambria Math" panose="02040503050406030204" pitchFamily="18" charset="0"/>
                                </a:rPr>
                                <m:t>2</m:t>
                              </m:r>
                            </m:sub>
                          </m:sSub>
                          <m:r>
                            <a:rPr lang="es-CO" sz="2200" i="1">
                              <a:solidFill>
                                <a:schemeClr val="tx1"/>
                              </a:solidFill>
                              <a:latin typeface="Cambria Math" panose="02040503050406030204" pitchFamily="18" charset="0"/>
                            </a:rPr>
                            <m:t>+</m:t>
                          </m:r>
                          <m:r>
                            <a:rPr lang="es-CO" sz="2200" b="0" i="1" smtClean="0">
                              <a:solidFill>
                                <a:schemeClr val="tx1"/>
                              </a:solidFill>
                              <a:latin typeface="Cambria Math" panose="02040503050406030204" pitchFamily="18" charset="0"/>
                            </a:rPr>
                            <m:t>𝐸</m:t>
                          </m:r>
                        </m:den>
                      </m:f>
                      <m:r>
                        <a:rPr lang="es-CO" sz="2200" i="1">
                          <a:solidFill>
                            <a:schemeClr val="tx1"/>
                          </a:solidFill>
                          <a:latin typeface="Cambria Math" panose="02040503050406030204" pitchFamily="18" charset="0"/>
                          <a:ea typeface="Cambria Math" panose="02040503050406030204" pitchFamily="18" charset="0"/>
                        </a:rPr>
                        <m:t>∙</m:t>
                      </m:r>
                      <m:sSub>
                        <m:sSubPr>
                          <m:ctrlPr>
                            <a:rPr lang="es-CO" sz="2200" b="0" i="1" smtClean="0">
                              <a:solidFill>
                                <a:schemeClr val="tx1"/>
                              </a:solidFill>
                              <a:latin typeface="Cambria Math" panose="02040503050406030204" pitchFamily="18" charset="0"/>
                              <a:ea typeface="Cambria Math" panose="02040503050406030204" pitchFamily="18" charset="0"/>
                            </a:rPr>
                          </m:ctrlPr>
                        </m:sSubPr>
                        <m:e>
                          <m:r>
                            <a:rPr lang="es-CO" sz="2200" b="0" i="1" smtClean="0">
                              <a:solidFill>
                                <a:schemeClr val="tx1"/>
                              </a:solidFill>
                              <a:latin typeface="Cambria Math" panose="02040503050406030204" pitchFamily="18" charset="0"/>
                              <a:ea typeface="Cambria Math" panose="02040503050406030204" pitchFamily="18" charset="0"/>
                            </a:rPr>
                            <m:t>𝑘</m:t>
                          </m:r>
                        </m:e>
                        <m:sub>
                          <m:r>
                            <a:rPr lang="es-CO" sz="2200" b="0" i="1" smtClean="0">
                              <a:solidFill>
                                <a:schemeClr val="tx1"/>
                              </a:solidFill>
                              <a:latin typeface="Cambria Math" panose="02040503050406030204" pitchFamily="18" charset="0"/>
                              <a:ea typeface="Cambria Math" panose="02040503050406030204" pitchFamily="18" charset="0"/>
                            </a:rPr>
                            <m:t>𝐸</m:t>
                          </m:r>
                        </m:sub>
                      </m:sSub>
                    </m:oMath>
                  </m:oMathPara>
                </a14:m>
                <a:endParaRPr lang="es-CO" sz="2200" dirty="0">
                  <a:solidFill>
                    <a:schemeClr val="tx1"/>
                  </a:solidFill>
                </a:endParaRPr>
              </a:p>
            </p:txBody>
          </p:sp>
        </mc:Choice>
        <mc:Fallback xmlns="">
          <p:sp>
            <p:nvSpPr>
              <p:cNvPr id="16" name="CuadroTexto 10">
                <a:extLst>
                  <a:ext uri="{FF2B5EF4-FFF2-40B4-BE49-F238E27FC236}">
                    <a16:creationId xmlns:a16="http://schemas.microsoft.com/office/drawing/2014/main" id="{922028BE-9CB6-4127-80EE-018552F41440}"/>
                  </a:ext>
                </a:extLst>
              </p:cNvPr>
              <p:cNvSpPr txBox="1">
                <a:spLocks noRot="1" noChangeAspect="1" noMove="1" noResize="1" noEditPoints="1" noAdjustHandles="1" noChangeArrowheads="1" noChangeShapeType="1" noTextEdit="1"/>
              </p:cNvSpPr>
              <p:nvPr/>
            </p:nvSpPr>
            <p:spPr>
              <a:xfrm>
                <a:off x="2178068" y="3053634"/>
                <a:ext cx="8216608" cy="689228"/>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99795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4264D-6D3A-C119-BCE9-09A88783E70A}"/>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A6E9238-69F6-8AB4-DD77-8E7D7F26ADFC}"/>
              </a:ext>
            </a:extLst>
          </p:cNvPr>
          <p:cNvSpPr>
            <a:spLocks noGrp="1"/>
          </p:cNvSpPr>
          <p:nvPr>
            <p:ph type="sldNum" sz="quarter" idx="12"/>
          </p:nvPr>
        </p:nvSpPr>
        <p:spPr/>
        <p:txBody>
          <a:bodyPr/>
          <a:lstStyle/>
          <a:p>
            <a:fld id="{5E3E23BA-6E79-2442-BA73-D218A5E297C3}" type="slidenum">
              <a:rPr lang="en-US" sz="1800" smtClean="0"/>
              <a:t>9</a:t>
            </a:fld>
            <a:endParaRPr lang="en-US" sz="1800"/>
          </a:p>
        </p:txBody>
      </p:sp>
      <p:sp>
        <p:nvSpPr>
          <p:cNvPr id="2" name="Rectángulo 1">
            <a:extLst>
              <a:ext uri="{FF2B5EF4-FFF2-40B4-BE49-F238E27FC236}">
                <a16:creationId xmlns:a16="http://schemas.microsoft.com/office/drawing/2014/main" id="{542C3AEE-5E72-318A-652C-BAE7A451FFE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D35A123C-7494-F084-5B43-369A979D23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5235F746-846D-E6F6-077D-696D9B30648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6" name="Título 1">
            <a:extLst>
              <a:ext uri="{FF2B5EF4-FFF2-40B4-BE49-F238E27FC236}">
                <a16:creationId xmlns:a16="http://schemas.microsoft.com/office/drawing/2014/main" id="{AE4E5815-4FA1-4698-EE8D-CD18718302E4}"/>
              </a:ext>
            </a:extLst>
          </p:cNvPr>
          <p:cNvSpPr>
            <a:spLocks noGrp="1"/>
          </p:cNvSpPr>
          <p:nvPr>
            <p:ph type="title"/>
          </p:nvPr>
        </p:nvSpPr>
        <p:spPr>
          <a:xfrm>
            <a:off x="581192" y="702156"/>
            <a:ext cx="11029616" cy="1013800"/>
          </a:xfrm>
        </p:spPr>
        <p:txBody>
          <a:bodyPr>
            <a:normAutofit/>
          </a:bodyPr>
          <a:lstStyle/>
          <a:p>
            <a:r>
              <a:rPr lang="es-ES" dirty="0">
                <a:latin typeface="Century Gothic" panose="020B0502020202020204" pitchFamily="34" charset="0"/>
              </a:rPr>
              <a:t>COSTO PROMEDIO PONDERADO DE CAPITAL </a:t>
            </a:r>
            <a:br>
              <a:rPr lang="es-ES" dirty="0">
                <a:latin typeface="Century Gothic" panose="020B0502020202020204" pitchFamily="34" charset="0"/>
              </a:rPr>
            </a:br>
            <a:r>
              <a:rPr lang="es-ES" dirty="0">
                <a:latin typeface="Century Gothic" panose="020B0502020202020204" pitchFamily="34" charset="0"/>
              </a:rPr>
              <a:t>(WACC)</a:t>
            </a:r>
          </a:p>
        </p:txBody>
      </p:sp>
      <p:sp>
        <p:nvSpPr>
          <p:cNvPr id="13" name="Rectángulo 12">
            <a:extLst>
              <a:ext uri="{FF2B5EF4-FFF2-40B4-BE49-F238E27FC236}">
                <a16:creationId xmlns:a16="http://schemas.microsoft.com/office/drawing/2014/main" id="{E0C49866-203B-8731-085E-E3C5291A3AB3}"/>
              </a:ext>
            </a:extLst>
          </p:cNvPr>
          <p:cNvSpPr/>
          <p:nvPr/>
        </p:nvSpPr>
        <p:spPr>
          <a:xfrm>
            <a:off x="1638908" y="2176130"/>
            <a:ext cx="8919392" cy="661720"/>
          </a:xfrm>
          <a:prstGeom prst="rect">
            <a:avLst/>
          </a:prstGeom>
        </p:spPr>
        <p:txBody>
          <a:bodyPr wrap="square">
            <a:spAutoFit/>
          </a:bodyPr>
          <a:lstStyle/>
          <a:p>
            <a:pPr algn="ctr"/>
            <a:r>
              <a:rPr lang="es-ES" sz="1850" b="1" dirty="0">
                <a:solidFill>
                  <a:srgbClr val="C00000"/>
                </a:solidFill>
                <a:latin typeface="Century Gothic" panose="020B0502020202020204" pitchFamily="34" charset="0"/>
              </a:rPr>
              <a:t>¿Cómo sería la fórmula del WACC si se tienen dos (2) fuentes de financiación vía deuda y una (1) fuente de financiación vía </a:t>
            </a:r>
            <a:r>
              <a:rPr lang="es-ES" sz="1850" b="1" i="1" dirty="0" err="1">
                <a:solidFill>
                  <a:srgbClr val="C00000"/>
                </a:solidFill>
                <a:latin typeface="Century Gothic" panose="020B0502020202020204" pitchFamily="34" charset="0"/>
              </a:rPr>
              <a:t>equity</a:t>
            </a:r>
            <a:r>
              <a:rPr lang="es-ES" sz="1850" b="1" dirty="0">
                <a:solidFill>
                  <a:srgbClr val="C00000"/>
                </a:solidFill>
                <a:latin typeface="Century Gothic" panose="020B0502020202020204" pitchFamily="34" charset="0"/>
              </a:rPr>
              <a:t>?</a:t>
            </a:r>
            <a:endParaRPr lang="es-CO" sz="1850" b="1" dirty="0">
              <a:solidFill>
                <a:srgbClr val="C00000"/>
              </a:solidFill>
              <a:latin typeface="Century Gothic" panose="020B0502020202020204" pitchFamily="34" charset="0"/>
            </a:endParaRPr>
          </a:p>
        </p:txBody>
      </p:sp>
      <p:sp>
        <p:nvSpPr>
          <p:cNvPr id="14" name="Rectángulo 10">
            <a:extLst>
              <a:ext uri="{FF2B5EF4-FFF2-40B4-BE49-F238E27FC236}">
                <a16:creationId xmlns:a16="http://schemas.microsoft.com/office/drawing/2014/main" id="{5E25B19E-7BE3-552F-D0F8-F0FAD5E310EB}"/>
              </a:ext>
            </a:extLst>
          </p:cNvPr>
          <p:cNvSpPr/>
          <p:nvPr/>
        </p:nvSpPr>
        <p:spPr>
          <a:xfrm>
            <a:off x="1636304" y="4083297"/>
            <a:ext cx="8919392" cy="661720"/>
          </a:xfrm>
          <a:prstGeom prst="rect">
            <a:avLst/>
          </a:prstGeom>
        </p:spPr>
        <p:txBody>
          <a:bodyPr wrap="square">
            <a:spAutoFit/>
          </a:bodyPr>
          <a:lstStyle/>
          <a:p>
            <a:pPr algn="ctr"/>
            <a:r>
              <a:rPr lang="es-ES" sz="1850" b="1" dirty="0">
                <a:solidFill>
                  <a:srgbClr val="C00000"/>
                </a:solidFill>
                <a:latin typeface="Century Gothic" panose="020B0502020202020204" pitchFamily="34" charset="0"/>
              </a:rPr>
              <a:t>¿Cómo sería la fórmula del WACC si se tienen dos (2) fuentes de financiación vía deuda y dos (2) fuentes de financiación vía </a:t>
            </a:r>
            <a:r>
              <a:rPr lang="es-ES" sz="1850" b="1" i="1" dirty="0" err="1">
                <a:solidFill>
                  <a:srgbClr val="C00000"/>
                </a:solidFill>
                <a:latin typeface="Century Gothic" panose="020B0502020202020204" pitchFamily="34" charset="0"/>
              </a:rPr>
              <a:t>equity</a:t>
            </a:r>
            <a:r>
              <a:rPr lang="es-ES" sz="1850" b="1" dirty="0">
                <a:solidFill>
                  <a:srgbClr val="C00000"/>
                </a:solidFill>
                <a:latin typeface="Century Gothic" panose="020B0502020202020204" pitchFamily="34" charset="0"/>
              </a:rPr>
              <a:t>?</a:t>
            </a:r>
            <a:endParaRPr lang="es-CO" sz="1850" b="1" dirty="0">
              <a:solidFill>
                <a:srgbClr val="C00000"/>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15" name="CuadroTexto 11">
                <a:extLst>
                  <a:ext uri="{FF2B5EF4-FFF2-40B4-BE49-F238E27FC236}">
                    <a16:creationId xmlns:a16="http://schemas.microsoft.com/office/drawing/2014/main" id="{512CE5B6-7E18-A4BD-0202-CA8FC3E8D9C2}"/>
                  </a:ext>
                </a:extLst>
              </p:cNvPr>
              <p:cNvSpPr txBox="1"/>
              <p:nvPr/>
            </p:nvSpPr>
            <p:spPr>
              <a:xfrm>
                <a:off x="1974391" y="4995926"/>
                <a:ext cx="8243219" cy="426142"/>
              </a:xfrm>
              <a:prstGeom prst="rect">
                <a:avLst/>
              </a:prstGeom>
              <a:noFill/>
            </p:spPr>
            <p:txBody>
              <a:bodyPr wrap="none" lIns="0" tIns="0" rIns="0" bIns="0" rtlCol="0">
                <a:spAutoFit/>
              </a:bodyPr>
              <a:lstStyle/>
              <a:p>
                <a14:m>
                  <m:oMath xmlns:m="http://schemas.openxmlformats.org/officeDocument/2006/math">
                    <m:r>
                      <a:rPr lang="es-CO" b="0" i="1" smtClean="0">
                        <a:solidFill>
                          <a:schemeClr val="tx1"/>
                        </a:solidFill>
                        <a:latin typeface="Cambria Math" panose="02040503050406030204" pitchFamily="18" charset="0"/>
                      </a:rPr>
                      <m:t>𝑊𝐴𝐶𝐶</m:t>
                    </m:r>
                    <m:r>
                      <a:rPr lang="es-CO" b="0" i="1" smtClean="0">
                        <a:solidFill>
                          <a:schemeClr val="tx1"/>
                        </a:solidFill>
                        <a:latin typeface="Cambria Math" panose="02040503050406030204" pitchFamily="18" charset="0"/>
                      </a:rPr>
                      <m:t>=</m:t>
                    </m:r>
                    <m:f>
                      <m:fPr>
                        <m:ctrlPr>
                          <a:rPr lang="es-CO" b="0" i="1" smtClean="0">
                            <a:solidFill>
                              <a:schemeClr val="tx1"/>
                            </a:solidFill>
                            <a:latin typeface="Cambria Math" panose="02040503050406030204" pitchFamily="18" charset="0"/>
                          </a:rPr>
                        </m:ctrlPr>
                      </m:fPr>
                      <m:num>
                        <m:sSub>
                          <m:sSubPr>
                            <m:ctrlPr>
                              <a:rPr lang="es-CO" b="0" i="1" smtClean="0">
                                <a:solidFill>
                                  <a:schemeClr val="tx1"/>
                                </a:solidFill>
                                <a:latin typeface="Cambria Math" panose="02040503050406030204" pitchFamily="18" charset="0"/>
                              </a:rPr>
                            </m:ctrlPr>
                          </m:sSubPr>
                          <m:e>
                            <m:r>
                              <a:rPr lang="es-CO" b="0" i="1" smtClean="0">
                                <a:solidFill>
                                  <a:schemeClr val="tx1"/>
                                </a:solidFill>
                                <a:latin typeface="Cambria Math" panose="02040503050406030204" pitchFamily="18" charset="0"/>
                              </a:rPr>
                              <m:t>𝐷</m:t>
                            </m:r>
                          </m:e>
                          <m:sub>
                            <m:r>
                              <a:rPr lang="es-CO" b="0" i="1" smtClean="0">
                                <a:solidFill>
                                  <a:schemeClr val="tx1"/>
                                </a:solidFill>
                                <a:latin typeface="Cambria Math" panose="02040503050406030204" pitchFamily="18" charset="0"/>
                              </a:rPr>
                              <m:t>1</m:t>
                            </m:r>
                          </m:sub>
                        </m:sSub>
                      </m:num>
                      <m:den>
                        <m:sSub>
                          <m:sSubPr>
                            <m:ctrlPr>
                              <a:rPr lang="es-CO" b="0" i="1" smtClean="0">
                                <a:solidFill>
                                  <a:schemeClr val="tx1"/>
                                </a:solidFill>
                                <a:latin typeface="Cambria Math" panose="02040503050406030204" pitchFamily="18" charset="0"/>
                              </a:rPr>
                            </m:ctrlPr>
                          </m:sSubPr>
                          <m:e>
                            <m:r>
                              <a:rPr lang="es-CO" b="0" i="1" smtClean="0">
                                <a:solidFill>
                                  <a:schemeClr val="tx1"/>
                                </a:solidFill>
                                <a:latin typeface="Cambria Math" panose="02040503050406030204" pitchFamily="18" charset="0"/>
                              </a:rPr>
                              <m:t>𝐷</m:t>
                            </m:r>
                          </m:e>
                          <m:sub>
                            <m:r>
                              <a:rPr lang="es-CO" b="0" i="1" smtClean="0">
                                <a:solidFill>
                                  <a:schemeClr val="tx1"/>
                                </a:solidFill>
                                <a:latin typeface="Cambria Math" panose="02040503050406030204" pitchFamily="18" charset="0"/>
                              </a:rPr>
                              <m:t>1</m:t>
                            </m:r>
                          </m:sub>
                        </m:sSub>
                        <m:r>
                          <a:rPr lang="es-CO" b="0" i="1" smtClean="0">
                            <a:solidFill>
                              <a:schemeClr val="tx1"/>
                            </a:solidFill>
                            <a:latin typeface="Cambria Math" panose="02040503050406030204" pitchFamily="18" charset="0"/>
                          </a:rPr>
                          <m:t>+</m:t>
                        </m:r>
                        <m:sSub>
                          <m:sSubPr>
                            <m:ctrlPr>
                              <a:rPr lang="es-CO" b="0" i="1" smtClean="0">
                                <a:solidFill>
                                  <a:schemeClr val="tx1"/>
                                </a:solidFill>
                                <a:latin typeface="Cambria Math" panose="02040503050406030204" pitchFamily="18" charset="0"/>
                              </a:rPr>
                            </m:ctrlPr>
                          </m:sSubPr>
                          <m:e>
                            <m:r>
                              <a:rPr lang="es-CO" b="0" i="1" smtClean="0">
                                <a:solidFill>
                                  <a:schemeClr val="tx1"/>
                                </a:solidFill>
                                <a:latin typeface="Cambria Math" panose="02040503050406030204" pitchFamily="18" charset="0"/>
                              </a:rPr>
                              <m:t>𝐷</m:t>
                            </m:r>
                          </m:e>
                          <m:sub>
                            <m:r>
                              <a:rPr lang="es-CO" b="0" i="1" smtClean="0">
                                <a:solidFill>
                                  <a:schemeClr val="tx1"/>
                                </a:solidFill>
                                <a:latin typeface="Cambria Math" panose="02040503050406030204" pitchFamily="18" charset="0"/>
                              </a:rPr>
                              <m:t>2</m:t>
                            </m:r>
                          </m:sub>
                        </m:sSub>
                        <m:r>
                          <a:rPr lang="es-CO" b="0" i="1" smtClean="0">
                            <a:solidFill>
                              <a:schemeClr val="tx1"/>
                            </a:solidFill>
                            <a:latin typeface="Cambria Math" panose="02040503050406030204" pitchFamily="18" charset="0"/>
                          </a:rPr>
                          <m:t>+</m:t>
                        </m:r>
                        <m:sSub>
                          <m:sSubPr>
                            <m:ctrlPr>
                              <a:rPr lang="es-CO" b="0" i="1" smtClean="0">
                                <a:solidFill>
                                  <a:schemeClr val="tx1"/>
                                </a:solidFill>
                                <a:latin typeface="Cambria Math" panose="02040503050406030204" pitchFamily="18" charset="0"/>
                              </a:rPr>
                            </m:ctrlPr>
                          </m:sSubPr>
                          <m:e>
                            <m:r>
                              <a:rPr lang="es-CO" b="0" i="1" smtClean="0">
                                <a:solidFill>
                                  <a:schemeClr val="tx1"/>
                                </a:solidFill>
                                <a:latin typeface="Cambria Math" panose="02040503050406030204" pitchFamily="18" charset="0"/>
                              </a:rPr>
                              <m:t>𝐸</m:t>
                            </m:r>
                          </m:e>
                          <m:sub>
                            <m:r>
                              <a:rPr lang="es-CO" b="0" i="1" smtClean="0">
                                <a:solidFill>
                                  <a:schemeClr val="tx1"/>
                                </a:solidFill>
                                <a:latin typeface="Cambria Math" panose="02040503050406030204" pitchFamily="18" charset="0"/>
                              </a:rPr>
                              <m:t>1</m:t>
                            </m:r>
                          </m:sub>
                        </m:sSub>
                        <m:r>
                          <a:rPr lang="es-CO" b="0" i="1" smtClean="0">
                            <a:solidFill>
                              <a:schemeClr val="tx1"/>
                            </a:solidFill>
                            <a:latin typeface="Cambria Math" panose="02040503050406030204" pitchFamily="18" charset="0"/>
                          </a:rPr>
                          <m:t>+</m:t>
                        </m:r>
                        <m:sSub>
                          <m:sSubPr>
                            <m:ctrlPr>
                              <a:rPr lang="es-CO" b="0" i="1" smtClean="0">
                                <a:solidFill>
                                  <a:schemeClr val="tx1"/>
                                </a:solidFill>
                                <a:latin typeface="Cambria Math" panose="02040503050406030204" pitchFamily="18" charset="0"/>
                              </a:rPr>
                            </m:ctrlPr>
                          </m:sSubPr>
                          <m:e>
                            <m:r>
                              <a:rPr lang="es-CO" b="0" i="1" smtClean="0">
                                <a:solidFill>
                                  <a:schemeClr val="tx1"/>
                                </a:solidFill>
                                <a:latin typeface="Cambria Math" panose="02040503050406030204" pitchFamily="18" charset="0"/>
                              </a:rPr>
                              <m:t>𝐸</m:t>
                            </m:r>
                          </m:e>
                          <m:sub>
                            <m:r>
                              <a:rPr lang="es-CO" b="0" i="1" smtClean="0">
                                <a:solidFill>
                                  <a:schemeClr val="tx1"/>
                                </a:solidFill>
                                <a:latin typeface="Cambria Math" panose="02040503050406030204" pitchFamily="18" charset="0"/>
                              </a:rPr>
                              <m:t>2</m:t>
                            </m:r>
                          </m:sub>
                        </m:sSub>
                      </m:den>
                    </m:f>
                    <m:r>
                      <a:rPr lang="es-CO" b="0" i="1" smtClean="0">
                        <a:solidFill>
                          <a:schemeClr val="tx1"/>
                        </a:solidFill>
                        <a:latin typeface="Cambria Math" panose="02040503050406030204" pitchFamily="18" charset="0"/>
                        <a:ea typeface="Cambria Math" panose="02040503050406030204" pitchFamily="18" charset="0"/>
                      </a:rPr>
                      <m:t>∙</m:t>
                    </m:r>
                    <m:sSub>
                      <m:sSubPr>
                        <m:ctrlPr>
                          <a:rPr lang="es-CO" i="1">
                            <a:solidFill>
                              <a:schemeClr val="tx1"/>
                            </a:solidFill>
                            <a:latin typeface="Cambria Math" panose="02040503050406030204" pitchFamily="18" charset="0"/>
                            <a:ea typeface="Cambria Math" panose="02040503050406030204" pitchFamily="18" charset="0"/>
                          </a:rPr>
                        </m:ctrlPr>
                      </m:sSubPr>
                      <m:e>
                        <m:r>
                          <a:rPr lang="es-CO" i="1">
                            <a:solidFill>
                              <a:schemeClr val="tx1"/>
                            </a:solidFill>
                            <a:latin typeface="Cambria Math" panose="02040503050406030204" pitchFamily="18" charset="0"/>
                            <a:ea typeface="Cambria Math" panose="02040503050406030204" pitchFamily="18" charset="0"/>
                          </a:rPr>
                          <m:t>𝑘</m:t>
                        </m:r>
                      </m:e>
                      <m:sub>
                        <m:sSub>
                          <m:sSubPr>
                            <m:ctrlPr>
                              <a:rPr lang="es-CO" i="1">
                                <a:solidFill>
                                  <a:schemeClr val="tx1"/>
                                </a:solidFill>
                                <a:latin typeface="Cambria Math" panose="02040503050406030204" pitchFamily="18" charset="0"/>
                                <a:ea typeface="Cambria Math" panose="02040503050406030204" pitchFamily="18" charset="0"/>
                              </a:rPr>
                            </m:ctrlPr>
                          </m:sSubPr>
                          <m:e>
                            <m:r>
                              <a:rPr lang="es-CO" i="1">
                                <a:solidFill>
                                  <a:schemeClr val="tx1"/>
                                </a:solidFill>
                                <a:latin typeface="Cambria Math" panose="02040503050406030204" pitchFamily="18" charset="0"/>
                                <a:ea typeface="Cambria Math" panose="02040503050406030204" pitchFamily="18" charset="0"/>
                              </a:rPr>
                              <m:t>𝐷</m:t>
                            </m:r>
                          </m:e>
                          <m:sub>
                            <m:r>
                              <a:rPr lang="es-CO" i="1">
                                <a:solidFill>
                                  <a:schemeClr val="tx1"/>
                                </a:solidFill>
                                <a:latin typeface="Cambria Math" panose="02040503050406030204" pitchFamily="18" charset="0"/>
                                <a:ea typeface="Cambria Math" panose="02040503050406030204" pitchFamily="18" charset="0"/>
                              </a:rPr>
                              <m:t>1</m:t>
                            </m:r>
                          </m:sub>
                        </m:sSub>
                      </m:sub>
                    </m:sSub>
                    <m:r>
                      <a:rPr lang="es-CO" b="0" i="1" smtClean="0">
                        <a:solidFill>
                          <a:schemeClr val="tx1"/>
                        </a:solidFill>
                        <a:latin typeface="Cambria Math" panose="02040503050406030204" pitchFamily="18" charset="0"/>
                        <a:ea typeface="Cambria Math" panose="02040503050406030204" pitchFamily="18" charset="0"/>
                      </a:rPr>
                      <m:t>+</m:t>
                    </m:r>
                    <m:f>
                      <m:fPr>
                        <m:ctrlPr>
                          <a:rPr lang="es-CO" i="1">
                            <a:solidFill>
                              <a:schemeClr val="tx1"/>
                            </a:solidFill>
                            <a:latin typeface="Cambria Math" panose="02040503050406030204" pitchFamily="18" charset="0"/>
                          </a:rPr>
                        </m:ctrlPr>
                      </m:fPr>
                      <m:num>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𝐷</m:t>
                            </m:r>
                          </m:e>
                          <m:sub>
                            <m:r>
                              <a:rPr lang="es-CO" b="0" i="1" smtClean="0">
                                <a:solidFill>
                                  <a:schemeClr val="tx1"/>
                                </a:solidFill>
                                <a:latin typeface="Cambria Math" panose="02040503050406030204" pitchFamily="18" charset="0"/>
                              </a:rPr>
                              <m:t>2</m:t>
                            </m:r>
                          </m:sub>
                        </m:sSub>
                      </m:num>
                      <m:den>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𝐷</m:t>
                            </m:r>
                          </m:e>
                          <m:sub>
                            <m:r>
                              <a:rPr lang="es-CO" i="1">
                                <a:solidFill>
                                  <a:schemeClr val="tx1"/>
                                </a:solidFill>
                                <a:latin typeface="Cambria Math" panose="02040503050406030204" pitchFamily="18" charset="0"/>
                              </a:rPr>
                              <m:t>1</m:t>
                            </m:r>
                          </m:sub>
                        </m:sSub>
                        <m:r>
                          <a:rPr lang="es-CO" i="1">
                            <a:solidFill>
                              <a:schemeClr val="tx1"/>
                            </a:solidFill>
                            <a:latin typeface="Cambria Math" panose="02040503050406030204" pitchFamily="18" charset="0"/>
                          </a:rPr>
                          <m:t>+</m:t>
                        </m:r>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𝐷</m:t>
                            </m:r>
                          </m:e>
                          <m:sub>
                            <m:r>
                              <a:rPr lang="es-CO" i="1">
                                <a:solidFill>
                                  <a:schemeClr val="tx1"/>
                                </a:solidFill>
                                <a:latin typeface="Cambria Math" panose="02040503050406030204" pitchFamily="18" charset="0"/>
                              </a:rPr>
                              <m:t>2</m:t>
                            </m:r>
                          </m:sub>
                        </m:sSub>
                        <m:r>
                          <a:rPr lang="es-CO" i="1">
                            <a:solidFill>
                              <a:schemeClr val="tx1"/>
                            </a:solidFill>
                            <a:latin typeface="Cambria Math" panose="02040503050406030204" pitchFamily="18" charset="0"/>
                          </a:rPr>
                          <m:t>+</m:t>
                        </m:r>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𝐸</m:t>
                            </m:r>
                          </m:e>
                          <m:sub>
                            <m:r>
                              <a:rPr lang="es-CO" i="1">
                                <a:solidFill>
                                  <a:schemeClr val="tx1"/>
                                </a:solidFill>
                                <a:latin typeface="Cambria Math" panose="02040503050406030204" pitchFamily="18" charset="0"/>
                              </a:rPr>
                              <m:t>1</m:t>
                            </m:r>
                          </m:sub>
                        </m:sSub>
                        <m:r>
                          <a:rPr lang="es-CO" i="1">
                            <a:solidFill>
                              <a:schemeClr val="tx1"/>
                            </a:solidFill>
                            <a:latin typeface="Cambria Math" panose="02040503050406030204" pitchFamily="18" charset="0"/>
                          </a:rPr>
                          <m:t>+</m:t>
                        </m:r>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𝐸</m:t>
                            </m:r>
                          </m:e>
                          <m:sub>
                            <m:r>
                              <a:rPr lang="es-CO" i="1">
                                <a:solidFill>
                                  <a:schemeClr val="tx1"/>
                                </a:solidFill>
                                <a:latin typeface="Cambria Math" panose="02040503050406030204" pitchFamily="18" charset="0"/>
                              </a:rPr>
                              <m:t>2</m:t>
                            </m:r>
                          </m:sub>
                        </m:sSub>
                      </m:den>
                    </m:f>
                    <m:r>
                      <a:rPr lang="es-CO" i="1">
                        <a:solidFill>
                          <a:schemeClr val="tx1"/>
                        </a:solidFill>
                        <a:latin typeface="Cambria Math" panose="02040503050406030204" pitchFamily="18" charset="0"/>
                        <a:ea typeface="Cambria Math" panose="02040503050406030204" pitchFamily="18" charset="0"/>
                      </a:rPr>
                      <m:t>∙</m:t>
                    </m:r>
                    <m:sSub>
                      <m:sSubPr>
                        <m:ctrlPr>
                          <a:rPr lang="es-CO" i="1">
                            <a:solidFill>
                              <a:schemeClr val="tx1"/>
                            </a:solidFill>
                            <a:latin typeface="Cambria Math" panose="02040503050406030204" pitchFamily="18" charset="0"/>
                            <a:ea typeface="Cambria Math" panose="02040503050406030204" pitchFamily="18" charset="0"/>
                          </a:rPr>
                        </m:ctrlPr>
                      </m:sSubPr>
                      <m:e>
                        <m:r>
                          <a:rPr lang="es-CO" i="1">
                            <a:solidFill>
                              <a:schemeClr val="tx1"/>
                            </a:solidFill>
                            <a:latin typeface="Cambria Math" panose="02040503050406030204" pitchFamily="18" charset="0"/>
                            <a:ea typeface="Cambria Math" panose="02040503050406030204" pitchFamily="18" charset="0"/>
                          </a:rPr>
                          <m:t>𝑘</m:t>
                        </m:r>
                      </m:e>
                      <m:sub>
                        <m:sSub>
                          <m:sSubPr>
                            <m:ctrlPr>
                              <a:rPr lang="es-CO" i="1">
                                <a:solidFill>
                                  <a:schemeClr val="tx1"/>
                                </a:solidFill>
                                <a:latin typeface="Cambria Math" panose="02040503050406030204" pitchFamily="18" charset="0"/>
                                <a:ea typeface="Cambria Math" panose="02040503050406030204" pitchFamily="18" charset="0"/>
                              </a:rPr>
                            </m:ctrlPr>
                          </m:sSubPr>
                          <m:e>
                            <m:r>
                              <a:rPr lang="es-CO" i="1">
                                <a:solidFill>
                                  <a:schemeClr val="tx1"/>
                                </a:solidFill>
                                <a:latin typeface="Cambria Math" panose="02040503050406030204" pitchFamily="18" charset="0"/>
                                <a:ea typeface="Cambria Math" panose="02040503050406030204" pitchFamily="18" charset="0"/>
                              </a:rPr>
                              <m:t>𝐷</m:t>
                            </m:r>
                          </m:e>
                          <m:sub>
                            <m:r>
                              <a:rPr lang="es-CO" i="1">
                                <a:solidFill>
                                  <a:schemeClr val="tx1"/>
                                </a:solidFill>
                                <a:latin typeface="Cambria Math" panose="02040503050406030204" pitchFamily="18" charset="0"/>
                                <a:ea typeface="Cambria Math" panose="02040503050406030204" pitchFamily="18" charset="0"/>
                              </a:rPr>
                              <m:t>2</m:t>
                            </m:r>
                          </m:sub>
                        </m:sSub>
                      </m:sub>
                    </m:sSub>
                    <m:r>
                      <a:rPr lang="es-CO" b="0" i="1" smtClean="0">
                        <a:solidFill>
                          <a:schemeClr val="tx1"/>
                        </a:solidFill>
                        <a:latin typeface="Cambria Math" panose="02040503050406030204" pitchFamily="18" charset="0"/>
                        <a:ea typeface="Cambria Math" panose="02040503050406030204" pitchFamily="18" charset="0"/>
                      </a:rPr>
                      <m:t>+</m:t>
                    </m:r>
                    <m:f>
                      <m:fPr>
                        <m:ctrlPr>
                          <a:rPr lang="es-CO" i="1">
                            <a:solidFill>
                              <a:schemeClr val="tx1"/>
                            </a:solidFill>
                            <a:latin typeface="Cambria Math" panose="02040503050406030204" pitchFamily="18" charset="0"/>
                          </a:rPr>
                        </m:ctrlPr>
                      </m:fPr>
                      <m:num>
                        <m:sSub>
                          <m:sSubPr>
                            <m:ctrlPr>
                              <a:rPr lang="es-CO" i="1">
                                <a:solidFill>
                                  <a:schemeClr val="tx1"/>
                                </a:solidFill>
                                <a:latin typeface="Cambria Math" panose="02040503050406030204" pitchFamily="18" charset="0"/>
                              </a:rPr>
                            </m:ctrlPr>
                          </m:sSubPr>
                          <m:e>
                            <m:r>
                              <a:rPr lang="es-CO" b="0" i="1" smtClean="0">
                                <a:solidFill>
                                  <a:schemeClr val="tx1"/>
                                </a:solidFill>
                                <a:latin typeface="Cambria Math" panose="02040503050406030204" pitchFamily="18" charset="0"/>
                              </a:rPr>
                              <m:t>𝐸</m:t>
                            </m:r>
                          </m:e>
                          <m:sub>
                            <m:r>
                              <a:rPr lang="es-CO" i="1">
                                <a:solidFill>
                                  <a:schemeClr val="tx1"/>
                                </a:solidFill>
                                <a:latin typeface="Cambria Math" panose="02040503050406030204" pitchFamily="18" charset="0"/>
                              </a:rPr>
                              <m:t>1</m:t>
                            </m:r>
                          </m:sub>
                        </m:sSub>
                      </m:num>
                      <m:den>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𝐷</m:t>
                            </m:r>
                          </m:e>
                          <m:sub>
                            <m:r>
                              <a:rPr lang="es-CO" i="1">
                                <a:solidFill>
                                  <a:schemeClr val="tx1"/>
                                </a:solidFill>
                                <a:latin typeface="Cambria Math" panose="02040503050406030204" pitchFamily="18" charset="0"/>
                              </a:rPr>
                              <m:t>1</m:t>
                            </m:r>
                          </m:sub>
                        </m:sSub>
                        <m:r>
                          <a:rPr lang="es-CO" i="1">
                            <a:solidFill>
                              <a:schemeClr val="tx1"/>
                            </a:solidFill>
                            <a:latin typeface="Cambria Math" panose="02040503050406030204" pitchFamily="18" charset="0"/>
                          </a:rPr>
                          <m:t>+</m:t>
                        </m:r>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𝐷</m:t>
                            </m:r>
                          </m:e>
                          <m:sub>
                            <m:r>
                              <a:rPr lang="es-CO" i="1">
                                <a:solidFill>
                                  <a:schemeClr val="tx1"/>
                                </a:solidFill>
                                <a:latin typeface="Cambria Math" panose="02040503050406030204" pitchFamily="18" charset="0"/>
                              </a:rPr>
                              <m:t>2</m:t>
                            </m:r>
                          </m:sub>
                        </m:sSub>
                        <m:r>
                          <a:rPr lang="es-CO" i="1">
                            <a:solidFill>
                              <a:schemeClr val="tx1"/>
                            </a:solidFill>
                            <a:latin typeface="Cambria Math" panose="02040503050406030204" pitchFamily="18" charset="0"/>
                          </a:rPr>
                          <m:t>+</m:t>
                        </m:r>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𝐸</m:t>
                            </m:r>
                          </m:e>
                          <m:sub>
                            <m:r>
                              <a:rPr lang="es-CO" i="1">
                                <a:solidFill>
                                  <a:schemeClr val="tx1"/>
                                </a:solidFill>
                                <a:latin typeface="Cambria Math" panose="02040503050406030204" pitchFamily="18" charset="0"/>
                              </a:rPr>
                              <m:t>1</m:t>
                            </m:r>
                          </m:sub>
                        </m:sSub>
                        <m:r>
                          <a:rPr lang="es-CO" i="1">
                            <a:solidFill>
                              <a:schemeClr val="tx1"/>
                            </a:solidFill>
                            <a:latin typeface="Cambria Math" panose="02040503050406030204" pitchFamily="18" charset="0"/>
                          </a:rPr>
                          <m:t>+</m:t>
                        </m:r>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𝐸</m:t>
                            </m:r>
                          </m:e>
                          <m:sub>
                            <m:r>
                              <a:rPr lang="es-CO" i="1">
                                <a:solidFill>
                                  <a:schemeClr val="tx1"/>
                                </a:solidFill>
                                <a:latin typeface="Cambria Math" panose="02040503050406030204" pitchFamily="18" charset="0"/>
                              </a:rPr>
                              <m:t>2</m:t>
                            </m:r>
                          </m:sub>
                        </m:sSub>
                      </m:den>
                    </m:f>
                    <m:r>
                      <a:rPr lang="es-CO" i="1">
                        <a:solidFill>
                          <a:schemeClr val="tx1"/>
                        </a:solidFill>
                        <a:latin typeface="Cambria Math" panose="02040503050406030204" pitchFamily="18" charset="0"/>
                        <a:ea typeface="Cambria Math" panose="02040503050406030204" pitchFamily="18" charset="0"/>
                      </a:rPr>
                      <m:t>∙</m:t>
                    </m:r>
                    <m:sSub>
                      <m:sSubPr>
                        <m:ctrlPr>
                          <a:rPr lang="es-CO" i="1">
                            <a:solidFill>
                              <a:schemeClr val="tx1"/>
                            </a:solidFill>
                            <a:latin typeface="Cambria Math" panose="02040503050406030204" pitchFamily="18" charset="0"/>
                            <a:ea typeface="Cambria Math" panose="02040503050406030204" pitchFamily="18" charset="0"/>
                          </a:rPr>
                        </m:ctrlPr>
                      </m:sSubPr>
                      <m:e>
                        <m:r>
                          <a:rPr lang="es-CO" i="1">
                            <a:solidFill>
                              <a:schemeClr val="tx1"/>
                            </a:solidFill>
                            <a:latin typeface="Cambria Math" panose="02040503050406030204" pitchFamily="18" charset="0"/>
                            <a:ea typeface="Cambria Math" panose="02040503050406030204" pitchFamily="18" charset="0"/>
                          </a:rPr>
                          <m:t>𝑘</m:t>
                        </m:r>
                      </m:e>
                      <m:sub>
                        <m:sSub>
                          <m:sSubPr>
                            <m:ctrlPr>
                              <a:rPr lang="es-CO" i="1">
                                <a:solidFill>
                                  <a:schemeClr val="tx1"/>
                                </a:solidFill>
                                <a:latin typeface="Cambria Math" panose="02040503050406030204" pitchFamily="18" charset="0"/>
                                <a:ea typeface="Cambria Math" panose="02040503050406030204" pitchFamily="18" charset="0"/>
                              </a:rPr>
                            </m:ctrlPr>
                          </m:sSubPr>
                          <m:e>
                            <m:r>
                              <a:rPr lang="es-CO" b="0" i="1" smtClean="0">
                                <a:solidFill>
                                  <a:schemeClr val="tx1"/>
                                </a:solidFill>
                                <a:latin typeface="Cambria Math" panose="02040503050406030204" pitchFamily="18" charset="0"/>
                                <a:ea typeface="Cambria Math" panose="02040503050406030204" pitchFamily="18" charset="0"/>
                              </a:rPr>
                              <m:t>𝐸</m:t>
                            </m:r>
                          </m:e>
                          <m:sub>
                            <m:r>
                              <a:rPr lang="es-CO" b="0" i="1" smtClean="0">
                                <a:solidFill>
                                  <a:schemeClr val="tx1"/>
                                </a:solidFill>
                                <a:latin typeface="Cambria Math" panose="02040503050406030204" pitchFamily="18" charset="0"/>
                                <a:ea typeface="Cambria Math" panose="02040503050406030204" pitchFamily="18" charset="0"/>
                              </a:rPr>
                              <m:t>1</m:t>
                            </m:r>
                          </m:sub>
                        </m:sSub>
                      </m:sub>
                    </m:sSub>
                  </m:oMath>
                </a14:m>
                <a:r>
                  <a:rPr lang="es-CO" dirty="0">
                    <a:solidFill>
                      <a:schemeClr val="tx1"/>
                    </a:solidFill>
                    <a:latin typeface="Century Gothic" panose="020B0502020202020204" pitchFamily="34" charset="0"/>
                  </a:rPr>
                  <a:t>+ </a:t>
                </a:r>
                <a14:m>
                  <m:oMath xmlns:m="http://schemas.openxmlformats.org/officeDocument/2006/math">
                    <m:f>
                      <m:fPr>
                        <m:ctrlPr>
                          <a:rPr lang="es-CO" i="1">
                            <a:solidFill>
                              <a:schemeClr val="tx1"/>
                            </a:solidFill>
                            <a:latin typeface="Cambria Math" panose="02040503050406030204" pitchFamily="18" charset="0"/>
                          </a:rPr>
                        </m:ctrlPr>
                      </m:fPr>
                      <m:num>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𝐸</m:t>
                            </m:r>
                          </m:e>
                          <m:sub>
                            <m:r>
                              <a:rPr lang="es-CO" b="0" i="1" smtClean="0">
                                <a:solidFill>
                                  <a:schemeClr val="tx1"/>
                                </a:solidFill>
                                <a:latin typeface="Cambria Math" panose="02040503050406030204" pitchFamily="18" charset="0"/>
                              </a:rPr>
                              <m:t>2</m:t>
                            </m:r>
                          </m:sub>
                        </m:sSub>
                      </m:num>
                      <m:den>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𝐷</m:t>
                            </m:r>
                          </m:e>
                          <m:sub>
                            <m:r>
                              <a:rPr lang="es-CO" i="1">
                                <a:solidFill>
                                  <a:schemeClr val="tx1"/>
                                </a:solidFill>
                                <a:latin typeface="Cambria Math" panose="02040503050406030204" pitchFamily="18" charset="0"/>
                              </a:rPr>
                              <m:t>1</m:t>
                            </m:r>
                          </m:sub>
                        </m:sSub>
                        <m:r>
                          <a:rPr lang="es-CO" i="1">
                            <a:solidFill>
                              <a:schemeClr val="tx1"/>
                            </a:solidFill>
                            <a:latin typeface="Cambria Math" panose="02040503050406030204" pitchFamily="18" charset="0"/>
                          </a:rPr>
                          <m:t>+</m:t>
                        </m:r>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𝐷</m:t>
                            </m:r>
                          </m:e>
                          <m:sub>
                            <m:r>
                              <a:rPr lang="es-CO" i="1">
                                <a:solidFill>
                                  <a:schemeClr val="tx1"/>
                                </a:solidFill>
                                <a:latin typeface="Cambria Math" panose="02040503050406030204" pitchFamily="18" charset="0"/>
                              </a:rPr>
                              <m:t>2</m:t>
                            </m:r>
                          </m:sub>
                        </m:sSub>
                        <m:r>
                          <a:rPr lang="es-CO" i="1">
                            <a:solidFill>
                              <a:schemeClr val="tx1"/>
                            </a:solidFill>
                            <a:latin typeface="Cambria Math" panose="02040503050406030204" pitchFamily="18" charset="0"/>
                          </a:rPr>
                          <m:t>+</m:t>
                        </m:r>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𝐸</m:t>
                            </m:r>
                          </m:e>
                          <m:sub>
                            <m:r>
                              <a:rPr lang="es-CO" i="1">
                                <a:solidFill>
                                  <a:schemeClr val="tx1"/>
                                </a:solidFill>
                                <a:latin typeface="Cambria Math" panose="02040503050406030204" pitchFamily="18" charset="0"/>
                              </a:rPr>
                              <m:t>1</m:t>
                            </m:r>
                          </m:sub>
                        </m:sSub>
                        <m:r>
                          <a:rPr lang="es-CO" i="1">
                            <a:solidFill>
                              <a:schemeClr val="tx1"/>
                            </a:solidFill>
                            <a:latin typeface="Cambria Math" panose="02040503050406030204" pitchFamily="18" charset="0"/>
                          </a:rPr>
                          <m:t>+</m:t>
                        </m:r>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𝐸</m:t>
                            </m:r>
                          </m:e>
                          <m:sub>
                            <m:r>
                              <a:rPr lang="es-CO" i="1">
                                <a:solidFill>
                                  <a:schemeClr val="tx1"/>
                                </a:solidFill>
                                <a:latin typeface="Cambria Math" panose="02040503050406030204" pitchFamily="18" charset="0"/>
                              </a:rPr>
                              <m:t>2</m:t>
                            </m:r>
                          </m:sub>
                        </m:sSub>
                      </m:den>
                    </m:f>
                    <m:r>
                      <a:rPr lang="es-CO" i="1">
                        <a:solidFill>
                          <a:schemeClr val="tx1"/>
                        </a:solidFill>
                        <a:latin typeface="Cambria Math" panose="02040503050406030204" pitchFamily="18" charset="0"/>
                        <a:ea typeface="Cambria Math" panose="02040503050406030204" pitchFamily="18" charset="0"/>
                      </a:rPr>
                      <m:t>∙</m:t>
                    </m:r>
                    <m:sSub>
                      <m:sSubPr>
                        <m:ctrlPr>
                          <a:rPr lang="es-CO" i="1">
                            <a:solidFill>
                              <a:schemeClr val="tx1"/>
                            </a:solidFill>
                            <a:latin typeface="Cambria Math" panose="02040503050406030204" pitchFamily="18" charset="0"/>
                            <a:ea typeface="Cambria Math" panose="02040503050406030204" pitchFamily="18" charset="0"/>
                          </a:rPr>
                        </m:ctrlPr>
                      </m:sSubPr>
                      <m:e>
                        <m:r>
                          <a:rPr lang="es-CO" i="1">
                            <a:solidFill>
                              <a:schemeClr val="tx1"/>
                            </a:solidFill>
                            <a:latin typeface="Cambria Math" panose="02040503050406030204" pitchFamily="18" charset="0"/>
                            <a:ea typeface="Cambria Math" panose="02040503050406030204" pitchFamily="18" charset="0"/>
                          </a:rPr>
                          <m:t>𝑘</m:t>
                        </m:r>
                      </m:e>
                      <m:sub>
                        <m:sSub>
                          <m:sSubPr>
                            <m:ctrlPr>
                              <a:rPr lang="es-CO" i="1">
                                <a:solidFill>
                                  <a:schemeClr val="tx1"/>
                                </a:solidFill>
                                <a:latin typeface="Cambria Math" panose="02040503050406030204" pitchFamily="18" charset="0"/>
                                <a:ea typeface="Cambria Math" panose="02040503050406030204" pitchFamily="18" charset="0"/>
                              </a:rPr>
                            </m:ctrlPr>
                          </m:sSubPr>
                          <m:e>
                            <m:r>
                              <a:rPr lang="es-CO" b="0" i="1" smtClean="0">
                                <a:solidFill>
                                  <a:schemeClr val="tx1"/>
                                </a:solidFill>
                                <a:latin typeface="Cambria Math" panose="02040503050406030204" pitchFamily="18" charset="0"/>
                                <a:ea typeface="Cambria Math" panose="02040503050406030204" pitchFamily="18" charset="0"/>
                              </a:rPr>
                              <m:t>𝐸</m:t>
                            </m:r>
                          </m:e>
                          <m:sub>
                            <m:r>
                              <a:rPr lang="es-CO" i="1">
                                <a:solidFill>
                                  <a:schemeClr val="tx1"/>
                                </a:solidFill>
                                <a:latin typeface="Cambria Math" panose="02040503050406030204" pitchFamily="18" charset="0"/>
                                <a:ea typeface="Cambria Math" panose="02040503050406030204" pitchFamily="18" charset="0"/>
                              </a:rPr>
                              <m:t>2</m:t>
                            </m:r>
                          </m:sub>
                        </m:sSub>
                      </m:sub>
                    </m:sSub>
                  </m:oMath>
                </a14:m>
                <a:endParaRPr lang="es-CO" dirty="0">
                  <a:solidFill>
                    <a:schemeClr val="tx1"/>
                  </a:solidFill>
                  <a:latin typeface="Century Gothic" panose="020B0502020202020204" pitchFamily="34" charset="0"/>
                </a:endParaRPr>
              </a:p>
            </p:txBody>
          </p:sp>
        </mc:Choice>
        <mc:Fallback xmlns="">
          <p:sp>
            <p:nvSpPr>
              <p:cNvPr id="15" name="CuadroTexto 11">
                <a:extLst>
                  <a:ext uri="{FF2B5EF4-FFF2-40B4-BE49-F238E27FC236}">
                    <a16:creationId xmlns:a16="http://schemas.microsoft.com/office/drawing/2014/main" id="{512CE5B6-7E18-A4BD-0202-CA8FC3E8D9C2}"/>
                  </a:ext>
                </a:extLst>
              </p:cNvPr>
              <p:cNvSpPr txBox="1">
                <a:spLocks noRot="1" noChangeAspect="1" noMove="1" noResize="1" noEditPoints="1" noAdjustHandles="1" noChangeArrowheads="1" noChangeShapeType="1" noTextEdit="1"/>
              </p:cNvSpPr>
              <p:nvPr/>
            </p:nvSpPr>
            <p:spPr>
              <a:xfrm>
                <a:off x="1974391" y="4995926"/>
                <a:ext cx="8243219" cy="426142"/>
              </a:xfrm>
              <a:prstGeom prst="rect">
                <a:avLst/>
              </a:prstGeom>
              <a:blipFill>
                <a:blip r:embed="rId3"/>
                <a:stretch>
                  <a:fillRect l="-1036" t="-7246" b="-115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CuadroTexto 13">
                <a:extLst>
                  <a:ext uri="{FF2B5EF4-FFF2-40B4-BE49-F238E27FC236}">
                    <a16:creationId xmlns:a16="http://schemas.microsoft.com/office/drawing/2014/main" id="{1F1599B9-775F-B081-B4A3-0910DB150843}"/>
                  </a:ext>
                </a:extLst>
              </p:cNvPr>
              <p:cNvSpPr txBox="1"/>
              <p:nvPr/>
            </p:nvSpPr>
            <p:spPr>
              <a:xfrm>
                <a:off x="2788236" y="3053634"/>
                <a:ext cx="6615529" cy="5638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b="0" i="1" smtClean="0">
                          <a:solidFill>
                            <a:schemeClr val="tx1"/>
                          </a:solidFill>
                          <a:latin typeface="Cambria Math" panose="02040503050406030204" pitchFamily="18" charset="0"/>
                        </a:rPr>
                        <m:t>𝑊𝐴𝐶𝐶</m:t>
                      </m:r>
                      <m:r>
                        <a:rPr lang="es-CO" b="0" i="1" smtClean="0">
                          <a:solidFill>
                            <a:schemeClr val="tx1"/>
                          </a:solidFill>
                          <a:latin typeface="Cambria Math" panose="02040503050406030204" pitchFamily="18" charset="0"/>
                        </a:rPr>
                        <m:t>=</m:t>
                      </m:r>
                      <m:f>
                        <m:fPr>
                          <m:ctrlPr>
                            <a:rPr lang="es-CO" b="0" i="1" smtClean="0">
                              <a:solidFill>
                                <a:schemeClr val="tx1"/>
                              </a:solidFill>
                              <a:latin typeface="Cambria Math" panose="02040503050406030204" pitchFamily="18" charset="0"/>
                            </a:rPr>
                          </m:ctrlPr>
                        </m:fPr>
                        <m:num>
                          <m:sSub>
                            <m:sSubPr>
                              <m:ctrlPr>
                                <a:rPr lang="es-CO" b="0" i="1" smtClean="0">
                                  <a:solidFill>
                                    <a:schemeClr val="tx1"/>
                                  </a:solidFill>
                                  <a:latin typeface="Cambria Math" panose="02040503050406030204" pitchFamily="18" charset="0"/>
                                </a:rPr>
                              </m:ctrlPr>
                            </m:sSubPr>
                            <m:e>
                              <m:r>
                                <a:rPr lang="es-CO" b="0" i="1" smtClean="0">
                                  <a:solidFill>
                                    <a:schemeClr val="tx1"/>
                                  </a:solidFill>
                                  <a:latin typeface="Cambria Math" panose="02040503050406030204" pitchFamily="18" charset="0"/>
                                </a:rPr>
                                <m:t>𝐷</m:t>
                              </m:r>
                            </m:e>
                            <m:sub>
                              <m:r>
                                <a:rPr lang="es-CO" b="0" i="1" smtClean="0">
                                  <a:solidFill>
                                    <a:schemeClr val="tx1"/>
                                  </a:solidFill>
                                  <a:latin typeface="Cambria Math" panose="02040503050406030204" pitchFamily="18" charset="0"/>
                                </a:rPr>
                                <m:t>1</m:t>
                              </m:r>
                            </m:sub>
                          </m:sSub>
                        </m:num>
                        <m:den>
                          <m:sSub>
                            <m:sSubPr>
                              <m:ctrlPr>
                                <a:rPr lang="es-CO" b="0" i="1" smtClean="0">
                                  <a:solidFill>
                                    <a:schemeClr val="tx1"/>
                                  </a:solidFill>
                                  <a:latin typeface="Cambria Math" panose="02040503050406030204" pitchFamily="18" charset="0"/>
                                </a:rPr>
                              </m:ctrlPr>
                            </m:sSubPr>
                            <m:e>
                              <m:r>
                                <a:rPr lang="es-CO" b="0" i="1" smtClean="0">
                                  <a:solidFill>
                                    <a:schemeClr val="tx1"/>
                                  </a:solidFill>
                                  <a:latin typeface="Cambria Math" panose="02040503050406030204" pitchFamily="18" charset="0"/>
                                </a:rPr>
                                <m:t>𝐷</m:t>
                              </m:r>
                            </m:e>
                            <m:sub>
                              <m:r>
                                <a:rPr lang="es-CO" b="0" i="1" smtClean="0">
                                  <a:solidFill>
                                    <a:schemeClr val="tx1"/>
                                  </a:solidFill>
                                  <a:latin typeface="Cambria Math" panose="02040503050406030204" pitchFamily="18" charset="0"/>
                                </a:rPr>
                                <m:t>1</m:t>
                              </m:r>
                            </m:sub>
                          </m:sSub>
                          <m:r>
                            <a:rPr lang="es-CO" b="0" i="1" smtClean="0">
                              <a:solidFill>
                                <a:schemeClr val="tx1"/>
                              </a:solidFill>
                              <a:latin typeface="Cambria Math" panose="02040503050406030204" pitchFamily="18" charset="0"/>
                            </a:rPr>
                            <m:t>+</m:t>
                          </m:r>
                          <m:sSub>
                            <m:sSubPr>
                              <m:ctrlPr>
                                <a:rPr lang="es-CO" b="0" i="1" smtClean="0">
                                  <a:solidFill>
                                    <a:schemeClr val="tx1"/>
                                  </a:solidFill>
                                  <a:latin typeface="Cambria Math" panose="02040503050406030204" pitchFamily="18" charset="0"/>
                                </a:rPr>
                              </m:ctrlPr>
                            </m:sSubPr>
                            <m:e>
                              <m:r>
                                <a:rPr lang="es-CO" b="0" i="1" smtClean="0">
                                  <a:solidFill>
                                    <a:schemeClr val="tx1"/>
                                  </a:solidFill>
                                  <a:latin typeface="Cambria Math" panose="02040503050406030204" pitchFamily="18" charset="0"/>
                                </a:rPr>
                                <m:t>𝐷</m:t>
                              </m:r>
                            </m:e>
                            <m:sub>
                              <m:r>
                                <a:rPr lang="es-CO" b="0" i="1" smtClean="0">
                                  <a:solidFill>
                                    <a:schemeClr val="tx1"/>
                                  </a:solidFill>
                                  <a:latin typeface="Cambria Math" panose="02040503050406030204" pitchFamily="18" charset="0"/>
                                </a:rPr>
                                <m:t>2</m:t>
                              </m:r>
                            </m:sub>
                          </m:sSub>
                          <m:r>
                            <a:rPr lang="es-CO" b="0" i="1" smtClean="0">
                              <a:solidFill>
                                <a:schemeClr val="tx1"/>
                              </a:solidFill>
                              <a:latin typeface="Cambria Math" panose="02040503050406030204" pitchFamily="18" charset="0"/>
                            </a:rPr>
                            <m:t>+</m:t>
                          </m:r>
                          <m:r>
                            <a:rPr lang="es-CO" b="0" i="1" smtClean="0">
                              <a:solidFill>
                                <a:schemeClr val="tx1"/>
                              </a:solidFill>
                              <a:latin typeface="Cambria Math" panose="02040503050406030204" pitchFamily="18" charset="0"/>
                            </a:rPr>
                            <m:t>𝐸</m:t>
                          </m:r>
                        </m:den>
                      </m:f>
                      <m:r>
                        <a:rPr lang="es-CO" b="0" i="1" smtClean="0">
                          <a:solidFill>
                            <a:schemeClr val="tx1"/>
                          </a:solidFill>
                          <a:latin typeface="Cambria Math" panose="02040503050406030204" pitchFamily="18" charset="0"/>
                          <a:ea typeface="Cambria Math" panose="02040503050406030204" pitchFamily="18" charset="0"/>
                        </a:rPr>
                        <m:t>∙</m:t>
                      </m:r>
                      <m:sSub>
                        <m:sSubPr>
                          <m:ctrlPr>
                            <a:rPr lang="es-CO" b="0" i="1" smtClean="0">
                              <a:solidFill>
                                <a:schemeClr val="tx1"/>
                              </a:solidFill>
                              <a:latin typeface="Cambria Math" panose="02040503050406030204" pitchFamily="18" charset="0"/>
                              <a:ea typeface="Cambria Math" panose="02040503050406030204" pitchFamily="18" charset="0"/>
                            </a:rPr>
                          </m:ctrlPr>
                        </m:sSubPr>
                        <m:e>
                          <m:r>
                            <a:rPr lang="es-CO" b="0" i="1" smtClean="0">
                              <a:solidFill>
                                <a:schemeClr val="tx1"/>
                              </a:solidFill>
                              <a:latin typeface="Cambria Math" panose="02040503050406030204" pitchFamily="18" charset="0"/>
                              <a:ea typeface="Cambria Math" panose="02040503050406030204" pitchFamily="18" charset="0"/>
                            </a:rPr>
                            <m:t>𝑘</m:t>
                          </m:r>
                        </m:e>
                        <m:sub>
                          <m:sSub>
                            <m:sSubPr>
                              <m:ctrlPr>
                                <a:rPr lang="es-CO" b="0" i="1" smtClean="0">
                                  <a:solidFill>
                                    <a:schemeClr val="tx1"/>
                                  </a:solidFill>
                                  <a:latin typeface="Cambria Math" panose="02040503050406030204" pitchFamily="18" charset="0"/>
                                  <a:ea typeface="Cambria Math" panose="02040503050406030204" pitchFamily="18" charset="0"/>
                                </a:rPr>
                              </m:ctrlPr>
                            </m:sSubPr>
                            <m:e>
                              <m:r>
                                <a:rPr lang="es-CO" b="0" i="1" smtClean="0">
                                  <a:solidFill>
                                    <a:schemeClr val="tx1"/>
                                  </a:solidFill>
                                  <a:latin typeface="Cambria Math" panose="02040503050406030204" pitchFamily="18" charset="0"/>
                                  <a:ea typeface="Cambria Math" panose="02040503050406030204" pitchFamily="18" charset="0"/>
                                </a:rPr>
                                <m:t>𝐷</m:t>
                              </m:r>
                            </m:e>
                            <m:sub>
                              <m:r>
                                <a:rPr lang="es-CO" b="0" i="1" smtClean="0">
                                  <a:solidFill>
                                    <a:schemeClr val="tx1"/>
                                  </a:solidFill>
                                  <a:latin typeface="Cambria Math" panose="02040503050406030204" pitchFamily="18" charset="0"/>
                                  <a:ea typeface="Cambria Math" panose="02040503050406030204" pitchFamily="18" charset="0"/>
                                </a:rPr>
                                <m:t>1</m:t>
                              </m:r>
                            </m:sub>
                          </m:sSub>
                        </m:sub>
                      </m:sSub>
                      <m:r>
                        <a:rPr lang="es-CO" b="0" i="1" smtClean="0">
                          <a:solidFill>
                            <a:schemeClr val="tx1"/>
                          </a:solidFill>
                          <a:latin typeface="Cambria Math" panose="02040503050406030204" pitchFamily="18" charset="0"/>
                          <a:ea typeface="Cambria Math" panose="02040503050406030204" pitchFamily="18" charset="0"/>
                        </a:rPr>
                        <m:t>+</m:t>
                      </m:r>
                      <m:f>
                        <m:fPr>
                          <m:ctrlPr>
                            <a:rPr lang="es-CO" i="1">
                              <a:solidFill>
                                <a:schemeClr val="tx1"/>
                              </a:solidFill>
                              <a:latin typeface="Cambria Math" panose="02040503050406030204" pitchFamily="18" charset="0"/>
                            </a:rPr>
                          </m:ctrlPr>
                        </m:fPr>
                        <m:num>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𝐷</m:t>
                              </m:r>
                            </m:e>
                            <m:sub>
                              <m:r>
                                <a:rPr lang="es-CO" b="0" i="1" smtClean="0">
                                  <a:solidFill>
                                    <a:schemeClr val="tx1"/>
                                  </a:solidFill>
                                  <a:latin typeface="Cambria Math" panose="02040503050406030204" pitchFamily="18" charset="0"/>
                                </a:rPr>
                                <m:t>2</m:t>
                              </m:r>
                            </m:sub>
                          </m:sSub>
                        </m:num>
                        <m:den>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𝐷</m:t>
                              </m:r>
                            </m:e>
                            <m:sub>
                              <m:r>
                                <a:rPr lang="es-CO" i="1">
                                  <a:solidFill>
                                    <a:schemeClr val="tx1"/>
                                  </a:solidFill>
                                  <a:latin typeface="Cambria Math" panose="02040503050406030204" pitchFamily="18" charset="0"/>
                                </a:rPr>
                                <m:t>1</m:t>
                              </m:r>
                            </m:sub>
                          </m:sSub>
                          <m:r>
                            <a:rPr lang="es-CO" i="1">
                              <a:solidFill>
                                <a:schemeClr val="tx1"/>
                              </a:solidFill>
                              <a:latin typeface="Cambria Math" panose="02040503050406030204" pitchFamily="18" charset="0"/>
                            </a:rPr>
                            <m:t>+</m:t>
                          </m:r>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𝐷</m:t>
                              </m:r>
                            </m:e>
                            <m:sub>
                              <m:r>
                                <a:rPr lang="es-CO" i="1">
                                  <a:solidFill>
                                    <a:schemeClr val="tx1"/>
                                  </a:solidFill>
                                  <a:latin typeface="Cambria Math" panose="02040503050406030204" pitchFamily="18" charset="0"/>
                                </a:rPr>
                                <m:t>2</m:t>
                              </m:r>
                            </m:sub>
                          </m:sSub>
                          <m:r>
                            <a:rPr lang="es-CO" i="1">
                              <a:solidFill>
                                <a:schemeClr val="tx1"/>
                              </a:solidFill>
                              <a:latin typeface="Cambria Math" panose="02040503050406030204" pitchFamily="18" charset="0"/>
                            </a:rPr>
                            <m:t>+</m:t>
                          </m:r>
                          <m:r>
                            <a:rPr lang="es-CO" b="0" i="1" smtClean="0">
                              <a:solidFill>
                                <a:schemeClr val="tx1"/>
                              </a:solidFill>
                              <a:latin typeface="Cambria Math" panose="02040503050406030204" pitchFamily="18" charset="0"/>
                            </a:rPr>
                            <m:t>𝐸</m:t>
                          </m:r>
                        </m:den>
                      </m:f>
                      <m:r>
                        <a:rPr lang="es-CO" i="1">
                          <a:solidFill>
                            <a:schemeClr val="tx1"/>
                          </a:solidFill>
                          <a:latin typeface="Cambria Math" panose="02040503050406030204" pitchFamily="18" charset="0"/>
                          <a:ea typeface="Cambria Math" panose="02040503050406030204" pitchFamily="18" charset="0"/>
                        </a:rPr>
                        <m:t>∙</m:t>
                      </m:r>
                      <m:sSub>
                        <m:sSubPr>
                          <m:ctrlPr>
                            <a:rPr lang="es-CO" i="1">
                              <a:solidFill>
                                <a:schemeClr val="tx1"/>
                              </a:solidFill>
                              <a:latin typeface="Cambria Math" panose="02040503050406030204" pitchFamily="18" charset="0"/>
                              <a:ea typeface="Cambria Math" panose="02040503050406030204" pitchFamily="18" charset="0"/>
                            </a:rPr>
                          </m:ctrlPr>
                        </m:sSubPr>
                        <m:e>
                          <m:r>
                            <a:rPr lang="es-CO" i="1">
                              <a:solidFill>
                                <a:schemeClr val="tx1"/>
                              </a:solidFill>
                              <a:latin typeface="Cambria Math" panose="02040503050406030204" pitchFamily="18" charset="0"/>
                              <a:ea typeface="Cambria Math" panose="02040503050406030204" pitchFamily="18" charset="0"/>
                            </a:rPr>
                            <m:t>𝑘</m:t>
                          </m:r>
                        </m:e>
                        <m:sub>
                          <m:sSub>
                            <m:sSubPr>
                              <m:ctrlPr>
                                <a:rPr lang="es-CO" i="1">
                                  <a:solidFill>
                                    <a:schemeClr val="tx1"/>
                                  </a:solidFill>
                                  <a:latin typeface="Cambria Math" panose="02040503050406030204" pitchFamily="18" charset="0"/>
                                  <a:ea typeface="Cambria Math" panose="02040503050406030204" pitchFamily="18" charset="0"/>
                                </a:rPr>
                              </m:ctrlPr>
                            </m:sSubPr>
                            <m:e>
                              <m:r>
                                <a:rPr lang="es-CO" i="1">
                                  <a:solidFill>
                                    <a:schemeClr val="tx1"/>
                                  </a:solidFill>
                                  <a:latin typeface="Cambria Math" panose="02040503050406030204" pitchFamily="18" charset="0"/>
                                  <a:ea typeface="Cambria Math" panose="02040503050406030204" pitchFamily="18" charset="0"/>
                                </a:rPr>
                                <m:t>𝐷</m:t>
                              </m:r>
                            </m:e>
                            <m:sub>
                              <m:r>
                                <a:rPr lang="es-CO" b="0" i="1" smtClean="0">
                                  <a:solidFill>
                                    <a:schemeClr val="tx1"/>
                                  </a:solidFill>
                                  <a:latin typeface="Cambria Math" panose="02040503050406030204" pitchFamily="18" charset="0"/>
                                  <a:ea typeface="Cambria Math" panose="02040503050406030204" pitchFamily="18" charset="0"/>
                                </a:rPr>
                                <m:t>2</m:t>
                              </m:r>
                            </m:sub>
                          </m:sSub>
                        </m:sub>
                      </m:sSub>
                      <m:r>
                        <a:rPr lang="es-CO" b="0" i="1" smtClean="0">
                          <a:solidFill>
                            <a:schemeClr val="tx1"/>
                          </a:solidFill>
                          <a:latin typeface="Cambria Math" panose="02040503050406030204" pitchFamily="18" charset="0"/>
                          <a:ea typeface="Cambria Math" panose="02040503050406030204" pitchFamily="18" charset="0"/>
                        </a:rPr>
                        <m:t>+</m:t>
                      </m:r>
                      <m:f>
                        <m:fPr>
                          <m:ctrlPr>
                            <a:rPr lang="es-CO" i="1">
                              <a:solidFill>
                                <a:schemeClr val="tx1"/>
                              </a:solidFill>
                              <a:latin typeface="Cambria Math" panose="02040503050406030204" pitchFamily="18" charset="0"/>
                            </a:rPr>
                          </m:ctrlPr>
                        </m:fPr>
                        <m:num>
                          <m:r>
                            <a:rPr lang="es-CO" i="1" smtClean="0">
                              <a:solidFill>
                                <a:schemeClr val="tx1"/>
                              </a:solidFill>
                              <a:latin typeface="Cambria Math" panose="02040503050406030204" pitchFamily="18" charset="0"/>
                            </a:rPr>
                            <m:t>𝐸</m:t>
                          </m:r>
                        </m:num>
                        <m:den>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𝐷</m:t>
                              </m:r>
                            </m:e>
                            <m:sub>
                              <m:r>
                                <a:rPr lang="es-CO" i="1">
                                  <a:solidFill>
                                    <a:schemeClr val="tx1"/>
                                  </a:solidFill>
                                  <a:latin typeface="Cambria Math" panose="02040503050406030204" pitchFamily="18" charset="0"/>
                                </a:rPr>
                                <m:t>1</m:t>
                              </m:r>
                            </m:sub>
                          </m:sSub>
                          <m:r>
                            <a:rPr lang="es-CO" i="1">
                              <a:solidFill>
                                <a:schemeClr val="tx1"/>
                              </a:solidFill>
                              <a:latin typeface="Cambria Math" panose="02040503050406030204" pitchFamily="18" charset="0"/>
                            </a:rPr>
                            <m:t>+</m:t>
                          </m:r>
                          <m:sSub>
                            <m:sSubPr>
                              <m:ctrlPr>
                                <a:rPr lang="es-CO" i="1">
                                  <a:solidFill>
                                    <a:schemeClr val="tx1"/>
                                  </a:solidFill>
                                  <a:latin typeface="Cambria Math" panose="02040503050406030204" pitchFamily="18" charset="0"/>
                                </a:rPr>
                              </m:ctrlPr>
                            </m:sSubPr>
                            <m:e>
                              <m:r>
                                <a:rPr lang="es-CO" i="1">
                                  <a:solidFill>
                                    <a:schemeClr val="tx1"/>
                                  </a:solidFill>
                                  <a:latin typeface="Cambria Math" panose="02040503050406030204" pitchFamily="18" charset="0"/>
                                </a:rPr>
                                <m:t>𝐷</m:t>
                              </m:r>
                            </m:e>
                            <m:sub>
                              <m:r>
                                <a:rPr lang="es-CO" i="1">
                                  <a:solidFill>
                                    <a:schemeClr val="tx1"/>
                                  </a:solidFill>
                                  <a:latin typeface="Cambria Math" panose="02040503050406030204" pitchFamily="18" charset="0"/>
                                </a:rPr>
                                <m:t>2</m:t>
                              </m:r>
                            </m:sub>
                          </m:sSub>
                          <m:r>
                            <a:rPr lang="es-CO" i="1">
                              <a:solidFill>
                                <a:schemeClr val="tx1"/>
                              </a:solidFill>
                              <a:latin typeface="Cambria Math" panose="02040503050406030204" pitchFamily="18" charset="0"/>
                            </a:rPr>
                            <m:t>+</m:t>
                          </m:r>
                          <m:r>
                            <a:rPr lang="es-CO" b="0" i="1" smtClean="0">
                              <a:solidFill>
                                <a:schemeClr val="tx1"/>
                              </a:solidFill>
                              <a:latin typeface="Cambria Math" panose="02040503050406030204" pitchFamily="18" charset="0"/>
                            </a:rPr>
                            <m:t>𝐸</m:t>
                          </m:r>
                        </m:den>
                      </m:f>
                      <m:r>
                        <a:rPr lang="es-CO" i="1">
                          <a:solidFill>
                            <a:schemeClr val="tx1"/>
                          </a:solidFill>
                          <a:latin typeface="Cambria Math" panose="02040503050406030204" pitchFamily="18" charset="0"/>
                          <a:ea typeface="Cambria Math" panose="02040503050406030204" pitchFamily="18" charset="0"/>
                        </a:rPr>
                        <m:t>∙</m:t>
                      </m:r>
                      <m:sSub>
                        <m:sSubPr>
                          <m:ctrlPr>
                            <a:rPr lang="es-CO" b="0" i="1" smtClean="0">
                              <a:solidFill>
                                <a:schemeClr val="tx1"/>
                              </a:solidFill>
                              <a:latin typeface="Cambria Math" panose="02040503050406030204" pitchFamily="18" charset="0"/>
                              <a:ea typeface="Cambria Math" panose="02040503050406030204" pitchFamily="18" charset="0"/>
                            </a:rPr>
                          </m:ctrlPr>
                        </m:sSubPr>
                        <m:e>
                          <m:r>
                            <a:rPr lang="es-CO" b="0" i="1" smtClean="0">
                              <a:solidFill>
                                <a:schemeClr val="tx1"/>
                              </a:solidFill>
                              <a:latin typeface="Cambria Math" panose="02040503050406030204" pitchFamily="18" charset="0"/>
                              <a:ea typeface="Cambria Math" panose="02040503050406030204" pitchFamily="18" charset="0"/>
                            </a:rPr>
                            <m:t>𝑘</m:t>
                          </m:r>
                        </m:e>
                        <m:sub>
                          <m:r>
                            <a:rPr lang="es-CO" b="0" i="1" smtClean="0">
                              <a:solidFill>
                                <a:schemeClr val="tx1"/>
                              </a:solidFill>
                              <a:latin typeface="Cambria Math" panose="02040503050406030204" pitchFamily="18" charset="0"/>
                              <a:ea typeface="Cambria Math" panose="02040503050406030204" pitchFamily="18" charset="0"/>
                            </a:rPr>
                            <m:t>𝐸</m:t>
                          </m:r>
                        </m:sub>
                      </m:sSub>
                    </m:oMath>
                  </m:oMathPara>
                </a14:m>
                <a:endParaRPr lang="es-CO" dirty="0">
                  <a:solidFill>
                    <a:schemeClr val="tx1"/>
                  </a:solidFill>
                  <a:latin typeface="Century Gothic" panose="020B0502020202020204" pitchFamily="34" charset="0"/>
                </a:endParaRPr>
              </a:p>
            </p:txBody>
          </p:sp>
        </mc:Choice>
        <mc:Fallback xmlns="">
          <p:sp>
            <p:nvSpPr>
              <p:cNvPr id="17" name="CuadroTexto 13">
                <a:extLst>
                  <a:ext uri="{FF2B5EF4-FFF2-40B4-BE49-F238E27FC236}">
                    <a16:creationId xmlns:a16="http://schemas.microsoft.com/office/drawing/2014/main" id="{1F1599B9-775F-B081-B4A3-0910DB150843}"/>
                  </a:ext>
                </a:extLst>
              </p:cNvPr>
              <p:cNvSpPr txBox="1">
                <a:spLocks noRot="1" noChangeAspect="1" noMove="1" noResize="1" noEditPoints="1" noAdjustHandles="1" noChangeArrowheads="1" noChangeShapeType="1" noTextEdit="1"/>
              </p:cNvSpPr>
              <p:nvPr/>
            </p:nvSpPr>
            <p:spPr>
              <a:xfrm>
                <a:off x="2788236" y="3053634"/>
                <a:ext cx="6615529" cy="563872"/>
              </a:xfrm>
              <a:prstGeom prst="rect">
                <a:avLst/>
              </a:prstGeom>
              <a:blipFill>
                <a:blip r:embed="rId4"/>
                <a:stretch>
                  <a:fillRect/>
                </a:stretch>
              </a:blipFill>
            </p:spPr>
            <p:txBody>
              <a:bodyPr/>
              <a:lstStyle/>
              <a:p>
                <a:r>
                  <a:rPr lang="en-US">
                    <a:noFill/>
                  </a:rPr>
                  <a:t> </a:t>
                </a:r>
              </a:p>
            </p:txBody>
          </p:sp>
        </mc:Fallback>
      </mc:AlternateContent>
      <p:sp>
        <p:nvSpPr>
          <p:cNvPr id="18" name="Marcador de contenido 2">
            <a:extLst>
              <a:ext uri="{FF2B5EF4-FFF2-40B4-BE49-F238E27FC236}">
                <a16:creationId xmlns:a16="http://schemas.microsoft.com/office/drawing/2014/main" id="{5F96345A-3E20-8380-DBE0-2FC508365C68}"/>
              </a:ext>
            </a:extLst>
          </p:cNvPr>
          <p:cNvSpPr>
            <a:spLocks noGrp="1"/>
          </p:cNvSpPr>
          <p:nvPr>
            <p:ph idx="1"/>
          </p:nvPr>
        </p:nvSpPr>
        <p:spPr>
          <a:xfrm>
            <a:off x="967709" y="5831613"/>
            <a:ext cx="10000316" cy="520976"/>
          </a:xfrm>
        </p:spPr>
        <p:txBody>
          <a:bodyPr>
            <a:noAutofit/>
          </a:bodyPr>
          <a:lstStyle/>
          <a:p>
            <a:pPr marL="0" indent="0" algn="ctr">
              <a:buClr>
                <a:schemeClr val="accent3">
                  <a:lumMod val="75000"/>
                </a:schemeClr>
              </a:buClr>
              <a:buNone/>
            </a:pPr>
            <a:r>
              <a:rPr lang="es-ES" dirty="0">
                <a:solidFill>
                  <a:schemeClr val="accent1"/>
                </a:solidFill>
                <a:latin typeface="Century Gothic" panose="020B0502020202020204" pitchFamily="34" charset="0"/>
              </a:rPr>
              <a:t>Tenga en cuenta que para poder utilizar estas fórmulas todos los costos de oportunidad (deuda y </a:t>
            </a:r>
            <a:r>
              <a:rPr lang="es-ES" dirty="0" err="1">
                <a:solidFill>
                  <a:schemeClr val="accent1"/>
                </a:solidFill>
                <a:latin typeface="Century Gothic" panose="020B0502020202020204" pitchFamily="34" charset="0"/>
              </a:rPr>
              <a:t>equity</a:t>
            </a:r>
            <a:r>
              <a:rPr lang="es-ES" dirty="0">
                <a:solidFill>
                  <a:schemeClr val="accent1"/>
                </a:solidFill>
                <a:latin typeface="Century Gothic" panose="020B0502020202020204" pitchFamily="34" charset="0"/>
              </a:rPr>
              <a:t>) deberán estar en la misma temporalidad.</a:t>
            </a:r>
          </a:p>
        </p:txBody>
      </p:sp>
    </p:spTree>
    <p:extLst>
      <p:ext uri="{BB962C8B-B14F-4D97-AF65-F5344CB8AC3E}">
        <p14:creationId xmlns:p14="http://schemas.microsoft.com/office/powerpoint/2010/main" val="2592680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5B3F0-6F3B-8CCB-46BA-9845AD00CE7E}"/>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AF8BC3E-4008-47CA-1FCD-686937CD9465}"/>
              </a:ext>
            </a:extLst>
          </p:cNvPr>
          <p:cNvSpPr>
            <a:spLocks noGrp="1"/>
          </p:cNvSpPr>
          <p:nvPr>
            <p:ph type="sldNum" sz="quarter" idx="12"/>
          </p:nvPr>
        </p:nvSpPr>
        <p:spPr/>
        <p:txBody>
          <a:bodyPr/>
          <a:lstStyle/>
          <a:p>
            <a:fld id="{5E3E23BA-6E79-2442-BA73-D218A5E297C3}" type="slidenum">
              <a:rPr lang="en-US" sz="1800" smtClean="0"/>
              <a:t>10</a:t>
            </a:fld>
            <a:endParaRPr lang="en-US" sz="1800"/>
          </a:p>
        </p:txBody>
      </p:sp>
      <p:sp>
        <p:nvSpPr>
          <p:cNvPr id="2" name="Rectángulo 1">
            <a:extLst>
              <a:ext uri="{FF2B5EF4-FFF2-40B4-BE49-F238E27FC236}">
                <a16:creationId xmlns:a16="http://schemas.microsoft.com/office/drawing/2014/main" id="{24159BAA-80A2-E78E-5C53-4B6925E08BB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EBCEE7CB-768F-86A0-0EFE-AEC233CB14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5C1F4065-79FA-696D-9398-1509069A0D9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6" name="Título 1">
            <a:extLst>
              <a:ext uri="{FF2B5EF4-FFF2-40B4-BE49-F238E27FC236}">
                <a16:creationId xmlns:a16="http://schemas.microsoft.com/office/drawing/2014/main" id="{B6BC1F89-AECE-75E0-6D4D-38BFD0C8DB0C}"/>
              </a:ext>
            </a:extLst>
          </p:cNvPr>
          <p:cNvSpPr>
            <a:spLocks noGrp="1"/>
          </p:cNvSpPr>
          <p:nvPr>
            <p:ph type="title"/>
          </p:nvPr>
        </p:nvSpPr>
        <p:spPr>
          <a:xfrm>
            <a:off x="581192" y="702156"/>
            <a:ext cx="11029616" cy="1013800"/>
          </a:xfrm>
        </p:spPr>
        <p:txBody>
          <a:bodyPr>
            <a:normAutofit/>
          </a:bodyPr>
          <a:lstStyle/>
          <a:p>
            <a:r>
              <a:rPr lang="es-ES" dirty="0">
                <a:latin typeface="Century Gothic" panose="020B0502020202020204" pitchFamily="34" charset="0"/>
              </a:rPr>
              <a:t>COSTO PROMEDIO PONDERADO DE CAPITAL </a:t>
            </a:r>
            <a:br>
              <a:rPr lang="es-ES" dirty="0">
                <a:latin typeface="Century Gothic" panose="020B0502020202020204" pitchFamily="34" charset="0"/>
              </a:rPr>
            </a:br>
            <a:r>
              <a:rPr lang="es-ES" dirty="0">
                <a:latin typeface="Century Gothic" panose="020B0502020202020204" pitchFamily="34" charset="0"/>
              </a:rPr>
              <a:t>(WACC)</a:t>
            </a:r>
          </a:p>
        </p:txBody>
      </p:sp>
      <p:sp>
        <p:nvSpPr>
          <p:cNvPr id="9" name="Marcador de contenido 2">
            <a:extLst>
              <a:ext uri="{FF2B5EF4-FFF2-40B4-BE49-F238E27FC236}">
                <a16:creationId xmlns:a16="http://schemas.microsoft.com/office/drawing/2014/main" id="{0EF9A41B-7C6E-7F2B-3FBE-2D8DF62188EE}"/>
              </a:ext>
            </a:extLst>
          </p:cNvPr>
          <p:cNvSpPr>
            <a:spLocks noGrp="1"/>
          </p:cNvSpPr>
          <p:nvPr>
            <p:ph idx="1"/>
          </p:nvPr>
        </p:nvSpPr>
        <p:spPr>
          <a:xfrm>
            <a:off x="967709" y="2140455"/>
            <a:ext cx="10000316" cy="4023727"/>
          </a:xfrm>
        </p:spPr>
        <p:txBody>
          <a:bodyPr anchor="t">
            <a:normAutofit/>
          </a:bodyPr>
          <a:lstStyle/>
          <a:p>
            <a:pPr algn="just">
              <a:buClr>
                <a:schemeClr val="accent3">
                  <a:lumMod val="75000"/>
                </a:schemeClr>
              </a:buClr>
              <a:buFont typeface="Arial"/>
              <a:buChar char="•"/>
            </a:pPr>
            <a:r>
              <a:rPr lang="es-ES" dirty="0">
                <a:solidFill>
                  <a:schemeClr val="accent1"/>
                </a:solidFill>
                <a:latin typeface="Century Gothic" panose="020B0502020202020204" pitchFamily="34" charset="0"/>
              </a:rPr>
              <a:t>Dado que el Costo Promedio Ponderado de Capital (WACC) representa el costo de financiación del proyecto, lo que se pretenderá es que dicho costo sea el </a:t>
            </a:r>
            <a:r>
              <a:rPr lang="es-ES" b="1" dirty="0">
                <a:solidFill>
                  <a:schemeClr val="accent1"/>
                </a:solidFill>
                <a:latin typeface="Century Gothic" panose="020B0502020202020204" pitchFamily="34" charset="0"/>
              </a:rPr>
              <a:t>menor posible</a:t>
            </a:r>
            <a:r>
              <a:rPr lang="es-ES" dirty="0">
                <a:solidFill>
                  <a:schemeClr val="accent1"/>
                </a:solidFill>
                <a:latin typeface="Century Gothic" panose="020B0502020202020204" pitchFamily="34" charset="0"/>
              </a:rPr>
              <a:t>, de esta manera es más probable que el proyecto termine generando valor. </a:t>
            </a:r>
          </a:p>
          <a:p>
            <a:pPr algn="just">
              <a:buClr>
                <a:schemeClr val="accent3">
                  <a:lumMod val="75000"/>
                </a:schemeClr>
              </a:buClr>
              <a:buFont typeface="Arial"/>
              <a:buChar char="•"/>
            </a:pPr>
            <a:endParaRPr lang="es-ES" dirty="0">
              <a:solidFill>
                <a:schemeClr val="accent1"/>
              </a:solidFill>
              <a:latin typeface="Century Gothic" panose="020B0502020202020204" pitchFamily="34" charset="0"/>
            </a:endParaRPr>
          </a:p>
          <a:p>
            <a:pPr marL="0" indent="0" algn="just">
              <a:buClr>
                <a:schemeClr val="accent3">
                  <a:lumMod val="75000"/>
                </a:schemeClr>
              </a:buClr>
              <a:buNone/>
            </a:pPr>
            <a:r>
              <a:rPr lang="es-ES" dirty="0">
                <a:solidFill>
                  <a:schemeClr val="accent1"/>
                </a:solidFill>
                <a:latin typeface="Century Gothic" panose="020B0502020202020204" pitchFamily="34" charset="0"/>
              </a:rPr>
              <a:t>				</a:t>
            </a:r>
          </a:p>
        </p:txBody>
      </p:sp>
      <p:sp>
        <p:nvSpPr>
          <p:cNvPr id="12" name="TextBox 11">
            <a:extLst>
              <a:ext uri="{FF2B5EF4-FFF2-40B4-BE49-F238E27FC236}">
                <a16:creationId xmlns:a16="http://schemas.microsoft.com/office/drawing/2014/main" id="{8445B3D0-87B8-6C26-195C-2DFCF80EEB64}"/>
              </a:ext>
            </a:extLst>
          </p:cNvPr>
          <p:cNvSpPr txBox="1"/>
          <p:nvPr/>
        </p:nvSpPr>
        <p:spPr>
          <a:xfrm>
            <a:off x="3048762" y="3180326"/>
            <a:ext cx="6094476" cy="369332"/>
          </a:xfrm>
          <a:prstGeom prst="rect">
            <a:avLst/>
          </a:prstGeom>
          <a:noFill/>
        </p:spPr>
        <p:txBody>
          <a:bodyPr wrap="square">
            <a:spAutoFit/>
          </a:bodyPr>
          <a:lstStyle/>
          <a:p>
            <a:pPr marL="0" indent="0" algn="ctr">
              <a:buClr>
                <a:schemeClr val="accent3">
                  <a:lumMod val="75000"/>
                </a:schemeClr>
              </a:buClr>
              <a:buNone/>
            </a:pPr>
            <a:r>
              <a:rPr lang="es-ES" b="1" dirty="0">
                <a:solidFill>
                  <a:schemeClr val="accent1"/>
                </a:solidFill>
                <a:latin typeface="Century Gothic" panose="020B0502020202020204" pitchFamily="34" charset="0"/>
              </a:rPr>
              <a:t>VPN (WACC) &gt; 0</a:t>
            </a:r>
          </a:p>
        </p:txBody>
      </p:sp>
      <p:grpSp>
        <p:nvGrpSpPr>
          <p:cNvPr id="24" name="Group 23">
            <a:extLst>
              <a:ext uri="{FF2B5EF4-FFF2-40B4-BE49-F238E27FC236}">
                <a16:creationId xmlns:a16="http://schemas.microsoft.com/office/drawing/2014/main" id="{D0321C68-0E3F-B3ED-CEC9-E8FAC223FCDC}"/>
              </a:ext>
            </a:extLst>
          </p:cNvPr>
          <p:cNvGrpSpPr/>
          <p:nvPr/>
        </p:nvGrpSpPr>
        <p:grpSpPr>
          <a:xfrm>
            <a:off x="2190841" y="3895853"/>
            <a:ext cx="8309769" cy="2425409"/>
            <a:chOff x="1223975" y="3927888"/>
            <a:chExt cx="8309769" cy="2425409"/>
          </a:xfrm>
        </p:grpSpPr>
        <p:sp>
          <p:nvSpPr>
            <p:cNvPr id="7" name="Rounded Rectangle 5">
              <a:extLst>
                <a:ext uri="{FF2B5EF4-FFF2-40B4-BE49-F238E27FC236}">
                  <a16:creationId xmlns:a16="http://schemas.microsoft.com/office/drawing/2014/main" id="{4F495A52-EBC1-0DA0-B457-7394D1748F92}"/>
                </a:ext>
              </a:extLst>
            </p:cNvPr>
            <p:cNvSpPr/>
            <p:nvPr/>
          </p:nvSpPr>
          <p:spPr>
            <a:xfrm>
              <a:off x="3963771" y="5648505"/>
              <a:ext cx="1954698" cy="704792"/>
            </a:xfrm>
            <a:prstGeom prst="round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dirty="0"/>
                <a:t>Relación D/E</a:t>
              </a:r>
            </a:p>
          </p:txBody>
        </p:sp>
        <p:sp>
          <p:nvSpPr>
            <p:cNvPr id="8" name="Rounded Rectangle 6">
              <a:extLst>
                <a:ext uri="{FF2B5EF4-FFF2-40B4-BE49-F238E27FC236}">
                  <a16:creationId xmlns:a16="http://schemas.microsoft.com/office/drawing/2014/main" id="{26A1B8E4-8358-D42F-8239-8FD0C3995B66}"/>
                </a:ext>
              </a:extLst>
            </p:cNvPr>
            <p:cNvSpPr/>
            <p:nvPr/>
          </p:nvSpPr>
          <p:spPr>
            <a:xfrm>
              <a:off x="1223975" y="4592992"/>
              <a:ext cx="1653343" cy="1063008"/>
            </a:xfrm>
            <a:prstGeom prst="roundRect">
              <a:avLst/>
            </a:prstGeom>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dirty="0"/>
                <a:t>Determinar montos de deuda y </a:t>
              </a:r>
              <a:r>
                <a:rPr lang="es-ES_tradnl" sz="1600" dirty="0" err="1"/>
                <a:t>equity</a:t>
              </a:r>
              <a:endParaRPr lang="es-ES_tradnl" sz="1600" dirty="0"/>
            </a:p>
          </p:txBody>
        </p:sp>
        <p:cxnSp>
          <p:nvCxnSpPr>
            <p:cNvPr id="11" name="Curved Connector 7">
              <a:extLst>
                <a:ext uri="{FF2B5EF4-FFF2-40B4-BE49-F238E27FC236}">
                  <a16:creationId xmlns:a16="http://schemas.microsoft.com/office/drawing/2014/main" id="{519B7635-950F-1E09-450A-F3DC487083AB}"/>
                </a:ext>
              </a:extLst>
            </p:cNvPr>
            <p:cNvCxnSpPr>
              <a:cxnSpLocks/>
              <a:stCxn id="8" idx="2"/>
              <a:endCxn id="7" idx="1"/>
            </p:cNvCxnSpPr>
            <p:nvPr/>
          </p:nvCxnSpPr>
          <p:spPr>
            <a:xfrm rot="16200000" flipH="1">
              <a:off x="2834759" y="4871888"/>
              <a:ext cx="344901" cy="1913124"/>
            </a:xfrm>
            <a:prstGeom prst="curvedConnector2">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3" name="Curved Connector 8">
              <a:extLst>
                <a:ext uri="{FF2B5EF4-FFF2-40B4-BE49-F238E27FC236}">
                  <a16:creationId xmlns:a16="http://schemas.microsoft.com/office/drawing/2014/main" id="{22FAD19C-D240-D0E6-697C-D9A099B69563}"/>
                </a:ext>
              </a:extLst>
            </p:cNvPr>
            <p:cNvCxnSpPr>
              <a:cxnSpLocks/>
              <a:stCxn id="15" idx="3"/>
              <a:endCxn id="14" idx="1"/>
            </p:cNvCxnSpPr>
            <p:nvPr/>
          </p:nvCxnSpPr>
          <p:spPr>
            <a:xfrm>
              <a:off x="5819980" y="4280284"/>
              <a:ext cx="1246602" cy="734541"/>
            </a:xfrm>
            <a:prstGeom prst="curvedConnector3">
              <a:avLst>
                <a:gd name="adj1" fmla="val 50000"/>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14" name="Rounded Rectangle 9">
              <a:extLst>
                <a:ext uri="{FF2B5EF4-FFF2-40B4-BE49-F238E27FC236}">
                  <a16:creationId xmlns:a16="http://schemas.microsoft.com/office/drawing/2014/main" id="{A9BE58E7-0FCC-7897-CDCB-0FEEDB4BB78F}"/>
                </a:ext>
              </a:extLst>
            </p:cNvPr>
            <p:cNvSpPr/>
            <p:nvPr/>
          </p:nvSpPr>
          <p:spPr>
            <a:xfrm>
              <a:off x="7066582" y="4152275"/>
              <a:ext cx="2467162" cy="17251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dirty="0"/>
                <a:t>Si se cuenta con varias fuentes de deuda o Equity agotar primero las menos costosas.</a:t>
              </a:r>
            </a:p>
          </p:txBody>
        </p:sp>
        <p:sp>
          <p:nvSpPr>
            <p:cNvPr id="15" name="Rounded Rectangle 24">
              <a:extLst>
                <a:ext uri="{FF2B5EF4-FFF2-40B4-BE49-F238E27FC236}">
                  <a16:creationId xmlns:a16="http://schemas.microsoft.com/office/drawing/2014/main" id="{74388B8B-0F38-AD4D-2563-B715C8B8FFB8}"/>
                </a:ext>
              </a:extLst>
            </p:cNvPr>
            <p:cNvSpPr/>
            <p:nvPr/>
          </p:nvSpPr>
          <p:spPr>
            <a:xfrm>
              <a:off x="3865282" y="3927888"/>
              <a:ext cx="1954698" cy="704792"/>
            </a:xfrm>
            <a:prstGeom prst="round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dirty="0"/>
                <a:t>WACC Mínimo u optimo</a:t>
              </a:r>
            </a:p>
          </p:txBody>
        </p:sp>
        <p:cxnSp>
          <p:nvCxnSpPr>
            <p:cNvPr id="16" name="Curved Connector 30">
              <a:extLst>
                <a:ext uri="{FF2B5EF4-FFF2-40B4-BE49-F238E27FC236}">
                  <a16:creationId xmlns:a16="http://schemas.microsoft.com/office/drawing/2014/main" id="{B8E05C13-2738-A37B-CBE2-20B6E66A3EF3}"/>
                </a:ext>
              </a:extLst>
            </p:cNvPr>
            <p:cNvCxnSpPr>
              <a:cxnSpLocks/>
              <a:stCxn id="8" idx="0"/>
              <a:endCxn id="15" idx="1"/>
            </p:cNvCxnSpPr>
            <p:nvPr/>
          </p:nvCxnSpPr>
          <p:spPr>
            <a:xfrm rot="5400000" flipH="1" flipV="1">
              <a:off x="2801610" y="3529321"/>
              <a:ext cx="312708" cy="1814635"/>
            </a:xfrm>
            <a:prstGeom prst="curvedConnector2">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227421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E6F31-B230-0389-EE83-4284D3D3A7A7}"/>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488823A-C977-E258-0DDC-197E7AA4255B}"/>
              </a:ext>
            </a:extLst>
          </p:cNvPr>
          <p:cNvSpPr>
            <a:spLocks noGrp="1"/>
          </p:cNvSpPr>
          <p:nvPr>
            <p:ph type="sldNum" sz="quarter" idx="12"/>
          </p:nvPr>
        </p:nvSpPr>
        <p:spPr/>
        <p:txBody>
          <a:bodyPr/>
          <a:lstStyle/>
          <a:p>
            <a:fld id="{5E3E23BA-6E79-2442-BA73-D218A5E297C3}" type="slidenum">
              <a:rPr lang="en-US" sz="1800" smtClean="0"/>
              <a:t>11</a:t>
            </a:fld>
            <a:endParaRPr lang="en-US" sz="1800"/>
          </a:p>
        </p:txBody>
      </p:sp>
      <p:sp>
        <p:nvSpPr>
          <p:cNvPr id="2" name="Rectángulo 1">
            <a:extLst>
              <a:ext uri="{FF2B5EF4-FFF2-40B4-BE49-F238E27FC236}">
                <a16:creationId xmlns:a16="http://schemas.microsoft.com/office/drawing/2014/main" id="{8CD8E883-7443-C55C-5465-F1AAE9688D9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BA560C85-DF07-71BF-8AEC-F532660E61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3C46D5C7-0E9D-ACCF-04FA-81B7547DB20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6" name="Título 1">
            <a:extLst>
              <a:ext uri="{FF2B5EF4-FFF2-40B4-BE49-F238E27FC236}">
                <a16:creationId xmlns:a16="http://schemas.microsoft.com/office/drawing/2014/main" id="{4683D170-A345-0BEE-4518-679D1B71073B}"/>
              </a:ext>
            </a:extLst>
          </p:cNvPr>
          <p:cNvSpPr>
            <a:spLocks noGrp="1"/>
          </p:cNvSpPr>
          <p:nvPr>
            <p:ph type="title"/>
          </p:nvPr>
        </p:nvSpPr>
        <p:spPr>
          <a:xfrm>
            <a:off x="581192" y="702156"/>
            <a:ext cx="11029616" cy="1013800"/>
          </a:xfrm>
        </p:spPr>
        <p:txBody>
          <a:bodyPr>
            <a:normAutofit/>
          </a:bodyPr>
          <a:lstStyle/>
          <a:p>
            <a:r>
              <a:rPr lang="es-ES" dirty="0">
                <a:latin typeface="Century Gothic" panose="020B0502020202020204" pitchFamily="34" charset="0"/>
              </a:rPr>
              <a:t>COSTO PROMEDIO PONDERADO DE CAPITAL </a:t>
            </a:r>
            <a:br>
              <a:rPr lang="es-ES" dirty="0">
                <a:latin typeface="Century Gothic" panose="020B0502020202020204" pitchFamily="34" charset="0"/>
              </a:rPr>
            </a:br>
            <a:r>
              <a:rPr lang="es-ES" dirty="0">
                <a:latin typeface="Century Gothic" panose="020B0502020202020204" pitchFamily="34" charset="0"/>
              </a:rPr>
              <a:t>(WACC)</a:t>
            </a:r>
          </a:p>
        </p:txBody>
      </p:sp>
      <p:sp>
        <p:nvSpPr>
          <p:cNvPr id="9" name="Marcador de contenido 2">
            <a:extLst>
              <a:ext uri="{FF2B5EF4-FFF2-40B4-BE49-F238E27FC236}">
                <a16:creationId xmlns:a16="http://schemas.microsoft.com/office/drawing/2014/main" id="{BFF39BFA-82BE-E772-6A92-632217C628D7}"/>
              </a:ext>
            </a:extLst>
          </p:cNvPr>
          <p:cNvSpPr>
            <a:spLocks noGrp="1"/>
          </p:cNvSpPr>
          <p:nvPr>
            <p:ph idx="1"/>
          </p:nvPr>
        </p:nvSpPr>
        <p:spPr>
          <a:xfrm>
            <a:off x="967709" y="2140455"/>
            <a:ext cx="10000316" cy="4023727"/>
          </a:xfrm>
        </p:spPr>
        <p:txBody>
          <a:bodyPr>
            <a:normAutofit/>
          </a:bodyPr>
          <a:lstStyle/>
          <a:p>
            <a:pPr algn="just">
              <a:buClr>
                <a:schemeClr val="accent3">
                  <a:lumMod val="75000"/>
                </a:schemeClr>
              </a:buClr>
              <a:buFont typeface="Arial" panose="020B0604020202020204" pitchFamily="34" charset="0"/>
              <a:buChar char="•"/>
            </a:pPr>
            <a:r>
              <a:rPr lang="es-ES" dirty="0">
                <a:solidFill>
                  <a:schemeClr val="accent1"/>
                </a:solidFill>
                <a:latin typeface="Century Gothic" panose="020B0502020202020204" pitchFamily="34" charset="0"/>
              </a:rPr>
              <a:t>Adicionalmente, se deben tener en cuenta que al momento de construir el WACC pueden existir diversas consideraciones: </a:t>
            </a:r>
          </a:p>
          <a:p>
            <a:pPr algn="just">
              <a:buClr>
                <a:schemeClr val="accent3">
                  <a:lumMod val="75000"/>
                </a:schemeClr>
              </a:buClr>
              <a:buFont typeface="Arial" panose="020B0604020202020204" pitchFamily="34" charset="0"/>
              <a:buChar char="•"/>
            </a:pPr>
            <a:endParaRPr lang="es-ES" dirty="0">
              <a:solidFill>
                <a:schemeClr val="accent1"/>
              </a:solidFill>
              <a:latin typeface="Century Gothic" panose="020B0502020202020204" pitchFamily="34" charset="0"/>
            </a:endParaRPr>
          </a:p>
          <a:p>
            <a:pPr marL="685800" lvl="1" indent="-457200" algn="just">
              <a:buClr>
                <a:schemeClr val="accent1">
                  <a:lumMod val="90000"/>
                  <a:lumOff val="10000"/>
                </a:schemeClr>
              </a:buClr>
              <a:buFont typeface="+mj-lt"/>
              <a:buAutoNum type="arabicPeriod"/>
            </a:pPr>
            <a:r>
              <a:rPr lang="es-ES" sz="1800" dirty="0">
                <a:solidFill>
                  <a:schemeClr val="accent1"/>
                </a:solidFill>
                <a:latin typeface="Century Gothic"/>
              </a:rPr>
              <a:t>El monto solicitado (cantidad de dinero que se pide) no es lo mismo que el monto recibido (cantidad de dinero que finalmente se recibe). Esto ocurre cuando tenemos alguna distorsión que afecta el momento del desembolso: comisiones, reciprocidades, intereses anticipados, costos de emisión, etc. </a:t>
            </a:r>
          </a:p>
        </p:txBody>
      </p:sp>
    </p:spTree>
    <p:extLst>
      <p:ext uri="{BB962C8B-B14F-4D97-AF65-F5344CB8AC3E}">
        <p14:creationId xmlns:p14="http://schemas.microsoft.com/office/powerpoint/2010/main" val="271461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5AD18-2B4B-8473-2EFC-60434793A76F}"/>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17ABC60-1E7A-7B53-7398-E053E69ABF99}"/>
              </a:ext>
            </a:extLst>
          </p:cNvPr>
          <p:cNvSpPr>
            <a:spLocks noGrp="1"/>
          </p:cNvSpPr>
          <p:nvPr>
            <p:ph type="sldNum" sz="quarter" idx="12"/>
          </p:nvPr>
        </p:nvSpPr>
        <p:spPr/>
        <p:txBody>
          <a:bodyPr/>
          <a:lstStyle/>
          <a:p>
            <a:fld id="{5E3E23BA-6E79-2442-BA73-D218A5E297C3}" type="slidenum">
              <a:rPr lang="en-US" sz="1800" smtClean="0"/>
              <a:t>12</a:t>
            </a:fld>
            <a:endParaRPr lang="en-US" sz="1800"/>
          </a:p>
        </p:txBody>
      </p:sp>
      <p:sp>
        <p:nvSpPr>
          <p:cNvPr id="2" name="Rectángulo 1">
            <a:extLst>
              <a:ext uri="{FF2B5EF4-FFF2-40B4-BE49-F238E27FC236}">
                <a16:creationId xmlns:a16="http://schemas.microsoft.com/office/drawing/2014/main" id="{B9C8EAAF-B88D-DCF5-B280-022CD919EE4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AC2E4B7E-BD8A-F454-F121-D8C2F03B87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07C5A7AD-313D-5123-6561-DAB7792CDC5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6" name="Título 1">
            <a:extLst>
              <a:ext uri="{FF2B5EF4-FFF2-40B4-BE49-F238E27FC236}">
                <a16:creationId xmlns:a16="http://schemas.microsoft.com/office/drawing/2014/main" id="{F876DAD7-941A-CBA2-EDD9-6B961EA2F5F2}"/>
              </a:ext>
            </a:extLst>
          </p:cNvPr>
          <p:cNvSpPr>
            <a:spLocks noGrp="1"/>
          </p:cNvSpPr>
          <p:nvPr>
            <p:ph type="title"/>
          </p:nvPr>
        </p:nvSpPr>
        <p:spPr>
          <a:xfrm>
            <a:off x="581192" y="702156"/>
            <a:ext cx="11029616" cy="1013800"/>
          </a:xfrm>
        </p:spPr>
        <p:txBody>
          <a:bodyPr>
            <a:normAutofit/>
          </a:bodyPr>
          <a:lstStyle/>
          <a:p>
            <a:r>
              <a:rPr lang="es-ES" dirty="0">
                <a:latin typeface="Century Gothic" panose="020B0502020202020204" pitchFamily="34" charset="0"/>
              </a:rPr>
              <a:t>COSTO PROMEDIO PONDERADO DE CAPITAL </a:t>
            </a:r>
            <a:br>
              <a:rPr lang="es-ES" dirty="0">
                <a:latin typeface="Century Gothic" panose="020B0502020202020204" pitchFamily="34" charset="0"/>
              </a:rPr>
            </a:br>
            <a:r>
              <a:rPr lang="es-ES" dirty="0">
                <a:latin typeface="Century Gothic" panose="020B0502020202020204" pitchFamily="34" charset="0"/>
              </a:rPr>
              <a:t>(WACC)</a:t>
            </a:r>
          </a:p>
        </p:txBody>
      </p:sp>
      <p:sp>
        <p:nvSpPr>
          <p:cNvPr id="3" name="Marcador de contenido 2">
            <a:extLst>
              <a:ext uri="{FF2B5EF4-FFF2-40B4-BE49-F238E27FC236}">
                <a16:creationId xmlns:a16="http://schemas.microsoft.com/office/drawing/2014/main" id="{7208269F-FC9B-50EF-271D-857DB59E61F9}"/>
              </a:ext>
            </a:extLst>
          </p:cNvPr>
          <p:cNvSpPr>
            <a:spLocks noGrp="1"/>
          </p:cNvSpPr>
          <p:nvPr>
            <p:ph idx="1"/>
          </p:nvPr>
        </p:nvSpPr>
        <p:spPr>
          <a:xfrm>
            <a:off x="967709" y="2049875"/>
            <a:ext cx="10000316" cy="4114307"/>
          </a:xfrm>
        </p:spPr>
        <p:txBody>
          <a:bodyPr>
            <a:noAutofit/>
          </a:bodyPr>
          <a:lstStyle/>
          <a:p>
            <a:pPr algn="just">
              <a:buClr>
                <a:schemeClr val="accent3">
                  <a:lumMod val="75000"/>
                </a:schemeClr>
              </a:buClr>
              <a:buFont typeface="Arial" panose="020B0604020202020204" pitchFamily="34" charset="0"/>
              <a:buChar char="•"/>
            </a:pPr>
            <a:endParaRPr lang="es-ES" dirty="0">
              <a:latin typeface="Century Gothic" panose="020B0502020202020204" pitchFamily="34" charset="0"/>
            </a:endParaRPr>
          </a:p>
          <a:p>
            <a:pPr marL="685800" lvl="1" indent="-457200" algn="just">
              <a:buClr>
                <a:schemeClr val="accent1">
                  <a:lumMod val="90000"/>
                  <a:lumOff val="10000"/>
                </a:schemeClr>
              </a:buClr>
              <a:buFont typeface="+mj-lt"/>
              <a:buAutoNum type="arabicPeriod" startAt="2"/>
            </a:pPr>
            <a:r>
              <a:rPr lang="es-ES" sz="1800" dirty="0">
                <a:solidFill>
                  <a:schemeClr val="accent1"/>
                </a:solidFill>
                <a:latin typeface="Century Gothic" panose="020B0502020202020204" pitchFamily="34" charset="0"/>
              </a:rPr>
              <a:t>En la deuda, cuando alguna de las distorsiones representa un monto de dinero fijo y no un monto proporcional a la adquisición de la deuda, se debe recalcular el costo de la deuda dependiendo del monto solicitado.</a:t>
            </a:r>
          </a:p>
          <a:p>
            <a:pPr marL="990000" lvl="2" indent="360000" algn="just">
              <a:buClr>
                <a:schemeClr val="accent1">
                  <a:lumMod val="90000"/>
                  <a:lumOff val="10000"/>
                </a:schemeClr>
              </a:buClr>
              <a:buFont typeface="Wingdings" panose="05000000000000000000" pitchFamily="2" charset="2"/>
              <a:buChar char="§"/>
            </a:pPr>
            <a:r>
              <a:rPr lang="es-ES" sz="1600" dirty="0">
                <a:solidFill>
                  <a:schemeClr val="accent1"/>
                </a:solidFill>
                <a:latin typeface="Century Gothic" panose="020B0502020202020204" pitchFamily="34" charset="0"/>
              </a:rPr>
              <a:t>Si la distorsión representa un monto de dinero proporcional (% sobre el monto solicitado), sin importar la cantidad de dinero solicitada, el costo de la deuda (pre-</a:t>
            </a:r>
            <a:r>
              <a:rPr lang="es-ES" sz="1600" dirty="0" err="1">
                <a:solidFill>
                  <a:schemeClr val="accent1"/>
                </a:solidFill>
                <a:latin typeface="Century Gothic" panose="020B0502020202020204" pitchFamily="34" charset="0"/>
              </a:rPr>
              <a:t>tax</a:t>
            </a:r>
            <a:r>
              <a:rPr lang="es-ES" sz="1600" dirty="0">
                <a:solidFill>
                  <a:schemeClr val="accent1"/>
                </a:solidFill>
                <a:latin typeface="Century Gothic" panose="020B0502020202020204" pitchFamily="34" charset="0"/>
              </a:rPr>
              <a:t> o post-</a:t>
            </a:r>
            <a:r>
              <a:rPr lang="es-ES" sz="1600" dirty="0" err="1">
                <a:solidFill>
                  <a:schemeClr val="accent1"/>
                </a:solidFill>
                <a:latin typeface="Century Gothic" panose="020B0502020202020204" pitchFamily="34" charset="0"/>
              </a:rPr>
              <a:t>tax</a:t>
            </a:r>
            <a:r>
              <a:rPr lang="es-ES" sz="1600" dirty="0">
                <a:solidFill>
                  <a:schemeClr val="accent1"/>
                </a:solidFill>
                <a:latin typeface="Century Gothic" panose="020B0502020202020204" pitchFamily="34" charset="0"/>
              </a:rPr>
              <a:t>)  siempre será el mismo.</a:t>
            </a:r>
          </a:p>
          <a:p>
            <a:pPr marL="990000" lvl="2" indent="360000" algn="just">
              <a:buClr>
                <a:schemeClr val="accent1">
                  <a:lumMod val="90000"/>
                  <a:lumOff val="10000"/>
                </a:schemeClr>
              </a:buClr>
              <a:buFont typeface="Wingdings" panose="05000000000000000000" pitchFamily="2" charset="2"/>
              <a:buChar char="§"/>
            </a:pPr>
            <a:r>
              <a:rPr lang="es-ES" sz="1600" dirty="0">
                <a:solidFill>
                  <a:schemeClr val="accent1"/>
                </a:solidFill>
                <a:latin typeface="Century Gothic" panose="020B0502020202020204" pitchFamily="34" charset="0"/>
              </a:rPr>
              <a:t>Si la distorsión representa un monto de dinero fijo ($ independiente del monto solicitado), dependiendo la cantidad de dinero solicitada el costo de la deuda (</a:t>
            </a:r>
            <a:r>
              <a:rPr lang="es-ES" sz="1600" dirty="0" err="1">
                <a:solidFill>
                  <a:schemeClr val="accent1"/>
                </a:solidFill>
                <a:latin typeface="Century Gothic" panose="020B0502020202020204" pitchFamily="34" charset="0"/>
              </a:rPr>
              <a:t>pre-tax</a:t>
            </a:r>
            <a:r>
              <a:rPr lang="es-ES" sz="1600" dirty="0">
                <a:solidFill>
                  <a:schemeClr val="accent1"/>
                </a:solidFill>
                <a:latin typeface="Century Gothic" panose="020B0502020202020204" pitchFamily="34" charset="0"/>
              </a:rPr>
              <a:t> o </a:t>
            </a:r>
            <a:r>
              <a:rPr lang="es-ES" sz="1600" dirty="0" err="1">
                <a:solidFill>
                  <a:schemeClr val="accent1"/>
                </a:solidFill>
                <a:latin typeface="Century Gothic" panose="020B0502020202020204" pitchFamily="34" charset="0"/>
              </a:rPr>
              <a:t>post-tax</a:t>
            </a:r>
            <a:r>
              <a:rPr lang="es-ES" sz="1600" dirty="0">
                <a:solidFill>
                  <a:schemeClr val="accent1"/>
                </a:solidFill>
                <a:latin typeface="Century Gothic" panose="020B0502020202020204" pitchFamily="34" charset="0"/>
              </a:rPr>
              <a:t>) cambiará. </a:t>
            </a:r>
          </a:p>
          <a:p>
            <a:pPr marL="685800" lvl="1" indent="-457200" algn="just">
              <a:buClr>
                <a:schemeClr val="accent1">
                  <a:lumMod val="90000"/>
                  <a:lumOff val="10000"/>
                </a:schemeClr>
              </a:buClr>
              <a:buFont typeface="+mj-lt"/>
              <a:buAutoNum type="arabicPeriod" startAt="3"/>
            </a:pPr>
            <a:r>
              <a:rPr lang="es-ES" sz="1800" dirty="0">
                <a:solidFill>
                  <a:schemeClr val="accent1"/>
                </a:solidFill>
                <a:latin typeface="Century Gothic" panose="020B0502020202020204" pitchFamily="34" charset="0"/>
              </a:rPr>
              <a:t>Finalmente, siempre se debe garantizar que el total del dinero recibido sea lo necesario para la financiación del proyecto. </a:t>
            </a:r>
          </a:p>
          <a:p>
            <a:pPr marL="720000" lvl="1" indent="0" algn="just">
              <a:buClr>
                <a:schemeClr val="accent1">
                  <a:lumMod val="90000"/>
                  <a:lumOff val="10000"/>
                </a:schemeClr>
              </a:buClr>
              <a:buNone/>
            </a:pPr>
            <a:endParaRPr lang="es-ES" sz="1800" dirty="0">
              <a:latin typeface="Century Gothic" panose="020B0502020202020204" pitchFamily="34" charset="0"/>
            </a:endParaRPr>
          </a:p>
        </p:txBody>
      </p:sp>
    </p:spTree>
    <p:extLst>
      <p:ext uri="{BB962C8B-B14F-4D97-AF65-F5344CB8AC3E}">
        <p14:creationId xmlns:p14="http://schemas.microsoft.com/office/powerpoint/2010/main" val="2086598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6A567-0371-D014-F51D-48503DBD2D1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00A754E-7A7E-9707-6ECC-7C3391E22BB1}"/>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68F82253-56C9-0A32-0E03-3DF5F6C31682}"/>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13</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83189103-8F38-C52C-63F8-5DD43B4AAB36}"/>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4A483092-8CE7-8237-94FD-B8859D9AEAEE}"/>
              </a:ext>
            </a:extLst>
          </p:cNvPr>
          <p:cNvSpPr/>
          <p:nvPr/>
        </p:nvSpPr>
        <p:spPr>
          <a:xfrm>
            <a:off x="2806200" y="2734046"/>
            <a:ext cx="8540907" cy="830997"/>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1600" dirty="0">
                <a:solidFill>
                  <a:schemeClr val="tx2">
                    <a:lumMod val="20000"/>
                    <a:lumOff val="80000"/>
                  </a:schemeClr>
                </a:solidFill>
                <a:latin typeface="Century Gothic"/>
                <a:cs typeface="Arial"/>
              </a:rPr>
              <a:t>Costo Promedio Ponderado de Capital (WACC)</a:t>
            </a:r>
          </a:p>
          <a:p>
            <a:pPr marL="342900" indent="-342900">
              <a:buClr>
                <a:schemeClr val="accent3">
                  <a:lumMod val="75000"/>
                </a:schemeClr>
              </a:buClr>
              <a:buFont typeface="Gill Sans MT" panose="020B0502020104020203"/>
              <a:buAutoNum type="arabicPeriod"/>
            </a:pPr>
            <a:endParaRPr lang="es-CO" sz="1600" dirty="0">
              <a:solidFill>
                <a:schemeClr val="tx2">
                  <a:lumMod val="20000"/>
                  <a:lumOff val="80000"/>
                </a:schemeClr>
              </a:solidFill>
              <a:latin typeface="Century Gothic"/>
              <a:cs typeface="Arial"/>
            </a:endParaRPr>
          </a:p>
          <a:p>
            <a:pPr marL="342900" indent="-342900">
              <a:buClr>
                <a:schemeClr val="accent3">
                  <a:lumMod val="75000"/>
                </a:schemeClr>
              </a:buClr>
              <a:buFont typeface="Gill Sans MT" panose="020B0502020104020203"/>
              <a:buAutoNum type="arabicPeriod"/>
            </a:pPr>
            <a:r>
              <a:rPr lang="es-ES" sz="1600" dirty="0">
                <a:solidFill>
                  <a:schemeClr val="accent1"/>
                </a:solidFill>
                <a:latin typeface="Century Gothic"/>
                <a:cs typeface="Arial"/>
              </a:rPr>
              <a:t>Restricciones Deuda </a:t>
            </a:r>
            <a:r>
              <a:rPr lang="es-ES" sz="1600" dirty="0" err="1">
                <a:solidFill>
                  <a:schemeClr val="accent1"/>
                </a:solidFill>
                <a:latin typeface="Century Gothic"/>
                <a:cs typeface="Arial"/>
              </a:rPr>
              <a:t>Equity</a:t>
            </a:r>
            <a:r>
              <a:rPr lang="es-ES" sz="1600" dirty="0">
                <a:solidFill>
                  <a:schemeClr val="accent1"/>
                </a:solidFill>
                <a:latin typeface="Century Gothic"/>
                <a:cs typeface="Arial"/>
              </a:rPr>
              <a:t> (D/E)</a:t>
            </a:r>
            <a:r>
              <a:rPr lang="es-CO" sz="1600" dirty="0">
                <a:solidFill>
                  <a:schemeClr val="accent1"/>
                </a:solidFill>
                <a:latin typeface="Century Gothic"/>
                <a:cs typeface="Arial"/>
              </a:rPr>
              <a:t>.</a:t>
            </a:r>
          </a:p>
        </p:txBody>
      </p:sp>
      <p:sp>
        <p:nvSpPr>
          <p:cNvPr id="3" name="Rectángulo 2">
            <a:extLst>
              <a:ext uri="{FF2B5EF4-FFF2-40B4-BE49-F238E27FC236}">
                <a16:creationId xmlns:a16="http://schemas.microsoft.com/office/drawing/2014/main" id="{513AF8DC-7738-7DD9-280C-28CFB4590353}"/>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12E6461-7CF9-167C-AD83-F684A5CF04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173DA189-7E8E-4AFF-E76C-90FC6D35E1E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58764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955BB-1DE2-1D36-CB72-52B874606A42}"/>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9D52142-F559-2102-C797-19003009C50F}"/>
              </a:ext>
            </a:extLst>
          </p:cNvPr>
          <p:cNvSpPr>
            <a:spLocks noGrp="1"/>
          </p:cNvSpPr>
          <p:nvPr>
            <p:ph type="sldNum" sz="quarter" idx="12"/>
          </p:nvPr>
        </p:nvSpPr>
        <p:spPr/>
        <p:txBody>
          <a:bodyPr/>
          <a:lstStyle/>
          <a:p>
            <a:fld id="{5E3E23BA-6E79-2442-BA73-D218A5E297C3}" type="slidenum">
              <a:rPr lang="en-US" sz="1800" smtClean="0"/>
              <a:t>14</a:t>
            </a:fld>
            <a:endParaRPr lang="en-US" sz="1800"/>
          </a:p>
        </p:txBody>
      </p:sp>
      <p:sp>
        <p:nvSpPr>
          <p:cNvPr id="2" name="Rectángulo 1">
            <a:extLst>
              <a:ext uri="{FF2B5EF4-FFF2-40B4-BE49-F238E27FC236}">
                <a16:creationId xmlns:a16="http://schemas.microsoft.com/office/drawing/2014/main" id="{AB5952B9-9220-D1E9-F405-946AE9BB19A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A0DA2069-75F2-C4F8-E513-B4EB384104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794763AD-13B5-F1A9-F898-F29406B01F6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6" name="Título 1">
            <a:extLst>
              <a:ext uri="{FF2B5EF4-FFF2-40B4-BE49-F238E27FC236}">
                <a16:creationId xmlns:a16="http://schemas.microsoft.com/office/drawing/2014/main" id="{E105B83C-2D47-6A6E-7A9D-E2D0C6E3A34F}"/>
              </a:ext>
            </a:extLst>
          </p:cNvPr>
          <p:cNvSpPr>
            <a:spLocks noGrp="1"/>
          </p:cNvSpPr>
          <p:nvPr>
            <p:ph type="title"/>
          </p:nvPr>
        </p:nvSpPr>
        <p:spPr>
          <a:xfrm>
            <a:off x="581192" y="702156"/>
            <a:ext cx="11029616" cy="1013800"/>
          </a:xfrm>
        </p:spPr>
        <p:txBody>
          <a:bodyPr>
            <a:normAutofit/>
          </a:bodyPr>
          <a:lstStyle/>
          <a:p>
            <a:r>
              <a:rPr lang="es-ES" dirty="0">
                <a:latin typeface="Century Gothic" panose="020B0502020202020204" pitchFamily="34" charset="0"/>
              </a:rPr>
              <a:t>RESTRICCIONES deuda/</a:t>
            </a:r>
            <a:r>
              <a:rPr lang="es-ES" dirty="0" err="1">
                <a:latin typeface="Century Gothic" panose="020B0502020202020204" pitchFamily="34" charset="0"/>
              </a:rPr>
              <a:t>equity</a:t>
            </a:r>
            <a:r>
              <a:rPr lang="es-ES" dirty="0">
                <a:latin typeface="Century Gothic" panose="020B0502020202020204" pitchFamily="34" charset="0"/>
              </a:rPr>
              <a:t> (d/e)</a:t>
            </a:r>
          </a:p>
        </p:txBody>
      </p:sp>
      <p:sp>
        <p:nvSpPr>
          <p:cNvPr id="3" name="Rectángulo 12">
            <a:extLst>
              <a:ext uri="{FF2B5EF4-FFF2-40B4-BE49-F238E27FC236}">
                <a16:creationId xmlns:a16="http://schemas.microsoft.com/office/drawing/2014/main" id="{C418E2C1-A5CB-648D-46E3-AFD5EC0EA56F}"/>
              </a:ext>
            </a:extLst>
          </p:cNvPr>
          <p:cNvSpPr/>
          <p:nvPr/>
        </p:nvSpPr>
        <p:spPr>
          <a:xfrm>
            <a:off x="450771" y="2049875"/>
            <a:ext cx="8919392" cy="369332"/>
          </a:xfrm>
          <a:prstGeom prst="rect">
            <a:avLst/>
          </a:prstGeom>
        </p:spPr>
        <p:txBody>
          <a:bodyPr wrap="square">
            <a:spAutoFit/>
          </a:bodyPr>
          <a:lstStyle/>
          <a:p>
            <a:r>
              <a:rPr lang="es-ES" b="1" dirty="0">
                <a:solidFill>
                  <a:schemeClr val="accent1"/>
                </a:solidFill>
                <a:latin typeface="Century Gothic" panose="020B0502020202020204" pitchFamily="34" charset="0"/>
              </a:rPr>
              <a:t>WACC – Sin Restricción Deuda </a:t>
            </a:r>
            <a:r>
              <a:rPr lang="es-ES" b="1" dirty="0" err="1">
                <a:solidFill>
                  <a:schemeClr val="accent1"/>
                </a:solidFill>
                <a:latin typeface="Century Gothic" panose="020B0502020202020204" pitchFamily="34" charset="0"/>
              </a:rPr>
              <a:t>Equity</a:t>
            </a:r>
            <a:r>
              <a:rPr lang="es-ES" b="1" dirty="0">
                <a:solidFill>
                  <a:schemeClr val="accent1"/>
                </a:solidFill>
                <a:latin typeface="Century Gothic" panose="020B0502020202020204" pitchFamily="34" charset="0"/>
              </a:rPr>
              <a:t> (D/E)</a:t>
            </a:r>
            <a:endParaRPr lang="es-CO" b="1" dirty="0">
              <a:solidFill>
                <a:schemeClr val="accent1"/>
              </a:solidFill>
              <a:latin typeface="Century Gothic" panose="020B0502020202020204" pitchFamily="34" charset="0"/>
            </a:endParaRPr>
          </a:p>
        </p:txBody>
      </p:sp>
      <p:sp>
        <p:nvSpPr>
          <p:cNvPr id="7" name="Marcador de contenido 2">
            <a:extLst>
              <a:ext uri="{FF2B5EF4-FFF2-40B4-BE49-F238E27FC236}">
                <a16:creationId xmlns:a16="http://schemas.microsoft.com/office/drawing/2014/main" id="{4AC594CF-9EA9-429F-4B4C-26A8D40E2230}"/>
              </a:ext>
            </a:extLst>
          </p:cNvPr>
          <p:cNvSpPr>
            <a:spLocks noGrp="1"/>
          </p:cNvSpPr>
          <p:nvPr>
            <p:ph idx="1"/>
          </p:nvPr>
        </p:nvSpPr>
        <p:spPr>
          <a:xfrm>
            <a:off x="967709" y="2768479"/>
            <a:ext cx="10000316" cy="2809361"/>
          </a:xfrm>
        </p:spPr>
        <p:txBody>
          <a:bodyPr>
            <a:normAutofit/>
          </a:bodyPr>
          <a:lstStyle/>
          <a:p>
            <a:pPr algn="just">
              <a:buClr>
                <a:schemeClr val="accent3">
                  <a:lumMod val="75000"/>
                </a:schemeClr>
              </a:buClr>
              <a:buFont typeface="Arial"/>
              <a:buChar char="•"/>
            </a:pPr>
            <a:r>
              <a:rPr lang="es-ES" dirty="0">
                <a:solidFill>
                  <a:schemeClr val="accent1"/>
                </a:solidFill>
                <a:latin typeface="Century Gothic" panose="020B0502020202020204" pitchFamily="34" charset="0"/>
              </a:rPr>
              <a:t>Cuando no tenemos restricción de deuda-</a:t>
            </a:r>
            <a:r>
              <a:rPr lang="es-ES" dirty="0" err="1">
                <a:solidFill>
                  <a:schemeClr val="accent1"/>
                </a:solidFill>
                <a:latin typeface="Century Gothic" panose="020B0502020202020204" pitchFamily="34" charset="0"/>
              </a:rPr>
              <a:t>equity</a:t>
            </a:r>
            <a:r>
              <a:rPr lang="es-ES" dirty="0">
                <a:solidFill>
                  <a:schemeClr val="accent1"/>
                </a:solidFill>
                <a:latin typeface="Century Gothic" panose="020B0502020202020204" pitchFamily="34" charset="0"/>
              </a:rPr>
              <a:t> (D/E), es decir, no existe una restricción entre la cantidad de dinero que se le debe pedir a cada una de las fuentes de capital, entonces se buscará </a:t>
            </a:r>
            <a:r>
              <a:rPr lang="es-ES" b="1" dirty="0">
                <a:solidFill>
                  <a:schemeClr val="accent1"/>
                </a:solidFill>
                <a:latin typeface="Century Gothic" panose="020B0502020202020204" pitchFamily="34" charset="0"/>
              </a:rPr>
              <a:t>determinar la solicitud de dinero que haga que el costo de capital (WACC) sea el menor.</a:t>
            </a:r>
            <a:r>
              <a:rPr lang="es-ES" dirty="0">
                <a:solidFill>
                  <a:schemeClr val="accent1"/>
                </a:solidFill>
                <a:latin typeface="Century Gothic" panose="020B0502020202020204" pitchFamily="34" charset="0"/>
              </a:rPr>
              <a:t> </a:t>
            </a:r>
          </a:p>
          <a:p>
            <a:pPr algn="just">
              <a:buClr>
                <a:schemeClr val="accent3">
                  <a:lumMod val="75000"/>
                </a:schemeClr>
              </a:buClr>
              <a:buFont typeface="Arial"/>
              <a:buChar char="•"/>
            </a:pPr>
            <a:endParaRPr lang="es-ES" dirty="0">
              <a:solidFill>
                <a:schemeClr val="accent1"/>
              </a:solidFill>
              <a:latin typeface="Century Gothic" panose="020B0502020202020204" pitchFamily="34" charset="0"/>
            </a:endParaRPr>
          </a:p>
          <a:p>
            <a:pPr algn="just">
              <a:buClr>
                <a:schemeClr val="accent3">
                  <a:lumMod val="75000"/>
                </a:schemeClr>
              </a:buClr>
              <a:buFont typeface="Arial"/>
              <a:buChar char="•"/>
            </a:pPr>
            <a:r>
              <a:rPr lang="es-ES" dirty="0">
                <a:solidFill>
                  <a:schemeClr val="accent1"/>
                </a:solidFill>
                <a:latin typeface="Century Gothic" panose="020B0502020202020204" pitchFamily="34" charset="0"/>
              </a:rPr>
              <a:t>En otras palabras, la idea es tratar de pedir a las fuentes de financiación más “económicas” la mayor cantidad de dinero posible, con el fin de recibir el dinero necesario para el proyecto. </a:t>
            </a:r>
          </a:p>
        </p:txBody>
      </p:sp>
    </p:spTree>
    <p:extLst>
      <p:ext uri="{BB962C8B-B14F-4D97-AF65-F5344CB8AC3E}">
        <p14:creationId xmlns:p14="http://schemas.microsoft.com/office/powerpoint/2010/main" val="1818506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97A42-7067-3706-1AC1-B78107AB2851}"/>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B819A9B-EF4F-2FD4-5932-10CAAA82A534}"/>
              </a:ext>
            </a:extLst>
          </p:cNvPr>
          <p:cNvSpPr>
            <a:spLocks noGrp="1"/>
          </p:cNvSpPr>
          <p:nvPr>
            <p:ph type="sldNum" sz="quarter" idx="12"/>
          </p:nvPr>
        </p:nvSpPr>
        <p:spPr/>
        <p:txBody>
          <a:bodyPr/>
          <a:lstStyle/>
          <a:p>
            <a:fld id="{5E3E23BA-6E79-2442-BA73-D218A5E297C3}" type="slidenum">
              <a:rPr lang="en-US" sz="1800" smtClean="0"/>
              <a:t>15</a:t>
            </a:fld>
            <a:endParaRPr lang="en-US" sz="1800"/>
          </a:p>
        </p:txBody>
      </p:sp>
      <p:sp>
        <p:nvSpPr>
          <p:cNvPr id="2" name="Rectángulo 1">
            <a:extLst>
              <a:ext uri="{FF2B5EF4-FFF2-40B4-BE49-F238E27FC236}">
                <a16:creationId xmlns:a16="http://schemas.microsoft.com/office/drawing/2014/main" id="{A65C49E7-C831-C382-C1EF-CA540DAA4B1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F4332919-382A-1EFE-C92C-8E0A976DB6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8D1C8834-5C0A-76FB-6FF6-0724712FE5F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6" name="Título 1">
            <a:extLst>
              <a:ext uri="{FF2B5EF4-FFF2-40B4-BE49-F238E27FC236}">
                <a16:creationId xmlns:a16="http://schemas.microsoft.com/office/drawing/2014/main" id="{96AD9209-FD6C-CAE1-F48C-E8C77242A8DE}"/>
              </a:ext>
            </a:extLst>
          </p:cNvPr>
          <p:cNvSpPr>
            <a:spLocks noGrp="1"/>
          </p:cNvSpPr>
          <p:nvPr>
            <p:ph type="title"/>
          </p:nvPr>
        </p:nvSpPr>
        <p:spPr>
          <a:xfrm>
            <a:off x="581192" y="702156"/>
            <a:ext cx="11029616" cy="1013800"/>
          </a:xfrm>
        </p:spPr>
        <p:txBody>
          <a:bodyPr>
            <a:normAutofit/>
          </a:bodyPr>
          <a:lstStyle/>
          <a:p>
            <a:r>
              <a:rPr lang="es-ES" dirty="0">
                <a:latin typeface="Century Gothic" panose="020B0502020202020204" pitchFamily="34" charset="0"/>
              </a:rPr>
              <a:t>RESTRICCIONES deuda/</a:t>
            </a:r>
            <a:r>
              <a:rPr lang="es-ES" dirty="0" err="1">
                <a:latin typeface="Century Gothic" panose="020B0502020202020204" pitchFamily="34" charset="0"/>
              </a:rPr>
              <a:t>equity</a:t>
            </a:r>
            <a:r>
              <a:rPr lang="es-ES" dirty="0">
                <a:latin typeface="Century Gothic" panose="020B0502020202020204" pitchFamily="34" charset="0"/>
              </a:rPr>
              <a:t> (d/e)</a:t>
            </a:r>
          </a:p>
        </p:txBody>
      </p:sp>
      <p:sp>
        <p:nvSpPr>
          <p:cNvPr id="3" name="Rectángulo 12">
            <a:extLst>
              <a:ext uri="{FF2B5EF4-FFF2-40B4-BE49-F238E27FC236}">
                <a16:creationId xmlns:a16="http://schemas.microsoft.com/office/drawing/2014/main" id="{1ADB9EE2-CB8C-6C8B-2561-6490F696C99A}"/>
              </a:ext>
            </a:extLst>
          </p:cNvPr>
          <p:cNvSpPr/>
          <p:nvPr/>
        </p:nvSpPr>
        <p:spPr>
          <a:xfrm>
            <a:off x="450771" y="2049875"/>
            <a:ext cx="8919392" cy="461665"/>
          </a:xfrm>
          <a:prstGeom prst="rect">
            <a:avLst/>
          </a:prstGeom>
        </p:spPr>
        <p:txBody>
          <a:bodyPr wrap="square">
            <a:spAutoFit/>
          </a:bodyPr>
          <a:lstStyle/>
          <a:p>
            <a:r>
              <a:rPr lang="es-ES" b="1" dirty="0">
                <a:solidFill>
                  <a:schemeClr val="accent1"/>
                </a:solidFill>
                <a:latin typeface="Century Gothic" panose="020B0502020202020204" pitchFamily="34" charset="0"/>
              </a:rPr>
              <a:t>WACC</a:t>
            </a:r>
            <a:r>
              <a:rPr lang="es-ES" sz="2400" b="1" dirty="0">
                <a:solidFill>
                  <a:schemeClr val="accent2">
                    <a:lumMod val="75000"/>
                  </a:schemeClr>
                </a:solidFill>
              </a:rPr>
              <a:t> </a:t>
            </a:r>
            <a:r>
              <a:rPr lang="es-ES" b="1" dirty="0">
                <a:solidFill>
                  <a:schemeClr val="accent1"/>
                </a:solidFill>
                <a:latin typeface="Century Gothic" panose="020B0502020202020204" pitchFamily="34" charset="0"/>
              </a:rPr>
              <a:t>– Con Restricción Deuda </a:t>
            </a:r>
            <a:r>
              <a:rPr lang="es-ES" b="1" dirty="0" err="1">
                <a:solidFill>
                  <a:schemeClr val="accent1"/>
                </a:solidFill>
                <a:latin typeface="Century Gothic" panose="020B0502020202020204" pitchFamily="34" charset="0"/>
              </a:rPr>
              <a:t>Equity</a:t>
            </a:r>
            <a:r>
              <a:rPr lang="es-ES" b="1" dirty="0">
                <a:solidFill>
                  <a:schemeClr val="accent1"/>
                </a:solidFill>
                <a:latin typeface="Century Gothic" panose="020B0502020202020204" pitchFamily="34" charset="0"/>
              </a:rPr>
              <a:t> (D/E)</a:t>
            </a:r>
            <a:endParaRPr lang="es-CO" b="1" dirty="0">
              <a:solidFill>
                <a:schemeClr val="accent1"/>
              </a:solidFill>
              <a:latin typeface="Century Gothic" panose="020B0502020202020204" pitchFamily="34" charset="0"/>
            </a:endParaRPr>
          </a:p>
        </p:txBody>
      </p:sp>
      <p:sp>
        <p:nvSpPr>
          <p:cNvPr id="7" name="Marcador de contenido 2">
            <a:extLst>
              <a:ext uri="{FF2B5EF4-FFF2-40B4-BE49-F238E27FC236}">
                <a16:creationId xmlns:a16="http://schemas.microsoft.com/office/drawing/2014/main" id="{E0D99ECF-68C9-CEE7-0C82-A0E7A61D1BD3}"/>
              </a:ext>
            </a:extLst>
          </p:cNvPr>
          <p:cNvSpPr>
            <a:spLocks noGrp="1"/>
          </p:cNvSpPr>
          <p:nvPr>
            <p:ph idx="1"/>
          </p:nvPr>
        </p:nvSpPr>
        <p:spPr>
          <a:xfrm>
            <a:off x="967709" y="2768479"/>
            <a:ext cx="10000316" cy="3458585"/>
          </a:xfrm>
        </p:spPr>
        <p:txBody>
          <a:bodyPr>
            <a:normAutofit/>
          </a:bodyPr>
          <a:lstStyle/>
          <a:p>
            <a:pPr algn="just">
              <a:buClr>
                <a:schemeClr val="accent3">
                  <a:lumMod val="75000"/>
                </a:schemeClr>
              </a:buClr>
              <a:buFont typeface="Arial"/>
              <a:buChar char="•"/>
            </a:pPr>
            <a:r>
              <a:rPr lang="es-ES" dirty="0">
                <a:solidFill>
                  <a:schemeClr val="accent1"/>
                </a:solidFill>
                <a:latin typeface="Century Gothic" panose="020B0502020202020204" pitchFamily="34" charset="0"/>
              </a:rPr>
              <a:t>Cuando tenemos restricción de Deuda </a:t>
            </a:r>
            <a:r>
              <a:rPr lang="es-ES" dirty="0" err="1">
                <a:solidFill>
                  <a:schemeClr val="accent1"/>
                </a:solidFill>
                <a:latin typeface="Century Gothic" panose="020B0502020202020204" pitchFamily="34" charset="0"/>
              </a:rPr>
              <a:t>Equity</a:t>
            </a:r>
            <a:r>
              <a:rPr lang="es-ES" dirty="0">
                <a:solidFill>
                  <a:schemeClr val="accent1"/>
                </a:solidFill>
                <a:latin typeface="Century Gothic" panose="020B0502020202020204" pitchFamily="34" charset="0"/>
              </a:rPr>
              <a:t> (D/E), se debe cumplir una relación entre la cantidad de dinero que se le pide a la Deuda y la que se le pide al </a:t>
            </a:r>
            <a:r>
              <a:rPr lang="es-ES" dirty="0" err="1">
                <a:solidFill>
                  <a:schemeClr val="accent1"/>
                </a:solidFill>
                <a:latin typeface="Century Gothic" panose="020B0502020202020204" pitchFamily="34" charset="0"/>
              </a:rPr>
              <a:t>Equity</a:t>
            </a:r>
            <a:r>
              <a:rPr lang="es-ES" dirty="0">
                <a:solidFill>
                  <a:schemeClr val="accent1"/>
                </a:solidFill>
                <a:latin typeface="Century Gothic" panose="020B0502020202020204" pitchFamily="34" charset="0"/>
              </a:rPr>
              <a:t>. </a:t>
            </a:r>
          </a:p>
          <a:p>
            <a:pPr algn="just">
              <a:buClr>
                <a:schemeClr val="accent3">
                  <a:lumMod val="75000"/>
                </a:schemeClr>
              </a:buClr>
              <a:buFont typeface="Arial"/>
              <a:buChar char="•"/>
            </a:pPr>
            <a:endParaRPr lang="es-ES" dirty="0">
              <a:solidFill>
                <a:schemeClr val="accent1"/>
              </a:solidFill>
              <a:latin typeface="Century Gothic" panose="020B0502020202020204" pitchFamily="34" charset="0"/>
            </a:endParaRPr>
          </a:p>
          <a:p>
            <a:pPr algn="just">
              <a:buClr>
                <a:schemeClr val="accent3">
                  <a:lumMod val="75000"/>
                </a:schemeClr>
              </a:buClr>
              <a:buFont typeface="Arial"/>
              <a:buChar char="•"/>
            </a:pPr>
            <a:endParaRPr lang="es-ES" dirty="0">
              <a:solidFill>
                <a:schemeClr val="accent1"/>
              </a:solidFill>
              <a:latin typeface="Century Gothic" panose="020B0502020202020204" pitchFamily="34" charset="0"/>
            </a:endParaRPr>
          </a:p>
          <a:p>
            <a:pPr algn="just">
              <a:buClr>
                <a:schemeClr val="accent3">
                  <a:lumMod val="75000"/>
                </a:schemeClr>
              </a:buClr>
              <a:buFont typeface="Arial"/>
              <a:buChar char="•"/>
            </a:pPr>
            <a:endParaRPr lang="es-ES" dirty="0">
              <a:solidFill>
                <a:schemeClr val="accent1"/>
              </a:solidFill>
              <a:latin typeface="Century Gothic" panose="020B0502020202020204" pitchFamily="34" charset="0"/>
            </a:endParaRPr>
          </a:p>
          <a:p>
            <a:pPr algn="just">
              <a:buClr>
                <a:schemeClr val="accent3">
                  <a:lumMod val="75000"/>
                </a:schemeClr>
              </a:buClr>
              <a:buFont typeface="Arial"/>
              <a:buChar char="•"/>
            </a:pPr>
            <a:r>
              <a:rPr lang="es-ES" dirty="0">
                <a:solidFill>
                  <a:schemeClr val="accent1"/>
                </a:solidFill>
                <a:latin typeface="Century Gothic" panose="020B0502020202020204" pitchFamily="34" charset="0"/>
              </a:rPr>
              <a:t>Cuando se tiene más de una fuente de financiación vía deuda o vía </a:t>
            </a:r>
            <a:r>
              <a:rPr lang="es-ES" dirty="0" err="1">
                <a:solidFill>
                  <a:schemeClr val="accent1"/>
                </a:solidFill>
                <a:latin typeface="Century Gothic" panose="020B0502020202020204" pitchFamily="34" charset="0"/>
              </a:rPr>
              <a:t>equity</a:t>
            </a:r>
            <a:r>
              <a:rPr lang="es-ES" dirty="0">
                <a:solidFill>
                  <a:schemeClr val="accent1"/>
                </a:solidFill>
                <a:latin typeface="Century Gothic" panose="020B0502020202020204" pitchFamily="34" charset="0"/>
              </a:rPr>
              <a:t>, se deberá sumar el porcentaje de cada una, de tal forma que al final las sumas cumplan con los %D y %E ya hallados.</a:t>
            </a:r>
          </a:p>
        </p:txBody>
      </p:sp>
      <mc:AlternateContent xmlns:mc="http://schemas.openxmlformats.org/markup-compatibility/2006" xmlns:a14="http://schemas.microsoft.com/office/drawing/2010/main">
        <mc:Choice Requires="a14">
          <p:sp>
            <p:nvSpPr>
              <p:cNvPr id="8" name="CuadroTexto 9">
                <a:extLst>
                  <a:ext uri="{FF2B5EF4-FFF2-40B4-BE49-F238E27FC236}">
                    <a16:creationId xmlns:a16="http://schemas.microsoft.com/office/drawing/2014/main" id="{7C42993D-9B17-1BC0-8AB0-B914FD169FF0}"/>
                  </a:ext>
                </a:extLst>
              </p:cNvPr>
              <p:cNvSpPr txBox="1"/>
              <p:nvPr/>
            </p:nvSpPr>
            <p:spPr>
              <a:xfrm>
                <a:off x="3044185" y="4152727"/>
                <a:ext cx="2305561" cy="6363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rPr>
                        <m:t>%</m:t>
                      </m:r>
                      <m:r>
                        <a:rPr lang="es-ES" sz="2000" b="0" i="1" smtClean="0">
                          <a:latin typeface="Cambria Math" panose="02040503050406030204" pitchFamily="18" charset="0"/>
                        </a:rPr>
                        <m:t>𝐷</m:t>
                      </m:r>
                      <m:r>
                        <a:rPr lang="es-ES" sz="2000" b="0" i="1" smtClean="0">
                          <a:latin typeface="Cambria Math" panose="02040503050406030204" pitchFamily="18" charset="0"/>
                        </a:rPr>
                        <m:t>= </m:t>
                      </m:r>
                      <m:f>
                        <m:fPr>
                          <m:ctrlPr>
                            <a:rPr lang="es-ES" sz="2000" b="0" i="1" smtClean="0">
                              <a:latin typeface="Cambria Math" panose="02040503050406030204" pitchFamily="18" charset="0"/>
                            </a:rPr>
                          </m:ctrlPr>
                        </m:fPr>
                        <m:num>
                          <m:r>
                            <a:rPr lang="es-ES" sz="2000" b="0" i="1" smtClean="0">
                              <a:latin typeface="Cambria Math" panose="02040503050406030204" pitchFamily="18" charset="0"/>
                            </a:rPr>
                            <m:t>𝐷</m:t>
                          </m:r>
                          <m:r>
                            <a:rPr lang="es-ES" sz="2000" b="0" i="1" smtClean="0">
                              <a:latin typeface="Cambria Math" panose="02040503050406030204" pitchFamily="18" charset="0"/>
                            </a:rPr>
                            <m:t>/</m:t>
                          </m:r>
                          <m:r>
                            <a:rPr lang="es-ES" sz="2000" b="0" i="1" smtClean="0">
                              <a:latin typeface="Cambria Math" panose="02040503050406030204" pitchFamily="18" charset="0"/>
                            </a:rPr>
                            <m:t>𝐸</m:t>
                          </m:r>
                        </m:num>
                        <m:den>
                          <m:r>
                            <a:rPr lang="es-ES" sz="2000" b="0" i="1" smtClean="0">
                              <a:latin typeface="Cambria Math" panose="02040503050406030204" pitchFamily="18" charset="0"/>
                            </a:rPr>
                            <m:t>1+</m:t>
                          </m:r>
                          <m:r>
                            <a:rPr lang="es-ES" sz="2000" b="0" i="1" smtClean="0">
                              <a:latin typeface="Cambria Math" panose="02040503050406030204" pitchFamily="18" charset="0"/>
                            </a:rPr>
                            <m:t>𝐷</m:t>
                          </m:r>
                          <m:r>
                            <a:rPr lang="es-ES" sz="2000" b="0" i="1" smtClean="0">
                              <a:latin typeface="Cambria Math" panose="02040503050406030204" pitchFamily="18" charset="0"/>
                            </a:rPr>
                            <m:t>/</m:t>
                          </m:r>
                          <m:r>
                            <a:rPr lang="es-ES" sz="2000" b="0" i="1" smtClean="0">
                              <a:latin typeface="Cambria Math" panose="02040503050406030204" pitchFamily="18" charset="0"/>
                            </a:rPr>
                            <m:t>𝐸</m:t>
                          </m:r>
                        </m:den>
                      </m:f>
                    </m:oMath>
                  </m:oMathPara>
                </a14:m>
                <a:endParaRPr lang="es-CO" sz="2000" dirty="0"/>
              </a:p>
            </p:txBody>
          </p:sp>
        </mc:Choice>
        <mc:Fallback xmlns="">
          <p:sp>
            <p:nvSpPr>
              <p:cNvPr id="8" name="CuadroTexto 9">
                <a:extLst>
                  <a:ext uri="{FF2B5EF4-FFF2-40B4-BE49-F238E27FC236}">
                    <a16:creationId xmlns:a16="http://schemas.microsoft.com/office/drawing/2014/main" id="{7C42993D-9B17-1BC0-8AB0-B914FD169FF0}"/>
                  </a:ext>
                </a:extLst>
              </p:cNvPr>
              <p:cNvSpPr txBox="1">
                <a:spLocks noRot="1" noChangeAspect="1" noMove="1" noResize="1" noEditPoints="1" noAdjustHandles="1" noChangeArrowheads="1" noChangeShapeType="1" noTextEdit="1"/>
              </p:cNvSpPr>
              <p:nvPr/>
            </p:nvSpPr>
            <p:spPr>
              <a:xfrm>
                <a:off x="3044185" y="4152727"/>
                <a:ext cx="2305561" cy="63632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uadroTexto 10">
                <a:extLst>
                  <a:ext uri="{FF2B5EF4-FFF2-40B4-BE49-F238E27FC236}">
                    <a16:creationId xmlns:a16="http://schemas.microsoft.com/office/drawing/2014/main" id="{98845157-67B2-BA64-0C44-B908E737B203}"/>
                  </a:ext>
                </a:extLst>
              </p:cNvPr>
              <p:cNvSpPr txBox="1"/>
              <p:nvPr/>
            </p:nvSpPr>
            <p:spPr>
              <a:xfrm>
                <a:off x="6690567" y="4317002"/>
                <a:ext cx="170226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rPr>
                        <m:t>%</m:t>
                      </m:r>
                      <m:r>
                        <a:rPr lang="es-ES" sz="2000" b="0" i="1" smtClean="0">
                          <a:latin typeface="Cambria Math" panose="02040503050406030204" pitchFamily="18" charset="0"/>
                        </a:rPr>
                        <m:t>𝐸</m:t>
                      </m:r>
                      <m:r>
                        <a:rPr lang="es-ES" sz="2000" b="0" i="1" smtClean="0">
                          <a:latin typeface="Cambria Math" panose="02040503050406030204" pitchFamily="18" charset="0"/>
                        </a:rPr>
                        <m:t>=1 −%</m:t>
                      </m:r>
                      <m:r>
                        <a:rPr lang="es-ES" sz="2000" b="0" i="1" smtClean="0">
                          <a:latin typeface="Cambria Math" panose="02040503050406030204" pitchFamily="18" charset="0"/>
                        </a:rPr>
                        <m:t>𝐷</m:t>
                      </m:r>
                    </m:oMath>
                  </m:oMathPara>
                </a14:m>
                <a:endParaRPr lang="es-CO" sz="2000" dirty="0"/>
              </a:p>
            </p:txBody>
          </p:sp>
        </mc:Choice>
        <mc:Fallback xmlns="">
          <p:sp>
            <p:nvSpPr>
              <p:cNvPr id="9" name="CuadroTexto 10">
                <a:extLst>
                  <a:ext uri="{FF2B5EF4-FFF2-40B4-BE49-F238E27FC236}">
                    <a16:creationId xmlns:a16="http://schemas.microsoft.com/office/drawing/2014/main" id="{98845157-67B2-BA64-0C44-B908E737B203}"/>
                  </a:ext>
                </a:extLst>
              </p:cNvPr>
              <p:cNvSpPr txBox="1">
                <a:spLocks noRot="1" noChangeAspect="1" noMove="1" noResize="1" noEditPoints="1" noAdjustHandles="1" noChangeArrowheads="1" noChangeShapeType="1" noTextEdit="1"/>
              </p:cNvSpPr>
              <p:nvPr/>
            </p:nvSpPr>
            <p:spPr>
              <a:xfrm>
                <a:off x="6690567" y="4317002"/>
                <a:ext cx="1702261" cy="307777"/>
              </a:xfrm>
              <a:prstGeom prst="rect">
                <a:avLst/>
              </a:prstGeom>
              <a:blipFill>
                <a:blip r:embed="rId4"/>
                <a:stretch>
                  <a:fillRect l="-3943" r="-3226" b="-13725"/>
                </a:stretch>
              </a:blipFill>
            </p:spPr>
            <p:txBody>
              <a:bodyPr/>
              <a:lstStyle/>
              <a:p>
                <a:r>
                  <a:rPr lang="en-US">
                    <a:noFill/>
                  </a:rPr>
                  <a:t> </a:t>
                </a:r>
              </a:p>
            </p:txBody>
          </p:sp>
        </mc:Fallback>
      </mc:AlternateContent>
    </p:spTree>
    <p:extLst>
      <p:ext uri="{BB962C8B-B14F-4D97-AF65-F5344CB8AC3E}">
        <p14:creationId xmlns:p14="http://schemas.microsoft.com/office/powerpoint/2010/main" val="487855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4AC8F-2E5C-5752-F11A-427201B675E5}"/>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BCE3224B-3736-1184-F426-2FBDF82C65CF}"/>
              </a:ext>
            </a:extLst>
          </p:cNvPr>
          <p:cNvSpPr>
            <a:spLocks noGrp="1"/>
          </p:cNvSpPr>
          <p:nvPr>
            <p:ph type="sldNum" sz="quarter" idx="12"/>
          </p:nvPr>
        </p:nvSpPr>
        <p:spPr/>
        <p:txBody>
          <a:bodyPr/>
          <a:lstStyle/>
          <a:p>
            <a:fld id="{5E3E23BA-6E79-2442-BA73-D218A5E297C3}" type="slidenum">
              <a:rPr lang="en-US" sz="1800" smtClean="0"/>
              <a:t>16</a:t>
            </a:fld>
            <a:endParaRPr lang="en-US" sz="1800"/>
          </a:p>
        </p:txBody>
      </p:sp>
      <p:sp>
        <p:nvSpPr>
          <p:cNvPr id="2" name="Rectángulo 1">
            <a:extLst>
              <a:ext uri="{FF2B5EF4-FFF2-40B4-BE49-F238E27FC236}">
                <a16:creationId xmlns:a16="http://schemas.microsoft.com/office/drawing/2014/main" id="{BBE3025A-2AAA-36D6-5D98-E74DD8C8AEB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756BEA8C-3A18-1BD5-3BC4-F3C98219B9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84186F8-F15E-DE86-C39A-6B5035BE15C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6" name="Título 1">
            <a:extLst>
              <a:ext uri="{FF2B5EF4-FFF2-40B4-BE49-F238E27FC236}">
                <a16:creationId xmlns:a16="http://schemas.microsoft.com/office/drawing/2014/main" id="{F68ADF7D-5B28-757F-D20B-84B2B7809D54}"/>
              </a:ext>
            </a:extLst>
          </p:cNvPr>
          <p:cNvSpPr>
            <a:spLocks noGrp="1"/>
          </p:cNvSpPr>
          <p:nvPr>
            <p:ph type="title"/>
          </p:nvPr>
        </p:nvSpPr>
        <p:spPr>
          <a:xfrm>
            <a:off x="581192" y="702156"/>
            <a:ext cx="11029616" cy="1013800"/>
          </a:xfrm>
        </p:spPr>
        <p:txBody>
          <a:bodyPr>
            <a:normAutofit/>
          </a:bodyPr>
          <a:lstStyle/>
          <a:p>
            <a:r>
              <a:rPr lang="es-ES" dirty="0">
                <a:latin typeface="Century Gothic" panose="020B0502020202020204" pitchFamily="34" charset="0"/>
              </a:rPr>
              <a:t>COSTO PROMEDIO PONDERADO DE CAPITAL </a:t>
            </a:r>
            <a:br>
              <a:rPr lang="es-ES" dirty="0">
                <a:latin typeface="Century Gothic" panose="020B0502020202020204" pitchFamily="34" charset="0"/>
              </a:rPr>
            </a:br>
            <a:r>
              <a:rPr lang="es-ES" dirty="0">
                <a:latin typeface="Century Gothic" panose="020B0502020202020204" pitchFamily="34" charset="0"/>
              </a:rPr>
              <a:t>(WACC)</a:t>
            </a:r>
          </a:p>
        </p:txBody>
      </p:sp>
      <p:sp>
        <p:nvSpPr>
          <p:cNvPr id="3" name="Marcador de contenido 2">
            <a:extLst>
              <a:ext uri="{FF2B5EF4-FFF2-40B4-BE49-F238E27FC236}">
                <a16:creationId xmlns:a16="http://schemas.microsoft.com/office/drawing/2014/main" id="{4CDB0758-0631-7EB2-F392-E9E2266DD9A6}"/>
              </a:ext>
            </a:extLst>
          </p:cNvPr>
          <p:cNvSpPr>
            <a:spLocks noGrp="1"/>
          </p:cNvSpPr>
          <p:nvPr>
            <p:ph idx="1"/>
          </p:nvPr>
        </p:nvSpPr>
        <p:spPr>
          <a:xfrm>
            <a:off x="753452" y="1801957"/>
            <a:ext cx="10685096" cy="4853675"/>
          </a:xfrm>
        </p:spPr>
        <p:txBody>
          <a:bodyPr anchor="t">
            <a:normAutofit fontScale="92500"/>
          </a:bodyPr>
          <a:lstStyle/>
          <a:p>
            <a:pPr marL="0" indent="0" algn="just">
              <a:buClr>
                <a:schemeClr val="accent3">
                  <a:lumMod val="75000"/>
                </a:schemeClr>
              </a:buClr>
              <a:buNone/>
            </a:pPr>
            <a:r>
              <a:rPr lang="es-ES" b="1" dirty="0">
                <a:solidFill>
                  <a:schemeClr val="accent1"/>
                </a:solidFill>
                <a:latin typeface="Century Gothic" panose="020B0502020202020204" pitchFamily="34" charset="0"/>
              </a:rPr>
              <a:t>Ejemplo: </a:t>
            </a:r>
            <a:r>
              <a:rPr lang="es-ES" dirty="0">
                <a:solidFill>
                  <a:schemeClr val="accent1"/>
                </a:solidFill>
                <a:latin typeface="Century Gothic" panose="020B0502020202020204" pitchFamily="34" charset="0"/>
              </a:rPr>
              <a:t>Usted tiene un proyecto de eficiencia geo-térmica. En los próximos dos años, usted espera el flujo de caja libre trimestral que se muestra a continuación.</a:t>
            </a:r>
          </a:p>
          <a:p>
            <a:pPr algn="just">
              <a:buClr>
                <a:schemeClr val="accent3">
                  <a:lumMod val="75000"/>
                </a:schemeClr>
              </a:buClr>
              <a:buFont typeface="Wingdings" panose="05000000000000000000" pitchFamily="2" charset="2"/>
              <a:buChar char="§"/>
            </a:pPr>
            <a:endParaRPr lang="es-ES" dirty="0">
              <a:solidFill>
                <a:schemeClr val="accent1"/>
              </a:solidFill>
              <a:latin typeface="Century Gothic" panose="020B0502020202020204" pitchFamily="34" charset="0"/>
            </a:endParaRPr>
          </a:p>
          <a:p>
            <a:pPr algn="just">
              <a:buClr>
                <a:schemeClr val="accent3">
                  <a:lumMod val="75000"/>
                </a:schemeClr>
              </a:buClr>
              <a:buFont typeface="Wingdings" panose="05000000000000000000" pitchFamily="2" charset="2"/>
              <a:buChar char="§"/>
            </a:pPr>
            <a:endParaRPr lang="es-ES" dirty="0">
              <a:solidFill>
                <a:schemeClr val="accent1"/>
              </a:solidFill>
              <a:latin typeface="Century Gothic" panose="020B0502020202020204" pitchFamily="34" charset="0"/>
            </a:endParaRPr>
          </a:p>
          <a:p>
            <a:pPr marL="0" indent="0" algn="just">
              <a:buClr>
                <a:schemeClr val="accent3">
                  <a:lumMod val="75000"/>
                </a:schemeClr>
              </a:buClr>
              <a:buNone/>
            </a:pPr>
            <a:r>
              <a:rPr lang="es-ES" dirty="0">
                <a:solidFill>
                  <a:schemeClr val="accent1"/>
                </a:solidFill>
                <a:latin typeface="Century Gothic" panose="020B0502020202020204" pitchFamily="34" charset="0"/>
              </a:rPr>
              <a:t>Usted cuenta con las siguientes fuentes de financiación.</a:t>
            </a:r>
          </a:p>
          <a:p>
            <a:pPr marL="0" indent="0" algn="just">
              <a:buClr>
                <a:schemeClr val="accent3">
                  <a:lumMod val="75000"/>
                </a:schemeClr>
              </a:buClr>
              <a:buNone/>
            </a:pPr>
            <a:endParaRPr lang="es-ES" dirty="0">
              <a:solidFill>
                <a:schemeClr val="accent1"/>
              </a:solidFill>
              <a:latin typeface="Century Gothic" panose="020B0502020202020204" pitchFamily="34" charset="0"/>
            </a:endParaRPr>
          </a:p>
          <a:p>
            <a:pPr marL="0" indent="0" algn="just">
              <a:buClr>
                <a:schemeClr val="accent3">
                  <a:lumMod val="75000"/>
                </a:schemeClr>
              </a:buClr>
              <a:buNone/>
            </a:pPr>
            <a:endParaRPr lang="es-ES" dirty="0">
              <a:solidFill>
                <a:schemeClr val="accent1"/>
              </a:solidFill>
              <a:latin typeface="Century Gothic" panose="020B0502020202020204" pitchFamily="34" charset="0"/>
            </a:endParaRPr>
          </a:p>
          <a:p>
            <a:pPr marL="0" indent="0" algn="just">
              <a:buClr>
                <a:schemeClr val="accent3">
                  <a:lumMod val="75000"/>
                </a:schemeClr>
              </a:buClr>
              <a:buNone/>
            </a:pPr>
            <a:endParaRPr lang="es-ES" dirty="0">
              <a:solidFill>
                <a:schemeClr val="accent1"/>
              </a:solidFill>
              <a:latin typeface="Century Gothic" panose="020B0502020202020204" pitchFamily="34" charset="0"/>
            </a:endParaRPr>
          </a:p>
          <a:p>
            <a:pPr marL="0" indent="0" algn="just">
              <a:buClr>
                <a:schemeClr val="accent3">
                  <a:lumMod val="75000"/>
                </a:schemeClr>
              </a:buClr>
              <a:buNone/>
            </a:pPr>
            <a:endParaRPr lang="es-ES" dirty="0">
              <a:solidFill>
                <a:schemeClr val="accent1"/>
              </a:solidFill>
              <a:latin typeface="Century Gothic" panose="020B0502020202020204" pitchFamily="34" charset="0"/>
            </a:endParaRPr>
          </a:p>
          <a:p>
            <a:pPr marL="0" indent="0" algn="just">
              <a:buClr>
                <a:schemeClr val="accent3">
                  <a:lumMod val="75000"/>
                </a:schemeClr>
              </a:buClr>
              <a:buNone/>
            </a:pPr>
            <a:endParaRPr lang="es-ES" dirty="0">
              <a:solidFill>
                <a:schemeClr val="accent1"/>
              </a:solidFill>
              <a:latin typeface="Century Gothic" panose="020B0502020202020204" pitchFamily="34" charset="0"/>
            </a:endParaRPr>
          </a:p>
          <a:p>
            <a:pPr marL="0" indent="0" algn="just">
              <a:buClr>
                <a:schemeClr val="accent3">
                  <a:lumMod val="75000"/>
                </a:schemeClr>
              </a:buClr>
              <a:buNone/>
            </a:pPr>
            <a:endParaRPr lang="es-ES" dirty="0">
              <a:solidFill>
                <a:schemeClr val="accent1"/>
              </a:solidFill>
              <a:latin typeface="Century Gothic" panose="020B0502020202020204" pitchFamily="34" charset="0"/>
            </a:endParaRPr>
          </a:p>
          <a:p>
            <a:pPr marL="0" indent="0" algn="just">
              <a:buClr>
                <a:schemeClr val="accent3">
                  <a:lumMod val="75000"/>
                </a:schemeClr>
              </a:buClr>
              <a:buNone/>
            </a:pPr>
            <a:endParaRPr lang="es-MX" dirty="0">
              <a:solidFill>
                <a:schemeClr val="accent1"/>
              </a:solidFill>
              <a:latin typeface="Century Gothic" panose="020B0502020202020204" pitchFamily="34" charset="0"/>
            </a:endParaRPr>
          </a:p>
          <a:p>
            <a:pPr marL="0" indent="0" algn="just">
              <a:buClr>
                <a:schemeClr val="accent3">
                  <a:lumMod val="75000"/>
                </a:schemeClr>
              </a:buClr>
              <a:buNone/>
            </a:pPr>
            <a:r>
              <a:rPr lang="es-MX" sz="1700" dirty="0">
                <a:solidFill>
                  <a:schemeClr val="accent1"/>
                </a:solidFill>
                <a:latin typeface="Century Gothic" panose="020B0502020202020204" pitchFamily="34" charset="0"/>
              </a:rPr>
              <a:t>Calcule el WACC del proyecto considerando el monto solicitado para cada fuente de financiación.</a:t>
            </a:r>
            <a:endParaRPr lang="es-ES" sz="1700" dirty="0">
              <a:solidFill>
                <a:schemeClr val="accent1"/>
              </a:solidFill>
              <a:latin typeface="Century Gothic" panose="020B0502020202020204" pitchFamily="34" charset="0"/>
            </a:endParaRPr>
          </a:p>
        </p:txBody>
      </p:sp>
      <p:graphicFrame>
        <p:nvGraphicFramePr>
          <p:cNvPr id="9" name="Table 8">
            <a:extLst>
              <a:ext uri="{FF2B5EF4-FFF2-40B4-BE49-F238E27FC236}">
                <a16:creationId xmlns:a16="http://schemas.microsoft.com/office/drawing/2014/main" id="{10249874-A05E-5109-DC58-B5C5E770A5B6}"/>
              </a:ext>
            </a:extLst>
          </p:cNvPr>
          <p:cNvGraphicFramePr>
            <a:graphicFrameLocks noGrp="1"/>
          </p:cNvGraphicFramePr>
          <p:nvPr>
            <p:extLst>
              <p:ext uri="{D42A27DB-BD31-4B8C-83A1-F6EECF244321}">
                <p14:modId xmlns:p14="http://schemas.microsoft.com/office/powerpoint/2010/main" val="265777613"/>
              </p:ext>
            </p:extLst>
          </p:nvPr>
        </p:nvGraphicFramePr>
        <p:xfrm>
          <a:off x="1158719" y="2609232"/>
          <a:ext cx="9664699" cy="479266"/>
        </p:xfrm>
        <a:graphic>
          <a:graphicData uri="http://schemas.openxmlformats.org/drawingml/2006/table">
            <a:tbl>
              <a:tblPr firstRow="1" firstCol="1">
                <a:tableStyleId>{6E25E649-3F16-4E02-A733-19D2CDBF48F0}</a:tableStyleId>
              </a:tblPr>
              <a:tblGrid>
                <a:gridCol w="1535691">
                  <a:extLst>
                    <a:ext uri="{9D8B030D-6E8A-4147-A177-3AD203B41FA5}">
                      <a16:colId xmlns:a16="http://schemas.microsoft.com/office/drawing/2014/main" val="873951211"/>
                    </a:ext>
                  </a:extLst>
                </a:gridCol>
                <a:gridCol w="888416">
                  <a:extLst>
                    <a:ext uri="{9D8B030D-6E8A-4147-A177-3AD203B41FA5}">
                      <a16:colId xmlns:a16="http://schemas.microsoft.com/office/drawing/2014/main" val="2800603575"/>
                    </a:ext>
                  </a:extLst>
                </a:gridCol>
                <a:gridCol w="888416">
                  <a:extLst>
                    <a:ext uri="{9D8B030D-6E8A-4147-A177-3AD203B41FA5}">
                      <a16:colId xmlns:a16="http://schemas.microsoft.com/office/drawing/2014/main" val="2784560027"/>
                    </a:ext>
                  </a:extLst>
                </a:gridCol>
                <a:gridCol w="888416">
                  <a:extLst>
                    <a:ext uri="{9D8B030D-6E8A-4147-A177-3AD203B41FA5}">
                      <a16:colId xmlns:a16="http://schemas.microsoft.com/office/drawing/2014/main" val="3252917969"/>
                    </a:ext>
                  </a:extLst>
                </a:gridCol>
                <a:gridCol w="980431">
                  <a:extLst>
                    <a:ext uri="{9D8B030D-6E8A-4147-A177-3AD203B41FA5}">
                      <a16:colId xmlns:a16="http://schemas.microsoft.com/office/drawing/2014/main" val="4055908481"/>
                    </a:ext>
                  </a:extLst>
                </a:gridCol>
                <a:gridCol w="888416">
                  <a:extLst>
                    <a:ext uri="{9D8B030D-6E8A-4147-A177-3AD203B41FA5}">
                      <a16:colId xmlns:a16="http://schemas.microsoft.com/office/drawing/2014/main" val="865220546"/>
                    </a:ext>
                  </a:extLst>
                </a:gridCol>
                <a:gridCol w="888416">
                  <a:extLst>
                    <a:ext uri="{9D8B030D-6E8A-4147-A177-3AD203B41FA5}">
                      <a16:colId xmlns:a16="http://schemas.microsoft.com/office/drawing/2014/main" val="3153904783"/>
                    </a:ext>
                  </a:extLst>
                </a:gridCol>
                <a:gridCol w="888416">
                  <a:extLst>
                    <a:ext uri="{9D8B030D-6E8A-4147-A177-3AD203B41FA5}">
                      <a16:colId xmlns:a16="http://schemas.microsoft.com/office/drawing/2014/main" val="3229762266"/>
                    </a:ext>
                  </a:extLst>
                </a:gridCol>
                <a:gridCol w="1028025">
                  <a:extLst>
                    <a:ext uri="{9D8B030D-6E8A-4147-A177-3AD203B41FA5}">
                      <a16:colId xmlns:a16="http://schemas.microsoft.com/office/drawing/2014/main" val="1472707082"/>
                    </a:ext>
                  </a:extLst>
                </a:gridCol>
                <a:gridCol w="790056">
                  <a:extLst>
                    <a:ext uri="{9D8B030D-6E8A-4147-A177-3AD203B41FA5}">
                      <a16:colId xmlns:a16="http://schemas.microsoft.com/office/drawing/2014/main" val="1868184468"/>
                    </a:ext>
                  </a:extLst>
                </a:gridCol>
              </a:tblGrid>
              <a:tr h="239633">
                <a:tc>
                  <a:txBody>
                    <a:bodyPr/>
                    <a:lstStyle/>
                    <a:p>
                      <a:pPr algn="ctr" fontAlgn="b"/>
                      <a:r>
                        <a:rPr lang="en-US" sz="1200" b="0" u="none" strike="noStrike">
                          <a:effectLst/>
                        </a:rPr>
                        <a:t>Periodo</a:t>
                      </a:r>
                      <a:endParaRPr lang="en-US"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0</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1</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2</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3</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4</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5</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6</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7</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8</a:t>
                      </a:r>
                      <a:endParaRPr lang="en-CO" sz="1200" b="0" i="0" u="none" strike="noStrike">
                        <a:solidFill>
                          <a:srgbClr val="FFFFFF"/>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409423743"/>
                  </a:ext>
                </a:extLst>
              </a:tr>
              <a:tr h="239633">
                <a:tc>
                  <a:txBody>
                    <a:bodyPr/>
                    <a:lstStyle/>
                    <a:p>
                      <a:pPr algn="ctr" fontAlgn="b"/>
                      <a:r>
                        <a:rPr lang="en-US" sz="1200" b="0" u="none" strike="noStrike" dirty="0">
                          <a:effectLst/>
                        </a:rPr>
                        <a:t>FCL (Trimestral)</a:t>
                      </a:r>
                      <a:endParaRPr lang="en-US" sz="12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-$ 150.000</a:t>
                      </a:r>
                      <a:endParaRPr lang="en-CO" sz="12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$ 35.000</a:t>
                      </a:r>
                      <a:endParaRPr lang="en-CO" sz="12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$ 35.000</a:t>
                      </a:r>
                      <a:endParaRPr lang="en-CO" sz="12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$ 35.000</a:t>
                      </a:r>
                      <a:endParaRPr lang="en-CO" sz="12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$ 35.000</a:t>
                      </a:r>
                      <a:endParaRPr lang="en-CO" sz="12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$ 35.000</a:t>
                      </a:r>
                      <a:endParaRPr lang="en-CO" sz="12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$ 35.000</a:t>
                      </a:r>
                      <a:endParaRPr lang="en-CO" sz="12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$ 35.000</a:t>
                      </a:r>
                      <a:endParaRPr lang="en-CO" sz="12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dirty="0">
                          <a:effectLst/>
                        </a:rPr>
                        <a:t>$ 35.000</a:t>
                      </a:r>
                      <a:endParaRPr lang="en-CO" sz="1200" b="0" i="0" u="none" strike="noStrike" dirty="0">
                        <a:solidFill>
                          <a:srgbClr val="000000"/>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2318445255"/>
                  </a:ext>
                </a:extLst>
              </a:tr>
            </a:tbl>
          </a:graphicData>
        </a:graphic>
      </p:graphicFrame>
      <p:graphicFrame>
        <p:nvGraphicFramePr>
          <p:cNvPr id="7" name="Tabla 8">
            <a:extLst>
              <a:ext uri="{FF2B5EF4-FFF2-40B4-BE49-F238E27FC236}">
                <a16:creationId xmlns:a16="http://schemas.microsoft.com/office/drawing/2014/main" id="{D29629F8-8E1D-0E17-FF06-B5411E2FD11F}"/>
              </a:ext>
            </a:extLst>
          </p:cNvPr>
          <p:cNvGraphicFramePr>
            <a:graphicFrameLocks noGrp="1"/>
          </p:cNvGraphicFramePr>
          <p:nvPr>
            <p:extLst>
              <p:ext uri="{D42A27DB-BD31-4B8C-83A1-F6EECF244321}">
                <p14:modId xmlns:p14="http://schemas.microsoft.com/office/powerpoint/2010/main" val="2703295223"/>
              </p:ext>
            </p:extLst>
          </p:nvPr>
        </p:nvGraphicFramePr>
        <p:xfrm>
          <a:off x="1158719" y="3934713"/>
          <a:ext cx="4213613" cy="1988630"/>
        </p:xfrm>
        <a:graphic>
          <a:graphicData uri="http://schemas.openxmlformats.org/drawingml/2006/table">
            <a:tbl>
              <a:tblPr/>
              <a:tblGrid>
                <a:gridCol w="1657640">
                  <a:extLst>
                    <a:ext uri="{9D8B030D-6E8A-4147-A177-3AD203B41FA5}">
                      <a16:colId xmlns:a16="http://schemas.microsoft.com/office/drawing/2014/main" val="2141042563"/>
                    </a:ext>
                  </a:extLst>
                </a:gridCol>
                <a:gridCol w="2555973">
                  <a:extLst>
                    <a:ext uri="{9D8B030D-6E8A-4147-A177-3AD203B41FA5}">
                      <a16:colId xmlns:a16="http://schemas.microsoft.com/office/drawing/2014/main" val="1175996226"/>
                    </a:ext>
                  </a:extLst>
                </a:gridCol>
              </a:tblGrid>
              <a:tr h="247612">
                <a:tc gridSpan="2">
                  <a:txBody>
                    <a:bodyPr/>
                    <a:lstStyle/>
                    <a:p>
                      <a:pPr algn="ctr" fontAlgn="ctr"/>
                      <a:r>
                        <a:rPr lang="es-ES" sz="1200" b="1" dirty="0">
                          <a:solidFill>
                            <a:schemeClr val="bg1"/>
                          </a:solidFill>
                          <a:highlight>
                            <a:srgbClr val="003300"/>
                          </a:highlight>
                          <a:latin typeface="Century Gothic"/>
                        </a:rPr>
                        <a:t>Condiciones de la deuda:</a:t>
                      </a:r>
                      <a:endParaRPr lang="es-CO" sz="1200" b="1" i="0" u="none" strike="noStrike" dirty="0">
                        <a:solidFill>
                          <a:schemeClr val="bg1"/>
                        </a:solidFill>
                        <a:effectLst/>
                        <a:highlight>
                          <a:srgbClr val="003300"/>
                        </a:highlight>
                        <a:latin typeface="Verdana" panose="020B0604030504040204" pitchFamily="34" charset="0"/>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hMerge="1">
                  <a:txBody>
                    <a:bodyPr/>
                    <a:lstStyle/>
                    <a:p>
                      <a:endParaRPr dirty="0"/>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extLst>
                  <a:ext uri="{0D108BD9-81ED-4DB2-BD59-A6C34878D82A}">
                    <a16:rowId xmlns:a16="http://schemas.microsoft.com/office/drawing/2014/main" val="875145480"/>
                  </a:ext>
                </a:extLst>
              </a:tr>
              <a:tr h="247612">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Tasa de interés</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10,50% NA/SV</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944001545"/>
                  </a:ext>
                </a:extLst>
              </a:tr>
              <a:tr h="247612">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Plazo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a:solidFill>
                            <a:srgbClr val="000000"/>
                          </a:solidFill>
                          <a:effectLst/>
                          <a:latin typeface="Verdana" panose="020B0604030504040204" pitchFamily="34" charset="0"/>
                        </a:rPr>
                        <a:t>2 años</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942679685"/>
                  </a:ext>
                </a:extLst>
              </a:tr>
              <a:tr h="329807">
                <a:tc>
                  <a:txBody>
                    <a:bodyPr/>
                    <a:lstStyle/>
                    <a:p>
                      <a:pPr algn="ctr" fontAlgn="ctr"/>
                      <a:r>
                        <a:rPr lang="es-CO" sz="1200" b="0" i="0" u="none" strike="noStrike">
                          <a:solidFill>
                            <a:srgbClr val="000000"/>
                          </a:solidFill>
                          <a:effectLst/>
                          <a:highlight>
                            <a:srgbClr val="C6E0B4"/>
                          </a:highlight>
                          <a:latin typeface="Verdana" panose="020B0604030504040204" pitchFamily="34" charset="0"/>
                        </a:rPr>
                        <a:t>Forma de Pago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Amortización Constante Semestral</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070012027"/>
                  </a:ext>
                </a:extLst>
              </a:tr>
              <a:tr h="247612">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Comisión</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a:solidFill>
                            <a:srgbClr val="000000"/>
                          </a:solidFill>
                          <a:effectLst/>
                          <a:latin typeface="Verdana"/>
                        </a:rPr>
                        <a:t>5% en el momento del desembolso</a:t>
                      </a:r>
                      <a:endParaRPr lang="es-ES"/>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952033095"/>
                  </a:ext>
                </a:extLst>
              </a:tr>
              <a:tr h="247612">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Monto Máximo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$ 112.500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2975502189"/>
                  </a:ext>
                </a:extLst>
              </a:tr>
              <a:tr h="247612">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Tasa impositiva</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33%</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2389432465"/>
                  </a:ext>
                </a:extLst>
              </a:tr>
            </a:tbl>
          </a:graphicData>
        </a:graphic>
      </p:graphicFrame>
      <p:graphicFrame>
        <p:nvGraphicFramePr>
          <p:cNvPr id="14" name="Tabla 10">
            <a:extLst>
              <a:ext uri="{FF2B5EF4-FFF2-40B4-BE49-F238E27FC236}">
                <a16:creationId xmlns:a16="http://schemas.microsoft.com/office/drawing/2014/main" id="{11371E07-214E-8CF4-5618-9118148CA269}"/>
              </a:ext>
            </a:extLst>
          </p:cNvPr>
          <p:cNvGraphicFramePr>
            <a:graphicFrameLocks noGrp="1"/>
          </p:cNvGraphicFramePr>
          <p:nvPr>
            <p:extLst>
              <p:ext uri="{D42A27DB-BD31-4B8C-83A1-F6EECF244321}">
                <p14:modId xmlns:p14="http://schemas.microsoft.com/office/powerpoint/2010/main" val="1528152734"/>
              </p:ext>
            </p:extLst>
          </p:nvPr>
        </p:nvGraphicFramePr>
        <p:xfrm>
          <a:off x="6043534" y="4039179"/>
          <a:ext cx="4427095" cy="1382220"/>
        </p:xfrm>
        <a:graphic>
          <a:graphicData uri="http://schemas.openxmlformats.org/drawingml/2006/table">
            <a:tbl>
              <a:tblPr/>
              <a:tblGrid>
                <a:gridCol w="1783621">
                  <a:extLst>
                    <a:ext uri="{9D8B030D-6E8A-4147-A177-3AD203B41FA5}">
                      <a16:colId xmlns:a16="http://schemas.microsoft.com/office/drawing/2014/main" val="2420916561"/>
                    </a:ext>
                  </a:extLst>
                </a:gridCol>
                <a:gridCol w="2643474">
                  <a:extLst>
                    <a:ext uri="{9D8B030D-6E8A-4147-A177-3AD203B41FA5}">
                      <a16:colId xmlns:a16="http://schemas.microsoft.com/office/drawing/2014/main" val="2946405157"/>
                    </a:ext>
                  </a:extLst>
                </a:gridCol>
              </a:tblGrid>
              <a:tr h="299664">
                <a:tc gridSpan="2">
                  <a:txBody>
                    <a:bodyPr/>
                    <a:lstStyle/>
                    <a:p>
                      <a:pPr algn="ctr" fontAlgn="ctr"/>
                      <a:r>
                        <a:rPr lang="es-CO" sz="1200" b="1" i="0" u="none" strike="noStrike" dirty="0">
                          <a:solidFill>
                            <a:srgbClr val="FFFFFF"/>
                          </a:solidFill>
                          <a:effectLst/>
                          <a:highlight>
                            <a:srgbClr val="003300"/>
                          </a:highlight>
                          <a:latin typeface="Verdana" panose="020B0604030504040204" pitchFamily="34" charset="0"/>
                        </a:rPr>
                        <a:t>Emisión de Acciones:</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hMerge="1">
                  <a:txBody>
                    <a:bodyPr/>
                    <a:lstStyle/>
                    <a:p>
                      <a:pPr algn="ctr" fontAlgn="ctr"/>
                      <a:r>
                        <a:rPr lang="es-CO" sz="1200" b="1" i="0" u="none" strike="noStrike" dirty="0">
                          <a:solidFill>
                            <a:srgbClr val="FFFFFF"/>
                          </a:solidFill>
                          <a:effectLst/>
                          <a:highlight>
                            <a:srgbClr val="003300"/>
                          </a:highlight>
                          <a:latin typeface="Verdana" panose="020B0604030504040204" pitchFamily="34" charset="0"/>
                        </a:rPr>
                        <a:t>Equity</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extLst>
                  <a:ext uri="{0D108BD9-81ED-4DB2-BD59-A6C34878D82A}">
                    <a16:rowId xmlns:a16="http://schemas.microsoft.com/office/drawing/2014/main" val="2352259675"/>
                  </a:ext>
                </a:extLst>
              </a:tr>
              <a:tr h="225662">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Precio emisión</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50,00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2435528174"/>
                  </a:ext>
                </a:extLst>
              </a:tr>
              <a:tr h="232347">
                <a:tc>
                  <a:txBody>
                    <a:bodyPr/>
                    <a:lstStyle/>
                    <a:p>
                      <a:pPr algn="ctr" fontAlgn="ctr"/>
                      <a:r>
                        <a:rPr lang="es-CO" sz="1200" b="0" i="0" u="none" strike="noStrike">
                          <a:solidFill>
                            <a:srgbClr val="000000"/>
                          </a:solidFill>
                          <a:effectLst/>
                          <a:highlight>
                            <a:srgbClr val="C6E0B4"/>
                          </a:highlight>
                          <a:latin typeface="Verdana"/>
                        </a:rPr>
                        <a:t>Dividendo año 0</a:t>
                      </a:r>
                      <a:endParaRPr lang="es-CO" sz="1200" b="0" i="0" u="none" strike="noStrike" dirty="0">
                        <a:solidFill>
                          <a:srgbClr val="000000"/>
                        </a:solidFill>
                        <a:effectLst/>
                        <a:highlight>
                          <a:srgbClr val="C6E0B4"/>
                        </a:highlight>
                        <a:latin typeface="Verdana" panose="020B0604030504040204" pitchFamily="34" charset="0"/>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7,50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563232067"/>
                  </a:ext>
                </a:extLst>
              </a:tr>
              <a:tr h="209863">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Crecimiento Anual</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4,50%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832245458"/>
                  </a:ext>
                </a:extLst>
              </a:tr>
              <a:tr h="222279">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Costo de emisión</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2,00%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540023035"/>
                  </a:ext>
                </a:extLst>
              </a:tr>
              <a:tr h="0">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Tasa impositiva</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33%</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821117134"/>
                  </a:ext>
                </a:extLst>
              </a:tr>
            </a:tbl>
          </a:graphicData>
        </a:graphic>
      </p:graphicFrame>
    </p:spTree>
    <p:extLst>
      <p:ext uri="{BB962C8B-B14F-4D97-AF65-F5344CB8AC3E}">
        <p14:creationId xmlns:p14="http://schemas.microsoft.com/office/powerpoint/2010/main" val="262275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36875-8418-02BE-6ACA-84CBCB473928}"/>
              </a:ext>
            </a:extLst>
          </p:cNvPr>
          <p:cNvSpPr>
            <a:spLocks noGrp="1"/>
          </p:cNvSpPr>
          <p:nvPr>
            <p:ph type="title"/>
          </p:nvPr>
        </p:nvSpPr>
        <p:spPr/>
        <p:txBody>
          <a:bodyPr/>
          <a:lstStyle/>
          <a:p>
            <a:r>
              <a:rPr lang="es-ES_tradnl" dirty="0"/>
              <a:t>Descargue la plantilla</a:t>
            </a:r>
          </a:p>
        </p:txBody>
      </p:sp>
      <p:sp>
        <p:nvSpPr>
          <p:cNvPr id="3" name="Content Placeholder 2">
            <a:extLst>
              <a:ext uri="{FF2B5EF4-FFF2-40B4-BE49-F238E27FC236}">
                <a16:creationId xmlns:a16="http://schemas.microsoft.com/office/drawing/2014/main" id="{DC5E0704-DE1F-640C-B553-7AEEDF85D25E}"/>
              </a:ext>
            </a:extLst>
          </p:cNvPr>
          <p:cNvSpPr>
            <a:spLocks noGrp="1"/>
          </p:cNvSpPr>
          <p:nvPr>
            <p:ph idx="1"/>
          </p:nvPr>
        </p:nvSpPr>
        <p:spPr/>
        <p:txBody>
          <a:bodyPr>
            <a:normAutofit/>
          </a:bodyPr>
          <a:lstStyle/>
          <a:p>
            <a:r>
              <a:rPr lang="es-ES_tradnl" sz="2800" b="1" dirty="0">
                <a:solidFill>
                  <a:srgbClr val="FF0000"/>
                </a:solidFill>
              </a:rPr>
              <a:t>https://</a:t>
            </a:r>
            <a:r>
              <a:rPr lang="es-ES_tradnl" sz="2800" b="1" dirty="0" err="1">
                <a:solidFill>
                  <a:srgbClr val="FF0000"/>
                </a:solidFill>
              </a:rPr>
              <a:t>shorturl.at</a:t>
            </a:r>
            <a:r>
              <a:rPr lang="es-ES_tradnl" sz="2800" b="1" dirty="0">
                <a:solidFill>
                  <a:srgbClr val="FF0000"/>
                </a:solidFill>
              </a:rPr>
              <a:t>/</a:t>
            </a:r>
            <a:r>
              <a:rPr lang="es-ES_tradnl" sz="2800" b="1" dirty="0" err="1">
                <a:solidFill>
                  <a:srgbClr val="FF0000"/>
                </a:solidFill>
              </a:rPr>
              <a:t>dTqvd</a:t>
            </a:r>
            <a:endParaRPr lang="es-ES_tradnl" sz="2800" b="1" dirty="0">
              <a:solidFill>
                <a:srgbClr val="FF0000"/>
              </a:solidFill>
            </a:endParaRPr>
          </a:p>
        </p:txBody>
      </p:sp>
      <p:sp>
        <p:nvSpPr>
          <p:cNvPr id="4" name="Slide Number Placeholder 3">
            <a:extLst>
              <a:ext uri="{FF2B5EF4-FFF2-40B4-BE49-F238E27FC236}">
                <a16:creationId xmlns:a16="http://schemas.microsoft.com/office/drawing/2014/main" id="{875FBF94-DCCD-6423-AFCC-A2B8BBB8AC57}"/>
              </a:ext>
            </a:extLst>
          </p:cNvPr>
          <p:cNvSpPr>
            <a:spLocks noGrp="1"/>
          </p:cNvSpPr>
          <p:nvPr>
            <p:ph type="sldNum" sz="quarter" idx="12"/>
          </p:nvPr>
        </p:nvSpPr>
        <p:spPr/>
        <p:txBody>
          <a:bodyPr/>
          <a:lstStyle/>
          <a:p>
            <a:fld id="{D57F1E4F-1CFF-5643-939E-217C01CDF565}" type="slidenum">
              <a:rPr lang="en-US" smtClean="0"/>
              <a:pPr/>
              <a:t>17</a:t>
            </a:fld>
            <a:endParaRPr lang="en-US"/>
          </a:p>
        </p:txBody>
      </p:sp>
      <p:pic>
        <p:nvPicPr>
          <p:cNvPr id="5" name="Picture 4">
            <a:extLst>
              <a:ext uri="{FF2B5EF4-FFF2-40B4-BE49-F238E27FC236}">
                <a16:creationId xmlns:a16="http://schemas.microsoft.com/office/drawing/2014/main" id="{FBC84C15-3B43-1E9A-F32F-35A34055BC7F}"/>
              </a:ext>
            </a:extLst>
          </p:cNvPr>
          <p:cNvPicPr>
            <a:picLocks noChangeAspect="1"/>
          </p:cNvPicPr>
          <p:nvPr/>
        </p:nvPicPr>
        <p:blipFill>
          <a:blip r:embed="rId2"/>
          <a:stretch>
            <a:fillRect/>
          </a:stretch>
        </p:blipFill>
        <p:spPr>
          <a:xfrm>
            <a:off x="5628609" y="2034781"/>
            <a:ext cx="4626559" cy="4545105"/>
          </a:xfrm>
          <a:prstGeom prst="rect">
            <a:avLst/>
          </a:prstGeom>
        </p:spPr>
      </p:pic>
    </p:spTree>
    <p:extLst>
      <p:ext uri="{BB962C8B-B14F-4D97-AF65-F5344CB8AC3E}">
        <p14:creationId xmlns:p14="http://schemas.microsoft.com/office/powerpoint/2010/main" val="2655160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FDEF2-8DFB-26C2-A047-C5071FA0F30F}"/>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594CA55-BFB0-850D-3C8B-4C12F1BAFC4D}"/>
              </a:ext>
            </a:extLst>
          </p:cNvPr>
          <p:cNvSpPr>
            <a:spLocks noGrp="1"/>
          </p:cNvSpPr>
          <p:nvPr>
            <p:ph type="sldNum" sz="quarter" idx="12"/>
          </p:nvPr>
        </p:nvSpPr>
        <p:spPr/>
        <p:txBody>
          <a:bodyPr/>
          <a:lstStyle/>
          <a:p>
            <a:fld id="{5E3E23BA-6E79-2442-BA73-D218A5E297C3}" type="slidenum">
              <a:rPr lang="en-US" sz="1800" smtClean="0"/>
              <a:t>18</a:t>
            </a:fld>
            <a:endParaRPr lang="en-US" sz="1800"/>
          </a:p>
        </p:txBody>
      </p:sp>
      <p:sp>
        <p:nvSpPr>
          <p:cNvPr id="2" name="Rectángulo 1">
            <a:extLst>
              <a:ext uri="{FF2B5EF4-FFF2-40B4-BE49-F238E27FC236}">
                <a16:creationId xmlns:a16="http://schemas.microsoft.com/office/drawing/2014/main" id="{3AD26FFD-656B-4E14-A17D-E21D187EDE0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E44A1D72-80AB-CA61-666D-5A1DCDFECE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517167FF-BD23-D68E-CDB1-B0B76F4F829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6" name="Título 1">
            <a:extLst>
              <a:ext uri="{FF2B5EF4-FFF2-40B4-BE49-F238E27FC236}">
                <a16:creationId xmlns:a16="http://schemas.microsoft.com/office/drawing/2014/main" id="{541AB991-DA6A-4EBC-CA5E-7AA6EEBF8D52}"/>
              </a:ext>
            </a:extLst>
          </p:cNvPr>
          <p:cNvSpPr>
            <a:spLocks noGrp="1"/>
          </p:cNvSpPr>
          <p:nvPr>
            <p:ph type="title"/>
          </p:nvPr>
        </p:nvSpPr>
        <p:spPr>
          <a:xfrm>
            <a:off x="581192" y="702156"/>
            <a:ext cx="11029616" cy="1013800"/>
          </a:xfrm>
        </p:spPr>
        <p:txBody>
          <a:bodyPr>
            <a:normAutofit/>
          </a:bodyPr>
          <a:lstStyle/>
          <a:p>
            <a:r>
              <a:rPr lang="es-ES" dirty="0">
                <a:latin typeface="Century Gothic" panose="020B0502020202020204" pitchFamily="34" charset="0"/>
              </a:rPr>
              <a:t>COSTO PROMEDIO PONDERADO DE CAPITAL </a:t>
            </a:r>
            <a:br>
              <a:rPr lang="es-ES" dirty="0">
                <a:latin typeface="Century Gothic" panose="020B0502020202020204" pitchFamily="34" charset="0"/>
              </a:rPr>
            </a:br>
            <a:r>
              <a:rPr lang="es-ES" dirty="0">
                <a:latin typeface="Century Gothic" panose="020B0502020202020204" pitchFamily="34" charset="0"/>
              </a:rPr>
              <a:t>(WACC)</a:t>
            </a:r>
          </a:p>
        </p:txBody>
      </p:sp>
      <p:pic>
        <p:nvPicPr>
          <p:cNvPr id="8" name="Imagen 9">
            <a:extLst>
              <a:ext uri="{FF2B5EF4-FFF2-40B4-BE49-F238E27FC236}">
                <a16:creationId xmlns:a16="http://schemas.microsoft.com/office/drawing/2014/main" id="{7650513C-2FE5-8992-89BB-5760FDA0C763}"/>
              </a:ext>
            </a:extLst>
          </p:cNvPr>
          <p:cNvPicPr>
            <a:picLocks noChangeAspect="1"/>
          </p:cNvPicPr>
          <p:nvPr/>
        </p:nvPicPr>
        <p:blipFill>
          <a:blip r:embed="rId3"/>
          <a:stretch>
            <a:fillRect/>
          </a:stretch>
        </p:blipFill>
        <p:spPr>
          <a:xfrm>
            <a:off x="4468460" y="1861316"/>
            <a:ext cx="7268913" cy="4094821"/>
          </a:xfrm>
          <a:prstGeom prst="rect">
            <a:avLst/>
          </a:prstGeom>
        </p:spPr>
      </p:pic>
      <p:sp>
        <p:nvSpPr>
          <p:cNvPr id="11" name="Marcador de contenido 2">
            <a:extLst>
              <a:ext uri="{FF2B5EF4-FFF2-40B4-BE49-F238E27FC236}">
                <a16:creationId xmlns:a16="http://schemas.microsoft.com/office/drawing/2014/main" id="{D31B00E1-3459-0CE2-CD14-CA987B78A270}"/>
              </a:ext>
            </a:extLst>
          </p:cNvPr>
          <p:cNvSpPr>
            <a:spLocks noGrp="1"/>
          </p:cNvSpPr>
          <p:nvPr>
            <p:ph idx="1"/>
          </p:nvPr>
        </p:nvSpPr>
        <p:spPr>
          <a:xfrm>
            <a:off x="841104" y="2788170"/>
            <a:ext cx="6920145" cy="3072984"/>
          </a:xfrm>
        </p:spPr>
        <p:txBody>
          <a:bodyPr>
            <a:normAutofit/>
          </a:bodyPr>
          <a:lstStyle/>
          <a:p>
            <a:pPr marL="0" indent="0" algn="ctr">
              <a:buNone/>
            </a:pPr>
            <a:r>
              <a:rPr lang="es-ES" sz="1600" dirty="0">
                <a:solidFill>
                  <a:srgbClr val="C00000"/>
                </a:solidFill>
                <a:latin typeface="Century Gothic" panose="020B0502020202020204" pitchFamily="34" charset="0"/>
              </a:rPr>
              <a:t>¿Es el proyecto económicamente viable?</a:t>
            </a:r>
          </a:p>
          <a:p>
            <a:pPr marL="0" indent="0" algn="ctr">
              <a:buNone/>
            </a:pPr>
            <a:endParaRPr lang="es-ES" sz="1600" dirty="0">
              <a:solidFill>
                <a:srgbClr val="C00000"/>
              </a:solidFill>
              <a:latin typeface="Century Gothic" panose="020B0502020202020204" pitchFamily="34" charset="0"/>
            </a:endParaRPr>
          </a:p>
          <a:p>
            <a:pPr marL="0" indent="0" algn="ctr">
              <a:buNone/>
            </a:pPr>
            <a:br>
              <a:rPr lang="es-ES" sz="1000" dirty="0">
                <a:solidFill>
                  <a:srgbClr val="000000"/>
                </a:solidFill>
              </a:rPr>
            </a:br>
            <a:r>
              <a:rPr lang="es-ES" sz="1000" dirty="0">
                <a:solidFill>
                  <a:srgbClr val="C00000"/>
                </a:solidFill>
                <a:latin typeface="Century Gothic" panose="020B0502020202020204" pitchFamily="34" charset="0"/>
              </a:rPr>
              <a:t> </a:t>
            </a:r>
          </a:p>
          <a:p>
            <a:pPr marL="0" indent="0" algn="ctr">
              <a:buNone/>
            </a:pPr>
            <a:endParaRPr lang="es-ES" sz="1000" dirty="0">
              <a:solidFill>
                <a:srgbClr val="C00000"/>
              </a:solidFill>
            </a:endParaRPr>
          </a:p>
        </p:txBody>
      </p:sp>
    </p:spTree>
    <p:extLst>
      <p:ext uri="{BB962C8B-B14F-4D97-AF65-F5344CB8AC3E}">
        <p14:creationId xmlns:p14="http://schemas.microsoft.com/office/powerpoint/2010/main" val="397830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EB723-4942-330B-BABE-045007B1C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50793-75F7-B5ED-B5B2-99CC722DCABE}"/>
              </a:ext>
            </a:extLst>
          </p:cNvPr>
          <p:cNvSpPr>
            <a:spLocks noGrp="1"/>
          </p:cNvSpPr>
          <p:nvPr>
            <p:ph type="title"/>
          </p:nvPr>
        </p:nvSpPr>
        <p:spPr/>
        <p:txBody>
          <a:bodyPr/>
          <a:lstStyle/>
          <a:p>
            <a:r>
              <a:rPr lang="es-ES" dirty="0">
                <a:latin typeface="Century Gothic" panose="020B0502020202020204" pitchFamily="34" charset="0"/>
              </a:rPr>
              <a:t>RESTRICCIONES deuda/</a:t>
            </a:r>
            <a:r>
              <a:rPr lang="es-ES" dirty="0" err="1">
                <a:latin typeface="Century Gothic" panose="020B0502020202020204" pitchFamily="34" charset="0"/>
              </a:rPr>
              <a:t>equity</a:t>
            </a:r>
            <a:r>
              <a:rPr lang="es-ES" dirty="0">
                <a:latin typeface="Century Gothic" panose="020B0502020202020204" pitchFamily="34" charset="0"/>
              </a:rPr>
              <a:t> (d/e)</a:t>
            </a:r>
            <a:endParaRPr lang="es-ES_tradnl" dirty="0"/>
          </a:p>
        </p:txBody>
      </p:sp>
      <p:sp>
        <p:nvSpPr>
          <p:cNvPr id="3" name="Content Placeholder 2">
            <a:extLst>
              <a:ext uri="{FF2B5EF4-FFF2-40B4-BE49-F238E27FC236}">
                <a16:creationId xmlns:a16="http://schemas.microsoft.com/office/drawing/2014/main" id="{9ADD8EF8-141C-0A60-8664-A411850415EA}"/>
              </a:ext>
            </a:extLst>
          </p:cNvPr>
          <p:cNvSpPr>
            <a:spLocks noGrp="1"/>
          </p:cNvSpPr>
          <p:nvPr>
            <p:ph idx="1"/>
          </p:nvPr>
        </p:nvSpPr>
        <p:spPr>
          <a:xfrm>
            <a:off x="581190" y="1856772"/>
            <a:ext cx="11029615" cy="1228956"/>
          </a:xfrm>
        </p:spPr>
        <p:txBody>
          <a:bodyPr/>
          <a:lstStyle/>
          <a:p>
            <a:pPr marL="0" indent="0" algn="ctr">
              <a:buNone/>
            </a:pPr>
            <a:r>
              <a:rPr lang="es-ES" dirty="0">
                <a:solidFill>
                  <a:schemeClr val="accent1"/>
                </a:solidFill>
                <a:latin typeface="Century Gothic" panose="020B0502020202020204" pitchFamily="34" charset="0"/>
              </a:rPr>
              <a:t>¿Cuál es el WACC mínimo?</a:t>
            </a:r>
            <a:br>
              <a:rPr lang="es-ES" dirty="0">
                <a:solidFill>
                  <a:schemeClr val="accent1"/>
                </a:solidFill>
                <a:latin typeface="Century Gothic" panose="020B0502020202020204" pitchFamily="34" charset="0"/>
              </a:rPr>
            </a:br>
            <a:r>
              <a:rPr lang="es-ES" dirty="0">
                <a:solidFill>
                  <a:schemeClr val="accent1"/>
                </a:solidFill>
                <a:latin typeface="Century Gothic" panose="020B0502020202020204" pitchFamily="34" charset="0"/>
              </a:rPr>
              <a:t>¿Cuánto se solicita y se recibe de cada fuente de financiación?</a:t>
            </a:r>
          </a:p>
          <a:p>
            <a:endParaRPr lang="es-ES_tradnl" dirty="0"/>
          </a:p>
        </p:txBody>
      </p:sp>
      <p:sp>
        <p:nvSpPr>
          <p:cNvPr id="4" name="Slide Number Placeholder 3">
            <a:extLst>
              <a:ext uri="{FF2B5EF4-FFF2-40B4-BE49-F238E27FC236}">
                <a16:creationId xmlns:a16="http://schemas.microsoft.com/office/drawing/2014/main" id="{0B954184-0B12-1159-8FA7-3A2F19C0361B}"/>
              </a:ext>
            </a:extLst>
          </p:cNvPr>
          <p:cNvSpPr>
            <a:spLocks noGrp="1"/>
          </p:cNvSpPr>
          <p:nvPr>
            <p:ph type="sldNum" sz="quarter" idx="12"/>
          </p:nvPr>
        </p:nvSpPr>
        <p:spPr/>
        <p:txBody>
          <a:bodyPr/>
          <a:lstStyle/>
          <a:p>
            <a:fld id="{D57F1E4F-1CFF-5643-939E-217C01CDF565}" type="slidenum">
              <a:rPr lang="en-US" smtClean="0"/>
              <a:pPr/>
              <a:t>19</a:t>
            </a:fld>
            <a:endParaRPr lang="en-US"/>
          </a:p>
        </p:txBody>
      </p:sp>
      <mc:AlternateContent xmlns:mc="http://schemas.openxmlformats.org/markup-compatibility/2006" xmlns:a14="http://schemas.microsoft.com/office/drawing/2010/main">
        <mc:Choice Requires="a14">
          <p:graphicFrame>
            <p:nvGraphicFramePr>
              <p:cNvPr id="6" name="Tabla 1">
                <a:extLst>
                  <a:ext uri="{FF2B5EF4-FFF2-40B4-BE49-F238E27FC236}">
                    <a16:creationId xmlns:a16="http://schemas.microsoft.com/office/drawing/2014/main" id="{F8D5D298-1649-B4E8-0040-D7C0A06A38E1}"/>
                  </a:ext>
                </a:extLst>
              </p:cNvPr>
              <p:cNvGraphicFramePr>
                <a:graphicFrameLocks noGrp="1"/>
              </p:cNvGraphicFramePr>
              <p:nvPr>
                <p:extLst>
                  <p:ext uri="{D42A27DB-BD31-4B8C-83A1-F6EECF244321}">
                    <p14:modId xmlns:p14="http://schemas.microsoft.com/office/powerpoint/2010/main" val="2704461371"/>
                  </p:ext>
                </p:extLst>
              </p:nvPr>
            </p:nvGraphicFramePr>
            <p:xfrm>
              <a:off x="2505802" y="2859374"/>
              <a:ext cx="7180389" cy="1562100"/>
            </p:xfrm>
            <a:graphic>
              <a:graphicData uri="http://schemas.openxmlformats.org/drawingml/2006/table">
                <a:tbl>
                  <a:tblPr firstRow="1" bandRow="1"/>
                  <a:tblGrid>
                    <a:gridCol w="1346762">
                      <a:extLst>
                        <a:ext uri="{9D8B030D-6E8A-4147-A177-3AD203B41FA5}">
                          <a16:colId xmlns:a16="http://schemas.microsoft.com/office/drawing/2014/main" val="753450657"/>
                        </a:ext>
                      </a:extLst>
                    </a:gridCol>
                    <a:gridCol w="1921194">
                      <a:extLst>
                        <a:ext uri="{9D8B030D-6E8A-4147-A177-3AD203B41FA5}">
                          <a16:colId xmlns:a16="http://schemas.microsoft.com/office/drawing/2014/main" val="277443866"/>
                        </a:ext>
                      </a:extLst>
                    </a:gridCol>
                    <a:gridCol w="1491522">
                      <a:extLst>
                        <a:ext uri="{9D8B030D-6E8A-4147-A177-3AD203B41FA5}">
                          <a16:colId xmlns:a16="http://schemas.microsoft.com/office/drawing/2014/main" val="790896557"/>
                        </a:ext>
                      </a:extLst>
                    </a:gridCol>
                    <a:gridCol w="1244183">
                      <a:extLst>
                        <a:ext uri="{9D8B030D-6E8A-4147-A177-3AD203B41FA5}">
                          <a16:colId xmlns:a16="http://schemas.microsoft.com/office/drawing/2014/main" val="3667981493"/>
                        </a:ext>
                      </a:extLst>
                    </a:gridCol>
                    <a:gridCol w="1176728">
                      <a:extLst>
                        <a:ext uri="{9D8B030D-6E8A-4147-A177-3AD203B41FA5}">
                          <a16:colId xmlns:a16="http://schemas.microsoft.com/office/drawing/2014/main" val="2996299436"/>
                        </a:ext>
                      </a:extLst>
                    </a:gridCol>
                  </a:tblGrid>
                  <a:tr h="301742">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Fuente</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Monto Solicitado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Monto Recibido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14:m>
                            <m:oMathPara xmlns:m="http://schemas.openxmlformats.org/officeDocument/2006/math">
                              <m:oMathParaPr>
                                <m:jc m:val="centerGroup"/>
                              </m:oMathParaPr>
                              <m:oMath xmlns:m="http://schemas.openxmlformats.org/officeDocument/2006/math">
                                <m:r>
                                  <a:rPr lang="es-ES" sz="2000" b="1" i="1" u="none" strike="noStrike" dirty="0" smtClean="0">
                                    <a:solidFill>
                                      <a:srgbClr val="FFFFFF"/>
                                    </a:solidFill>
                                    <a:effectLst/>
                                    <a:highlight>
                                      <a:srgbClr val="003300"/>
                                    </a:highlight>
                                    <a:latin typeface="Cambria Math" panose="02040503050406030204" pitchFamily="18" charset="0"/>
                                  </a:rPr>
                                  <m:t> </m:t>
                                </m:r>
                                <m:sSub>
                                  <m:sSubPr>
                                    <m:ctrlPr>
                                      <a:rPr lang="es-CO" sz="2000" b="1" i="1" u="none" strike="noStrike" dirty="0" smtClean="0">
                                        <a:solidFill>
                                          <a:srgbClr val="FFFFFF"/>
                                        </a:solidFill>
                                        <a:effectLst/>
                                        <a:highlight>
                                          <a:srgbClr val="003300"/>
                                        </a:highlight>
                                        <a:latin typeface="Cambria Math" panose="02040503050406030204" pitchFamily="18" charset="0"/>
                                      </a:rPr>
                                    </m:ctrlPr>
                                  </m:sSubPr>
                                  <m:e>
                                    <m:r>
                                      <a:rPr lang="es-CO" sz="2000" b="1" i="1" u="none" strike="noStrike" dirty="0" smtClean="0">
                                        <a:solidFill>
                                          <a:srgbClr val="FFFFFF"/>
                                        </a:solidFill>
                                        <a:effectLst/>
                                        <a:highlight>
                                          <a:srgbClr val="003300"/>
                                        </a:highlight>
                                        <a:latin typeface="Cambria Math" panose="02040503050406030204" pitchFamily="18" charset="0"/>
                                      </a:rPr>
                                      <m:t>𝑲</m:t>
                                    </m:r>
                                  </m:e>
                                  <m:sub>
                                    <m:r>
                                      <a:rPr lang="es-CO" sz="2000" b="1" i="1" u="none" strike="noStrike" dirty="0" smtClean="0">
                                        <a:solidFill>
                                          <a:srgbClr val="FFFFFF"/>
                                        </a:solidFill>
                                        <a:effectLst/>
                                        <a:highlight>
                                          <a:srgbClr val="003300"/>
                                        </a:highlight>
                                        <a:latin typeface="Cambria Math" panose="02040503050406030204" pitchFamily="18" charset="0"/>
                                      </a:rPr>
                                      <m:t>𝒊</m:t>
                                    </m:r>
                                  </m:sub>
                                </m:sSub>
                              </m:oMath>
                            </m:oMathPara>
                          </a14:m>
                          <a:endParaRPr lang="es-CO" sz="2000" b="1" i="0" u="none" strike="noStrike" dirty="0">
                            <a:solidFill>
                              <a:srgbClr val="FFFFFF"/>
                            </a:solidFill>
                            <a:effectLst/>
                            <a:highlight>
                              <a:srgbClr val="003300"/>
                            </a:highlight>
                            <a:latin typeface="Century Gothic" panose="020B0502020202020204" pitchFamily="34" charset="0"/>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extLst>
                      <a:ext uri="{0D108BD9-81ED-4DB2-BD59-A6C34878D82A}">
                        <a16:rowId xmlns:a16="http://schemas.microsoft.com/office/drawing/2014/main" val="1239169974"/>
                      </a:ext>
                    </a:extLst>
                  </a:tr>
                  <a:tr h="301742">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Deuda</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endParaRPr lang="en-CO" sz="1600" b="0" i="0" u="none" strike="noStrike">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endParaRPr lang="en-CO" sz="1600" b="0" i="0" u="none" strike="noStrike">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708190866"/>
                      </a:ext>
                    </a:extLst>
                  </a:tr>
                  <a:tr h="301742">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Equity</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3419907006"/>
                      </a:ext>
                    </a:extLst>
                  </a:tr>
                  <a:tr h="301742">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Total</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endParaRPr lang="en-CO" sz="1600" b="0" i="0" u="none" strike="noStrike" kern="1200" dirty="0">
                            <a:solidFill>
                              <a:srgbClr val="000000"/>
                            </a:solidFill>
                            <a:effectLst/>
                            <a:latin typeface="Century Gothic" panose="020B0502020202020204" pitchFamily="34" charset="0"/>
                            <a:ea typeface="+mn-ea"/>
                            <a:cs typeface="+mn-cs"/>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r>
                            <a:rPr lang="es-CO" sz="1600" b="0" i="0" u="none" strike="noStrike" kern="1200" dirty="0">
                              <a:solidFill>
                                <a:srgbClr val="000000"/>
                              </a:solidFill>
                              <a:effectLst/>
                              <a:latin typeface="Century Gothic" panose="020B0502020202020204" pitchFamily="34" charset="0"/>
                              <a:ea typeface="+mn-ea"/>
                              <a:cs typeface="+mn-cs"/>
                            </a:rPr>
                            <a:t>$ 150.000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endParaRPr lang="es-CO" sz="1600" b="0" i="0" u="none" strike="noStrike" kern="1200" dirty="0">
                            <a:solidFill>
                              <a:srgbClr val="000000"/>
                            </a:solidFill>
                            <a:effectLst/>
                            <a:latin typeface="Century Gothic" panose="020B0502020202020204" pitchFamily="34" charset="0"/>
                            <a:ea typeface="+mn-ea"/>
                            <a:cs typeface="+mn-cs"/>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endParaRPr lang="es-CO" sz="2000" b="0" i="0" u="none" strike="noStrike" dirty="0">
                            <a:solidFill>
                              <a:srgbClr val="000000"/>
                            </a:solidFill>
                            <a:effectLst/>
                            <a:latin typeface="Century Gothic" panose="020B0502020202020204" pitchFamily="34" charset="0"/>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501201235"/>
                      </a:ext>
                    </a:extLst>
                  </a:tr>
                </a:tbl>
              </a:graphicData>
            </a:graphic>
          </p:graphicFrame>
        </mc:Choice>
        <mc:Fallback xmlns="">
          <p:graphicFrame>
            <p:nvGraphicFramePr>
              <p:cNvPr id="6" name="Tabla 1">
                <a:extLst>
                  <a:ext uri="{FF2B5EF4-FFF2-40B4-BE49-F238E27FC236}">
                    <a16:creationId xmlns:a16="http://schemas.microsoft.com/office/drawing/2014/main" id="{F8D5D298-1649-B4E8-0040-D7C0A06A38E1}"/>
                  </a:ext>
                </a:extLst>
              </p:cNvPr>
              <p:cNvGraphicFramePr>
                <a:graphicFrameLocks noGrp="1"/>
              </p:cNvGraphicFramePr>
              <p:nvPr>
                <p:extLst>
                  <p:ext uri="{D42A27DB-BD31-4B8C-83A1-F6EECF244321}">
                    <p14:modId xmlns:p14="http://schemas.microsoft.com/office/powerpoint/2010/main" val="2704461371"/>
                  </p:ext>
                </p:extLst>
              </p:nvPr>
            </p:nvGraphicFramePr>
            <p:xfrm>
              <a:off x="2505802" y="2859374"/>
              <a:ext cx="7180389" cy="1562100"/>
            </p:xfrm>
            <a:graphic>
              <a:graphicData uri="http://schemas.openxmlformats.org/drawingml/2006/table">
                <a:tbl>
                  <a:tblPr firstRow="1" bandRow="1"/>
                  <a:tblGrid>
                    <a:gridCol w="1346762">
                      <a:extLst>
                        <a:ext uri="{9D8B030D-6E8A-4147-A177-3AD203B41FA5}">
                          <a16:colId xmlns:a16="http://schemas.microsoft.com/office/drawing/2014/main" val="753450657"/>
                        </a:ext>
                      </a:extLst>
                    </a:gridCol>
                    <a:gridCol w="1921194">
                      <a:extLst>
                        <a:ext uri="{9D8B030D-6E8A-4147-A177-3AD203B41FA5}">
                          <a16:colId xmlns:a16="http://schemas.microsoft.com/office/drawing/2014/main" val="277443866"/>
                        </a:ext>
                      </a:extLst>
                    </a:gridCol>
                    <a:gridCol w="1491522">
                      <a:extLst>
                        <a:ext uri="{9D8B030D-6E8A-4147-A177-3AD203B41FA5}">
                          <a16:colId xmlns:a16="http://schemas.microsoft.com/office/drawing/2014/main" val="790896557"/>
                        </a:ext>
                      </a:extLst>
                    </a:gridCol>
                    <a:gridCol w="1244183">
                      <a:extLst>
                        <a:ext uri="{9D8B030D-6E8A-4147-A177-3AD203B41FA5}">
                          <a16:colId xmlns:a16="http://schemas.microsoft.com/office/drawing/2014/main" val="3667981493"/>
                        </a:ext>
                      </a:extLst>
                    </a:gridCol>
                    <a:gridCol w="1176728">
                      <a:extLst>
                        <a:ext uri="{9D8B030D-6E8A-4147-A177-3AD203B41FA5}">
                          <a16:colId xmlns:a16="http://schemas.microsoft.com/office/drawing/2014/main" val="2996299436"/>
                        </a:ext>
                      </a:extLst>
                    </a:gridCol>
                  </a:tblGrid>
                  <a:tr h="619125">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Fuente</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Monto Solicitado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Monto Recibido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endParaRPr lang="en-CO"/>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blipFill>
                          <a:blip r:embed="rId2"/>
                          <a:stretch>
                            <a:fillRect l="-509677" t="-12245" r="-1075" b="-177551"/>
                          </a:stretch>
                        </a:blipFill>
                      </a:tcPr>
                    </a:tc>
                    <a:extLst>
                      <a:ext uri="{0D108BD9-81ED-4DB2-BD59-A6C34878D82A}">
                        <a16:rowId xmlns:a16="http://schemas.microsoft.com/office/drawing/2014/main" val="1239169974"/>
                      </a:ext>
                    </a:extLst>
                  </a:tr>
                  <a:tr h="314325">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Deuda</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endParaRPr lang="en-CO" sz="1600" b="0" i="0" u="none" strike="noStrike">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endParaRPr lang="en-CO" sz="1600" b="0" i="0" u="none" strike="noStrike">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708190866"/>
                      </a:ext>
                    </a:extLst>
                  </a:tr>
                  <a:tr h="314325">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Equity</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3419907006"/>
                      </a:ext>
                    </a:extLst>
                  </a:tr>
                  <a:tr h="314325">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Total</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endParaRPr lang="en-CO" sz="1600" b="0" i="0" u="none" strike="noStrike" kern="1200" dirty="0">
                            <a:solidFill>
                              <a:srgbClr val="000000"/>
                            </a:solidFill>
                            <a:effectLst/>
                            <a:latin typeface="Century Gothic" panose="020B0502020202020204" pitchFamily="34" charset="0"/>
                            <a:ea typeface="+mn-ea"/>
                            <a:cs typeface="+mn-cs"/>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r>
                            <a:rPr lang="es-CO" sz="1600" b="0" i="0" u="none" strike="noStrike" kern="1200" dirty="0">
                              <a:solidFill>
                                <a:srgbClr val="000000"/>
                              </a:solidFill>
                              <a:effectLst/>
                              <a:latin typeface="Century Gothic" panose="020B0502020202020204" pitchFamily="34" charset="0"/>
                              <a:ea typeface="+mn-ea"/>
                              <a:cs typeface="+mn-cs"/>
                            </a:rPr>
                            <a:t>$ 150.000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endParaRPr lang="es-CO" sz="1600" b="0" i="0" u="none" strike="noStrike" kern="1200" dirty="0">
                            <a:solidFill>
                              <a:srgbClr val="000000"/>
                            </a:solidFill>
                            <a:effectLst/>
                            <a:latin typeface="Century Gothic" panose="020B0502020202020204" pitchFamily="34" charset="0"/>
                            <a:ea typeface="+mn-ea"/>
                            <a:cs typeface="+mn-cs"/>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endParaRPr lang="es-CO" sz="2000" b="0" i="0" u="none" strike="noStrike" dirty="0">
                            <a:solidFill>
                              <a:srgbClr val="000000"/>
                            </a:solidFill>
                            <a:effectLst/>
                            <a:latin typeface="Century Gothic" panose="020B0502020202020204" pitchFamily="34" charset="0"/>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501201235"/>
                      </a:ext>
                    </a:extLst>
                  </a:tr>
                </a:tbl>
              </a:graphicData>
            </a:graphic>
          </p:graphicFrame>
        </mc:Fallback>
      </mc:AlternateContent>
    </p:spTree>
    <p:extLst>
      <p:ext uri="{BB962C8B-B14F-4D97-AF65-F5344CB8AC3E}">
        <p14:creationId xmlns:p14="http://schemas.microsoft.com/office/powerpoint/2010/main" val="1657318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03193-1CC0-0B60-67AC-EF0E4C6B8293}"/>
              </a:ext>
            </a:extLst>
          </p:cNvPr>
          <p:cNvSpPr>
            <a:spLocks noGrp="1"/>
          </p:cNvSpPr>
          <p:nvPr>
            <p:ph type="title"/>
          </p:nvPr>
        </p:nvSpPr>
        <p:spPr/>
        <p:txBody>
          <a:bodyPr/>
          <a:lstStyle/>
          <a:p>
            <a:r>
              <a:rPr lang="es-ES" dirty="0">
                <a:latin typeface="Century Gothic" panose="020B0502020202020204" pitchFamily="34" charset="0"/>
              </a:rPr>
              <a:t>RESTRICCIONES deuda/</a:t>
            </a:r>
            <a:r>
              <a:rPr lang="es-ES" dirty="0" err="1">
                <a:latin typeface="Century Gothic" panose="020B0502020202020204" pitchFamily="34" charset="0"/>
              </a:rPr>
              <a:t>equity</a:t>
            </a:r>
            <a:r>
              <a:rPr lang="es-ES" dirty="0">
                <a:latin typeface="Century Gothic" panose="020B0502020202020204" pitchFamily="34" charset="0"/>
              </a:rPr>
              <a:t> (d/e)</a:t>
            </a:r>
            <a:endParaRPr lang="es-ES_tradnl" dirty="0"/>
          </a:p>
        </p:txBody>
      </p:sp>
      <p:sp>
        <p:nvSpPr>
          <p:cNvPr id="3" name="Content Placeholder 2">
            <a:extLst>
              <a:ext uri="{FF2B5EF4-FFF2-40B4-BE49-F238E27FC236}">
                <a16:creationId xmlns:a16="http://schemas.microsoft.com/office/drawing/2014/main" id="{A58FCEDC-3B30-D79C-76E8-5598C6E75250}"/>
              </a:ext>
            </a:extLst>
          </p:cNvPr>
          <p:cNvSpPr>
            <a:spLocks noGrp="1"/>
          </p:cNvSpPr>
          <p:nvPr>
            <p:ph idx="1"/>
          </p:nvPr>
        </p:nvSpPr>
        <p:spPr>
          <a:xfrm>
            <a:off x="581190" y="1856772"/>
            <a:ext cx="11029615" cy="1228956"/>
          </a:xfrm>
        </p:spPr>
        <p:txBody>
          <a:bodyPr/>
          <a:lstStyle/>
          <a:p>
            <a:pPr marL="0" indent="0" algn="ctr">
              <a:buNone/>
            </a:pPr>
            <a:r>
              <a:rPr lang="es-ES" dirty="0">
                <a:solidFill>
                  <a:schemeClr val="accent1"/>
                </a:solidFill>
                <a:latin typeface="Century Gothic" panose="020B0502020202020204" pitchFamily="34" charset="0"/>
              </a:rPr>
              <a:t>¿Cuál es el WACC mínimo?</a:t>
            </a:r>
            <a:br>
              <a:rPr lang="es-ES" dirty="0">
                <a:solidFill>
                  <a:schemeClr val="accent1"/>
                </a:solidFill>
                <a:latin typeface="Century Gothic" panose="020B0502020202020204" pitchFamily="34" charset="0"/>
              </a:rPr>
            </a:br>
            <a:r>
              <a:rPr lang="es-ES" dirty="0">
                <a:solidFill>
                  <a:schemeClr val="accent1"/>
                </a:solidFill>
                <a:latin typeface="Century Gothic" panose="020B0502020202020204" pitchFamily="34" charset="0"/>
              </a:rPr>
              <a:t>¿Cuánto se solicita y se recibe de cada fuente de financiación?</a:t>
            </a:r>
          </a:p>
          <a:p>
            <a:endParaRPr lang="es-ES_tradnl" dirty="0"/>
          </a:p>
        </p:txBody>
      </p:sp>
      <p:sp>
        <p:nvSpPr>
          <p:cNvPr id="4" name="Slide Number Placeholder 3">
            <a:extLst>
              <a:ext uri="{FF2B5EF4-FFF2-40B4-BE49-F238E27FC236}">
                <a16:creationId xmlns:a16="http://schemas.microsoft.com/office/drawing/2014/main" id="{74F47C95-B2A7-6F60-A366-ABDD8254A248}"/>
              </a:ext>
            </a:extLst>
          </p:cNvPr>
          <p:cNvSpPr>
            <a:spLocks noGrp="1"/>
          </p:cNvSpPr>
          <p:nvPr>
            <p:ph type="sldNum" sz="quarter" idx="12"/>
          </p:nvPr>
        </p:nvSpPr>
        <p:spPr/>
        <p:txBody>
          <a:bodyPr/>
          <a:lstStyle/>
          <a:p>
            <a:fld id="{D57F1E4F-1CFF-5643-939E-217C01CDF565}" type="slidenum">
              <a:rPr lang="en-US" smtClean="0"/>
              <a:pPr/>
              <a:t>20</a:t>
            </a:fld>
            <a:endParaRPr lang="en-US"/>
          </a:p>
        </p:txBody>
      </p:sp>
      <mc:AlternateContent xmlns:mc="http://schemas.openxmlformats.org/markup-compatibility/2006" xmlns:a14="http://schemas.microsoft.com/office/drawing/2010/main">
        <mc:Choice Requires="a14">
          <p:graphicFrame>
            <p:nvGraphicFramePr>
              <p:cNvPr id="6" name="Tabla 1">
                <a:extLst>
                  <a:ext uri="{FF2B5EF4-FFF2-40B4-BE49-F238E27FC236}">
                    <a16:creationId xmlns:a16="http://schemas.microsoft.com/office/drawing/2014/main" id="{D8982BDD-5BB5-FB7C-2777-16E5BC0C4852}"/>
                  </a:ext>
                </a:extLst>
              </p:cNvPr>
              <p:cNvGraphicFramePr>
                <a:graphicFrameLocks noGrp="1"/>
              </p:cNvGraphicFramePr>
              <p:nvPr>
                <p:extLst>
                  <p:ext uri="{D42A27DB-BD31-4B8C-83A1-F6EECF244321}">
                    <p14:modId xmlns:p14="http://schemas.microsoft.com/office/powerpoint/2010/main" val="2797422399"/>
                  </p:ext>
                </p:extLst>
              </p:nvPr>
            </p:nvGraphicFramePr>
            <p:xfrm>
              <a:off x="2505802" y="2859374"/>
              <a:ext cx="7180389" cy="1562100"/>
            </p:xfrm>
            <a:graphic>
              <a:graphicData uri="http://schemas.openxmlformats.org/drawingml/2006/table">
                <a:tbl>
                  <a:tblPr firstRow="1" bandRow="1"/>
                  <a:tblGrid>
                    <a:gridCol w="1346762">
                      <a:extLst>
                        <a:ext uri="{9D8B030D-6E8A-4147-A177-3AD203B41FA5}">
                          <a16:colId xmlns:a16="http://schemas.microsoft.com/office/drawing/2014/main" val="753450657"/>
                        </a:ext>
                      </a:extLst>
                    </a:gridCol>
                    <a:gridCol w="1921194">
                      <a:extLst>
                        <a:ext uri="{9D8B030D-6E8A-4147-A177-3AD203B41FA5}">
                          <a16:colId xmlns:a16="http://schemas.microsoft.com/office/drawing/2014/main" val="277443866"/>
                        </a:ext>
                      </a:extLst>
                    </a:gridCol>
                    <a:gridCol w="1491522">
                      <a:extLst>
                        <a:ext uri="{9D8B030D-6E8A-4147-A177-3AD203B41FA5}">
                          <a16:colId xmlns:a16="http://schemas.microsoft.com/office/drawing/2014/main" val="790896557"/>
                        </a:ext>
                      </a:extLst>
                    </a:gridCol>
                    <a:gridCol w="1244183">
                      <a:extLst>
                        <a:ext uri="{9D8B030D-6E8A-4147-A177-3AD203B41FA5}">
                          <a16:colId xmlns:a16="http://schemas.microsoft.com/office/drawing/2014/main" val="3667981493"/>
                        </a:ext>
                      </a:extLst>
                    </a:gridCol>
                    <a:gridCol w="1176728">
                      <a:extLst>
                        <a:ext uri="{9D8B030D-6E8A-4147-A177-3AD203B41FA5}">
                          <a16:colId xmlns:a16="http://schemas.microsoft.com/office/drawing/2014/main" val="2996299436"/>
                        </a:ext>
                      </a:extLst>
                    </a:gridCol>
                  </a:tblGrid>
                  <a:tr h="301742">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Fuente</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Monto Solicitado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Monto Recibido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14:m>
                            <m:oMathPara xmlns:m="http://schemas.openxmlformats.org/officeDocument/2006/math">
                              <m:oMathParaPr>
                                <m:jc m:val="centerGroup"/>
                              </m:oMathParaPr>
                              <m:oMath xmlns:m="http://schemas.openxmlformats.org/officeDocument/2006/math">
                                <m:r>
                                  <a:rPr lang="es-ES" sz="2000" b="1" i="1" u="none" strike="noStrike" dirty="0" smtClean="0">
                                    <a:solidFill>
                                      <a:srgbClr val="FFFFFF"/>
                                    </a:solidFill>
                                    <a:effectLst/>
                                    <a:highlight>
                                      <a:srgbClr val="003300"/>
                                    </a:highlight>
                                    <a:latin typeface="Cambria Math" panose="02040503050406030204" pitchFamily="18" charset="0"/>
                                  </a:rPr>
                                  <m:t> </m:t>
                                </m:r>
                                <m:sSub>
                                  <m:sSubPr>
                                    <m:ctrlPr>
                                      <a:rPr lang="es-CO" sz="2000" b="1" i="1" u="none" strike="noStrike" dirty="0" smtClean="0">
                                        <a:solidFill>
                                          <a:srgbClr val="FFFFFF"/>
                                        </a:solidFill>
                                        <a:effectLst/>
                                        <a:highlight>
                                          <a:srgbClr val="003300"/>
                                        </a:highlight>
                                        <a:latin typeface="Cambria Math" panose="02040503050406030204" pitchFamily="18" charset="0"/>
                                      </a:rPr>
                                    </m:ctrlPr>
                                  </m:sSubPr>
                                  <m:e>
                                    <m:r>
                                      <a:rPr lang="es-CO" sz="2000" b="1" i="1" u="none" strike="noStrike" dirty="0" smtClean="0">
                                        <a:solidFill>
                                          <a:srgbClr val="FFFFFF"/>
                                        </a:solidFill>
                                        <a:effectLst/>
                                        <a:highlight>
                                          <a:srgbClr val="003300"/>
                                        </a:highlight>
                                        <a:latin typeface="Cambria Math" panose="02040503050406030204" pitchFamily="18" charset="0"/>
                                      </a:rPr>
                                      <m:t>𝑲</m:t>
                                    </m:r>
                                  </m:e>
                                  <m:sub>
                                    <m:r>
                                      <a:rPr lang="es-CO" sz="2000" b="1" i="1" u="none" strike="noStrike" dirty="0" smtClean="0">
                                        <a:solidFill>
                                          <a:srgbClr val="FFFFFF"/>
                                        </a:solidFill>
                                        <a:effectLst/>
                                        <a:highlight>
                                          <a:srgbClr val="003300"/>
                                        </a:highlight>
                                        <a:latin typeface="Cambria Math" panose="02040503050406030204" pitchFamily="18" charset="0"/>
                                      </a:rPr>
                                      <m:t>𝒊</m:t>
                                    </m:r>
                                  </m:sub>
                                </m:sSub>
                              </m:oMath>
                            </m:oMathPara>
                          </a14:m>
                          <a:endParaRPr lang="es-CO" sz="2000" b="1" i="0" u="none" strike="noStrike" dirty="0">
                            <a:solidFill>
                              <a:srgbClr val="FFFFFF"/>
                            </a:solidFill>
                            <a:effectLst/>
                            <a:highlight>
                              <a:srgbClr val="003300"/>
                            </a:highlight>
                            <a:latin typeface="Century Gothic" panose="020B0502020202020204" pitchFamily="34" charset="0"/>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extLst>
                      <a:ext uri="{0D108BD9-81ED-4DB2-BD59-A6C34878D82A}">
                        <a16:rowId xmlns:a16="http://schemas.microsoft.com/office/drawing/2014/main" val="1239169974"/>
                      </a:ext>
                    </a:extLst>
                  </a:tr>
                  <a:tr h="301742">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Deuda</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r>
                            <a:rPr lang="en-CO" sz="1600" b="0" i="0" u="none" strike="noStrike" dirty="0">
                              <a:solidFill>
                                <a:srgbClr val="000000"/>
                              </a:solidFill>
                              <a:effectLst/>
                              <a:latin typeface="Century Gothic" panose="020B0502020202020204" pitchFamily="34" charset="0"/>
                            </a:rPr>
                            <a:t>$ 112.500</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$ 106.875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a:solidFill>
                                <a:srgbClr val="000000"/>
                              </a:solidFill>
                              <a:effectLst/>
                              <a:latin typeface="Century Gothic" panose="020B0502020202020204" pitchFamily="34" charset="0"/>
                            </a:rPr>
                            <a:t>71,25%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a:solidFill>
                                <a:srgbClr val="000000"/>
                              </a:solidFill>
                              <a:effectLst/>
                              <a:latin typeface="Century Gothic" panose="020B0502020202020204" pitchFamily="34" charset="0"/>
                            </a:rPr>
                            <a:t>2,53%</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708190866"/>
                      </a:ext>
                    </a:extLst>
                  </a:tr>
                  <a:tr h="301742">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Equity</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r>
                            <a:rPr lang="en-CO" sz="1600" b="0" i="0" u="none" strike="noStrike" dirty="0">
                              <a:solidFill>
                                <a:srgbClr val="000000"/>
                              </a:solidFill>
                              <a:effectLst/>
                              <a:latin typeface="Century Gothic" panose="020B0502020202020204" pitchFamily="34" charset="0"/>
                            </a:rPr>
                            <a:t> $   44.005 </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$ 43.125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28,75%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4,75%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3419907006"/>
                      </a:ext>
                    </a:extLst>
                  </a:tr>
                  <a:tr h="301742">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Total</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r>
                            <a:rPr lang="en-CO" sz="1600" b="0" i="0" u="none" strike="noStrike" kern="1200" dirty="0">
                              <a:solidFill>
                                <a:srgbClr val="000000"/>
                              </a:solidFill>
                              <a:effectLst/>
                              <a:latin typeface="Century Gothic" panose="020B0502020202020204" pitchFamily="34" charset="0"/>
                              <a:ea typeface="+mn-ea"/>
                              <a:cs typeface="+mn-cs"/>
                            </a:rPr>
                            <a:t>$ 156.505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r>
                            <a:rPr lang="es-CO" sz="1600" b="0" i="0" u="none" strike="noStrike" kern="1200" dirty="0">
                              <a:solidFill>
                                <a:srgbClr val="000000"/>
                              </a:solidFill>
                              <a:effectLst/>
                              <a:latin typeface="Century Gothic" panose="020B0502020202020204" pitchFamily="34" charset="0"/>
                              <a:ea typeface="+mn-ea"/>
                              <a:cs typeface="+mn-cs"/>
                            </a:rPr>
                            <a:t>$ 150.000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r>
                            <a:rPr lang="es-CO" sz="1600" b="0" i="0" u="none" strike="noStrike" kern="1200" dirty="0">
                              <a:solidFill>
                                <a:srgbClr val="000000"/>
                              </a:solidFill>
                              <a:effectLst/>
                              <a:latin typeface="Century Gothic" panose="020B0502020202020204" pitchFamily="34" charset="0"/>
                              <a:ea typeface="+mn-ea"/>
                              <a:cs typeface="+mn-cs"/>
                            </a:rPr>
                            <a:t>100%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endParaRPr lang="es-CO" sz="2000" b="0" i="0" u="none" strike="noStrike" dirty="0">
                            <a:solidFill>
                              <a:srgbClr val="000000"/>
                            </a:solidFill>
                            <a:effectLst/>
                            <a:latin typeface="Century Gothic" panose="020B0502020202020204" pitchFamily="34" charset="0"/>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501201235"/>
                      </a:ext>
                    </a:extLst>
                  </a:tr>
                </a:tbl>
              </a:graphicData>
            </a:graphic>
          </p:graphicFrame>
        </mc:Choice>
        <mc:Fallback xmlns="">
          <p:graphicFrame>
            <p:nvGraphicFramePr>
              <p:cNvPr id="6" name="Tabla 1">
                <a:extLst>
                  <a:ext uri="{FF2B5EF4-FFF2-40B4-BE49-F238E27FC236}">
                    <a16:creationId xmlns:a16="http://schemas.microsoft.com/office/drawing/2014/main" id="{D8982BDD-5BB5-FB7C-2777-16E5BC0C4852}"/>
                  </a:ext>
                </a:extLst>
              </p:cNvPr>
              <p:cNvGraphicFramePr>
                <a:graphicFrameLocks noGrp="1"/>
              </p:cNvGraphicFramePr>
              <p:nvPr>
                <p:extLst>
                  <p:ext uri="{D42A27DB-BD31-4B8C-83A1-F6EECF244321}">
                    <p14:modId xmlns:p14="http://schemas.microsoft.com/office/powerpoint/2010/main" val="2797422399"/>
                  </p:ext>
                </p:extLst>
              </p:nvPr>
            </p:nvGraphicFramePr>
            <p:xfrm>
              <a:off x="2505802" y="2859374"/>
              <a:ext cx="7180389" cy="1562100"/>
            </p:xfrm>
            <a:graphic>
              <a:graphicData uri="http://schemas.openxmlformats.org/drawingml/2006/table">
                <a:tbl>
                  <a:tblPr firstRow="1" bandRow="1"/>
                  <a:tblGrid>
                    <a:gridCol w="1346762">
                      <a:extLst>
                        <a:ext uri="{9D8B030D-6E8A-4147-A177-3AD203B41FA5}">
                          <a16:colId xmlns:a16="http://schemas.microsoft.com/office/drawing/2014/main" val="753450657"/>
                        </a:ext>
                      </a:extLst>
                    </a:gridCol>
                    <a:gridCol w="1921194">
                      <a:extLst>
                        <a:ext uri="{9D8B030D-6E8A-4147-A177-3AD203B41FA5}">
                          <a16:colId xmlns:a16="http://schemas.microsoft.com/office/drawing/2014/main" val="277443866"/>
                        </a:ext>
                      </a:extLst>
                    </a:gridCol>
                    <a:gridCol w="1491522">
                      <a:extLst>
                        <a:ext uri="{9D8B030D-6E8A-4147-A177-3AD203B41FA5}">
                          <a16:colId xmlns:a16="http://schemas.microsoft.com/office/drawing/2014/main" val="790896557"/>
                        </a:ext>
                      </a:extLst>
                    </a:gridCol>
                    <a:gridCol w="1244183">
                      <a:extLst>
                        <a:ext uri="{9D8B030D-6E8A-4147-A177-3AD203B41FA5}">
                          <a16:colId xmlns:a16="http://schemas.microsoft.com/office/drawing/2014/main" val="3667981493"/>
                        </a:ext>
                      </a:extLst>
                    </a:gridCol>
                    <a:gridCol w="1176728">
                      <a:extLst>
                        <a:ext uri="{9D8B030D-6E8A-4147-A177-3AD203B41FA5}">
                          <a16:colId xmlns:a16="http://schemas.microsoft.com/office/drawing/2014/main" val="2996299436"/>
                        </a:ext>
                      </a:extLst>
                    </a:gridCol>
                  </a:tblGrid>
                  <a:tr h="619125">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Fuente</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Monto Solicitado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Monto Recibido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endParaRPr lang="en-CO"/>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blipFill>
                          <a:blip r:embed="rId2"/>
                          <a:stretch>
                            <a:fillRect l="-509677" t="-12245" r="-1075" b="-177551"/>
                          </a:stretch>
                        </a:blipFill>
                      </a:tcPr>
                    </a:tc>
                    <a:extLst>
                      <a:ext uri="{0D108BD9-81ED-4DB2-BD59-A6C34878D82A}">
                        <a16:rowId xmlns:a16="http://schemas.microsoft.com/office/drawing/2014/main" val="1239169974"/>
                      </a:ext>
                    </a:extLst>
                  </a:tr>
                  <a:tr h="314325">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Deuda</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r>
                            <a:rPr lang="en-CO" sz="1600" b="0" i="0" u="none" strike="noStrike" dirty="0">
                              <a:solidFill>
                                <a:srgbClr val="000000"/>
                              </a:solidFill>
                              <a:effectLst/>
                              <a:latin typeface="Century Gothic" panose="020B0502020202020204" pitchFamily="34" charset="0"/>
                            </a:rPr>
                            <a:t>$ 112.500</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$ 106.875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a:solidFill>
                                <a:srgbClr val="000000"/>
                              </a:solidFill>
                              <a:effectLst/>
                              <a:latin typeface="Century Gothic" panose="020B0502020202020204" pitchFamily="34" charset="0"/>
                            </a:rPr>
                            <a:t>71,25%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a:solidFill>
                                <a:srgbClr val="000000"/>
                              </a:solidFill>
                              <a:effectLst/>
                              <a:latin typeface="Century Gothic" panose="020B0502020202020204" pitchFamily="34" charset="0"/>
                            </a:rPr>
                            <a:t>2,53%</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708190866"/>
                      </a:ext>
                    </a:extLst>
                  </a:tr>
                  <a:tr h="314325">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Equity</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r>
                            <a:rPr lang="en-CO" sz="1600" b="0" i="0" u="none" strike="noStrike" dirty="0">
                              <a:solidFill>
                                <a:srgbClr val="000000"/>
                              </a:solidFill>
                              <a:effectLst/>
                              <a:latin typeface="Century Gothic" panose="020B0502020202020204" pitchFamily="34" charset="0"/>
                            </a:rPr>
                            <a:t> $   44.005 </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$ 43.125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28,75%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4,75%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3419907006"/>
                      </a:ext>
                    </a:extLst>
                  </a:tr>
                  <a:tr h="314325">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Total</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r>
                            <a:rPr lang="en-CO" sz="1600" b="0" i="0" u="none" strike="noStrike" kern="1200" dirty="0">
                              <a:solidFill>
                                <a:srgbClr val="000000"/>
                              </a:solidFill>
                              <a:effectLst/>
                              <a:latin typeface="Century Gothic" panose="020B0502020202020204" pitchFamily="34" charset="0"/>
                              <a:ea typeface="+mn-ea"/>
                              <a:cs typeface="+mn-cs"/>
                            </a:rPr>
                            <a:t>$ 156.505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r>
                            <a:rPr lang="es-CO" sz="1600" b="0" i="0" u="none" strike="noStrike" kern="1200" dirty="0">
                              <a:solidFill>
                                <a:srgbClr val="000000"/>
                              </a:solidFill>
                              <a:effectLst/>
                              <a:latin typeface="Century Gothic" panose="020B0502020202020204" pitchFamily="34" charset="0"/>
                              <a:ea typeface="+mn-ea"/>
                              <a:cs typeface="+mn-cs"/>
                            </a:rPr>
                            <a:t>$ 150.000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r>
                            <a:rPr lang="es-CO" sz="1600" b="0" i="0" u="none" strike="noStrike" kern="1200" dirty="0">
                              <a:solidFill>
                                <a:srgbClr val="000000"/>
                              </a:solidFill>
                              <a:effectLst/>
                              <a:latin typeface="Century Gothic" panose="020B0502020202020204" pitchFamily="34" charset="0"/>
                              <a:ea typeface="+mn-ea"/>
                              <a:cs typeface="+mn-cs"/>
                            </a:rPr>
                            <a:t>100%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endParaRPr lang="es-CO" sz="2000" b="0" i="0" u="none" strike="noStrike" dirty="0">
                            <a:solidFill>
                              <a:srgbClr val="000000"/>
                            </a:solidFill>
                            <a:effectLst/>
                            <a:latin typeface="Century Gothic" panose="020B0502020202020204" pitchFamily="34" charset="0"/>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501201235"/>
                      </a:ext>
                    </a:extLst>
                  </a:tr>
                </a:tbl>
              </a:graphicData>
            </a:graphic>
          </p:graphicFrame>
        </mc:Fallback>
      </mc:AlternateContent>
      <p:graphicFrame>
        <p:nvGraphicFramePr>
          <p:cNvPr id="8" name="Table 7">
            <a:extLst>
              <a:ext uri="{FF2B5EF4-FFF2-40B4-BE49-F238E27FC236}">
                <a16:creationId xmlns:a16="http://schemas.microsoft.com/office/drawing/2014/main" id="{1059AF91-5D22-0F16-6628-8E5953F587AB}"/>
              </a:ext>
            </a:extLst>
          </p:cNvPr>
          <p:cNvGraphicFramePr>
            <a:graphicFrameLocks noGrp="1"/>
          </p:cNvGraphicFramePr>
          <p:nvPr>
            <p:extLst>
              <p:ext uri="{D42A27DB-BD31-4B8C-83A1-F6EECF244321}">
                <p14:modId xmlns:p14="http://schemas.microsoft.com/office/powerpoint/2010/main" val="2843175065"/>
              </p:ext>
            </p:extLst>
          </p:nvPr>
        </p:nvGraphicFramePr>
        <p:xfrm>
          <a:off x="4511935" y="6052995"/>
          <a:ext cx="3860071" cy="343218"/>
        </p:xfrm>
        <a:graphic>
          <a:graphicData uri="http://schemas.openxmlformats.org/drawingml/2006/table">
            <a:tbl>
              <a:tblPr firstCol="1">
                <a:tableStyleId>{5C22544A-7EE6-4342-B048-85BDC9FD1C3A}</a:tableStyleId>
              </a:tblPr>
              <a:tblGrid>
                <a:gridCol w="1328730">
                  <a:extLst>
                    <a:ext uri="{9D8B030D-6E8A-4147-A177-3AD203B41FA5}">
                      <a16:colId xmlns:a16="http://schemas.microsoft.com/office/drawing/2014/main" val="907170368"/>
                    </a:ext>
                  </a:extLst>
                </a:gridCol>
                <a:gridCol w="796383">
                  <a:extLst>
                    <a:ext uri="{9D8B030D-6E8A-4147-A177-3AD203B41FA5}">
                      <a16:colId xmlns:a16="http://schemas.microsoft.com/office/drawing/2014/main" val="2011985849"/>
                    </a:ext>
                  </a:extLst>
                </a:gridCol>
                <a:gridCol w="1734958">
                  <a:extLst>
                    <a:ext uri="{9D8B030D-6E8A-4147-A177-3AD203B41FA5}">
                      <a16:colId xmlns:a16="http://schemas.microsoft.com/office/drawing/2014/main" val="1869730178"/>
                    </a:ext>
                  </a:extLst>
                </a:gridCol>
              </a:tblGrid>
              <a:tr h="343218">
                <a:tc>
                  <a:txBody>
                    <a:bodyPr/>
                    <a:lstStyle/>
                    <a:p>
                      <a:pPr algn="ctr" fontAlgn="b"/>
                      <a:r>
                        <a:rPr lang="en-US" sz="1600" b="1" i="0" u="none" strike="noStrike" kern="1200" dirty="0">
                          <a:solidFill>
                            <a:schemeClr val="bg1"/>
                          </a:solidFill>
                          <a:effectLst/>
                          <a:latin typeface="Century Gothic" panose="020B0502020202020204" pitchFamily="34" charset="0"/>
                          <a:ea typeface="+mn-ea"/>
                          <a:cs typeface="+mn-cs"/>
                        </a:rPr>
                        <a:t>WACC</a:t>
                      </a:r>
                    </a:p>
                  </a:txBody>
                  <a:tcPr marL="9525" marR="9525" marT="952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O" sz="1600" b="0" i="0" u="none" strike="noStrike" kern="1200" dirty="0">
                          <a:solidFill>
                            <a:srgbClr val="000000"/>
                          </a:solidFill>
                          <a:effectLst/>
                          <a:latin typeface="Century Gothic" panose="020B0502020202020204" pitchFamily="34" charset="0"/>
                          <a:ea typeface="+mn-ea"/>
                          <a:cs typeface="+mn-cs"/>
                        </a:rPr>
                        <a:t>3,15%</a:t>
                      </a:r>
                    </a:p>
                  </a:txBody>
                  <a:tcPr marL="9525" marR="9525" marT="9525" marB="0" anchor="b">
                    <a:lnL w="12700" cap="flat" cmpd="sng" algn="ctr">
                      <a:noFill/>
                      <a:prstDash val="solid"/>
                      <a:round/>
                      <a:headEnd type="none" w="med" len="med"/>
                      <a:tailEnd type="none" w="med" len="med"/>
                    </a:lnL>
                    <a:solidFill>
                      <a:schemeClr val="bg1"/>
                    </a:solidFill>
                  </a:tcPr>
                </a:tc>
                <a:tc>
                  <a:txBody>
                    <a:bodyPr/>
                    <a:lstStyle/>
                    <a:p>
                      <a:pPr algn="l" fontAlgn="b"/>
                      <a:r>
                        <a:rPr lang="en-US" sz="1600" b="0" i="0" u="none" strike="noStrike" kern="1200" dirty="0">
                          <a:solidFill>
                            <a:srgbClr val="000000"/>
                          </a:solidFill>
                          <a:effectLst/>
                          <a:latin typeface="Century Gothic" panose="020B0502020202020204" pitchFamily="34" charset="0"/>
                          <a:ea typeface="+mn-ea"/>
                          <a:cs typeface="+mn-cs"/>
                        </a:rPr>
                        <a:t>TV</a:t>
                      </a:r>
                    </a:p>
                  </a:txBody>
                  <a:tcPr marL="9525" marR="9525" marT="9525" marB="0" anchor="b">
                    <a:solidFill>
                      <a:schemeClr val="bg1"/>
                    </a:solidFill>
                  </a:tcPr>
                </a:tc>
                <a:extLst>
                  <a:ext uri="{0D108BD9-81ED-4DB2-BD59-A6C34878D82A}">
                    <a16:rowId xmlns:a16="http://schemas.microsoft.com/office/drawing/2014/main" val="1175558110"/>
                  </a:ext>
                </a:extLst>
              </a:tr>
            </a:tbl>
          </a:graphicData>
        </a:graphic>
      </p:graphicFrame>
      <mc:AlternateContent xmlns:mc="http://schemas.openxmlformats.org/markup-compatibility/2006" xmlns:a14="http://schemas.microsoft.com/office/drawing/2010/main">
        <mc:Choice Requires="a14">
          <p:sp>
            <p:nvSpPr>
              <p:cNvPr id="10" name="6 CuadroTexto">
                <a:extLst>
                  <a:ext uri="{FF2B5EF4-FFF2-40B4-BE49-F238E27FC236}">
                    <a16:creationId xmlns:a16="http://schemas.microsoft.com/office/drawing/2014/main" id="{827E1E15-0433-6403-9723-06C2E0E0BDFA}"/>
                  </a:ext>
                </a:extLst>
              </p:cNvPr>
              <p:cNvSpPr txBox="1"/>
              <p:nvPr/>
            </p:nvSpPr>
            <p:spPr>
              <a:xfrm>
                <a:off x="2015693" y="5260437"/>
                <a:ext cx="729058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CO" sz="2800" i="1" smtClean="0">
                          <a:latin typeface="Cambria Math"/>
                        </a:rPr>
                        <m:t>𝑊𝐴𝐶𝐶</m:t>
                      </m:r>
                      <m:r>
                        <a:rPr lang="es-CO" sz="2800" i="1" smtClean="0">
                          <a:latin typeface="Cambria Math"/>
                        </a:rPr>
                        <m:t>=71,25% ∗2,53%+28,75%∗4,75%</m:t>
                      </m:r>
                    </m:oMath>
                  </m:oMathPara>
                </a14:m>
                <a:endParaRPr lang="es-CO" sz="2800" dirty="0"/>
              </a:p>
            </p:txBody>
          </p:sp>
        </mc:Choice>
        <mc:Fallback xmlns="">
          <p:sp>
            <p:nvSpPr>
              <p:cNvPr id="10" name="6 CuadroTexto">
                <a:extLst>
                  <a:ext uri="{FF2B5EF4-FFF2-40B4-BE49-F238E27FC236}">
                    <a16:creationId xmlns:a16="http://schemas.microsoft.com/office/drawing/2014/main" id="{827E1E15-0433-6403-9723-06C2E0E0BDFA}"/>
                  </a:ext>
                </a:extLst>
              </p:cNvPr>
              <p:cNvSpPr txBox="1">
                <a:spLocks noRot="1" noChangeAspect="1" noMove="1" noResize="1" noEditPoints="1" noAdjustHandles="1" noChangeArrowheads="1" noChangeShapeType="1" noTextEdit="1"/>
              </p:cNvSpPr>
              <p:nvPr/>
            </p:nvSpPr>
            <p:spPr>
              <a:xfrm>
                <a:off x="2015693" y="5260437"/>
                <a:ext cx="7290586" cy="523220"/>
              </a:xfrm>
              <a:prstGeom prst="rect">
                <a:avLst/>
              </a:prstGeom>
              <a:blipFill>
                <a:blip r:embed="rId3"/>
                <a:stretch>
                  <a:fillRect b="-23810"/>
                </a:stretch>
              </a:blipFill>
            </p:spPr>
            <p:txBody>
              <a:bodyPr/>
              <a:lstStyle/>
              <a:p>
                <a:r>
                  <a:rPr lang="es-ES_tradnl">
                    <a:noFill/>
                  </a:rPr>
                  <a:t> </a:t>
                </a:r>
              </a:p>
            </p:txBody>
          </p:sp>
        </mc:Fallback>
      </mc:AlternateContent>
      <p:sp>
        <p:nvSpPr>
          <p:cNvPr id="12" name="TextBox 11">
            <a:extLst>
              <a:ext uri="{FF2B5EF4-FFF2-40B4-BE49-F238E27FC236}">
                <a16:creationId xmlns:a16="http://schemas.microsoft.com/office/drawing/2014/main" id="{20DA385A-23F1-88EA-137E-5C183947A385}"/>
              </a:ext>
            </a:extLst>
          </p:cNvPr>
          <p:cNvSpPr txBox="1"/>
          <p:nvPr/>
        </p:nvSpPr>
        <p:spPr>
          <a:xfrm>
            <a:off x="2344087" y="4529434"/>
            <a:ext cx="6097248" cy="646331"/>
          </a:xfrm>
          <a:prstGeom prst="rect">
            <a:avLst/>
          </a:prstGeom>
          <a:noFill/>
        </p:spPr>
        <p:txBody>
          <a:bodyPr wrap="square">
            <a:spAutoFit/>
          </a:bodyPr>
          <a:lstStyle/>
          <a:p>
            <a:pPr marL="0" indent="0" algn="ctr">
              <a:buNone/>
            </a:pPr>
            <a:br>
              <a:rPr lang="es-ES" dirty="0">
                <a:solidFill>
                  <a:schemeClr val="accent1"/>
                </a:solidFill>
                <a:latin typeface="Century Gothic" panose="020B0502020202020204" pitchFamily="34" charset="0"/>
              </a:rPr>
            </a:br>
            <a:r>
              <a:rPr lang="es-ES" dirty="0">
                <a:solidFill>
                  <a:schemeClr val="accent1"/>
                </a:solidFill>
                <a:latin typeface="Century Gothic" panose="020B0502020202020204" pitchFamily="34" charset="0"/>
              </a:rPr>
              <a:t>Ahora podemos estimar el WACC</a:t>
            </a:r>
          </a:p>
        </p:txBody>
      </p:sp>
    </p:spTree>
    <p:extLst>
      <p:ext uri="{BB962C8B-B14F-4D97-AF65-F5344CB8AC3E}">
        <p14:creationId xmlns:p14="http://schemas.microsoft.com/office/powerpoint/2010/main" val="1810554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8D3AE-A4F1-11A1-B041-275CEA7B5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D75D2D-58ED-F0B0-2619-AC101D18BE11}"/>
              </a:ext>
            </a:extLst>
          </p:cNvPr>
          <p:cNvSpPr>
            <a:spLocks noGrp="1"/>
          </p:cNvSpPr>
          <p:nvPr>
            <p:ph type="title"/>
          </p:nvPr>
        </p:nvSpPr>
        <p:spPr/>
        <p:txBody>
          <a:bodyPr/>
          <a:lstStyle/>
          <a:p>
            <a:r>
              <a:rPr lang="es-ES" dirty="0">
                <a:latin typeface="Century Gothic" panose="020B0502020202020204" pitchFamily="34" charset="0"/>
              </a:rPr>
              <a:t>RESTRICCIONES deuda/</a:t>
            </a:r>
            <a:r>
              <a:rPr lang="es-ES" dirty="0" err="1">
                <a:latin typeface="Century Gothic" panose="020B0502020202020204" pitchFamily="34" charset="0"/>
              </a:rPr>
              <a:t>equity</a:t>
            </a:r>
            <a:r>
              <a:rPr lang="es-ES" dirty="0">
                <a:latin typeface="Century Gothic" panose="020B0502020202020204" pitchFamily="34" charset="0"/>
              </a:rPr>
              <a:t> (d/e)</a:t>
            </a:r>
            <a:endParaRPr lang="es-ES_tradnl" dirty="0"/>
          </a:p>
        </p:txBody>
      </p:sp>
      <p:sp>
        <p:nvSpPr>
          <p:cNvPr id="3" name="Content Placeholder 2">
            <a:extLst>
              <a:ext uri="{FF2B5EF4-FFF2-40B4-BE49-F238E27FC236}">
                <a16:creationId xmlns:a16="http://schemas.microsoft.com/office/drawing/2014/main" id="{4FEA9699-EF4E-BF38-5E69-E65CC0097939}"/>
              </a:ext>
            </a:extLst>
          </p:cNvPr>
          <p:cNvSpPr>
            <a:spLocks noGrp="1"/>
          </p:cNvSpPr>
          <p:nvPr>
            <p:ph idx="1"/>
          </p:nvPr>
        </p:nvSpPr>
        <p:spPr>
          <a:xfrm>
            <a:off x="581190" y="1856772"/>
            <a:ext cx="11029615" cy="1228956"/>
          </a:xfrm>
        </p:spPr>
        <p:txBody>
          <a:bodyPr/>
          <a:lstStyle/>
          <a:p>
            <a:pPr marL="0" indent="0" algn="ctr">
              <a:buNone/>
            </a:pPr>
            <a:r>
              <a:rPr lang="es-ES" dirty="0">
                <a:solidFill>
                  <a:schemeClr val="accent1"/>
                </a:solidFill>
                <a:latin typeface="Century Gothic" panose="020B0502020202020204" pitchFamily="34" charset="0"/>
              </a:rPr>
              <a:t>¿Qué pasa si hay una restricción de D/E?</a:t>
            </a:r>
          </a:p>
          <a:p>
            <a:pPr marL="0" indent="0" algn="ctr">
              <a:buNone/>
            </a:pPr>
            <a:r>
              <a:rPr lang="es-ES" dirty="0">
                <a:solidFill>
                  <a:schemeClr val="accent1"/>
                </a:solidFill>
                <a:latin typeface="Century Gothic" panose="020B0502020202020204" pitchFamily="34" charset="0"/>
              </a:rPr>
              <a:t>Por ejemplo, de 1,5</a:t>
            </a:r>
          </a:p>
          <a:p>
            <a:endParaRPr lang="es-ES_tradnl" dirty="0"/>
          </a:p>
        </p:txBody>
      </p:sp>
      <p:sp>
        <p:nvSpPr>
          <p:cNvPr id="4" name="Slide Number Placeholder 3">
            <a:extLst>
              <a:ext uri="{FF2B5EF4-FFF2-40B4-BE49-F238E27FC236}">
                <a16:creationId xmlns:a16="http://schemas.microsoft.com/office/drawing/2014/main" id="{3BF797EA-56E8-C48B-7B9F-F0D12D75FC1A}"/>
              </a:ext>
            </a:extLst>
          </p:cNvPr>
          <p:cNvSpPr>
            <a:spLocks noGrp="1"/>
          </p:cNvSpPr>
          <p:nvPr>
            <p:ph type="sldNum" sz="quarter" idx="12"/>
          </p:nvPr>
        </p:nvSpPr>
        <p:spPr/>
        <p:txBody>
          <a:bodyPr/>
          <a:lstStyle/>
          <a:p>
            <a:fld id="{D57F1E4F-1CFF-5643-939E-217C01CDF565}" type="slidenum">
              <a:rPr lang="en-US" smtClean="0"/>
              <a:pPr/>
              <a:t>21</a:t>
            </a:fld>
            <a:endParaRPr lang="en-US"/>
          </a:p>
        </p:txBody>
      </p:sp>
      <mc:AlternateContent xmlns:mc="http://schemas.openxmlformats.org/markup-compatibility/2006" xmlns:a14="http://schemas.microsoft.com/office/drawing/2010/main">
        <mc:Choice Requires="a14">
          <p:graphicFrame>
            <p:nvGraphicFramePr>
              <p:cNvPr id="6" name="Tabla 1">
                <a:extLst>
                  <a:ext uri="{FF2B5EF4-FFF2-40B4-BE49-F238E27FC236}">
                    <a16:creationId xmlns:a16="http://schemas.microsoft.com/office/drawing/2014/main" id="{C81AA22A-70D6-291F-EF7E-45DF700020C3}"/>
                  </a:ext>
                </a:extLst>
              </p:cNvPr>
              <p:cNvGraphicFramePr>
                <a:graphicFrameLocks noGrp="1"/>
              </p:cNvGraphicFramePr>
              <p:nvPr>
                <p:extLst>
                  <p:ext uri="{D42A27DB-BD31-4B8C-83A1-F6EECF244321}">
                    <p14:modId xmlns:p14="http://schemas.microsoft.com/office/powerpoint/2010/main" val="2122778138"/>
                  </p:ext>
                </p:extLst>
              </p:nvPr>
            </p:nvGraphicFramePr>
            <p:xfrm>
              <a:off x="2505802" y="2859374"/>
              <a:ext cx="7180389" cy="1562100"/>
            </p:xfrm>
            <a:graphic>
              <a:graphicData uri="http://schemas.openxmlformats.org/drawingml/2006/table">
                <a:tbl>
                  <a:tblPr firstRow="1" bandRow="1"/>
                  <a:tblGrid>
                    <a:gridCol w="1346762">
                      <a:extLst>
                        <a:ext uri="{9D8B030D-6E8A-4147-A177-3AD203B41FA5}">
                          <a16:colId xmlns:a16="http://schemas.microsoft.com/office/drawing/2014/main" val="753450657"/>
                        </a:ext>
                      </a:extLst>
                    </a:gridCol>
                    <a:gridCol w="1921194">
                      <a:extLst>
                        <a:ext uri="{9D8B030D-6E8A-4147-A177-3AD203B41FA5}">
                          <a16:colId xmlns:a16="http://schemas.microsoft.com/office/drawing/2014/main" val="277443866"/>
                        </a:ext>
                      </a:extLst>
                    </a:gridCol>
                    <a:gridCol w="1518957">
                      <a:extLst>
                        <a:ext uri="{9D8B030D-6E8A-4147-A177-3AD203B41FA5}">
                          <a16:colId xmlns:a16="http://schemas.microsoft.com/office/drawing/2014/main" val="790896557"/>
                        </a:ext>
                      </a:extLst>
                    </a:gridCol>
                    <a:gridCol w="1216748">
                      <a:extLst>
                        <a:ext uri="{9D8B030D-6E8A-4147-A177-3AD203B41FA5}">
                          <a16:colId xmlns:a16="http://schemas.microsoft.com/office/drawing/2014/main" val="3667981493"/>
                        </a:ext>
                      </a:extLst>
                    </a:gridCol>
                    <a:gridCol w="1176728">
                      <a:extLst>
                        <a:ext uri="{9D8B030D-6E8A-4147-A177-3AD203B41FA5}">
                          <a16:colId xmlns:a16="http://schemas.microsoft.com/office/drawing/2014/main" val="2996299436"/>
                        </a:ext>
                      </a:extLst>
                    </a:gridCol>
                  </a:tblGrid>
                  <a:tr h="301742">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Fuente</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Monto Solicitado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Monto Recibido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14:m>
                            <m:oMathPara xmlns:m="http://schemas.openxmlformats.org/officeDocument/2006/math">
                              <m:oMathParaPr>
                                <m:jc m:val="centerGroup"/>
                              </m:oMathParaPr>
                              <m:oMath xmlns:m="http://schemas.openxmlformats.org/officeDocument/2006/math">
                                <m:r>
                                  <a:rPr lang="es-ES" sz="2000" b="1" i="1" u="none" strike="noStrike" dirty="0" smtClean="0">
                                    <a:solidFill>
                                      <a:srgbClr val="FFFFFF"/>
                                    </a:solidFill>
                                    <a:effectLst/>
                                    <a:highlight>
                                      <a:srgbClr val="003300"/>
                                    </a:highlight>
                                    <a:latin typeface="Cambria Math" panose="02040503050406030204" pitchFamily="18" charset="0"/>
                                  </a:rPr>
                                  <m:t> </m:t>
                                </m:r>
                                <m:sSub>
                                  <m:sSubPr>
                                    <m:ctrlPr>
                                      <a:rPr lang="es-CO" sz="2000" b="1" i="1" u="none" strike="noStrike" dirty="0" smtClean="0">
                                        <a:solidFill>
                                          <a:srgbClr val="FFFFFF"/>
                                        </a:solidFill>
                                        <a:effectLst/>
                                        <a:highlight>
                                          <a:srgbClr val="003300"/>
                                        </a:highlight>
                                        <a:latin typeface="Cambria Math" panose="02040503050406030204" pitchFamily="18" charset="0"/>
                                      </a:rPr>
                                    </m:ctrlPr>
                                  </m:sSubPr>
                                  <m:e>
                                    <m:r>
                                      <a:rPr lang="es-CO" sz="2000" b="1" i="1" u="none" strike="noStrike" dirty="0" smtClean="0">
                                        <a:solidFill>
                                          <a:srgbClr val="FFFFFF"/>
                                        </a:solidFill>
                                        <a:effectLst/>
                                        <a:highlight>
                                          <a:srgbClr val="003300"/>
                                        </a:highlight>
                                        <a:latin typeface="Cambria Math" panose="02040503050406030204" pitchFamily="18" charset="0"/>
                                      </a:rPr>
                                      <m:t>𝑲</m:t>
                                    </m:r>
                                  </m:e>
                                  <m:sub>
                                    <m:r>
                                      <a:rPr lang="es-CO" sz="2000" b="1" i="1" u="none" strike="noStrike" dirty="0" smtClean="0">
                                        <a:solidFill>
                                          <a:srgbClr val="FFFFFF"/>
                                        </a:solidFill>
                                        <a:effectLst/>
                                        <a:highlight>
                                          <a:srgbClr val="003300"/>
                                        </a:highlight>
                                        <a:latin typeface="Cambria Math" panose="02040503050406030204" pitchFamily="18" charset="0"/>
                                      </a:rPr>
                                      <m:t>𝒊</m:t>
                                    </m:r>
                                  </m:sub>
                                </m:sSub>
                              </m:oMath>
                            </m:oMathPara>
                          </a14:m>
                          <a:endParaRPr lang="es-CO" sz="2000" b="1" i="0" u="none" strike="noStrike" dirty="0">
                            <a:solidFill>
                              <a:srgbClr val="FFFFFF"/>
                            </a:solidFill>
                            <a:effectLst/>
                            <a:highlight>
                              <a:srgbClr val="003300"/>
                            </a:highlight>
                            <a:latin typeface="Century Gothic" panose="020B0502020202020204" pitchFamily="34" charset="0"/>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extLst>
                      <a:ext uri="{0D108BD9-81ED-4DB2-BD59-A6C34878D82A}">
                        <a16:rowId xmlns:a16="http://schemas.microsoft.com/office/drawing/2014/main" val="1239169974"/>
                      </a:ext>
                    </a:extLst>
                  </a:tr>
                  <a:tr h="301742">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Deuda</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60%</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2,53%</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708190866"/>
                      </a:ext>
                    </a:extLst>
                  </a:tr>
                  <a:tr h="301742">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Equity</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40%</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4,75%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3419907006"/>
                      </a:ext>
                    </a:extLst>
                  </a:tr>
                  <a:tr h="301742">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Total</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endParaRPr lang="en-CO" sz="1600" b="0" i="0" u="none" strike="noStrike" kern="1200" dirty="0">
                            <a:solidFill>
                              <a:srgbClr val="000000"/>
                            </a:solidFill>
                            <a:effectLst/>
                            <a:latin typeface="Century Gothic" panose="020B0502020202020204" pitchFamily="34" charset="0"/>
                            <a:ea typeface="+mn-ea"/>
                            <a:cs typeface="+mn-cs"/>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r>
                            <a:rPr lang="es-CO" sz="1600" b="0" i="0" u="none" strike="noStrike" kern="1200" dirty="0">
                              <a:solidFill>
                                <a:srgbClr val="000000"/>
                              </a:solidFill>
                              <a:effectLst/>
                              <a:latin typeface="Century Gothic" panose="020B0502020202020204" pitchFamily="34" charset="0"/>
                              <a:ea typeface="+mn-ea"/>
                              <a:cs typeface="+mn-cs"/>
                            </a:rPr>
                            <a:t>$ 150.000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r>
                            <a:rPr lang="es-CO" sz="1600" b="0" i="0" u="none" strike="noStrike" kern="1200" dirty="0">
                              <a:solidFill>
                                <a:srgbClr val="000000"/>
                              </a:solidFill>
                              <a:effectLst/>
                              <a:latin typeface="Century Gothic" panose="020B0502020202020204" pitchFamily="34" charset="0"/>
                              <a:ea typeface="+mn-ea"/>
                              <a:cs typeface="+mn-cs"/>
                            </a:rPr>
                            <a:t>100%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endParaRPr lang="es-CO" sz="2000" b="0" i="0" u="none" strike="noStrike" dirty="0">
                            <a:solidFill>
                              <a:srgbClr val="000000"/>
                            </a:solidFill>
                            <a:effectLst/>
                            <a:latin typeface="Century Gothic" panose="020B0502020202020204" pitchFamily="34" charset="0"/>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501201235"/>
                      </a:ext>
                    </a:extLst>
                  </a:tr>
                </a:tbl>
              </a:graphicData>
            </a:graphic>
          </p:graphicFrame>
        </mc:Choice>
        <mc:Fallback xmlns="">
          <p:graphicFrame>
            <p:nvGraphicFramePr>
              <p:cNvPr id="6" name="Tabla 1">
                <a:extLst>
                  <a:ext uri="{FF2B5EF4-FFF2-40B4-BE49-F238E27FC236}">
                    <a16:creationId xmlns:a16="http://schemas.microsoft.com/office/drawing/2014/main" id="{C81AA22A-70D6-291F-EF7E-45DF700020C3}"/>
                  </a:ext>
                </a:extLst>
              </p:cNvPr>
              <p:cNvGraphicFramePr>
                <a:graphicFrameLocks noGrp="1"/>
              </p:cNvGraphicFramePr>
              <p:nvPr>
                <p:extLst>
                  <p:ext uri="{D42A27DB-BD31-4B8C-83A1-F6EECF244321}">
                    <p14:modId xmlns:p14="http://schemas.microsoft.com/office/powerpoint/2010/main" val="2122778138"/>
                  </p:ext>
                </p:extLst>
              </p:nvPr>
            </p:nvGraphicFramePr>
            <p:xfrm>
              <a:off x="2505802" y="2859374"/>
              <a:ext cx="7180389" cy="1562100"/>
            </p:xfrm>
            <a:graphic>
              <a:graphicData uri="http://schemas.openxmlformats.org/drawingml/2006/table">
                <a:tbl>
                  <a:tblPr firstRow="1" bandRow="1"/>
                  <a:tblGrid>
                    <a:gridCol w="1346762">
                      <a:extLst>
                        <a:ext uri="{9D8B030D-6E8A-4147-A177-3AD203B41FA5}">
                          <a16:colId xmlns:a16="http://schemas.microsoft.com/office/drawing/2014/main" val="753450657"/>
                        </a:ext>
                      </a:extLst>
                    </a:gridCol>
                    <a:gridCol w="1921194">
                      <a:extLst>
                        <a:ext uri="{9D8B030D-6E8A-4147-A177-3AD203B41FA5}">
                          <a16:colId xmlns:a16="http://schemas.microsoft.com/office/drawing/2014/main" val="277443866"/>
                        </a:ext>
                      </a:extLst>
                    </a:gridCol>
                    <a:gridCol w="1518957">
                      <a:extLst>
                        <a:ext uri="{9D8B030D-6E8A-4147-A177-3AD203B41FA5}">
                          <a16:colId xmlns:a16="http://schemas.microsoft.com/office/drawing/2014/main" val="790896557"/>
                        </a:ext>
                      </a:extLst>
                    </a:gridCol>
                    <a:gridCol w="1216748">
                      <a:extLst>
                        <a:ext uri="{9D8B030D-6E8A-4147-A177-3AD203B41FA5}">
                          <a16:colId xmlns:a16="http://schemas.microsoft.com/office/drawing/2014/main" val="3667981493"/>
                        </a:ext>
                      </a:extLst>
                    </a:gridCol>
                    <a:gridCol w="1176728">
                      <a:extLst>
                        <a:ext uri="{9D8B030D-6E8A-4147-A177-3AD203B41FA5}">
                          <a16:colId xmlns:a16="http://schemas.microsoft.com/office/drawing/2014/main" val="2996299436"/>
                        </a:ext>
                      </a:extLst>
                    </a:gridCol>
                  </a:tblGrid>
                  <a:tr h="619125">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Fuente</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Monto Solicitado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Monto Recibido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endParaRPr lang="en-CO"/>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blipFill>
                          <a:blip r:embed="rId2"/>
                          <a:stretch>
                            <a:fillRect l="-509677" t="-12245" r="-1075" b="-177551"/>
                          </a:stretch>
                        </a:blipFill>
                      </a:tcPr>
                    </a:tc>
                    <a:extLst>
                      <a:ext uri="{0D108BD9-81ED-4DB2-BD59-A6C34878D82A}">
                        <a16:rowId xmlns:a16="http://schemas.microsoft.com/office/drawing/2014/main" val="1239169974"/>
                      </a:ext>
                    </a:extLst>
                  </a:tr>
                  <a:tr h="314325">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Deuda</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60%</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2,53%</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708190866"/>
                      </a:ext>
                    </a:extLst>
                  </a:tr>
                  <a:tr h="314325">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Equity</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endParaRPr lang="en-CO" sz="1600" b="0" i="0" u="none" strike="noStrike" dirty="0">
                            <a:solidFill>
                              <a:srgbClr val="000000"/>
                            </a:solidFill>
                            <a:effectLst/>
                            <a:latin typeface="Century Gothic" panose="020B0502020202020204" pitchFamily="34" charset="0"/>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40%</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4,75%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3419907006"/>
                      </a:ext>
                    </a:extLst>
                  </a:tr>
                  <a:tr h="314325">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Total</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endParaRPr lang="en-CO" sz="1600" b="0" i="0" u="none" strike="noStrike" kern="1200" dirty="0">
                            <a:solidFill>
                              <a:srgbClr val="000000"/>
                            </a:solidFill>
                            <a:effectLst/>
                            <a:latin typeface="Century Gothic" panose="020B0502020202020204" pitchFamily="34" charset="0"/>
                            <a:ea typeface="+mn-ea"/>
                            <a:cs typeface="+mn-cs"/>
                          </a:endParaRP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r>
                            <a:rPr lang="es-CO" sz="1600" b="0" i="0" u="none" strike="noStrike" kern="1200" dirty="0">
                              <a:solidFill>
                                <a:srgbClr val="000000"/>
                              </a:solidFill>
                              <a:effectLst/>
                              <a:latin typeface="Century Gothic" panose="020B0502020202020204" pitchFamily="34" charset="0"/>
                              <a:ea typeface="+mn-ea"/>
                              <a:cs typeface="+mn-cs"/>
                            </a:rPr>
                            <a:t>$ 150.000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r>
                            <a:rPr lang="es-CO" sz="1600" b="0" i="0" u="none" strike="noStrike" kern="1200" dirty="0">
                              <a:solidFill>
                                <a:srgbClr val="000000"/>
                              </a:solidFill>
                              <a:effectLst/>
                              <a:latin typeface="Century Gothic" panose="020B0502020202020204" pitchFamily="34" charset="0"/>
                              <a:ea typeface="+mn-ea"/>
                              <a:cs typeface="+mn-cs"/>
                            </a:rPr>
                            <a:t>100%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endParaRPr lang="es-CO" sz="2000" b="0" i="0" u="none" strike="noStrike" dirty="0">
                            <a:solidFill>
                              <a:srgbClr val="000000"/>
                            </a:solidFill>
                            <a:effectLst/>
                            <a:latin typeface="Century Gothic" panose="020B0502020202020204" pitchFamily="34" charset="0"/>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501201235"/>
                      </a:ext>
                    </a:extLst>
                  </a:tr>
                </a:tbl>
              </a:graphicData>
            </a:graphic>
          </p:graphicFrame>
        </mc:Fallback>
      </mc:AlternateContent>
      <p:sp>
        <p:nvSpPr>
          <p:cNvPr id="12" name="TextBox 11">
            <a:extLst>
              <a:ext uri="{FF2B5EF4-FFF2-40B4-BE49-F238E27FC236}">
                <a16:creationId xmlns:a16="http://schemas.microsoft.com/office/drawing/2014/main" id="{BDF4B13D-3547-0C92-DC3A-FA9A2366FD5E}"/>
              </a:ext>
            </a:extLst>
          </p:cNvPr>
          <p:cNvSpPr txBox="1"/>
          <p:nvPr/>
        </p:nvSpPr>
        <p:spPr>
          <a:xfrm>
            <a:off x="2175131" y="4713745"/>
            <a:ext cx="7841729" cy="1200329"/>
          </a:xfrm>
          <a:prstGeom prst="rect">
            <a:avLst/>
          </a:prstGeom>
          <a:noFill/>
        </p:spPr>
        <p:txBody>
          <a:bodyPr wrap="square">
            <a:spAutoFit/>
          </a:bodyPr>
          <a:lstStyle/>
          <a:p>
            <a:pPr marL="0" indent="0" algn="ctr">
              <a:buNone/>
            </a:pPr>
            <a:br>
              <a:rPr lang="es-ES" dirty="0">
                <a:solidFill>
                  <a:schemeClr val="accent1"/>
                </a:solidFill>
                <a:latin typeface="Century Gothic" panose="020B0502020202020204" pitchFamily="34" charset="0"/>
              </a:rPr>
            </a:br>
            <a:r>
              <a:rPr lang="es-ES" dirty="0">
                <a:solidFill>
                  <a:schemeClr val="accent1"/>
                </a:solidFill>
                <a:latin typeface="Century Gothic" panose="020B0502020202020204" pitchFamily="34" charset="0"/>
              </a:rPr>
              <a:t>Sería necesaria establecer un pequeño problema de optimización.</a:t>
            </a:r>
          </a:p>
          <a:p>
            <a:pPr marL="0" indent="0" algn="ctr">
              <a:buNone/>
            </a:pPr>
            <a:r>
              <a:rPr lang="es-ES" dirty="0">
                <a:solidFill>
                  <a:schemeClr val="accent1"/>
                </a:solidFill>
                <a:latin typeface="Century Gothic" panose="020B0502020202020204" pitchFamily="34" charset="0"/>
              </a:rPr>
              <a:t>¿Cuál sería la función objetivo?</a:t>
            </a:r>
          </a:p>
          <a:p>
            <a:pPr marL="0" indent="0" algn="ctr">
              <a:buNone/>
            </a:pPr>
            <a:r>
              <a:rPr lang="es-ES" dirty="0">
                <a:solidFill>
                  <a:schemeClr val="accent1"/>
                </a:solidFill>
                <a:latin typeface="Century Gothic" panose="020B0502020202020204" pitchFamily="34" charset="0"/>
              </a:rPr>
              <a:t>¿Cuáles las restricciones?</a:t>
            </a:r>
          </a:p>
        </p:txBody>
      </p:sp>
    </p:spTree>
    <p:extLst>
      <p:ext uri="{BB962C8B-B14F-4D97-AF65-F5344CB8AC3E}">
        <p14:creationId xmlns:p14="http://schemas.microsoft.com/office/powerpoint/2010/main" val="1419784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A4D51-F81F-1D99-1BA0-CE44C116E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000AE4-7EA4-33A0-B5C8-3F2AC6FAFFF6}"/>
              </a:ext>
            </a:extLst>
          </p:cNvPr>
          <p:cNvSpPr>
            <a:spLocks noGrp="1"/>
          </p:cNvSpPr>
          <p:nvPr>
            <p:ph type="title"/>
          </p:nvPr>
        </p:nvSpPr>
        <p:spPr/>
        <p:txBody>
          <a:bodyPr/>
          <a:lstStyle/>
          <a:p>
            <a:r>
              <a:rPr lang="es-ES" dirty="0">
                <a:latin typeface="Century Gothic" panose="020B0502020202020204" pitchFamily="34" charset="0"/>
              </a:rPr>
              <a:t>RESTRICCIONES deuda/</a:t>
            </a:r>
            <a:r>
              <a:rPr lang="es-ES" dirty="0" err="1">
                <a:latin typeface="Century Gothic" panose="020B0502020202020204" pitchFamily="34" charset="0"/>
              </a:rPr>
              <a:t>equity</a:t>
            </a:r>
            <a:r>
              <a:rPr lang="es-ES" dirty="0">
                <a:latin typeface="Century Gothic" panose="020B0502020202020204" pitchFamily="34" charset="0"/>
              </a:rPr>
              <a:t> (d/e)</a:t>
            </a:r>
            <a:endParaRPr lang="es-ES_tradnl" dirty="0"/>
          </a:p>
        </p:txBody>
      </p:sp>
      <p:sp>
        <p:nvSpPr>
          <p:cNvPr id="3" name="Content Placeholder 2">
            <a:extLst>
              <a:ext uri="{FF2B5EF4-FFF2-40B4-BE49-F238E27FC236}">
                <a16:creationId xmlns:a16="http://schemas.microsoft.com/office/drawing/2014/main" id="{B999F96A-86E2-1BC0-D20A-C9FAEB102811}"/>
              </a:ext>
            </a:extLst>
          </p:cNvPr>
          <p:cNvSpPr>
            <a:spLocks noGrp="1"/>
          </p:cNvSpPr>
          <p:nvPr>
            <p:ph idx="1"/>
          </p:nvPr>
        </p:nvSpPr>
        <p:spPr>
          <a:xfrm>
            <a:off x="1120836" y="3353215"/>
            <a:ext cx="9147426" cy="1228956"/>
          </a:xfrm>
        </p:spPr>
        <p:txBody>
          <a:bodyPr>
            <a:noAutofit/>
          </a:bodyPr>
          <a:lstStyle/>
          <a:p>
            <a:pPr marL="0" indent="0" algn="ctr">
              <a:buNone/>
            </a:pPr>
            <a:endParaRPr lang="es-ES" sz="1100" dirty="0">
              <a:solidFill>
                <a:schemeClr val="accent1"/>
              </a:solidFill>
              <a:latin typeface="Century Gothic" panose="020B0502020202020204" pitchFamily="34" charset="0"/>
            </a:endParaRPr>
          </a:p>
          <a:p>
            <a:pPr marL="0" indent="0">
              <a:buNone/>
            </a:pPr>
            <a:r>
              <a:rPr lang="es-ES" sz="1600" b="1" dirty="0">
                <a:solidFill>
                  <a:srgbClr val="000000"/>
                </a:solidFill>
                <a:latin typeface="Century Gothic" panose="020B0502020202020204" pitchFamily="34" charset="0"/>
              </a:rPr>
              <a:t>Función objetivo</a:t>
            </a:r>
            <a:r>
              <a:rPr lang="es-ES" sz="1600" dirty="0">
                <a:solidFill>
                  <a:srgbClr val="000000"/>
                </a:solidFill>
                <a:latin typeface="Century Gothic" panose="020B0502020202020204" pitchFamily="34" charset="0"/>
              </a:rPr>
              <a:t>: Minimizar el WACC</a:t>
            </a:r>
          </a:p>
          <a:p>
            <a:pPr marL="0" indent="0">
              <a:buNone/>
            </a:pPr>
            <a:r>
              <a:rPr lang="es-ES" sz="1600" b="1" dirty="0">
                <a:solidFill>
                  <a:srgbClr val="000000"/>
                </a:solidFill>
                <a:latin typeface="Century Gothic" panose="020B0502020202020204" pitchFamily="34" charset="0"/>
              </a:rPr>
              <a:t>Variables</a:t>
            </a:r>
            <a:r>
              <a:rPr lang="es-ES" sz="1600" dirty="0">
                <a:solidFill>
                  <a:srgbClr val="000000"/>
                </a:solidFill>
                <a:latin typeface="Century Gothic" panose="020B0502020202020204" pitchFamily="34" charset="0"/>
              </a:rPr>
              <a:t>: Montos solicitados</a:t>
            </a:r>
          </a:p>
          <a:p>
            <a:pPr marL="0" indent="0">
              <a:buNone/>
            </a:pPr>
            <a:r>
              <a:rPr lang="es-ES" sz="1600" b="1" dirty="0">
                <a:solidFill>
                  <a:srgbClr val="000000"/>
                </a:solidFill>
                <a:latin typeface="Century Gothic" panose="020B0502020202020204" pitchFamily="34" charset="0"/>
              </a:rPr>
              <a:t>Restricciones</a:t>
            </a:r>
            <a:r>
              <a:rPr lang="es-ES" sz="1600" dirty="0">
                <a:solidFill>
                  <a:srgbClr val="000000"/>
                </a:solidFill>
                <a:latin typeface="Century Gothic" panose="020B0502020202020204" pitchFamily="34" charset="0"/>
              </a:rPr>
              <a:t>:</a:t>
            </a:r>
          </a:p>
          <a:p>
            <a:pPr marL="971550" lvl="1" indent="-514350">
              <a:buFont typeface="+mj-lt"/>
              <a:buAutoNum type="arabicParenR"/>
            </a:pPr>
            <a:r>
              <a:rPr lang="es-ES" sz="1400" dirty="0">
                <a:solidFill>
                  <a:srgbClr val="000000"/>
                </a:solidFill>
                <a:latin typeface="Century Gothic" panose="020B0502020202020204" pitchFamily="34" charset="0"/>
              </a:rPr>
              <a:t>Que la suma de los montos recibidos sea igual a la inversión necesaria.</a:t>
            </a:r>
          </a:p>
          <a:p>
            <a:pPr marL="971550" lvl="1" indent="-514350">
              <a:buFont typeface="+mj-lt"/>
              <a:buAutoNum type="arabicParenR"/>
            </a:pPr>
            <a:r>
              <a:rPr lang="es-ES" sz="1400" dirty="0">
                <a:solidFill>
                  <a:srgbClr val="000000"/>
                </a:solidFill>
                <a:latin typeface="Century Gothic" panose="020B0502020202020204" pitchFamily="34" charset="0"/>
              </a:rPr>
              <a:t>Que los montos solicitados de cada fuente de financiación no sean mayores al monto máximo de la misma.</a:t>
            </a:r>
          </a:p>
          <a:p>
            <a:pPr marL="971550" lvl="1" indent="-514350">
              <a:buFont typeface="+mj-lt"/>
              <a:buAutoNum type="arabicParenR"/>
            </a:pPr>
            <a:r>
              <a:rPr lang="es-ES" sz="1400" dirty="0">
                <a:solidFill>
                  <a:srgbClr val="000000"/>
                </a:solidFill>
                <a:latin typeface="Century Gothic" panose="020B0502020202020204" pitchFamily="34" charset="0"/>
              </a:rPr>
              <a:t>Que Deuda/</a:t>
            </a:r>
            <a:r>
              <a:rPr lang="es-ES" sz="1400" dirty="0" err="1">
                <a:solidFill>
                  <a:srgbClr val="000000"/>
                </a:solidFill>
                <a:latin typeface="Century Gothic" panose="020B0502020202020204" pitchFamily="34" charset="0"/>
              </a:rPr>
              <a:t>Equity</a:t>
            </a:r>
            <a:r>
              <a:rPr lang="es-ES" sz="1400" dirty="0">
                <a:solidFill>
                  <a:srgbClr val="000000"/>
                </a:solidFill>
                <a:latin typeface="Century Gothic" panose="020B0502020202020204" pitchFamily="34" charset="0"/>
              </a:rPr>
              <a:t> de los montos solicitados sea igual a la </a:t>
            </a:r>
            <a:r>
              <a:rPr lang="es-ES" sz="1400" b="1" dirty="0">
                <a:solidFill>
                  <a:srgbClr val="000000"/>
                </a:solidFill>
                <a:latin typeface="Century Gothic" panose="020B0502020202020204" pitchFamily="34" charset="0"/>
              </a:rPr>
              <a:t>relación D/E dada</a:t>
            </a:r>
            <a:r>
              <a:rPr lang="es-ES" sz="1400" dirty="0">
                <a:solidFill>
                  <a:srgbClr val="000000"/>
                </a:solidFill>
                <a:latin typeface="Century Gothic" panose="020B0502020202020204" pitchFamily="34" charset="0"/>
              </a:rPr>
              <a:t>. </a:t>
            </a:r>
          </a:p>
          <a:p>
            <a:pPr marL="971550" lvl="1" indent="-514350">
              <a:buFont typeface="+mj-lt"/>
              <a:buAutoNum type="arabicParenR"/>
            </a:pPr>
            <a:r>
              <a:rPr lang="es-ES" sz="1400" dirty="0">
                <a:solidFill>
                  <a:srgbClr val="000000"/>
                </a:solidFill>
                <a:latin typeface="Century Gothic" panose="020B0502020202020204" pitchFamily="34" charset="0"/>
              </a:rPr>
              <a:t>Que los montos solicitados sean positivos, es decir, mayores a cero.</a:t>
            </a:r>
          </a:p>
          <a:p>
            <a:pPr marL="0" indent="0" algn="ctr">
              <a:buNone/>
            </a:pPr>
            <a:endParaRPr lang="es-ES_tradnl" sz="1100" dirty="0">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088C47D0-9E91-2FA1-D6E1-25F8685F091C}"/>
              </a:ext>
            </a:extLst>
          </p:cNvPr>
          <p:cNvSpPr>
            <a:spLocks noGrp="1"/>
          </p:cNvSpPr>
          <p:nvPr>
            <p:ph type="sldNum" sz="quarter" idx="12"/>
          </p:nvPr>
        </p:nvSpPr>
        <p:spPr/>
        <p:txBody>
          <a:bodyPr/>
          <a:lstStyle/>
          <a:p>
            <a:fld id="{D57F1E4F-1CFF-5643-939E-217C01CDF565}" type="slidenum">
              <a:rPr lang="en-US" smtClean="0"/>
              <a:pPr/>
              <a:t>22</a:t>
            </a:fld>
            <a:endParaRPr lang="en-US"/>
          </a:p>
        </p:txBody>
      </p:sp>
      <p:sp>
        <p:nvSpPr>
          <p:cNvPr id="12" name="TextBox 11">
            <a:extLst>
              <a:ext uri="{FF2B5EF4-FFF2-40B4-BE49-F238E27FC236}">
                <a16:creationId xmlns:a16="http://schemas.microsoft.com/office/drawing/2014/main" id="{28E26803-F672-6EC2-F692-1E38179F12F4}"/>
              </a:ext>
            </a:extLst>
          </p:cNvPr>
          <p:cNvSpPr txBox="1"/>
          <p:nvPr/>
        </p:nvSpPr>
        <p:spPr>
          <a:xfrm>
            <a:off x="1654538" y="2020136"/>
            <a:ext cx="7841729" cy="369332"/>
          </a:xfrm>
          <a:prstGeom prst="rect">
            <a:avLst/>
          </a:prstGeom>
          <a:noFill/>
        </p:spPr>
        <p:txBody>
          <a:bodyPr wrap="square">
            <a:spAutoFit/>
          </a:bodyPr>
          <a:lstStyle/>
          <a:p>
            <a:pPr marL="0" indent="0" algn="ctr">
              <a:buNone/>
            </a:pPr>
            <a:r>
              <a:rPr lang="es-ES" b="1" dirty="0">
                <a:solidFill>
                  <a:schemeClr val="accent1"/>
                </a:solidFill>
                <a:latin typeface="Century Gothic" panose="020B0502020202020204" pitchFamily="34" charset="0"/>
              </a:rPr>
              <a:t>¿Cuáles son las restricciones?</a:t>
            </a:r>
          </a:p>
        </p:txBody>
      </p:sp>
    </p:spTree>
    <p:extLst>
      <p:ext uri="{BB962C8B-B14F-4D97-AF65-F5344CB8AC3E}">
        <p14:creationId xmlns:p14="http://schemas.microsoft.com/office/powerpoint/2010/main" val="3616728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1E9E0-0217-26F0-4E26-A837AE0025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BF6E1C-0EEF-CF29-46EE-9457223B8A18}"/>
              </a:ext>
            </a:extLst>
          </p:cNvPr>
          <p:cNvSpPr>
            <a:spLocks noGrp="1"/>
          </p:cNvSpPr>
          <p:nvPr>
            <p:ph type="title"/>
          </p:nvPr>
        </p:nvSpPr>
        <p:spPr/>
        <p:txBody>
          <a:bodyPr/>
          <a:lstStyle/>
          <a:p>
            <a:r>
              <a:rPr lang="es-ES" dirty="0">
                <a:latin typeface="Century Gothic" panose="020B0502020202020204" pitchFamily="34" charset="0"/>
              </a:rPr>
              <a:t>RESTRICCIONES deuda/</a:t>
            </a:r>
            <a:r>
              <a:rPr lang="es-ES" dirty="0" err="1">
                <a:latin typeface="Century Gothic" panose="020B0502020202020204" pitchFamily="34" charset="0"/>
              </a:rPr>
              <a:t>equity</a:t>
            </a:r>
            <a:r>
              <a:rPr lang="es-ES" dirty="0">
                <a:latin typeface="Century Gothic" panose="020B0502020202020204" pitchFamily="34" charset="0"/>
              </a:rPr>
              <a:t> (d/e)</a:t>
            </a:r>
            <a:endParaRPr lang="es-ES_tradnl" dirty="0"/>
          </a:p>
        </p:txBody>
      </p:sp>
      <p:sp>
        <p:nvSpPr>
          <p:cNvPr id="3" name="Content Placeholder 2">
            <a:extLst>
              <a:ext uri="{FF2B5EF4-FFF2-40B4-BE49-F238E27FC236}">
                <a16:creationId xmlns:a16="http://schemas.microsoft.com/office/drawing/2014/main" id="{7B4CBBBE-8F22-120B-70AB-CB0FCC35716A}"/>
              </a:ext>
            </a:extLst>
          </p:cNvPr>
          <p:cNvSpPr>
            <a:spLocks noGrp="1"/>
          </p:cNvSpPr>
          <p:nvPr>
            <p:ph idx="1"/>
          </p:nvPr>
        </p:nvSpPr>
        <p:spPr>
          <a:xfrm>
            <a:off x="581190" y="1856772"/>
            <a:ext cx="11029615" cy="1228956"/>
          </a:xfrm>
        </p:spPr>
        <p:txBody>
          <a:bodyPr/>
          <a:lstStyle/>
          <a:p>
            <a:pPr marL="0" indent="0" algn="ctr">
              <a:buNone/>
            </a:pPr>
            <a:r>
              <a:rPr lang="es-ES" dirty="0">
                <a:solidFill>
                  <a:schemeClr val="accent1"/>
                </a:solidFill>
                <a:latin typeface="Century Gothic" panose="020B0502020202020204" pitchFamily="34" charset="0"/>
              </a:rPr>
              <a:t>¿Qué pasa si hay una restricción de D/E?</a:t>
            </a:r>
          </a:p>
          <a:p>
            <a:pPr marL="0" indent="0" algn="ctr">
              <a:buNone/>
            </a:pPr>
            <a:r>
              <a:rPr lang="es-ES" dirty="0">
                <a:solidFill>
                  <a:schemeClr val="accent1"/>
                </a:solidFill>
                <a:latin typeface="Century Gothic" panose="020B0502020202020204" pitchFamily="34" charset="0"/>
              </a:rPr>
              <a:t>Por ejemplo, de 1,5</a:t>
            </a:r>
          </a:p>
          <a:p>
            <a:endParaRPr lang="es-ES_tradnl" dirty="0"/>
          </a:p>
        </p:txBody>
      </p:sp>
      <p:sp>
        <p:nvSpPr>
          <p:cNvPr id="4" name="Slide Number Placeholder 3">
            <a:extLst>
              <a:ext uri="{FF2B5EF4-FFF2-40B4-BE49-F238E27FC236}">
                <a16:creationId xmlns:a16="http://schemas.microsoft.com/office/drawing/2014/main" id="{0ACEDA78-0AA9-69B7-A88E-4DFAC445C532}"/>
              </a:ext>
            </a:extLst>
          </p:cNvPr>
          <p:cNvSpPr>
            <a:spLocks noGrp="1"/>
          </p:cNvSpPr>
          <p:nvPr>
            <p:ph type="sldNum" sz="quarter" idx="12"/>
          </p:nvPr>
        </p:nvSpPr>
        <p:spPr/>
        <p:txBody>
          <a:bodyPr/>
          <a:lstStyle/>
          <a:p>
            <a:fld id="{D57F1E4F-1CFF-5643-939E-217C01CDF565}" type="slidenum">
              <a:rPr lang="en-US" smtClean="0"/>
              <a:pPr/>
              <a:t>23</a:t>
            </a:fld>
            <a:endParaRPr lang="en-US"/>
          </a:p>
        </p:txBody>
      </p:sp>
      <mc:AlternateContent xmlns:mc="http://schemas.openxmlformats.org/markup-compatibility/2006" xmlns:a14="http://schemas.microsoft.com/office/drawing/2010/main">
        <mc:Choice Requires="a14">
          <p:graphicFrame>
            <p:nvGraphicFramePr>
              <p:cNvPr id="6" name="Tabla 1">
                <a:extLst>
                  <a:ext uri="{FF2B5EF4-FFF2-40B4-BE49-F238E27FC236}">
                    <a16:creationId xmlns:a16="http://schemas.microsoft.com/office/drawing/2014/main" id="{521AAD80-BA7A-46AA-8C9D-C10DD82EA4BB}"/>
                  </a:ext>
                </a:extLst>
              </p:cNvPr>
              <p:cNvGraphicFramePr>
                <a:graphicFrameLocks noGrp="1"/>
              </p:cNvGraphicFramePr>
              <p:nvPr>
                <p:extLst>
                  <p:ext uri="{D42A27DB-BD31-4B8C-83A1-F6EECF244321}">
                    <p14:modId xmlns:p14="http://schemas.microsoft.com/office/powerpoint/2010/main" val="403872296"/>
                  </p:ext>
                </p:extLst>
              </p:nvPr>
            </p:nvGraphicFramePr>
            <p:xfrm>
              <a:off x="2423356" y="3316574"/>
              <a:ext cx="7180389" cy="1562100"/>
            </p:xfrm>
            <a:graphic>
              <a:graphicData uri="http://schemas.openxmlformats.org/drawingml/2006/table">
                <a:tbl>
                  <a:tblPr firstRow="1" bandRow="1"/>
                  <a:tblGrid>
                    <a:gridCol w="1346762">
                      <a:extLst>
                        <a:ext uri="{9D8B030D-6E8A-4147-A177-3AD203B41FA5}">
                          <a16:colId xmlns:a16="http://schemas.microsoft.com/office/drawing/2014/main" val="753450657"/>
                        </a:ext>
                      </a:extLst>
                    </a:gridCol>
                    <a:gridCol w="1921194">
                      <a:extLst>
                        <a:ext uri="{9D8B030D-6E8A-4147-A177-3AD203B41FA5}">
                          <a16:colId xmlns:a16="http://schemas.microsoft.com/office/drawing/2014/main" val="277443866"/>
                        </a:ext>
                      </a:extLst>
                    </a:gridCol>
                    <a:gridCol w="1518957">
                      <a:extLst>
                        <a:ext uri="{9D8B030D-6E8A-4147-A177-3AD203B41FA5}">
                          <a16:colId xmlns:a16="http://schemas.microsoft.com/office/drawing/2014/main" val="790896557"/>
                        </a:ext>
                      </a:extLst>
                    </a:gridCol>
                    <a:gridCol w="1216748">
                      <a:extLst>
                        <a:ext uri="{9D8B030D-6E8A-4147-A177-3AD203B41FA5}">
                          <a16:colId xmlns:a16="http://schemas.microsoft.com/office/drawing/2014/main" val="3667981493"/>
                        </a:ext>
                      </a:extLst>
                    </a:gridCol>
                    <a:gridCol w="1176728">
                      <a:extLst>
                        <a:ext uri="{9D8B030D-6E8A-4147-A177-3AD203B41FA5}">
                          <a16:colId xmlns:a16="http://schemas.microsoft.com/office/drawing/2014/main" val="2996299436"/>
                        </a:ext>
                      </a:extLst>
                    </a:gridCol>
                  </a:tblGrid>
                  <a:tr h="301742">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Fuente</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Monto Solicitado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Monto Recibido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14:m>
                            <m:oMathPara xmlns:m="http://schemas.openxmlformats.org/officeDocument/2006/math">
                              <m:oMathParaPr>
                                <m:jc m:val="centerGroup"/>
                              </m:oMathParaPr>
                              <m:oMath xmlns:m="http://schemas.openxmlformats.org/officeDocument/2006/math">
                                <m:r>
                                  <a:rPr lang="es-ES" sz="2000" b="1" i="1" u="none" strike="noStrike" dirty="0" smtClean="0">
                                    <a:solidFill>
                                      <a:srgbClr val="FFFFFF"/>
                                    </a:solidFill>
                                    <a:effectLst/>
                                    <a:highlight>
                                      <a:srgbClr val="003300"/>
                                    </a:highlight>
                                    <a:latin typeface="Cambria Math" panose="02040503050406030204" pitchFamily="18" charset="0"/>
                                  </a:rPr>
                                  <m:t> </m:t>
                                </m:r>
                                <m:sSub>
                                  <m:sSubPr>
                                    <m:ctrlPr>
                                      <a:rPr lang="es-CO" sz="2000" b="1" i="1" u="none" strike="noStrike" dirty="0" smtClean="0">
                                        <a:solidFill>
                                          <a:srgbClr val="FFFFFF"/>
                                        </a:solidFill>
                                        <a:effectLst/>
                                        <a:highlight>
                                          <a:srgbClr val="003300"/>
                                        </a:highlight>
                                        <a:latin typeface="Cambria Math" panose="02040503050406030204" pitchFamily="18" charset="0"/>
                                      </a:rPr>
                                    </m:ctrlPr>
                                  </m:sSubPr>
                                  <m:e>
                                    <m:r>
                                      <a:rPr lang="es-CO" sz="2000" b="1" i="1" u="none" strike="noStrike" dirty="0" smtClean="0">
                                        <a:solidFill>
                                          <a:srgbClr val="FFFFFF"/>
                                        </a:solidFill>
                                        <a:effectLst/>
                                        <a:highlight>
                                          <a:srgbClr val="003300"/>
                                        </a:highlight>
                                        <a:latin typeface="Cambria Math" panose="02040503050406030204" pitchFamily="18" charset="0"/>
                                      </a:rPr>
                                      <m:t>𝑲</m:t>
                                    </m:r>
                                  </m:e>
                                  <m:sub>
                                    <m:r>
                                      <a:rPr lang="es-CO" sz="2000" b="1" i="1" u="none" strike="noStrike" dirty="0" smtClean="0">
                                        <a:solidFill>
                                          <a:srgbClr val="FFFFFF"/>
                                        </a:solidFill>
                                        <a:effectLst/>
                                        <a:highlight>
                                          <a:srgbClr val="003300"/>
                                        </a:highlight>
                                        <a:latin typeface="Cambria Math" panose="02040503050406030204" pitchFamily="18" charset="0"/>
                                      </a:rPr>
                                      <m:t>𝒊</m:t>
                                    </m:r>
                                  </m:sub>
                                </m:sSub>
                              </m:oMath>
                            </m:oMathPara>
                          </a14:m>
                          <a:endParaRPr lang="es-CO" sz="2000" b="1" i="0" u="none" strike="noStrike" dirty="0">
                            <a:solidFill>
                              <a:srgbClr val="FFFFFF"/>
                            </a:solidFill>
                            <a:effectLst/>
                            <a:highlight>
                              <a:srgbClr val="003300"/>
                            </a:highlight>
                            <a:latin typeface="Century Gothic" panose="020B0502020202020204" pitchFamily="34" charset="0"/>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extLst>
                      <a:ext uri="{0D108BD9-81ED-4DB2-BD59-A6C34878D82A}">
                        <a16:rowId xmlns:a16="http://schemas.microsoft.com/office/drawing/2014/main" val="1239169974"/>
                      </a:ext>
                    </a:extLst>
                  </a:tr>
                  <a:tr h="301742">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Deuda</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r>
                            <a:rPr lang="en-CO" sz="1600" b="0" i="0" u="none" strike="noStrike" kern="1200" dirty="0">
                              <a:solidFill>
                                <a:srgbClr val="000000"/>
                              </a:solidFill>
                              <a:effectLst/>
                              <a:latin typeface="Century Gothic" panose="020B0502020202020204" pitchFamily="34" charset="0"/>
                              <a:ea typeface="+mn-ea"/>
                              <a:cs typeface="+mn-cs"/>
                            </a:rPr>
                            <a:t>$ 93.555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kern="1200" dirty="0">
                              <a:solidFill>
                                <a:srgbClr val="000000"/>
                              </a:solidFill>
                              <a:effectLst/>
                              <a:latin typeface="Century Gothic" panose="020B0502020202020204" pitchFamily="34" charset="0"/>
                              <a:ea typeface="+mn-ea"/>
                              <a:cs typeface="+mn-cs"/>
                            </a:rPr>
                            <a:t>$ 88.877</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60%</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2,53%</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708190866"/>
                      </a:ext>
                    </a:extLst>
                  </a:tr>
                  <a:tr h="301742">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Equity</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r>
                            <a:rPr lang="en-CO" sz="1600" b="0" i="0" u="none" strike="noStrike" kern="1200">
                              <a:solidFill>
                                <a:srgbClr val="000000"/>
                              </a:solidFill>
                              <a:effectLst/>
                              <a:latin typeface="Century Gothic" panose="020B0502020202020204" pitchFamily="34" charset="0"/>
                              <a:ea typeface="+mn-ea"/>
                              <a:cs typeface="+mn-cs"/>
                            </a:rPr>
                            <a:t>$ 62.370</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kern="1200" dirty="0">
                              <a:solidFill>
                                <a:srgbClr val="000000"/>
                              </a:solidFill>
                              <a:effectLst/>
                              <a:latin typeface="Century Gothic" panose="020B0502020202020204" pitchFamily="34" charset="0"/>
                              <a:ea typeface="+mn-ea"/>
                              <a:cs typeface="+mn-cs"/>
                            </a:rPr>
                            <a:t>$ 61.123</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40%</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4,75%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3419907006"/>
                      </a:ext>
                    </a:extLst>
                  </a:tr>
                  <a:tr h="301742">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Total</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marL="0" marR="0" lvl="0" indent="0" algn="ctr" defTabSz="457200" rtl="0" eaLnBrk="1" fontAlgn="b" latinLnBrk="0" hangingPunct="1">
                            <a:lnSpc>
                              <a:spcPct val="100000"/>
                            </a:lnSpc>
                            <a:spcBef>
                              <a:spcPts val="0"/>
                            </a:spcBef>
                            <a:spcAft>
                              <a:spcPts val="0"/>
                            </a:spcAft>
                            <a:buClrTx/>
                            <a:buSzTx/>
                            <a:buFontTx/>
                            <a:buNone/>
                            <a:tabLst/>
                            <a:defRPr/>
                          </a:pPr>
                          <a:r>
                            <a:rPr lang="es-CO" sz="1600" b="0" i="0" u="none" strike="noStrike" kern="1200" dirty="0">
                              <a:solidFill>
                                <a:srgbClr val="000000"/>
                              </a:solidFill>
                              <a:effectLst/>
                              <a:latin typeface="Century Gothic" panose="020B0502020202020204" pitchFamily="34" charset="0"/>
                              <a:ea typeface="+mn-ea"/>
                              <a:cs typeface="+mn-cs"/>
                            </a:rPr>
                            <a:t>$ 155.925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r>
                            <a:rPr lang="es-CO" sz="1600" b="0" i="0" u="none" strike="noStrike" kern="1200" dirty="0">
                              <a:solidFill>
                                <a:srgbClr val="000000"/>
                              </a:solidFill>
                              <a:effectLst/>
                              <a:latin typeface="Century Gothic" panose="020B0502020202020204" pitchFamily="34" charset="0"/>
                              <a:ea typeface="+mn-ea"/>
                              <a:cs typeface="+mn-cs"/>
                            </a:rPr>
                            <a:t>$ 150.000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r>
                            <a:rPr lang="es-CO" sz="1600" b="0" i="0" u="none" strike="noStrike" kern="1200" dirty="0">
                              <a:solidFill>
                                <a:srgbClr val="000000"/>
                              </a:solidFill>
                              <a:effectLst/>
                              <a:latin typeface="Century Gothic" panose="020B0502020202020204" pitchFamily="34" charset="0"/>
                              <a:ea typeface="+mn-ea"/>
                              <a:cs typeface="+mn-cs"/>
                            </a:rPr>
                            <a:t>100%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endParaRPr lang="es-CO" sz="2000" b="0" i="0" u="none" strike="noStrike" dirty="0">
                            <a:solidFill>
                              <a:srgbClr val="000000"/>
                            </a:solidFill>
                            <a:effectLst/>
                            <a:latin typeface="Century Gothic" panose="020B0502020202020204" pitchFamily="34" charset="0"/>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501201235"/>
                      </a:ext>
                    </a:extLst>
                  </a:tr>
                </a:tbl>
              </a:graphicData>
            </a:graphic>
          </p:graphicFrame>
        </mc:Choice>
        <mc:Fallback xmlns="">
          <p:graphicFrame>
            <p:nvGraphicFramePr>
              <p:cNvPr id="6" name="Tabla 1">
                <a:extLst>
                  <a:ext uri="{FF2B5EF4-FFF2-40B4-BE49-F238E27FC236}">
                    <a16:creationId xmlns:a16="http://schemas.microsoft.com/office/drawing/2014/main" id="{521AAD80-BA7A-46AA-8C9D-C10DD82EA4BB}"/>
                  </a:ext>
                </a:extLst>
              </p:cNvPr>
              <p:cNvGraphicFramePr>
                <a:graphicFrameLocks noGrp="1"/>
              </p:cNvGraphicFramePr>
              <p:nvPr>
                <p:extLst>
                  <p:ext uri="{D42A27DB-BD31-4B8C-83A1-F6EECF244321}">
                    <p14:modId xmlns:p14="http://schemas.microsoft.com/office/powerpoint/2010/main" val="403872296"/>
                  </p:ext>
                </p:extLst>
              </p:nvPr>
            </p:nvGraphicFramePr>
            <p:xfrm>
              <a:off x="2423356" y="3316574"/>
              <a:ext cx="7180389" cy="1562100"/>
            </p:xfrm>
            <a:graphic>
              <a:graphicData uri="http://schemas.openxmlformats.org/drawingml/2006/table">
                <a:tbl>
                  <a:tblPr firstRow="1" bandRow="1"/>
                  <a:tblGrid>
                    <a:gridCol w="1346762">
                      <a:extLst>
                        <a:ext uri="{9D8B030D-6E8A-4147-A177-3AD203B41FA5}">
                          <a16:colId xmlns:a16="http://schemas.microsoft.com/office/drawing/2014/main" val="753450657"/>
                        </a:ext>
                      </a:extLst>
                    </a:gridCol>
                    <a:gridCol w="1921194">
                      <a:extLst>
                        <a:ext uri="{9D8B030D-6E8A-4147-A177-3AD203B41FA5}">
                          <a16:colId xmlns:a16="http://schemas.microsoft.com/office/drawing/2014/main" val="277443866"/>
                        </a:ext>
                      </a:extLst>
                    </a:gridCol>
                    <a:gridCol w="1518957">
                      <a:extLst>
                        <a:ext uri="{9D8B030D-6E8A-4147-A177-3AD203B41FA5}">
                          <a16:colId xmlns:a16="http://schemas.microsoft.com/office/drawing/2014/main" val="790896557"/>
                        </a:ext>
                      </a:extLst>
                    </a:gridCol>
                    <a:gridCol w="1216748">
                      <a:extLst>
                        <a:ext uri="{9D8B030D-6E8A-4147-A177-3AD203B41FA5}">
                          <a16:colId xmlns:a16="http://schemas.microsoft.com/office/drawing/2014/main" val="3667981493"/>
                        </a:ext>
                      </a:extLst>
                    </a:gridCol>
                    <a:gridCol w="1176728">
                      <a:extLst>
                        <a:ext uri="{9D8B030D-6E8A-4147-A177-3AD203B41FA5}">
                          <a16:colId xmlns:a16="http://schemas.microsoft.com/office/drawing/2014/main" val="2996299436"/>
                        </a:ext>
                      </a:extLst>
                    </a:gridCol>
                  </a:tblGrid>
                  <a:tr h="619125">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Fuente</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Monto Solicitado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Monto Recibido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pPr algn="ctr" fontAlgn="ctr"/>
                          <a:r>
                            <a:rPr lang="es-CO" sz="2000" b="1" i="0" u="none" strike="noStrike" dirty="0">
                              <a:solidFill>
                                <a:srgbClr val="FFFFFF"/>
                              </a:solidFill>
                              <a:effectLst/>
                              <a:highlight>
                                <a:srgbClr val="003300"/>
                              </a:highlight>
                              <a:latin typeface="Century Gothic" panose="020B0502020202020204" pitchFamily="34" charset="0"/>
                            </a:rPr>
                            <a:t>%</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a:txBody>
                        <a:bodyPr/>
                        <a:lstStyle/>
                        <a:p>
                          <a:endParaRPr lang="en-CO"/>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blipFill>
                          <a:blip r:embed="rId2"/>
                          <a:stretch>
                            <a:fillRect l="-509677" t="-12245" b="-177551"/>
                          </a:stretch>
                        </a:blipFill>
                      </a:tcPr>
                    </a:tc>
                    <a:extLst>
                      <a:ext uri="{0D108BD9-81ED-4DB2-BD59-A6C34878D82A}">
                        <a16:rowId xmlns:a16="http://schemas.microsoft.com/office/drawing/2014/main" val="1239169974"/>
                      </a:ext>
                    </a:extLst>
                  </a:tr>
                  <a:tr h="314325">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Deuda</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r>
                            <a:rPr lang="en-CO" sz="1600" b="0" i="0" u="none" strike="noStrike" kern="1200" dirty="0">
                              <a:solidFill>
                                <a:srgbClr val="000000"/>
                              </a:solidFill>
                              <a:effectLst/>
                              <a:latin typeface="Century Gothic" panose="020B0502020202020204" pitchFamily="34" charset="0"/>
                              <a:ea typeface="+mn-ea"/>
                              <a:cs typeface="+mn-cs"/>
                            </a:rPr>
                            <a:t>$ 93.555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kern="1200" dirty="0">
                              <a:solidFill>
                                <a:srgbClr val="000000"/>
                              </a:solidFill>
                              <a:effectLst/>
                              <a:latin typeface="Century Gothic" panose="020B0502020202020204" pitchFamily="34" charset="0"/>
                              <a:ea typeface="+mn-ea"/>
                              <a:cs typeface="+mn-cs"/>
                            </a:rPr>
                            <a:t>$ 88.877</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60%</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2,53%</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708190866"/>
                      </a:ext>
                    </a:extLst>
                  </a:tr>
                  <a:tr h="314325">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Equity</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b"/>
                          <a:r>
                            <a:rPr lang="en-CO" sz="1600" b="0" i="0" u="none" strike="noStrike" kern="1200">
                              <a:solidFill>
                                <a:srgbClr val="000000"/>
                              </a:solidFill>
                              <a:effectLst/>
                              <a:latin typeface="Century Gothic" panose="020B0502020202020204" pitchFamily="34" charset="0"/>
                              <a:ea typeface="+mn-ea"/>
                              <a:cs typeface="+mn-cs"/>
                            </a:rPr>
                            <a:t>$ 62.370</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kern="1200" dirty="0">
                              <a:solidFill>
                                <a:srgbClr val="000000"/>
                              </a:solidFill>
                              <a:effectLst/>
                              <a:latin typeface="Century Gothic" panose="020B0502020202020204" pitchFamily="34" charset="0"/>
                              <a:ea typeface="+mn-ea"/>
                              <a:cs typeface="+mn-cs"/>
                            </a:rPr>
                            <a:t>$ 61.123</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40%</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b"/>
                          <a:r>
                            <a:rPr lang="en-CO" sz="1600" b="0" i="0" u="none" strike="noStrike" dirty="0">
                              <a:solidFill>
                                <a:srgbClr val="000000"/>
                              </a:solidFill>
                              <a:effectLst/>
                              <a:latin typeface="Century Gothic" panose="020B0502020202020204" pitchFamily="34" charset="0"/>
                            </a:rPr>
                            <a:t>4,75%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3419907006"/>
                      </a:ext>
                    </a:extLst>
                  </a:tr>
                  <a:tr h="314325">
                    <a:tc>
                      <a:txBody>
                        <a:bodyPr/>
                        <a:lstStyle/>
                        <a:p>
                          <a:pPr algn="ctr" fontAlgn="ctr"/>
                          <a:r>
                            <a:rPr lang="es-CO" sz="2000" b="0" i="0" u="none" strike="noStrike" dirty="0">
                              <a:solidFill>
                                <a:srgbClr val="000000"/>
                              </a:solidFill>
                              <a:effectLst/>
                              <a:highlight>
                                <a:srgbClr val="C6E0B4"/>
                              </a:highlight>
                              <a:latin typeface="Century Gothic" panose="020B0502020202020204" pitchFamily="34" charset="0"/>
                            </a:rPr>
                            <a:t>Total</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marL="0" marR="0" lvl="0" indent="0" algn="ctr" defTabSz="457200" rtl="0" eaLnBrk="1" fontAlgn="b" latinLnBrk="0" hangingPunct="1">
                            <a:lnSpc>
                              <a:spcPct val="100000"/>
                            </a:lnSpc>
                            <a:spcBef>
                              <a:spcPts val="0"/>
                            </a:spcBef>
                            <a:spcAft>
                              <a:spcPts val="0"/>
                            </a:spcAft>
                            <a:buClrTx/>
                            <a:buSzTx/>
                            <a:buFontTx/>
                            <a:buNone/>
                            <a:tabLst/>
                            <a:defRPr/>
                          </a:pPr>
                          <a:r>
                            <a:rPr lang="es-CO" sz="1600" b="0" i="0" u="none" strike="noStrike" kern="1200" dirty="0">
                              <a:solidFill>
                                <a:srgbClr val="000000"/>
                              </a:solidFill>
                              <a:effectLst/>
                              <a:latin typeface="Century Gothic" panose="020B0502020202020204" pitchFamily="34" charset="0"/>
                              <a:ea typeface="+mn-ea"/>
                              <a:cs typeface="+mn-cs"/>
                            </a:rPr>
                            <a:t>$ 155.925</a:t>
                          </a:r>
                        </a:p>
                      </a:txBody>
                      <a:tcPr marL="9525" marR="9525" marT="9525" marB="0" anchor="b">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r>
                            <a:rPr lang="es-CO" sz="1600" b="0" i="0" u="none" strike="noStrike" kern="1200" dirty="0">
                              <a:solidFill>
                                <a:srgbClr val="000000"/>
                              </a:solidFill>
                              <a:effectLst/>
                              <a:latin typeface="Century Gothic" panose="020B0502020202020204" pitchFamily="34" charset="0"/>
                              <a:ea typeface="+mn-ea"/>
                              <a:cs typeface="+mn-cs"/>
                            </a:rPr>
                            <a:t>$ 150.000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r>
                            <a:rPr lang="es-CO" sz="1600" b="0" i="0" u="none" strike="noStrike" kern="1200" dirty="0">
                              <a:solidFill>
                                <a:srgbClr val="000000"/>
                              </a:solidFill>
                              <a:effectLst/>
                              <a:latin typeface="Century Gothic" panose="020B0502020202020204" pitchFamily="34" charset="0"/>
                              <a:ea typeface="+mn-ea"/>
                              <a:cs typeface="+mn-cs"/>
                            </a:rPr>
                            <a:t>100%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tc>
                      <a:txBody>
                        <a:bodyPr/>
                        <a:lstStyle/>
                        <a:p>
                          <a:pPr algn="ctr" fontAlgn="ctr"/>
                          <a:endParaRPr lang="es-CO" sz="2000" b="0" i="0" u="none" strike="noStrike" dirty="0">
                            <a:solidFill>
                              <a:srgbClr val="000000"/>
                            </a:solidFill>
                            <a:effectLst/>
                            <a:latin typeface="Century Gothic" panose="020B0502020202020204" pitchFamily="34" charset="0"/>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501201235"/>
                      </a:ext>
                    </a:extLst>
                  </a:tr>
                </a:tbl>
              </a:graphicData>
            </a:graphic>
          </p:graphicFrame>
        </mc:Fallback>
      </mc:AlternateContent>
      <p:graphicFrame>
        <p:nvGraphicFramePr>
          <p:cNvPr id="8" name="Table 7">
            <a:extLst>
              <a:ext uri="{FF2B5EF4-FFF2-40B4-BE49-F238E27FC236}">
                <a16:creationId xmlns:a16="http://schemas.microsoft.com/office/drawing/2014/main" id="{28CC1ABA-B04D-86C7-3728-D50E7369AF34}"/>
              </a:ext>
            </a:extLst>
          </p:cNvPr>
          <p:cNvGraphicFramePr>
            <a:graphicFrameLocks noGrp="1"/>
          </p:cNvGraphicFramePr>
          <p:nvPr>
            <p:extLst>
              <p:ext uri="{D42A27DB-BD31-4B8C-83A1-F6EECF244321}">
                <p14:modId xmlns:p14="http://schemas.microsoft.com/office/powerpoint/2010/main" val="697462260"/>
              </p:ext>
            </p:extLst>
          </p:nvPr>
        </p:nvGraphicFramePr>
        <p:xfrm>
          <a:off x="4474460" y="5252467"/>
          <a:ext cx="3860071" cy="343218"/>
        </p:xfrm>
        <a:graphic>
          <a:graphicData uri="http://schemas.openxmlformats.org/drawingml/2006/table">
            <a:tbl>
              <a:tblPr firstCol="1">
                <a:tableStyleId>{5C22544A-7EE6-4342-B048-85BDC9FD1C3A}</a:tableStyleId>
              </a:tblPr>
              <a:tblGrid>
                <a:gridCol w="1328730">
                  <a:extLst>
                    <a:ext uri="{9D8B030D-6E8A-4147-A177-3AD203B41FA5}">
                      <a16:colId xmlns:a16="http://schemas.microsoft.com/office/drawing/2014/main" val="907170368"/>
                    </a:ext>
                  </a:extLst>
                </a:gridCol>
                <a:gridCol w="796383">
                  <a:extLst>
                    <a:ext uri="{9D8B030D-6E8A-4147-A177-3AD203B41FA5}">
                      <a16:colId xmlns:a16="http://schemas.microsoft.com/office/drawing/2014/main" val="2011985849"/>
                    </a:ext>
                  </a:extLst>
                </a:gridCol>
                <a:gridCol w="1734958">
                  <a:extLst>
                    <a:ext uri="{9D8B030D-6E8A-4147-A177-3AD203B41FA5}">
                      <a16:colId xmlns:a16="http://schemas.microsoft.com/office/drawing/2014/main" val="1869730178"/>
                    </a:ext>
                  </a:extLst>
                </a:gridCol>
              </a:tblGrid>
              <a:tr h="343218">
                <a:tc>
                  <a:txBody>
                    <a:bodyPr/>
                    <a:lstStyle/>
                    <a:p>
                      <a:pPr algn="ctr" fontAlgn="b"/>
                      <a:r>
                        <a:rPr lang="en-US" sz="1600" b="1" i="0" u="none" strike="noStrike" kern="1200" dirty="0">
                          <a:solidFill>
                            <a:schemeClr val="bg1"/>
                          </a:solidFill>
                          <a:effectLst/>
                          <a:latin typeface="Century Gothic" panose="020B0502020202020204" pitchFamily="34" charset="0"/>
                          <a:ea typeface="+mn-ea"/>
                          <a:cs typeface="+mn-cs"/>
                        </a:rPr>
                        <a:t>WACC</a:t>
                      </a:r>
                    </a:p>
                  </a:txBody>
                  <a:tcPr marL="9525" marR="9525" marT="952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CO" sz="1600" b="0" i="0" u="none" strike="noStrike" kern="1200" dirty="0">
                          <a:solidFill>
                            <a:srgbClr val="000000"/>
                          </a:solidFill>
                          <a:effectLst/>
                          <a:latin typeface="Century Gothic" panose="020B0502020202020204" pitchFamily="34" charset="0"/>
                          <a:ea typeface="+mn-ea"/>
                          <a:cs typeface="+mn-cs"/>
                        </a:rPr>
                        <a:t>3,42%</a:t>
                      </a:r>
                    </a:p>
                  </a:txBody>
                  <a:tcPr marL="9525" marR="9525" marT="9525" marB="0" anchor="b">
                    <a:lnL w="12700" cap="flat" cmpd="sng" algn="ctr">
                      <a:noFill/>
                      <a:prstDash val="solid"/>
                      <a:round/>
                      <a:headEnd type="none" w="med" len="med"/>
                      <a:tailEnd type="none" w="med" len="med"/>
                    </a:lnL>
                    <a:solidFill>
                      <a:schemeClr val="bg1"/>
                    </a:solidFill>
                  </a:tcPr>
                </a:tc>
                <a:tc>
                  <a:txBody>
                    <a:bodyPr/>
                    <a:lstStyle/>
                    <a:p>
                      <a:pPr algn="l" fontAlgn="b"/>
                      <a:r>
                        <a:rPr lang="en-US" sz="1600" b="0" i="0" u="none" strike="noStrike" kern="1200" dirty="0">
                          <a:solidFill>
                            <a:srgbClr val="000000"/>
                          </a:solidFill>
                          <a:effectLst/>
                          <a:latin typeface="Century Gothic" panose="020B0502020202020204" pitchFamily="34" charset="0"/>
                          <a:ea typeface="+mn-ea"/>
                          <a:cs typeface="+mn-cs"/>
                        </a:rPr>
                        <a:t>TV</a:t>
                      </a:r>
                    </a:p>
                  </a:txBody>
                  <a:tcPr marL="9525" marR="9525" marT="9525" marB="0" anchor="b">
                    <a:solidFill>
                      <a:schemeClr val="bg1"/>
                    </a:solidFill>
                  </a:tcPr>
                </a:tc>
                <a:extLst>
                  <a:ext uri="{0D108BD9-81ED-4DB2-BD59-A6C34878D82A}">
                    <a16:rowId xmlns:a16="http://schemas.microsoft.com/office/drawing/2014/main" val="1175558110"/>
                  </a:ext>
                </a:extLst>
              </a:tr>
            </a:tbl>
          </a:graphicData>
        </a:graphic>
      </p:graphicFrame>
    </p:spTree>
    <p:extLst>
      <p:ext uri="{BB962C8B-B14F-4D97-AF65-F5344CB8AC3E}">
        <p14:creationId xmlns:p14="http://schemas.microsoft.com/office/powerpoint/2010/main" val="24770938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C925E-6755-02E2-04A3-9E692C067A0A}"/>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DD546E2F-D30B-3A6B-AE63-AAA7D387B72C}"/>
              </a:ext>
            </a:extLst>
          </p:cNvPr>
          <p:cNvSpPr>
            <a:spLocks noGrp="1"/>
          </p:cNvSpPr>
          <p:nvPr>
            <p:ph type="sldNum" sz="quarter" idx="12"/>
          </p:nvPr>
        </p:nvSpPr>
        <p:spPr>
          <a:xfrm>
            <a:off x="10558300" y="6031087"/>
            <a:ext cx="1052508" cy="365125"/>
          </a:xfrm>
        </p:spPr>
        <p:txBody>
          <a:bodyPr/>
          <a:lstStyle/>
          <a:p>
            <a:fld id="{5E3E23BA-6E79-2442-BA73-D218A5E297C3}" type="slidenum">
              <a:rPr lang="en-US" sz="1800" smtClean="0"/>
              <a:t>24</a:t>
            </a:fld>
            <a:endParaRPr lang="en-US" sz="1800"/>
          </a:p>
        </p:txBody>
      </p:sp>
      <p:sp>
        <p:nvSpPr>
          <p:cNvPr id="2" name="Rectángulo 1">
            <a:extLst>
              <a:ext uri="{FF2B5EF4-FFF2-40B4-BE49-F238E27FC236}">
                <a16:creationId xmlns:a16="http://schemas.microsoft.com/office/drawing/2014/main" id="{74FDAF93-5BAA-9408-FD5A-90838667B30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48A3723D-7226-F8C4-9816-EE4EC47C67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F5EC61AE-E3D7-2F47-5CBD-07E15921481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6" name="Título 1">
            <a:extLst>
              <a:ext uri="{FF2B5EF4-FFF2-40B4-BE49-F238E27FC236}">
                <a16:creationId xmlns:a16="http://schemas.microsoft.com/office/drawing/2014/main" id="{E9537FFC-7DB5-EE2E-FAAE-89369EBC6A8C}"/>
              </a:ext>
            </a:extLst>
          </p:cNvPr>
          <p:cNvSpPr>
            <a:spLocks noGrp="1"/>
          </p:cNvSpPr>
          <p:nvPr>
            <p:ph type="title"/>
          </p:nvPr>
        </p:nvSpPr>
        <p:spPr>
          <a:xfrm>
            <a:off x="581192" y="702156"/>
            <a:ext cx="11029616" cy="1013800"/>
          </a:xfrm>
        </p:spPr>
        <p:txBody>
          <a:bodyPr>
            <a:normAutofit/>
          </a:bodyPr>
          <a:lstStyle/>
          <a:p>
            <a:r>
              <a:rPr lang="es-ES" dirty="0" err="1">
                <a:latin typeface="Century Gothic" panose="020B0502020202020204" pitchFamily="34" charset="0"/>
              </a:rPr>
              <a:t>EjeMPLO</a:t>
            </a:r>
            <a:r>
              <a:rPr lang="es-ES" dirty="0">
                <a:latin typeface="Century Gothic" panose="020B0502020202020204" pitchFamily="34" charset="0"/>
              </a:rPr>
              <a:t> 1.2 (WACC)</a:t>
            </a:r>
          </a:p>
        </p:txBody>
      </p:sp>
      <p:sp>
        <p:nvSpPr>
          <p:cNvPr id="3" name="Marcador de contenido 2">
            <a:extLst>
              <a:ext uri="{FF2B5EF4-FFF2-40B4-BE49-F238E27FC236}">
                <a16:creationId xmlns:a16="http://schemas.microsoft.com/office/drawing/2014/main" id="{FEE1A0D5-99ED-593A-A673-12C8425496E5}"/>
              </a:ext>
            </a:extLst>
          </p:cNvPr>
          <p:cNvSpPr>
            <a:spLocks noGrp="1"/>
          </p:cNvSpPr>
          <p:nvPr>
            <p:ph idx="1"/>
          </p:nvPr>
        </p:nvSpPr>
        <p:spPr>
          <a:xfrm>
            <a:off x="753452" y="2400808"/>
            <a:ext cx="10685096" cy="3829986"/>
          </a:xfrm>
        </p:spPr>
        <p:txBody>
          <a:bodyPr anchor="t">
            <a:normAutofit fontScale="85000" lnSpcReduction="20000"/>
          </a:bodyPr>
          <a:lstStyle/>
          <a:p>
            <a:pPr marL="0" indent="0" algn="just">
              <a:buClr>
                <a:schemeClr val="accent3">
                  <a:lumMod val="75000"/>
                </a:schemeClr>
              </a:buClr>
              <a:buNone/>
            </a:pPr>
            <a:r>
              <a:rPr lang="es-ES" b="1" dirty="0">
                <a:solidFill>
                  <a:schemeClr val="accent1"/>
                </a:solidFill>
                <a:latin typeface="Century Gothic" panose="020B0502020202020204" pitchFamily="34" charset="0"/>
              </a:rPr>
              <a:t>Ejemplo 1.2 : </a:t>
            </a:r>
            <a:r>
              <a:rPr lang="es-ES" dirty="0">
                <a:solidFill>
                  <a:schemeClr val="accent1"/>
                </a:solidFill>
                <a:latin typeface="Century Gothic" panose="020B0502020202020204" pitchFamily="34" charset="0"/>
              </a:rPr>
              <a:t>Usted tiene un proyecto de eficiencia geo-térmica. En los próximos dos años, usted espera el flujo de caja libre trimestral que se muestra a continuación.</a:t>
            </a:r>
          </a:p>
          <a:p>
            <a:pPr algn="just">
              <a:buClr>
                <a:schemeClr val="accent3">
                  <a:lumMod val="75000"/>
                </a:schemeClr>
              </a:buClr>
              <a:buFont typeface="Wingdings" panose="05000000000000000000" pitchFamily="2" charset="2"/>
              <a:buChar char="§"/>
            </a:pPr>
            <a:endParaRPr lang="es-ES" dirty="0">
              <a:solidFill>
                <a:schemeClr val="accent1"/>
              </a:solidFill>
              <a:latin typeface="Century Gothic" panose="020B0502020202020204" pitchFamily="34" charset="0"/>
            </a:endParaRPr>
          </a:p>
          <a:p>
            <a:pPr algn="just">
              <a:buClr>
                <a:schemeClr val="accent3">
                  <a:lumMod val="75000"/>
                </a:schemeClr>
              </a:buClr>
              <a:buFont typeface="Wingdings" panose="05000000000000000000" pitchFamily="2" charset="2"/>
              <a:buChar char="§"/>
            </a:pPr>
            <a:endParaRPr lang="es-ES" dirty="0">
              <a:solidFill>
                <a:schemeClr val="accent1"/>
              </a:solidFill>
              <a:latin typeface="Century Gothic" panose="020B0502020202020204" pitchFamily="34" charset="0"/>
            </a:endParaRPr>
          </a:p>
          <a:p>
            <a:pPr marL="0" indent="0" algn="just">
              <a:buClr>
                <a:schemeClr val="accent3">
                  <a:lumMod val="75000"/>
                </a:schemeClr>
              </a:buClr>
              <a:buNone/>
            </a:pPr>
            <a:r>
              <a:rPr lang="es-ES" dirty="0">
                <a:solidFill>
                  <a:schemeClr val="accent1"/>
                </a:solidFill>
                <a:latin typeface="Century Gothic" panose="020B0502020202020204" pitchFamily="34" charset="0"/>
              </a:rPr>
              <a:t>Usted cuenta con las siguientes fuentes de financiación.</a:t>
            </a:r>
          </a:p>
          <a:p>
            <a:pPr marL="0" indent="0" algn="just">
              <a:buClr>
                <a:schemeClr val="accent3">
                  <a:lumMod val="75000"/>
                </a:schemeClr>
              </a:buClr>
              <a:buNone/>
            </a:pPr>
            <a:endParaRPr lang="es-ES" dirty="0">
              <a:solidFill>
                <a:schemeClr val="accent1"/>
              </a:solidFill>
              <a:latin typeface="Century Gothic" panose="020B0502020202020204" pitchFamily="34" charset="0"/>
            </a:endParaRPr>
          </a:p>
          <a:p>
            <a:pPr marL="0" indent="0" algn="just">
              <a:buClr>
                <a:schemeClr val="accent3">
                  <a:lumMod val="75000"/>
                </a:schemeClr>
              </a:buClr>
              <a:buNone/>
            </a:pPr>
            <a:endParaRPr lang="es-ES" dirty="0">
              <a:solidFill>
                <a:schemeClr val="accent1"/>
              </a:solidFill>
              <a:latin typeface="Century Gothic" panose="020B0502020202020204" pitchFamily="34" charset="0"/>
            </a:endParaRPr>
          </a:p>
          <a:p>
            <a:pPr marL="0" indent="0" algn="just">
              <a:buClr>
                <a:schemeClr val="accent3">
                  <a:lumMod val="75000"/>
                </a:schemeClr>
              </a:buClr>
              <a:buNone/>
            </a:pPr>
            <a:endParaRPr lang="es-ES" dirty="0">
              <a:solidFill>
                <a:schemeClr val="accent1"/>
              </a:solidFill>
              <a:latin typeface="Century Gothic" panose="020B0502020202020204" pitchFamily="34" charset="0"/>
            </a:endParaRPr>
          </a:p>
          <a:p>
            <a:pPr marL="0" indent="0" algn="just">
              <a:buClr>
                <a:schemeClr val="accent3">
                  <a:lumMod val="75000"/>
                </a:schemeClr>
              </a:buClr>
              <a:buNone/>
            </a:pPr>
            <a:endParaRPr lang="es-ES" dirty="0">
              <a:solidFill>
                <a:schemeClr val="accent1"/>
              </a:solidFill>
              <a:latin typeface="Century Gothic" panose="020B0502020202020204" pitchFamily="34" charset="0"/>
            </a:endParaRPr>
          </a:p>
          <a:p>
            <a:pPr marL="0" indent="0" algn="just">
              <a:buClr>
                <a:schemeClr val="accent3">
                  <a:lumMod val="75000"/>
                </a:schemeClr>
              </a:buClr>
              <a:buNone/>
            </a:pPr>
            <a:endParaRPr lang="es-ES" dirty="0">
              <a:solidFill>
                <a:schemeClr val="accent1"/>
              </a:solidFill>
              <a:latin typeface="Century Gothic" panose="020B0502020202020204" pitchFamily="34" charset="0"/>
            </a:endParaRPr>
          </a:p>
          <a:p>
            <a:pPr marL="0" indent="0" algn="just">
              <a:buClr>
                <a:schemeClr val="accent3">
                  <a:lumMod val="75000"/>
                </a:schemeClr>
              </a:buClr>
              <a:buNone/>
            </a:pPr>
            <a:endParaRPr lang="es-ES" dirty="0">
              <a:solidFill>
                <a:schemeClr val="accent1"/>
              </a:solidFill>
              <a:latin typeface="Century Gothic" panose="020B0502020202020204" pitchFamily="34" charset="0"/>
            </a:endParaRPr>
          </a:p>
          <a:p>
            <a:pPr marL="0" indent="0" algn="just">
              <a:buClr>
                <a:schemeClr val="accent3">
                  <a:lumMod val="75000"/>
                </a:schemeClr>
              </a:buClr>
              <a:buNone/>
            </a:pPr>
            <a:endParaRPr lang="es-MX" dirty="0">
              <a:solidFill>
                <a:schemeClr val="accent1"/>
              </a:solidFill>
              <a:latin typeface="Century Gothic" panose="020B0502020202020204" pitchFamily="34" charset="0"/>
            </a:endParaRPr>
          </a:p>
          <a:p>
            <a:pPr marL="0" indent="0" algn="ctr">
              <a:buNone/>
            </a:pPr>
            <a:r>
              <a:rPr lang="es-MX" sz="1700" dirty="0">
                <a:solidFill>
                  <a:schemeClr val="accent1"/>
                </a:solidFill>
                <a:latin typeface="Century Gothic" panose="020B0502020202020204" pitchFamily="34" charset="0"/>
              </a:rPr>
              <a:t>Calcule el WACC del proyecto sin restricción y con restricción </a:t>
            </a:r>
            <a:r>
              <a:rPr lang="es-ES" sz="1600" dirty="0">
                <a:solidFill>
                  <a:schemeClr val="accent1"/>
                </a:solidFill>
                <a:latin typeface="Century Gothic" panose="020B0502020202020204" pitchFamily="34" charset="0"/>
              </a:rPr>
              <a:t>de D/E de 1,5</a:t>
            </a:r>
            <a:r>
              <a:rPr lang="es-MX" sz="1700" dirty="0">
                <a:solidFill>
                  <a:schemeClr val="accent1"/>
                </a:solidFill>
                <a:latin typeface="Century Gothic" panose="020B0502020202020204" pitchFamily="34" charset="0"/>
              </a:rPr>
              <a:t>.</a:t>
            </a:r>
            <a:endParaRPr lang="es-ES" sz="1700" dirty="0">
              <a:solidFill>
                <a:schemeClr val="accent1"/>
              </a:solidFill>
              <a:latin typeface="Century Gothic" panose="020B0502020202020204" pitchFamily="34" charset="0"/>
            </a:endParaRPr>
          </a:p>
        </p:txBody>
      </p:sp>
      <p:graphicFrame>
        <p:nvGraphicFramePr>
          <p:cNvPr id="9" name="Table 8">
            <a:extLst>
              <a:ext uri="{FF2B5EF4-FFF2-40B4-BE49-F238E27FC236}">
                <a16:creationId xmlns:a16="http://schemas.microsoft.com/office/drawing/2014/main" id="{195D0FF8-802F-BB68-E4D2-22EE2B06A207}"/>
              </a:ext>
            </a:extLst>
          </p:cNvPr>
          <p:cNvGraphicFramePr>
            <a:graphicFrameLocks noGrp="1"/>
          </p:cNvGraphicFramePr>
          <p:nvPr>
            <p:extLst>
              <p:ext uri="{D42A27DB-BD31-4B8C-83A1-F6EECF244321}">
                <p14:modId xmlns:p14="http://schemas.microsoft.com/office/powerpoint/2010/main" val="4222098908"/>
              </p:ext>
            </p:extLst>
          </p:nvPr>
        </p:nvGraphicFramePr>
        <p:xfrm>
          <a:off x="1263650" y="2920495"/>
          <a:ext cx="9664699" cy="479266"/>
        </p:xfrm>
        <a:graphic>
          <a:graphicData uri="http://schemas.openxmlformats.org/drawingml/2006/table">
            <a:tbl>
              <a:tblPr firstRow="1" firstCol="1">
                <a:tableStyleId>{6E25E649-3F16-4E02-A733-19D2CDBF48F0}</a:tableStyleId>
              </a:tblPr>
              <a:tblGrid>
                <a:gridCol w="1535691">
                  <a:extLst>
                    <a:ext uri="{9D8B030D-6E8A-4147-A177-3AD203B41FA5}">
                      <a16:colId xmlns:a16="http://schemas.microsoft.com/office/drawing/2014/main" val="873951211"/>
                    </a:ext>
                  </a:extLst>
                </a:gridCol>
                <a:gridCol w="888416">
                  <a:extLst>
                    <a:ext uri="{9D8B030D-6E8A-4147-A177-3AD203B41FA5}">
                      <a16:colId xmlns:a16="http://schemas.microsoft.com/office/drawing/2014/main" val="2800603575"/>
                    </a:ext>
                  </a:extLst>
                </a:gridCol>
                <a:gridCol w="888416">
                  <a:extLst>
                    <a:ext uri="{9D8B030D-6E8A-4147-A177-3AD203B41FA5}">
                      <a16:colId xmlns:a16="http://schemas.microsoft.com/office/drawing/2014/main" val="2784560027"/>
                    </a:ext>
                  </a:extLst>
                </a:gridCol>
                <a:gridCol w="888416">
                  <a:extLst>
                    <a:ext uri="{9D8B030D-6E8A-4147-A177-3AD203B41FA5}">
                      <a16:colId xmlns:a16="http://schemas.microsoft.com/office/drawing/2014/main" val="3252917969"/>
                    </a:ext>
                  </a:extLst>
                </a:gridCol>
                <a:gridCol w="980431">
                  <a:extLst>
                    <a:ext uri="{9D8B030D-6E8A-4147-A177-3AD203B41FA5}">
                      <a16:colId xmlns:a16="http://schemas.microsoft.com/office/drawing/2014/main" val="4055908481"/>
                    </a:ext>
                  </a:extLst>
                </a:gridCol>
                <a:gridCol w="888416">
                  <a:extLst>
                    <a:ext uri="{9D8B030D-6E8A-4147-A177-3AD203B41FA5}">
                      <a16:colId xmlns:a16="http://schemas.microsoft.com/office/drawing/2014/main" val="865220546"/>
                    </a:ext>
                  </a:extLst>
                </a:gridCol>
                <a:gridCol w="888416">
                  <a:extLst>
                    <a:ext uri="{9D8B030D-6E8A-4147-A177-3AD203B41FA5}">
                      <a16:colId xmlns:a16="http://schemas.microsoft.com/office/drawing/2014/main" val="3153904783"/>
                    </a:ext>
                  </a:extLst>
                </a:gridCol>
                <a:gridCol w="888416">
                  <a:extLst>
                    <a:ext uri="{9D8B030D-6E8A-4147-A177-3AD203B41FA5}">
                      <a16:colId xmlns:a16="http://schemas.microsoft.com/office/drawing/2014/main" val="3229762266"/>
                    </a:ext>
                  </a:extLst>
                </a:gridCol>
                <a:gridCol w="1028025">
                  <a:extLst>
                    <a:ext uri="{9D8B030D-6E8A-4147-A177-3AD203B41FA5}">
                      <a16:colId xmlns:a16="http://schemas.microsoft.com/office/drawing/2014/main" val="1472707082"/>
                    </a:ext>
                  </a:extLst>
                </a:gridCol>
                <a:gridCol w="790056">
                  <a:extLst>
                    <a:ext uri="{9D8B030D-6E8A-4147-A177-3AD203B41FA5}">
                      <a16:colId xmlns:a16="http://schemas.microsoft.com/office/drawing/2014/main" val="1868184468"/>
                    </a:ext>
                  </a:extLst>
                </a:gridCol>
              </a:tblGrid>
              <a:tr h="239633">
                <a:tc>
                  <a:txBody>
                    <a:bodyPr/>
                    <a:lstStyle/>
                    <a:p>
                      <a:pPr algn="ctr" fontAlgn="b"/>
                      <a:r>
                        <a:rPr lang="en-US" sz="1200" b="0" u="none" strike="noStrike" dirty="0" err="1">
                          <a:effectLst/>
                        </a:rPr>
                        <a:t>Periodo</a:t>
                      </a:r>
                      <a:endParaRPr lang="en-US" sz="1200" b="0" i="0" u="none" strike="noStrike" dirty="0">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0</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1</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2</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3</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4</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5</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6</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7</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8</a:t>
                      </a:r>
                      <a:endParaRPr lang="en-CO" sz="1200" b="0" i="0" u="none" strike="noStrike">
                        <a:solidFill>
                          <a:srgbClr val="FFFFFF"/>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409423743"/>
                  </a:ext>
                </a:extLst>
              </a:tr>
              <a:tr h="239633">
                <a:tc>
                  <a:txBody>
                    <a:bodyPr/>
                    <a:lstStyle/>
                    <a:p>
                      <a:pPr algn="ctr" fontAlgn="b"/>
                      <a:r>
                        <a:rPr lang="en-US" sz="1200" b="0" u="none" strike="noStrike" dirty="0">
                          <a:effectLst/>
                        </a:rPr>
                        <a:t>FCL (Trimestral)</a:t>
                      </a:r>
                      <a:endParaRPr lang="en-US" sz="12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dirty="0">
                          <a:effectLst/>
                        </a:rPr>
                        <a:t>-$ 150.000</a:t>
                      </a:r>
                      <a:endParaRPr lang="en-CO" sz="12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$ 35.000</a:t>
                      </a:r>
                      <a:endParaRPr lang="en-CO" sz="12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$ 35.000</a:t>
                      </a:r>
                      <a:endParaRPr lang="en-CO" sz="12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$ 35.000</a:t>
                      </a:r>
                      <a:endParaRPr lang="en-CO" sz="12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$ 35.000</a:t>
                      </a:r>
                      <a:endParaRPr lang="en-CO" sz="12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$ 35.000</a:t>
                      </a:r>
                      <a:endParaRPr lang="en-CO" sz="12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$ 35.000</a:t>
                      </a:r>
                      <a:endParaRPr lang="en-CO" sz="12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$ 35.000</a:t>
                      </a:r>
                      <a:endParaRPr lang="en-CO" sz="12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dirty="0">
                          <a:effectLst/>
                        </a:rPr>
                        <a:t>$ 35.000</a:t>
                      </a:r>
                      <a:endParaRPr lang="en-CO" sz="1200" b="0" i="0" u="none" strike="noStrike" dirty="0">
                        <a:solidFill>
                          <a:srgbClr val="000000"/>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2318445255"/>
                  </a:ext>
                </a:extLst>
              </a:tr>
            </a:tbl>
          </a:graphicData>
        </a:graphic>
      </p:graphicFrame>
      <p:graphicFrame>
        <p:nvGraphicFramePr>
          <p:cNvPr id="7" name="Tabla 8">
            <a:extLst>
              <a:ext uri="{FF2B5EF4-FFF2-40B4-BE49-F238E27FC236}">
                <a16:creationId xmlns:a16="http://schemas.microsoft.com/office/drawing/2014/main" id="{3D43CACD-74F3-AEC2-2310-B5405CE43D38}"/>
              </a:ext>
            </a:extLst>
          </p:cNvPr>
          <p:cNvGraphicFramePr>
            <a:graphicFrameLocks noGrp="1"/>
          </p:cNvGraphicFramePr>
          <p:nvPr>
            <p:extLst>
              <p:ext uri="{D42A27DB-BD31-4B8C-83A1-F6EECF244321}">
                <p14:modId xmlns:p14="http://schemas.microsoft.com/office/powerpoint/2010/main" val="3130402566"/>
              </p:ext>
            </p:extLst>
          </p:nvPr>
        </p:nvGraphicFramePr>
        <p:xfrm>
          <a:off x="1158719" y="3808093"/>
          <a:ext cx="4213613" cy="1980930"/>
        </p:xfrm>
        <a:graphic>
          <a:graphicData uri="http://schemas.openxmlformats.org/drawingml/2006/table">
            <a:tbl>
              <a:tblPr/>
              <a:tblGrid>
                <a:gridCol w="1657640">
                  <a:extLst>
                    <a:ext uri="{9D8B030D-6E8A-4147-A177-3AD203B41FA5}">
                      <a16:colId xmlns:a16="http://schemas.microsoft.com/office/drawing/2014/main" val="2141042563"/>
                    </a:ext>
                  </a:extLst>
                </a:gridCol>
                <a:gridCol w="2555973">
                  <a:extLst>
                    <a:ext uri="{9D8B030D-6E8A-4147-A177-3AD203B41FA5}">
                      <a16:colId xmlns:a16="http://schemas.microsoft.com/office/drawing/2014/main" val="1175996226"/>
                    </a:ext>
                  </a:extLst>
                </a:gridCol>
              </a:tblGrid>
              <a:tr h="239912">
                <a:tc gridSpan="2">
                  <a:txBody>
                    <a:bodyPr/>
                    <a:lstStyle/>
                    <a:p>
                      <a:pPr algn="ctr" fontAlgn="ctr"/>
                      <a:r>
                        <a:rPr lang="es-ES" sz="1200" b="1" dirty="0">
                          <a:solidFill>
                            <a:schemeClr val="bg1"/>
                          </a:solidFill>
                          <a:highlight>
                            <a:srgbClr val="003300"/>
                          </a:highlight>
                          <a:latin typeface="Century Gothic"/>
                        </a:rPr>
                        <a:t>Condiciones de la deuda:</a:t>
                      </a:r>
                      <a:endParaRPr lang="es-CO" sz="1200" b="1" i="0" u="none" strike="noStrike" dirty="0">
                        <a:solidFill>
                          <a:schemeClr val="bg1"/>
                        </a:solidFill>
                        <a:effectLst/>
                        <a:highlight>
                          <a:srgbClr val="003300"/>
                        </a:highlight>
                        <a:latin typeface="Verdana" panose="020B0604030504040204" pitchFamily="34" charset="0"/>
                      </a:endParaRP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hMerge="1">
                  <a:txBody>
                    <a:bodyPr/>
                    <a:lstStyle/>
                    <a:p>
                      <a:endParaRPr dirty="0"/>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extLst>
                  <a:ext uri="{0D108BD9-81ED-4DB2-BD59-A6C34878D82A}">
                    <a16:rowId xmlns:a16="http://schemas.microsoft.com/office/drawing/2014/main" val="875145480"/>
                  </a:ext>
                </a:extLst>
              </a:tr>
              <a:tr h="247612">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Tasa de interés</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10,50% NA/SV</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944001545"/>
                  </a:ext>
                </a:extLst>
              </a:tr>
              <a:tr h="247612">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Plazo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a:solidFill>
                            <a:srgbClr val="000000"/>
                          </a:solidFill>
                          <a:effectLst/>
                          <a:latin typeface="Verdana" panose="020B0604030504040204" pitchFamily="34" charset="0"/>
                        </a:rPr>
                        <a:t>2 años</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942679685"/>
                  </a:ext>
                </a:extLst>
              </a:tr>
              <a:tr h="329807">
                <a:tc>
                  <a:txBody>
                    <a:bodyPr/>
                    <a:lstStyle/>
                    <a:p>
                      <a:pPr algn="ctr" fontAlgn="ctr"/>
                      <a:r>
                        <a:rPr lang="es-CO" sz="1200" b="0" i="0" u="none" strike="noStrike">
                          <a:solidFill>
                            <a:srgbClr val="000000"/>
                          </a:solidFill>
                          <a:effectLst/>
                          <a:highlight>
                            <a:srgbClr val="C6E0B4"/>
                          </a:highlight>
                          <a:latin typeface="Verdana" panose="020B0604030504040204" pitchFamily="34" charset="0"/>
                        </a:rPr>
                        <a:t>Forma de Pago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Amortización Constante Semestral</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070012027"/>
                  </a:ext>
                </a:extLst>
              </a:tr>
              <a:tr h="247612">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Comisión</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a:solidFill>
                            <a:srgbClr val="FF0000"/>
                          </a:solidFill>
                          <a:effectLst/>
                          <a:latin typeface="Verdana"/>
                        </a:rPr>
                        <a:t>$5.625 en el momento del </a:t>
                      </a:r>
                      <a:r>
                        <a:rPr lang="es-CO" sz="1200" b="0" i="0" u="none" strike="noStrike" dirty="0">
                          <a:solidFill>
                            <a:srgbClr val="FF0000"/>
                          </a:solidFill>
                          <a:effectLst/>
                          <a:latin typeface="Verdana"/>
                        </a:rPr>
                        <a:t>desembolso</a:t>
                      </a:r>
                      <a:endParaRPr lang="es-ES" dirty="0"/>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952033095"/>
                  </a:ext>
                </a:extLst>
              </a:tr>
              <a:tr h="247612">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Monto Máximo</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$ 112.500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2975502189"/>
                  </a:ext>
                </a:extLst>
              </a:tr>
              <a:tr h="247612">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Tasa impositiva</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33%</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2389432465"/>
                  </a:ext>
                </a:extLst>
              </a:tr>
            </a:tbl>
          </a:graphicData>
        </a:graphic>
      </p:graphicFrame>
      <p:graphicFrame>
        <p:nvGraphicFramePr>
          <p:cNvPr id="14" name="Tabla 10">
            <a:extLst>
              <a:ext uri="{FF2B5EF4-FFF2-40B4-BE49-F238E27FC236}">
                <a16:creationId xmlns:a16="http://schemas.microsoft.com/office/drawing/2014/main" id="{A4AEF04B-D939-8F03-6DDB-94B830C8FC00}"/>
              </a:ext>
            </a:extLst>
          </p:cNvPr>
          <p:cNvGraphicFramePr>
            <a:graphicFrameLocks noGrp="1"/>
          </p:cNvGraphicFramePr>
          <p:nvPr>
            <p:extLst>
              <p:ext uri="{D42A27DB-BD31-4B8C-83A1-F6EECF244321}">
                <p14:modId xmlns:p14="http://schemas.microsoft.com/office/powerpoint/2010/main" val="3831008858"/>
              </p:ext>
            </p:extLst>
          </p:nvPr>
        </p:nvGraphicFramePr>
        <p:xfrm>
          <a:off x="6095999" y="3913826"/>
          <a:ext cx="4427095" cy="1382220"/>
        </p:xfrm>
        <a:graphic>
          <a:graphicData uri="http://schemas.openxmlformats.org/drawingml/2006/table">
            <a:tbl>
              <a:tblPr/>
              <a:tblGrid>
                <a:gridCol w="1783621">
                  <a:extLst>
                    <a:ext uri="{9D8B030D-6E8A-4147-A177-3AD203B41FA5}">
                      <a16:colId xmlns:a16="http://schemas.microsoft.com/office/drawing/2014/main" val="2420916561"/>
                    </a:ext>
                  </a:extLst>
                </a:gridCol>
                <a:gridCol w="2643474">
                  <a:extLst>
                    <a:ext uri="{9D8B030D-6E8A-4147-A177-3AD203B41FA5}">
                      <a16:colId xmlns:a16="http://schemas.microsoft.com/office/drawing/2014/main" val="2946405157"/>
                    </a:ext>
                  </a:extLst>
                </a:gridCol>
              </a:tblGrid>
              <a:tr h="299664">
                <a:tc gridSpan="2">
                  <a:txBody>
                    <a:bodyPr/>
                    <a:lstStyle/>
                    <a:p>
                      <a:pPr algn="ctr" fontAlgn="ctr"/>
                      <a:r>
                        <a:rPr lang="es-CO" sz="1200" b="1" i="0" u="none" strike="noStrike" dirty="0">
                          <a:solidFill>
                            <a:srgbClr val="FFFFFF"/>
                          </a:solidFill>
                          <a:effectLst/>
                          <a:highlight>
                            <a:srgbClr val="003300"/>
                          </a:highlight>
                          <a:latin typeface="Verdana" panose="020B0604030504040204" pitchFamily="34" charset="0"/>
                        </a:rPr>
                        <a:t>Emisión de Acciones:</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tc hMerge="1">
                  <a:txBody>
                    <a:bodyPr/>
                    <a:lstStyle/>
                    <a:p>
                      <a:pPr algn="ctr" fontAlgn="ctr"/>
                      <a:r>
                        <a:rPr lang="es-CO" sz="1200" b="1" i="0" u="none" strike="noStrike" dirty="0">
                          <a:solidFill>
                            <a:srgbClr val="FFFFFF"/>
                          </a:solidFill>
                          <a:effectLst/>
                          <a:highlight>
                            <a:srgbClr val="003300"/>
                          </a:highlight>
                          <a:latin typeface="Verdana" panose="020B0604030504040204" pitchFamily="34" charset="0"/>
                        </a:rPr>
                        <a:t>Equity</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003300"/>
                    </a:solidFill>
                  </a:tcPr>
                </a:tc>
                <a:extLst>
                  <a:ext uri="{0D108BD9-81ED-4DB2-BD59-A6C34878D82A}">
                    <a16:rowId xmlns:a16="http://schemas.microsoft.com/office/drawing/2014/main" val="2352259675"/>
                  </a:ext>
                </a:extLst>
              </a:tr>
              <a:tr h="225662">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Precio emisión</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50,00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2435528174"/>
                  </a:ext>
                </a:extLst>
              </a:tr>
              <a:tr h="232347">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Dividendo año hoy</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7,50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563232067"/>
                  </a:ext>
                </a:extLst>
              </a:tr>
              <a:tr h="209863">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Crecimiento Anual</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4,50%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832245458"/>
                  </a:ext>
                </a:extLst>
              </a:tr>
              <a:tr h="222279">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Costo de emisión</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2,00%</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1540023035"/>
                  </a:ext>
                </a:extLst>
              </a:tr>
              <a:tr h="0">
                <a:tc>
                  <a:txBody>
                    <a:bodyPr/>
                    <a:lstStyle/>
                    <a:p>
                      <a:pPr algn="ctr" fontAlgn="ctr"/>
                      <a:r>
                        <a:rPr lang="es-CO" sz="1200" b="0" i="0" u="none" strike="noStrike" dirty="0">
                          <a:solidFill>
                            <a:srgbClr val="000000"/>
                          </a:solidFill>
                          <a:effectLst/>
                          <a:highlight>
                            <a:srgbClr val="C6E0B4"/>
                          </a:highlight>
                          <a:latin typeface="Verdana" panose="020B0604030504040204" pitchFamily="34" charset="0"/>
                        </a:rPr>
                        <a:t>Tasa impositiva</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solidFill>
                      <a:srgbClr val="C6E0B4"/>
                    </a:solidFill>
                  </a:tcPr>
                </a:tc>
                <a:tc>
                  <a:txBody>
                    <a:bodyPr/>
                    <a:lstStyle/>
                    <a:p>
                      <a:pPr algn="ctr" fontAlgn="ctr"/>
                      <a:r>
                        <a:rPr lang="es-CO" sz="1200" b="0" i="0" u="none" strike="noStrike" dirty="0">
                          <a:solidFill>
                            <a:srgbClr val="000000"/>
                          </a:solidFill>
                          <a:effectLst/>
                          <a:latin typeface="Verdana" panose="020B0604030504040204" pitchFamily="34" charset="0"/>
                        </a:rPr>
                        <a:t>33%</a:t>
                      </a:r>
                    </a:p>
                  </a:txBody>
                  <a:tcPr marL="9525" marR="9525" marT="9525" marB="0" anchor="ctr">
                    <a:lnL w="6350" cap="flat" cmpd="sng" algn="ctr">
                      <a:solidFill>
                        <a:srgbClr val="CC9900"/>
                      </a:solidFill>
                      <a:prstDash val="solid"/>
                      <a:round/>
                      <a:headEnd type="none" w="med" len="med"/>
                      <a:tailEnd type="none" w="med" len="med"/>
                    </a:lnL>
                    <a:lnR w="6350" cap="flat" cmpd="sng" algn="ctr">
                      <a:solidFill>
                        <a:srgbClr val="CC9900"/>
                      </a:solidFill>
                      <a:prstDash val="solid"/>
                      <a:round/>
                      <a:headEnd type="none" w="med" len="med"/>
                      <a:tailEnd type="none" w="med" len="med"/>
                    </a:lnR>
                    <a:lnT w="6350" cap="flat" cmpd="sng" algn="ctr">
                      <a:solidFill>
                        <a:srgbClr val="CC9900"/>
                      </a:solidFill>
                      <a:prstDash val="solid"/>
                      <a:round/>
                      <a:headEnd type="none" w="med" len="med"/>
                      <a:tailEnd type="none" w="med" len="med"/>
                    </a:lnT>
                    <a:lnB w="6350" cap="flat" cmpd="sng" algn="ctr">
                      <a:solidFill>
                        <a:srgbClr val="CC9900"/>
                      </a:solidFill>
                      <a:prstDash val="solid"/>
                      <a:round/>
                      <a:headEnd type="none" w="med" len="med"/>
                      <a:tailEnd type="none" w="med" len="med"/>
                    </a:lnB>
                    <a:noFill/>
                  </a:tcPr>
                </a:tc>
                <a:extLst>
                  <a:ext uri="{0D108BD9-81ED-4DB2-BD59-A6C34878D82A}">
                    <a16:rowId xmlns:a16="http://schemas.microsoft.com/office/drawing/2014/main" val="821117134"/>
                  </a:ext>
                </a:extLst>
              </a:tr>
            </a:tbl>
          </a:graphicData>
        </a:graphic>
      </p:graphicFrame>
      <p:sp>
        <p:nvSpPr>
          <p:cNvPr id="13" name="TextBox 12">
            <a:extLst>
              <a:ext uri="{FF2B5EF4-FFF2-40B4-BE49-F238E27FC236}">
                <a16:creationId xmlns:a16="http://schemas.microsoft.com/office/drawing/2014/main" id="{EBAD0802-DF65-9E5C-0B86-7C2990E1F8FA}"/>
              </a:ext>
            </a:extLst>
          </p:cNvPr>
          <p:cNvSpPr txBox="1"/>
          <p:nvPr/>
        </p:nvSpPr>
        <p:spPr>
          <a:xfrm>
            <a:off x="2229078" y="1869721"/>
            <a:ext cx="6967387" cy="369332"/>
          </a:xfrm>
          <a:prstGeom prst="rect">
            <a:avLst/>
          </a:prstGeom>
          <a:noFill/>
        </p:spPr>
        <p:txBody>
          <a:bodyPr wrap="square">
            <a:spAutoFit/>
          </a:bodyPr>
          <a:lstStyle/>
          <a:p>
            <a:pPr marL="0" indent="0" algn="ctr">
              <a:buNone/>
            </a:pPr>
            <a:r>
              <a:rPr lang="es-ES" b="1" dirty="0">
                <a:solidFill>
                  <a:srgbClr val="C00000"/>
                </a:solidFill>
                <a:latin typeface="Century Gothic" panose="020B0502020202020204" pitchFamily="34" charset="0"/>
              </a:rPr>
              <a:t>¿Qué pasa si hay comisiones con monto fijo en el FCD?</a:t>
            </a:r>
          </a:p>
        </p:txBody>
      </p:sp>
    </p:spTree>
    <p:extLst>
      <p:ext uri="{BB962C8B-B14F-4D97-AF65-F5344CB8AC3E}">
        <p14:creationId xmlns:p14="http://schemas.microsoft.com/office/powerpoint/2010/main" val="23335701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6798E-393A-F8DC-5DD9-EEB7F4127E0B}"/>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C707539-0608-F5E9-1B84-2CA9052FC4D6}"/>
              </a:ext>
            </a:extLst>
          </p:cNvPr>
          <p:cNvSpPr>
            <a:spLocks noGrp="1"/>
          </p:cNvSpPr>
          <p:nvPr>
            <p:ph type="sldNum" sz="quarter" idx="12"/>
          </p:nvPr>
        </p:nvSpPr>
        <p:spPr>
          <a:xfrm>
            <a:off x="10558300" y="6031087"/>
            <a:ext cx="1052508" cy="365125"/>
          </a:xfrm>
        </p:spPr>
        <p:txBody>
          <a:bodyPr/>
          <a:lstStyle/>
          <a:p>
            <a:fld id="{5E3E23BA-6E79-2442-BA73-D218A5E297C3}" type="slidenum">
              <a:rPr lang="en-US" sz="1800" smtClean="0"/>
              <a:t>25</a:t>
            </a:fld>
            <a:endParaRPr lang="en-US" sz="1800"/>
          </a:p>
        </p:txBody>
      </p:sp>
      <p:sp>
        <p:nvSpPr>
          <p:cNvPr id="2" name="Rectángulo 1">
            <a:extLst>
              <a:ext uri="{FF2B5EF4-FFF2-40B4-BE49-F238E27FC236}">
                <a16:creationId xmlns:a16="http://schemas.microsoft.com/office/drawing/2014/main" id="{B08ACAC2-F57E-C786-F966-1F0507294BD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B383E8C7-9483-04BB-63D4-2E05465B03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289AABAF-B0B6-D80B-534E-2A65C3404D1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6" name="Título 1">
            <a:extLst>
              <a:ext uri="{FF2B5EF4-FFF2-40B4-BE49-F238E27FC236}">
                <a16:creationId xmlns:a16="http://schemas.microsoft.com/office/drawing/2014/main" id="{26802741-08AE-62FA-9FB0-6D7B696B8B98}"/>
              </a:ext>
            </a:extLst>
          </p:cNvPr>
          <p:cNvSpPr>
            <a:spLocks noGrp="1"/>
          </p:cNvSpPr>
          <p:nvPr>
            <p:ph type="title"/>
          </p:nvPr>
        </p:nvSpPr>
        <p:spPr>
          <a:xfrm>
            <a:off x="581192" y="702156"/>
            <a:ext cx="11029616" cy="1013800"/>
          </a:xfrm>
        </p:spPr>
        <p:txBody>
          <a:bodyPr>
            <a:normAutofit/>
          </a:bodyPr>
          <a:lstStyle/>
          <a:p>
            <a:r>
              <a:rPr lang="es-ES" dirty="0">
                <a:latin typeface="Century Gothic" panose="020B0502020202020204" pitchFamily="34" charset="0"/>
              </a:rPr>
              <a:t>EJEMPLO 2. (WACC)</a:t>
            </a:r>
          </a:p>
        </p:txBody>
      </p:sp>
      <p:sp>
        <p:nvSpPr>
          <p:cNvPr id="3" name="Marcador de contenido 2">
            <a:extLst>
              <a:ext uri="{FF2B5EF4-FFF2-40B4-BE49-F238E27FC236}">
                <a16:creationId xmlns:a16="http://schemas.microsoft.com/office/drawing/2014/main" id="{AD8BB0EC-DE56-03DB-6B65-EE17A80986AE}"/>
              </a:ext>
            </a:extLst>
          </p:cNvPr>
          <p:cNvSpPr>
            <a:spLocks noGrp="1"/>
          </p:cNvSpPr>
          <p:nvPr>
            <p:ph idx="1"/>
          </p:nvPr>
        </p:nvSpPr>
        <p:spPr>
          <a:xfrm>
            <a:off x="753452" y="2400807"/>
            <a:ext cx="10685096" cy="3527803"/>
          </a:xfrm>
        </p:spPr>
        <p:txBody>
          <a:bodyPr anchor="t">
            <a:normAutofit fontScale="77500" lnSpcReduction="20000"/>
          </a:bodyPr>
          <a:lstStyle/>
          <a:p>
            <a:pPr marL="0" indent="0">
              <a:buClr>
                <a:schemeClr val="accent3">
                  <a:lumMod val="75000"/>
                </a:schemeClr>
              </a:buClr>
              <a:buNone/>
            </a:pPr>
            <a:r>
              <a:rPr lang="es-ES" dirty="0">
                <a:solidFill>
                  <a:schemeClr val="accent1"/>
                </a:solidFill>
                <a:latin typeface="Century Gothic" panose="020B0502020202020204" pitchFamily="34" charset="0"/>
              </a:rPr>
              <a:t>Le proponen un negocio con los siguientes Flujos de Caja Trimestrales:</a:t>
            </a:r>
          </a:p>
          <a:p>
            <a:pPr>
              <a:buClr>
                <a:schemeClr val="accent3">
                  <a:lumMod val="75000"/>
                </a:schemeClr>
              </a:buClr>
              <a:buFont typeface="Wingdings" panose="05000000000000000000" pitchFamily="2" charset="2"/>
              <a:buChar char="§"/>
            </a:pPr>
            <a:endParaRPr lang="es-ES" dirty="0">
              <a:solidFill>
                <a:schemeClr val="accent1"/>
              </a:solidFill>
              <a:latin typeface="Century Gothic" panose="020B0502020202020204" pitchFamily="34" charset="0"/>
            </a:endParaRPr>
          </a:p>
          <a:p>
            <a:pPr>
              <a:buClr>
                <a:schemeClr val="accent3">
                  <a:lumMod val="75000"/>
                </a:schemeClr>
              </a:buClr>
              <a:buFont typeface="Wingdings" panose="05000000000000000000" pitchFamily="2" charset="2"/>
              <a:buChar char="§"/>
            </a:pPr>
            <a:endParaRPr lang="es-ES" dirty="0">
              <a:solidFill>
                <a:schemeClr val="accent1"/>
              </a:solidFill>
              <a:latin typeface="Century Gothic" panose="020B0502020202020204" pitchFamily="34" charset="0"/>
            </a:endParaRPr>
          </a:p>
          <a:p>
            <a:pPr>
              <a:buClr>
                <a:schemeClr val="accent3">
                  <a:lumMod val="75000"/>
                </a:schemeClr>
              </a:buClr>
              <a:buFont typeface="Wingdings" panose="05000000000000000000" pitchFamily="2" charset="2"/>
              <a:buChar char="§"/>
            </a:pPr>
            <a:endParaRPr lang="es-ES" dirty="0">
              <a:solidFill>
                <a:schemeClr val="accent1"/>
              </a:solidFill>
              <a:latin typeface="Century Gothic" panose="020B0502020202020204" pitchFamily="34" charset="0"/>
            </a:endParaRPr>
          </a:p>
          <a:p>
            <a:pPr marL="0" indent="0">
              <a:buClr>
                <a:schemeClr val="accent3">
                  <a:lumMod val="75000"/>
                </a:schemeClr>
              </a:buClr>
              <a:buNone/>
            </a:pPr>
            <a:r>
              <a:rPr lang="es-ES" dirty="0">
                <a:solidFill>
                  <a:schemeClr val="accent1"/>
                </a:solidFill>
                <a:latin typeface="Century Gothic" panose="020B0502020202020204" pitchFamily="34" charset="0"/>
              </a:rPr>
              <a:t>Usted cuenta con las siguientes fuentes de financiación.</a:t>
            </a:r>
          </a:p>
          <a:p>
            <a:pPr marL="0" indent="0">
              <a:buClr>
                <a:schemeClr val="accent3">
                  <a:lumMod val="75000"/>
                </a:schemeClr>
              </a:buClr>
              <a:buNone/>
            </a:pPr>
            <a:endParaRPr lang="es-ES" dirty="0">
              <a:solidFill>
                <a:schemeClr val="accent1"/>
              </a:solidFill>
              <a:latin typeface="Century Gothic" panose="020B0502020202020204" pitchFamily="34" charset="0"/>
            </a:endParaRPr>
          </a:p>
          <a:p>
            <a:pPr marL="0" indent="0">
              <a:buClr>
                <a:schemeClr val="accent3">
                  <a:lumMod val="75000"/>
                </a:schemeClr>
              </a:buClr>
              <a:buNone/>
            </a:pPr>
            <a:endParaRPr lang="es-ES" dirty="0">
              <a:solidFill>
                <a:schemeClr val="accent1"/>
              </a:solidFill>
              <a:latin typeface="Century Gothic" panose="020B0502020202020204" pitchFamily="34" charset="0"/>
            </a:endParaRPr>
          </a:p>
          <a:p>
            <a:pPr marL="0" indent="0">
              <a:buClr>
                <a:schemeClr val="accent3">
                  <a:lumMod val="75000"/>
                </a:schemeClr>
              </a:buClr>
              <a:buNone/>
            </a:pPr>
            <a:endParaRPr lang="es-ES" dirty="0">
              <a:solidFill>
                <a:schemeClr val="accent1"/>
              </a:solidFill>
              <a:latin typeface="Century Gothic" panose="020B0502020202020204" pitchFamily="34" charset="0"/>
            </a:endParaRPr>
          </a:p>
          <a:p>
            <a:pPr marL="0" indent="0">
              <a:buClr>
                <a:schemeClr val="accent3">
                  <a:lumMod val="75000"/>
                </a:schemeClr>
              </a:buClr>
              <a:buNone/>
            </a:pPr>
            <a:endParaRPr lang="es-ES" dirty="0">
              <a:solidFill>
                <a:schemeClr val="accent1"/>
              </a:solidFill>
              <a:latin typeface="Century Gothic" panose="020B0502020202020204" pitchFamily="34" charset="0"/>
            </a:endParaRPr>
          </a:p>
          <a:p>
            <a:pPr marL="0" indent="0">
              <a:buClr>
                <a:schemeClr val="accent3">
                  <a:lumMod val="75000"/>
                </a:schemeClr>
              </a:buClr>
              <a:buNone/>
            </a:pPr>
            <a:endParaRPr lang="es-ES" dirty="0">
              <a:solidFill>
                <a:schemeClr val="accent1"/>
              </a:solidFill>
              <a:latin typeface="Century Gothic" panose="020B0502020202020204" pitchFamily="34" charset="0"/>
            </a:endParaRPr>
          </a:p>
          <a:p>
            <a:pPr marL="0" indent="0">
              <a:buClr>
                <a:schemeClr val="accent3">
                  <a:lumMod val="75000"/>
                </a:schemeClr>
              </a:buClr>
              <a:buNone/>
            </a:pPr>
            <a:endParaRPr lang="es-ES" dirty="0">
              <a:solidFill>
                <a:schemeClr val="accent1"/>
              </a:solidFill>
              <a:latin typeface="Century Gothic" panose="020B0502020202020204" pitchFamily="34" charset="0"/>
            </a:endParaRPr>
          </a:p>
          <a:p>
            <a:pPr marL="0" indent="0">
              <a:buClr>
                <a:schemeClr val="accent3">
                  <a:lumMod val="75000"/>
                </a:schemeClr>
              </a:buClr>
              <a:buNone/>
            </a:pPr>
            <a:r>
              <a:rPr lang="en-US" sz="1700" dirty="0" err="1">
                <a:solidFill>
                  <a:schemeClr val="accent1"/>
                </a:solidFill>
                <a:latin typeface="Century Gothic" panose="020B0502020202020204" pitchFamily="34" charset="0"/>
              </a:rPr>
              <a:t>Usted</a:t>
            </a:r>
            <a:r>
              <a:rPr lang="en-US" sz="1700" dirty="0">
                <a:solidFill>
                  <a:schemeClr val="accent1"/>
                </a:solidFill>
                <a:latin typeface="Century Gothic" panose="020B0502020202020204" pitchFamily="34" charset="0"/>
              </a:rPr>
              <a:t> </a:t>
            </a:r>
            <a:r>
              <a:rPr lang="en-US" sz="1700" dirty="0" err="1">
                <a:solidFill>
                  <a:schemeClr val="accent1"/>
                </a:solidFill>
                <a:latin typeface="Century Gothic" panose="020B0502020202020204" pitchFamily="34" charset="0"/>
              </a:rPr>
              <a:t>considera</a:t>
            </a:r>
            <a:r>
              <a:rPr lang="en-US" sz="1700" dirty="0">
                <a:solidFill>
                  <a:schemeClr val="accent1"/>
                </a:solidFill>
                <a:latin typeface="Century Gothic" panose="020B0502020202020204" pitchFamily="34" charset="0"/>
              </a:rPr>
              <a:t> que la </a:t>
            </a:r>
            <a:r>
              <a:rPr lang="en-US" sz="1700" dirty="0" err="1">
                <a:solidFill>
                  <a:schemeClr val="accent1"/>
                </a:solidFill>
                <a:latin typeface="Century Gothic" panose="020B0502020202020204" pitchFamily="34" charset="0"/>
              </a:rPr>
              <a:t>relación</a:t>
            </a:r>
            <a:r>
              <a:rPr lang="en-US" sz="1700" dirty="0">
                <a:solidFill>
                  <a:schemeClr val="accent1"/>
                </a:solidFill>
                <a:latin typeface="Century Gothic" panose="020B0502020202020204" pitchFamily="34" charset="0"/>
              </a:rPr>
              <a:t> </a:t>
            </a:r>
            <a:r>
              <a:rPr lang="en-US" sz="1700" dirty="0" err="1">
                <a:solidFill>
                  <a:schemeClr val="accent1"/>
                </a:solidFill>
                <a:latin typeface="Century Gothic" panose="020B0502020202020204" pitchFamily="34" charset="0"/>
              </a:rPr>
              <a:t>Deuda</a:t>
            </a:r>
            <a:r>
              <a:rPr lang="en-US" sz="1700" dirty="0">
                <a:solidFill>
                  <a:schemeClr val="accent1"/>
                </a:solidFill>
                <a:latin typeface="Century Gothic" panose="020B0502020202020204" pitchFamily="34" charset="0"/>
              </a:rPr>
              <a:t>/Equity </a:t>
            </a:r>
            <a:r>
              <a:rPr lang="en-US" sz="1700" dirty="0" err="1">
                <a:solidFill>
                  <a:schemeClr val="accent1"/>
                </a:solidFill>
                <a:latin typeface="Century Gothic" panose="020B0502020202020204" pitchFamily="34" charset="0"/>
              </a:rPr>
              <a:t>más</a:t>
            </a:r>
            <a:r>
              <a:rPr lang="en-US" sz="1700" dirty="0">
                <a:solidFill>
                  <a:schemeClr val="accent1"/>
                </a:solidFill>
                <a:latin typeface="Century Gothic" panose="020B0502020202020204" pitchFamily="34" charset="0"/>
              </a:rPr>
              <a:t> </a:t>
            </a:r>
            <a:r>
              <a:rPr lang="en-US" sz="1700" dirty="0" err="1">
                <a:solidFill>
                  <a:schemeClr val="accent1"/>
                </a:solidFill>
                <a:latin typeface="Century Gothic" panose="020B0502020202020204" pitchFamily="34" charset="0"/>
              </a:rPr>
              <a:t>adecuada</a:t>
            </a:r>
            <a:r>
              <a:rPr lang="en-US" sz="1700" dirty="0">
                <a:solidFill>
                  <a:schemeClr val="accent1"/>
                </a:solidFill>
                <a:latin typeface="Century Gothic" panose="020B0502020202020204" pitchFamily="34" charset="0"/>
              </a:rPr>
              <a:t> para </a:t>
            </a:r>
            <a:r>
              <a:rPr lang="en-US" sz="1700" dirty="0" err="1">
                <a:solidFill>
                  <a:schemeClr val="accent1"/>
                </a:solidFill>
                <a:latin typeface="Century Gothic" panose="020B0502020202020204" pitchFamily="34" charset="0"/>
              </a:rPr>
              <a:t>el</a:t>
            </a:r>
            <a:r>
              <a:rPr lang="en-US" sz="1700" dirty="0">
                <a:solidFill>
                  <a:schemeClr val="accent1"/>
                </a:solidFill>
                <a:latin typeface="Century Gothic" panose="020B0502020202020204" pitchFamily="34" charset="0"/>
              </a:rPr>
              <a:t> </a:t>
            </a:r>
            <a:r>
              <a:rPr lang="en-US" sz="1700" dirty="0" err="1">
                <a:solidFill>
                  <a:schemeClr val="accent1"/>
                </a:solidFill>
                <a:latin typeface="Century Gothic" panose="020B0502020202020204" pitchFamily="34" charset="0"/>
              </a:rPr>
              <a:t>proyecto</a:t>
            </a:r>
            <a:r>
              <a:rPr lang="en-US" sz="1700" dirty="0">
                <a:solidFill>
                  <a:schemeClr val="accent1"/>
                </a:solidFill>
                <a:latin typeface="Century Gothic" panose="020B0502020202020204" pitchFamily="34" charset="0"/>
              </a:rPr>
              <a:t> es de 2. </a:t>
            </a:r>
          </a:p>
        </p:txBody>
      </p:sp>
      <p:graphicFrame>
        <p:nvGraphicFramePr>
          <p:cNvPr id="9" name="Table 8">
            <a:extLst>
              <a:ext uri="{FF2B5EF4-FFF2-40B4-BE49-F238E27FC236}">
                <a16:creationId xmlns:a16="http://schemas.microsoft.com/office/drawing/2014/main" id="{115E26E7-D097-CD72-6C79-EC5544782844}"/>
              </a:ext>
            </a:extLst>
          </p:cNvPr>
          <p:cNvGraphicFramePr>
            <a:graphicFrameLocks noGrp="1"/>
          </p:cNvGraphicFramePr>
          <p:nvPr>
            <p:extLst>
              <p:ext uri="{D42A27DB-BD31-4B8C-83A1-F6EECF244321}">
                <p14:modId xmlns:p14="http://schemas.microsoft.com/office/powerpoint/2010/main" val="2299105134"/>
              </p:ext>
            </p:extLst>
          </p:nvPr>
        </p:nvGraphicFramePr>
        <p:xfrm>
          <a:off x="1263649" y="2810274"/>
          <a:ext cx="9664699" cy="479266"/>
        </p:xfrm>
        <a:graphic>
          <a:graphicData uri="http://schemas.openxmlformats.org/drawingml/2006/table">
            <a:tbl>
              <a:tblPr firstRow="1" firstCol="1">
                <a:tableStyleId>{6E25E649-3F16-4E02-A733-19D2CDBF48F0}</a:tableStyleId>
              </a:tblPr>
              <a:tblGrid>
                <a:gridCol w="1535691">
                  <a:extLst>
                    <a:ext uri="{9D8B030D-6E8A-4147-A177-3AD203B41FA5}">
                      <a16:colId xmlns:a16="http://schemas.microsoft.com/office/drawing/2014/main" val="873951211"/>
                    </a:ext>
                  </a:extLst>
                </a:gridCol>
                <a:gridCol w="888416">
                  <a:extLst>
                    <a:ext uri="{9D8B030D-6E8A-4147-A177-3AD203B41FA5}">
                      <a16:colId xmlns:a16="http://schemas.microsoft.com/office/drawing/2014/main" val="2800603575"/>
                    </a:ext>
                  </a:extLst>
                </a:gridCol>
                <a:gridCol w="888416">
                  <a:extLst>
                    <a:ext uri="{9D8B030D-6E8A-4147-A177-3AD203B41FA5}">
                      <a16:colId xmlns:a16="http://schemas.microsoft.com/office/drawing/2014/main" val="2784560027"/>
                    </a:ext>
                  </a:extLst>
                </a:gridCol>
                <a:gridCol w="888416">
                  <a:extLst>
                    <a:ext uri="{9D8B030D-6E8A-4147-A177-3AD203B41FA5}">
                      <a16:colId xmlns:a16="http://schemas.microsoft.com/office/drawing/2014/main" val="3252917969"/>
                    </a:ext>
                  </a:extLst>
                </a:gridCol>
                <a:gridCol w="980431">
                  <a:extLst>
                    <a:ext uri="{9D8B030D-6E8A-4147-A177-3AD203B41FA5}">
                      <a16:colId xmlns:a16="http://schemas.microsoft.com/office/drawing/2014/main" val="4055908481"/>
                    </a:ext>
                  </a:extLst>
                </a:gridCol>
                <a:gridCol w="888416">
                  <a:extLst>
                    <a:ext uri="{9D8B030D-6E8A-4147-A177-3AD203B41FA5}">
                      <a16:colId xmlns:a16="http://schemas.microsoft.com/office/drawing/2014/main" val="865220546"/>
                    </a:ext>
                  </a:extLst>
                </a:gridCol>
                <a:gridCol w="888416">
                  <a:extLst>
                    <a:ext uri="{9D8B030D-6E8A-4147-A177-3AD203B41FA5}">
                      <a16:colId xmlns:a16="http://schemas.microsoft.com/office/drawing/2014/main" val="3153904783"/>
                    </a:ext>
                  </a:extLst>
                </a:gridCol>
                <a:gridCol w="888416">
                  <a:extLst>
                    <a:ext uri="{9D8B030D-6E8A-4147-A177-3AD203B41FA5}">
                      <a16:colId xmlns:a16="http://schemas.microsoft.com/office/drawing/2014/main" val="3229762266"/>
                    </a:ext>
                  </a:extLst>
                </a:gridCol>
                <a:gridCol w="1028025">
                  <a:extLst>
                    <a:ext uri="{9D8B030D-6E8A-4147-A177-3AD203B41FA5}">
                      <a16:colId xmlns:a16="http://schemas.microsoft.com/office/drawing/2014/main" val="1472707082"/>
                    </a:ext>
                  </a:extLst>
                </a:gridCol>
                <a:gridCol w="790056">
                  <a:extLst>
                    <a:ext uri="{9D8B030D-6E8A-4147-A177-3AD203B41FA5}">
                      <a16:colId xmlns:a16="http://schemas.microsoft.com/office/drawing/2014/main" val="1868184468"/>
                    </a:ext>
                  </a:extLst>
                </a:gridCol>
              </a:tblGrid>
              <a:tr h="239633">
                <a:tc>
                  <a:txBody>
                    <a:bodyPr/>
                    <a:lstStyle/>
                    <a:p>
                      <a:pPr algn="ctr" fontAlgn="b"/>
                      <a:r>
                        <a:rPr lang="en-US" sz="1200" b="0" u="none" strike="noStrike" dirty="0" err="1">
                          <a:effectLst/>
                        </a:rPr>
                        <a:t>Periodo</a:t>
                      </a:r>
                      <a:endParaRPr lang="en-US" sz="1200" b="0" i="0" u="none" strike="noStrike" dirty="0">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0</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1</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2</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3</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4</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5</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6</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7</a:t>
                      </a:r>
                      <a:endParaRPr lang="en-CO" sz="1200" b="0" i="0" u="none" strike="noStrike">
                        <a:solidFill>
                          <a:srgbClr val="FFFFFF"/>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a:effectLst/>
                        </a:rPr>
                        <a:t>8</a:t>
                      </a:r>
                      <a:endParaRPr lang="en-CO" sz="1200" b="0" i="0" u="none" strike="noStrike">
                        <a:solidFill>
                          <a:srgbClr val="FFFFFF"/>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409423743"/>
                  </a:ext>
                </a:extLst>
              </a:tr>
              <a:tr h="239633">
                <a:tc>
                  <a:txBody>
                    <a:bodyPr/>
                    <a:lstStyle/>
                    <a:p>
                      <a:pPr algn="ctr" fontAlgn="b"/>
                      <a:r>
                        <a:rPr lang="en-US" sz="1200" b="0" u="none" strike="noStrike" dirty="0">
                          <a:effectLst/>
                        </a:rPr>
                        <a:t>FCL (Trimestral)</a:t>
                      </a:r>
                      <a:endParaRPr lang="en-US" sz="12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dirty="0">
                          <a:effectLst/>
                        </a:rPr>
                        <a:t>-$ 150.000</a:t>
                      </a:r>
                      <a:endParaRPr lang="en-CO" sz="12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dirty="0">
                          <a:effectLst/>
                        </a:rPr>
                        <a:t>$ 35.000</a:t>
                      </a:r>
                      <a:endParaRPr lang="en-CO" sz="12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dirty="0">
                          <a:effectLst/>
                        </a:rPr>
                        <a:t>$ 35.000</a:t>
                      </a:r>
                      <a:endParaRPr lang="en-CO" sz="12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dirty="0">
                          <a:effectLst/>
                        </a:rPr>
                        <a:t>$ 35.000</a:t>
                      </a:r>
                      <a:endParaRPr lang="en-CO" sz="12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dirty="0">
                          <a:effectLst/>
                        </a:rPr>
                        <a:t>$ 35.000</a:t>
                      </a:r>
                      <a:endParaRPr lang="en-CO" sz="12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dirty="0">
                          <a:effectLst/>
                        </a:rPr>
                        <a:t>$ 35.000</a:t>
                      </a:r>
                      <a:endParaRPr lang="en-CO" sz="12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dirty="0">
                          <a:effectLst/>
                        </a:rPr>
                        <a:t>$ 35.000</a:t>
                      </a:r>
                      <a:endParaRPr lang="en-CO" sz="12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dirty="0">
                          <a:effectLst/>
                        </a:rPr>
                        <a:t>$ 35.000</a:t>
                      </a:r>
                      <a:endParaRPr lang="en-CO" sz="12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200" b="0" u="none" strike="noStrike" dirty="0">
                          <a:effectLst/>
                        </a:rPr>
                        <a:t>$ 35.000</a:t>
                      </a:r>
                      <a:endParaRPr lang="en-CO" sz="1200" b="0" i="0" u="none" strike="noStrike" dirty="0">
                        <a:solidFill>
                          <a:srgbClr val="000000"/>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2318445255"/>
                  </a:ext>
                </a:extLst>
              </a:tr>
            </a:tbl>
          </a:graphicData>
        </a:graphic>
      </p:graphicFrame>
      <p:sp>
        <p:nvSpPr>
          <p:cNvPr id="13" name="TextBox 12">
            <a:extLst>
              <a:ext uri="{FF2B5EF4-FFF2-40B4-BE49-F238E27FC236}">
                <a16:creationId xmlns:a16="http://schemas.microsoft.com/office/drawing/2014/main" id="{9EC8D5E6-8207-1507-5B2F-0EA892FE840E}"/>
              </a:ext>
            </a:extLst>
          </p:cNvPr>
          <p:cNvSpPr txBox="1"/>
          <p:nvPr/>
        </p:nvSpPr>
        <p:spPr>
          <a:xfrm>
            <a:off x="2229078" y="1869721"/>
            <a:ext cx="6967387" cy="369332"/>
          </a:xfrm>
          <a:prstGeom prst="rect">
            <a:avLst/>
          </a:prstGeom>
          <a:noFill/>
        </p:spPr>
        <p:txBody>
          <a:bodyPr wrap="square">
            <a:spAutoFit/>
          </a:bodyPr>
          <a:lstStyle/>
          <a:p>
            <a:pPr marL="0" indent="0" algn="ctr">
              <a:buNone/>
            </a:pPr>
            <a:r>
              <a:rPr lang="es-ES" b="1" dirty="0">
                <a:solidFill>
                  <a:srgbClr val="C00000"/>
                </a:solidFill>
                <a:latin typeface="Century Gothic" panose="020B0502020202020204" pitchFamily="34" charset="0"/>
              </a:rPr>
              <a:t>Ejemplo 2 con varias fuentes de financiación:</a:t>
            </a:r>
          </a:p>
        </p:txBody>
      </p:sp>
      <p:graphicFrame>
        <p:nvGraphicFramePr>
          <p:cNvPr id="11" name="Table 10">
            <a:extLst>
              <a:ext uri="{FF2B5EF4-FFF2-40B4-BE49-F238E27FC236}">
                <a16:creationId xmlns:a16="http://schemas.microsoft.com/office/drawing/2014/main" id="{2EF7218A-4472-CE9E-0FA7-C9BB9DEBCBDC}"/>
              </a:ext>
            </a:extLst>
          </p:cNvPr>
          <p:cNvGraphicFramePr>
            <a:graphicFrameLocks noGrp="1"/>
          </p:cNvGraphicFramePr>
          <p:nvPr>
            <p:extLst>
              <p:ext uri="{D42A27DB-BD31-4B8C-83A1-F6EECF244321}">
                <p14:modId xmlns:p14="http://schemas.microsoft.com/office/powerpoint/2010/main" val="975744292"/>
              </p:ext>
            </p:extLst>
          </p:nvPr>
        </p:nvGraphicFramePr>
        <p:xfrm>
          <a:off x="1200150" y="3963242"/>
          <a:ext cx="8877301" cy="1428750"/>
        </p:xfrm>
        <a:graphic>
          <a:graphicData uri="http://schemas.openxmlformats.org/drawingml/2006/table">
            <a:tbl>
              <a:tblPr firstRow="1" firstCol="1">
                <a:tableStyleId>{6E25E649-3F16-4E02-A733-19D2CDBF48F0}</a:tableStyleId>
              </a:tblPr>
              <a:tblGrid>
                <a:gridCol w="2422816">
                  <a:extLst>
                    <a:ext uri="{9D8B030D-6E8A-4147-A177-3AD203B41FA5}">
                      <a16:colId xmlns:a16="http://schemas.microsoft.com/office/drawing/2014/main" val="2123288154"/>
                    </a:ext>
                  </a:extLst>
                </a:gridCol>
                <a:gridCol w="890274">
                  <a:extLst>
                    <a:ext uri="{9D8B030D-6E8A-4147-A177-3AD203B41FA5}">
                      <a16:colId xmlns:a16="http://schemas.microsoft.com/office/drawing/2014/main" val="1392153464"/>
                    </a:ext>
                  </a:extLst>
                </a:gridCol>
                <a:gridCol w="890274">
                  <a:extLst>
                    <a:ext uri="{9D8B030D-6E8A-4147-A177-3AD203B41FA5}">
                      <a16:colId xmlns:a16="http://schemas.microsoft.com/office/drawing/2014/main" val="2547003191"/>
                    </a:ext>
                  </a:extLst>
                </a:gridCol>
                <a:gridCol w="4673937">
                  <a:extLst>
                    <a:ext uri="{9D8B030D-6E8A-4147-A177-3AD203B41FA5}">
                      <a16:colId xmlns:a16="http://schemas.microsoft.com/office/drawing/2014/main" val="828155363"/>
                    </a:ext>
                  </a:extLst>
                </a:gridCol>
              </a:tblGrid>
              <a:tr h="361950">
                <a:tc>
                  <a:txBody>
                    <a:bodyPr/>
                    <a:lstStyle/>
                    <a:p>
                      <a:pPr algn="ctr" rtl="0" fontAlgn="ctr"/>
                      <a:r>
                        <a:rPr lang="en-US" sz="1000" u="none" strike="noStrike" dirty="0">
                          <a:effectLst/>
                        </a:rPr>
                        <a:t>Fuente</a:t>
                      </a:r>
                      <a:endParaRPr lang="en-US" sz="1000" b="1" i="0" u="none" strike="noStrike" dirty="0">
                        <a:solidFill>
                          <a:srgbClr val="FFFFFF"/>
                        </a:solidFill>
                        <a:effectLst/>
                        <a:latin typeface="Century Gothic" panose="020B0502020202020204" pitchFamily="34" charset="0"/>
                      </a:endParaRPr>
                    </a:p>
                  </a:txBody>
                  <a:tcPr marL="9525" marR="9525" marT="9525" marB="0" anchor="ctr"/>
                </a:tc>
                <a:tc>
                  <a:txBody>
                    <a:bodyPr/>
                    <a:lstStyle/>
                    <a:p>
                      <a:pPr algn="ctr" rtl="0" fontAlgn="ctr"/>
                      <a:r>
                        <a:rPr lang="en-US" sz="1000" u="none" strike="noStrike">
                          <a:effectLst/>
                        </a:rPr>
                        <a:t>Monto Máximo</a:t>
                      </a:r>
                      <a:endParaRPr lang="en-US" sz="1000" b="1" i="0" u="none" strike="noStrike">
                        <a:solidFill>
                          <a:srgbClr val="FFFFFF"/>
                        </a:solidFill>
                        <a:effectLst/>
                        <a:latin typeface="Century Gothic" panose="020B0502020202020204" pitchFamily="34" charset="0"/>
                      </a:endParaRPr>
                    </a:p>
                  </a:txBody>
                  <a:tcPr marL="9525" marR="9525" marT="9525" marB="0" anchor="ctr"/>
                </a:tc>
                <a:tc>
                  <a:txBody>
                    <a:bodyPr/>
                    <a:lstStyle/>
                    <a:p>
                      <a:pPr algn="ctr" rtl="0" fontAlgn="ctr"/>
                      <a:r>
                        <a:rPr lang="en-US" sz="1000" u="none" strike="noStrike">
                          <a:effectLst/>
                        </a:rPr>
                        <a:t>k(i) (E.A)</a:t>
                      </a:r>
                      <a:endParaRPr lang="en-US" sz="1000" b="1" i="0" u="none" strike="noStrike">
                        <a:solidFill>
                          <a:srgbClr val="FFFFFF"/>
                        </a:solidFill>
                        <a:effectLst/>
                        <a:latin typeface="Century Gothic" panose="020B0502020202020204" pitchFamily="34" charset="0"/>
                      </a:endParaRPr>
                    </a:p>
                  </a:txBody>
                  <a:tcPr marL="9525" marR="9525" marT="9525" marB="0" anchor="ctr"/>
                </a:tc>
                <a:tc>
                  <a:txBody>
                    <a:bodyPr/>
                    <a:lstStyle/>
                    <a:p>
                      <a:pPr algn="ctr" rtl="0" fontAlgn="ctr"/>
                      <a:r>
                        <a:rPr lang="en-US" sz="1000" u="none" strike="noStrike">
                          <a:effectLst/>
                        </a:rPr>
                        <a:t>Datos Adicionales</a:t>
                      </a:r>
                      <a:endParaRPr lang="en-US" sz="1000" b="1" i="0" u="none" strike="noStrike">
                        <a:solidFill>
                          <a:srgbClr val="FFFFFF"/>
                        </a:solidFill>
                        <a:effectLst/>
                        <a:latin typeface="Century Gothic" panose="020B0502020202020204" pitchFamily="34" charset="0"/>
                      </a:endParaRPr>
                    </a:p>
                  </a:txBody>
                  <a:tcPr marL="9525" marR="9525" marT="9525" marB="0" anchor="ctr"/>
                </a:tc>
                <a:extLst>
                  <a:ext uri="{0D108BD9-81ED-4DB2-BD59-A6C34878D82A}">
                    <a16:rowId xmlns:a16="http://schemas.microsoft.com/office/drawing/2014/main" val="3192598472"/>
                  </a:ext>
                </a:extLst>
              </a:tr>
              <a:tr h="177800">
                <a:tc>
                  <a:txBody>
                    <a:bodyPr/>
                    <a:lstStyle/>
                    <a:p>
                      <a:pPr algn="ctr" rtl="0" fontAlgn="b"/>
                      <a:r>
                        <a:rPr lang="en-US" sz="1000" u="none" strike="noStrike" dirty="0" err="1">
                          <a:effectLst/>
                        </a:rPr>
                        <a:t>Crédito</a:t>
                      </a:r>
                      <a:r>
                        <a:rPr lang="en-US" sz="1000" u="none" strike="noStrike" dirty="0">
                          <a:effectLst/>
                        </a:rPr>
                        <a:t> </a:t>
                      </a:r>
                      <a:r>
                        <a:rPr lang="en-US" sz="1000" u="none" strike="noStrike" dirty="0" err="1">
                          <a:effectLst/>
                        </a:rPr>
                        <a:t>Proveedor</a:t>
                      </a:r>
                      <a:r>
                        <a:rPr lang="en-US" sz="1000" u="none" strike="noStrike" dirty="0">
                          <a:effectLst/>
                        </a:rPr>
                        <a:t> CP</a:t>
                      </a:r>
                      <a:endParaRPr lang="en-US" sz="10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rtl="0" fontAlgn="b"/>
                      <a:r>
                        <a:rPr lang="en-CO" sz="1000" u="none" strike="noStrike">
                          <a:effectLst/>
                        </a:rPr>
                        <a:t>15.000</a:t>
                      </a:r>
                      <a:endParaRPr lang="en-CO"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rtl="0" fontAlgn="b"/>
                      <a:r>
                        <a:rPr lang="en-CO" sz="1000" u="none" strike="noStrike">
                          <a:effectLst/>
                        </a:rPr>
                        <a:t>8%</a:t>
                      </a:r>
                      <a:endParaRPr lang="en-CO"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000" u="none" strike="noStrike">
                          <a:effectLst/>
                        </a:rPr>
                        <a:t>-</a:t>
                      </a:r>
                      <a:endParaRPr lang="en-CO" sz="1000" b="0" i="0" u="none" strike="noStrike">
                        <a:solidFill>
                          <a:srgbClr val="000000"/>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1272799520"/>
                  </a:ext>
                </a:extLst>
              </a:tr>
              <a:tr h="177800">
                <a:tc>
                  <a:txBody>
                    <a:bodyPr/>
                    <a:lstStyle/>
                    <a:p>
                      <a:pPr algn="ctr" rtl="0" fontAlgn="b"/>
                      <a:r>
                        <a:rPr lang="en-US" sz="1000" u="none" strike="noStrike">
                          <a:effectLst/>
                        </a:rPr>
                        <a:t>Banco 1 LP</a:t>
                      </a:r>
                      <a:endParaRPr lang="en-US"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rtl="0" fontAlgn="b"/>
                      <a:r>
                        <a:rPr lang="en-CO" sz="1000" u="none" strike="noStrike">
                          <a:effectLst/>
                        </a:rPr>
                        <a:t>30.000</a:t>
                      </a:r>
                      <a:endParaRPr lang="en-CO"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rtl="0" fontAlgn="b"/>
                      <a:r>
                        <a:rPr lang="en-CO" sz="1000" u="none" strike="noStrike">
                          <a:effectLst/>
                        </a:rPr>
                        <a:t>10%</a:t>
                      </a:r>
                      <a:endParaRPr lang="en-CO"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000" u="none" strike="noStrike">
                          <a:effectLst/>
                        </a:rPr>
                        <a:t>-</a:t>
                      </a:r>
                      <a:endParaRPr lang="en-CO" sz="1000" b="0" i="0" u="none" strike="noStrike">
                        <a:solidFill>
                          <a:srgbClr val="000000"/>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1656147739"/>
                  </a:ext>
                </a:extLst>
              </a:tr>
              <a:tr h="177800">
                <a:tc>
                  <a:txBody>
                    <a:bodyPr/>
                    <a:lstStyle/>
                    <a:p>
                      <a:pPr algn="ctr" rtl="0" fontAlgn="b"/>
                      <a:r>
                        <a:rPr lang="en-US" sz="1000" u="none" strike="noStrike">
                          <a:effectLst/>
                        </a:rPr>
                        <a:t>Banco 2 LP</a:t>
                      </a:r>
                      <a:endParaRPr lang="en-US"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rtl="0" fontAlgn="b"/>
                      <a:r>
                        <a:rPr lang="en-CO" sz="1000" u="none" strike="noStrike">
                          <a:effectLst/>
                        </a:rPr>
                        <a:t>50.000</a:t>
                      </a:r>
                      <a:endParaRPr lang="en-CO"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rtl="0" fontAlgn="b"/>
                      <a:r>
                        <a:rPr lang="en-CO" sz="1000" u="none" strike="noStrike">
                          <a:effectLst/>
                        </a:rPr>
                        <a:t>11%</a:t>
                      </a:r>
                      <a:endParaRPr lang="en-CO"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000" u="none" strike="noStrike" dirty="0" err="1">
                          <a:effectLst/>
                        </a:rPr>
                        <a:t>Comisión</a:t>
                      </a:r>
                      <a:r>
                        <a:rPr lang="en-US" sz="1000" u="none" strike="noStrike" dirty="0">
                          <a:effectLst/>
                        </a:rPr>
                        <a:t> 2% del Valor </a:t>
                      </a:r>
                      <a:r>
                        <a:rPr lang="en-US" sz="1000" u="none" strike="noStrike" dirty="0" err="1">
                          <a:effectLst/>
                        </a:rPr>
                        <a:t>desembolsado</a:t>
                      </a:r>
                      <a:r>
                        <a:rPr lang="en-US" sz="1000" u="none" strike="noStrike" dirty="0">
                          <a:effectLst/>
                        </a:rPr>
                        <a:t> al </a:t>
                      </a:r>
                      <a:r>
                        <a:rPr lang="en-US" sz="1000" u="none" strike="noStrike" dirty="0" err="1">
                          <a:effectLst/>
                        </a:rPr>
                        <a:t>momento</a:t>
                      </a:r>
                      <a:r>
                        <a:rPr lang="en-US" sz="1000" u="none" strike="noStrike" dirty="0">
                          <a:effectLst/>
                        </a:rPr>
                        <a:t> del </a:t>
                      </a:r>
                      <a:r>
                        <a:rPr lang="en-US" sz="1000" u="none" strike="noStrike" dirty="0" err="1">
                          <a:effectLst/>
                        </a:rPr>
                        <a:t>desembolso</a:t>
                      </a:r>
                      <a:endParaRPr lang="en-US" sz="1000" b="0" i="0" u="none" strike="noStrike" dirty="0">
                        <a:solidFill>
                          <a:srgbClr val="000000"/>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2133778050"/>
                  </a:ext>
                </a:extLst>
              </a:tr>
              <a:tr h="165100">
                <a:tc>
                  <a:txBody>
                    <a:bodyPr/>
                    <a:lstStyle/>
                    <a:p>
                      <a:pPr algn="ctr" rtl="0" fontAlgn="b"/>
                      <a:r>
                        <a:rPr lang="en-US" sz="1000" u="none" strike="noStrike">
                          <a:effectLst/>
                        </a:rPr>
                        <a:t>Banco 3 LP</a:t>
                      </a:r>
                      <a:endParaRPr lang="en-US"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rtl="0" fontAlgn="b"/>
                      <a:r>
                        <a:rPr lang="en-CO" sz="1000" u="none" strike="noStrike">
                          <a:effectLst/>
                        </a:rPr>
                        <a:t>70.000</a:t>
                      </a:r>
                      <a:endParaRPr lang="en-CO"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rtl="0" fontAlgn="b"/>
                      <a:r>
                        <a:rPr lang="en-CO" sz="1000" u="none" strike="noStrike">
                          <a:effectLst/>
                        </a:rPr>
                        <a:t>12%</a:t>
                      </a:r>
                      <a:endParaRPr lang="en-CO"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000" u="none" strike="noStrike" dirty="0">
                          <a:effectLst/>
                        </a:rPr>
                        <a:t>Tasa de </a:t>
                      </a:r>
                      <a:r>
                        <a:rPr lang="en-US" sz="1000" u="none" strike="noStrike" dirty="0" err="1">
                          <a:effectLst/>
                        </a:rPr>
                        <a:t>Interés</a:t>
                      </a:r>
                      <a:r>
                        <a:rPr lang="en-US" sz="1000" u="none" strike="noStrike" dirty="0">
                          <a:effectLst/>
                        </a:rPr>
                        <a:t> = 10% A.A.</a:t>
                      </a:r>
                      <a:endParaRPr lang="en-US" sz="1000" b="0" i="0" u="none" strike="noStrike" dirty="0">
                        <a:solidFill>
                          <a:srgbClr val="000000"/>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1815192276"/>
                  </a:ext>
                </a:extLst>
              </a:tr>
              <a:tr h="177800">
                <a:tc>
                  <a:txBody>
                    <a:bodyPr/>
                    <a:lstStyle/>
                    <a:p>
                      <a:pPr algn="ctr" rtl="0" fontAlgn="b"/>
                      <a:r>
                        <a:rPr lang="en-US" sz="1000" u="none" strike="noStrike">
                          <a:effectLst/>
                        </a:rPr>
                        <a:t>Utilidades Retenidas</a:t>
                      </a:r>
                      <a:endParaRPr lang="en-US"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rtl="0" fontAlgn="b"/>
                      <a:r>
                        <a:rPr lang="en-US" sz="1000" u="none" strike="noStrike">
                          <a:effectLst/>
                        </a:rPr>
                        <a:t>Ilimitado</a:t>
                      </a:r>
                      <a:endParaRPr lang="en-US"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rtl="0" fontAlgn="b"/>
                      <a:r>
                        <a:rPr lang="en-CO" sz="1000" u="none" strike="noStrike">
                          <a:effectLst/>
                        </a:rPr>
                        <a:t>15%</a:t>
                      </a:r>
                      <a:endParaRPr lang="en-CO"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CO" sz="1000" u="none" strike="noStrike" dirty="0">
                          <a:effectLst/>
                        </a:rPr>
                        <a:t>-</a:t>
                      </a:r>
                      <a:endParaRPr lang="en-CO" sz="1000" b="0" i="0" u="none" strike="noStrike" dirty="0">
                        <a:solidFill>
                          <a:srgbClr val="000000"/>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1531818804"/>
                  </a:ext>
                </a:extLst>
              </a:tr>
              <a:tr h="190500">
                <a:tc>
                  <a:txBody>
                    <a:bodyPr/>
                    <a:lstStyle/>
                    <a:p>
                      <a:pPr algn="ctr" rtl="0" fontAlgn="b"/>
                      <a:r>
                        <a:rPr lang="en-US" sz="1000" u="none" strike="noStrike">
                          <a:effectLst/>
                        </a:rPr>
                        <a:t>Emisión Acciones</a:t>
                      </a:r>
                      <a:endParaRPr lang="en-US"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rtl="0" fontAlgn="b"/>
                      <a:r>
                        <a:rPr lang="en-US" sz="1000" u="none" strike="noStrike">
                          <a:effectLst/>
                        </a:rPr>
                        <a:t>Ilimitado</a:t>
                      </a:r>
                      <a:endParaRPr lang="en-US"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rtl="0" fontAlgn="b"/>
                      <a:r>
                        <a:rPr lang="en-CO" sz="1000" u="none" strike="noStrike">
                          <a:effectLst/>
                        </a:rPr>
                        <a:t>16%</a:t>
                      </a:r>
                      <a:endParaRPr lang="en-CO" sz="1000" b="0"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000" u="none" strike="noStrike" dirty="0" err="1">
                          <a:effectLst/>
                        </a:rPr>
                        <a:t>Costo</a:t>
                      </a:r>
                      <a:r>
                        <a:rPr lang="en-US" sz="1000" u="none" strike="noStrike" dirty="0">
                          <a:effectLst/>
                        </a:rPr>
                        <a:t> de </a:t>
                      </a:r>
                      <a:r>
                        <a:rPr lang="en-US" sz="1000" u="none" strike="noStrike" dirty="0" err="1">
                          <a:effectLst/>
                        </a:rPr>
                        <a:t>comisión</a:t>
                      </a:r>
                      <a:r>
                        <a:rPr lang="en-US" sz="1000" u="none" strike="noStrike" dirty="0">
                          <a:effectLst/>
                        </a:rPr>
                        <a:t> del 5%</a:t>
                      </a:r>
                      <a:endParaRPr lang="en-US" sz="1000" b="0" i="0" u="none" strike="noStrike" dirty="0">
                        <a:solidFill>
                          <a:srgbClr val="000000"/>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1314997978"/>
                  </a:ext>
                </a:extLst>
              </a:tr>
            </a:tbl>
          </a:graphicData>
        </a:graphic>
      </p:graphicFrame>
      <p:sp>
        <p:nvSpPr>
          <p:cNvPr id="15" name="TextBox 14">
            <a:extLst>
              <a:ext uri="{FF2B5EF4-FFF2-40B4-BE49-F238E27FC236}">
                <a16:creationId xmlns:a16="http://schemas.microsoft.com/office/drawing/2014/main" id="{B0CD2996-ABF2-B90D-DD66-7369CB5FD139}"/>
              </a:ext>
            </a:extLst>
          </p:cNvPr>
          <p:cNvSpPr txBox="1"/>
          <p:nvPr/>
        </p:nvSpPr>
        <p:spPr>
          <a:xfrm>
            <a:off x="2891229" y="6031087"/>
            <a:ext cx="6097248" cy="646331"/>
          </a:xfrm>
          <a:prstGeom prst="rect">
            <a:avLst/>
          </a:prstGeom>
          <a:noFill/>
        </p:spPr>
        <p:txBody>
          <a:bodyPr wrap="square">
            <a:spAutoFit/>
          </a:bodyPr>
          <a:lstStyle/>
          <a:p>
            <a:pPr marL="0" indent="0" algn="ctr">
              <a:buClr>
                <a:schemeClr val="accent3">
                  <a:lumMod val="75000"/>
                </a:schemeClr>
              </a:buClr>
              <a:buNone/>
            </a:pPr>
            <a:r>
              <a:rPr lang="es-MX" sz="1800" dirty="0">
                <a:solidFill>
                  <a:schemeClr val="accent1"/>
                </a:solidFill>
                <a:latin typeface="Century Gothic" panose="020B0502020202020204" pitchFamily="34" charset="0"/>
              </a:rPr>
              <a:t>Calcule el WACC del proyecto. </a:t>
            </a:r>
          </a:p>
          <a:p>
            <a:pPr marL="0" indent="0" algn="ctr">
              <a:buClr>
                <a:schemeClr val="accent3">
                  <a:lumMod val="75000"/>
                </a:schemeClr>
              </a:buClr>
              <a:buNone/>
            </a:pPr>
            <a:r>
              <a:rPr lang="es-MX" sz="1800" dirty="0">
                <a:solidFill>
                  <a:schemeClr val="accent1"/>
                </a:solidFill>
                <a:latin typeface="Century Gothic" panose="020B0502020202020204" pitchFamily="34" charset="0"/>
              </a:rPr>
              <a:t>¿El proyecto es económicamente viable?</a:t>
            </a:r>
            <a:endParaRPr lang="es-ES" sz="1800" dirty="0">
              <a:solidFill>
                <a:schemeClr val="accent1"/>
              </a:solidFill>
              <a:latin typeface="Century Gothic" panose="020B0502020202020204" pitchFamily="34" charset="0"/>
            </a:endParaRPr>
          </a:p>
        </p:txBody>
      </p:sp>
    </p:spTree>
    <p:extLst>
      <p:ext uri="{BB962C8B-B14F-4D97-AF65-F5344CB8AC3E}">
        <p14:creationId xmlns:p14="http://schemas.microsoft.com/office/powerpoint/2010/main" val="7353921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55C86-7D81-E3F8-B77C-646EDEC491E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44CFA7-7D6F-EF35-4F10-649F7A281661}"/>
              </a:ext>
            </a:extLst>
          </p:cNvPr>
          <p:cNvSpPr>
            <a:spLocks noGrp="1"/>
          </p:cNvSpPr>
          <p:nvPr>
            <p:ph type="ctrTitle"/>
          </p:nvPr>
        </p:nvSpPr>
        <p:spPr>
          <a:xfrm>
            <a:off x="486108" y="1527048"/>
            <a:ext cx="10550396" cy="1122137"/>
          </a:xfrm>
        </p:spPr>
        <p:txBody>
          <a:bodyPr>
            <a:noAutofit/>
          </a:bodyPr>
          <a:lstStyle/>
          <a:p>
            <a:r>
              <a:rPr lang="es-ES" sz="3200" dirty="0">
                <a:latin typeface="Century Gothic"/>
              </a:rPr>
              <a:t>Costo promedio ponderado de capital (WACC)</a:t>
            </a:r>
            <a:endParaRPr lang="es-CO" sz="3200" dirty="0">
              <a:latin typeface="Century Gothic" panose="020B0502020202020204" pitchFamily="34" charset="0"/>
            </a:endParaRPr>
          </a:p>
        </p:txBody>
      </p:sp>
      <p:sp>
        <p:nvSpPr>
          <p:cNvPr id="8" name="Rectángulo 7">
            <a:extLst>
              <a:ext uri="{FF2B5EF4-FFF2-40B4-BE49-F238E27FC236}">
                <a16:creationId xmlns:a16="http://schemas.microsoft.com/office/drawing/2014/main" id="{78DBD8A4-0E49-6A02-BF65-4EC44638DEA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4D263FB5-5803-B1E6-FFED-CBD1A47923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1E3EE4C3-A48F-02CC-F33E-E193A35FEC1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5" name="Gráfico 4" descr="Open book contorno">
            <a:extLst>
              <a:ext uri="{FF2B5EF4-FFF2-40B4-BE49-F238E27FC236}">
                <a16:creationId xmlns:a16="http://schemas.microsoft.com/office/drawing/2014/main" id="{E8D42A7C-7E47-1BC5-0C78-C91ABDA233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7" name="CuadroTexto 6">
            <a:extLst>
              <a:ext uri="{FF2B5EF4-FFF2-40B4-BE49-F238E27FC236}">
                <a16:creationId xmlns:a16="http://schemas.microsoft.com/office/drawing/2014/main" id="{ED332B51-338D-AAB5-6C70-424ABB6FE9DE}"/>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4178674619"/>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4626</TotalTime>
  <Words>2149</Words>
  <Application>Microsoft Macintosh PowerPoint</Application>
  <PresentationFormat>Widescreen</PresentationFormat>
  <Paragraphs>435</Paragraphs>
  <Slides>26</Slides>
  <Notes>1</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Arial</vt:lpstr>
      <vt:lpstr>Calibri</vt:lpstr>
      <vt:lpstr>Cambria Math</vt:lpstr>
      <vt:lpstr>Century Gothic</vt:lpstr>
      <vt:lpstr>Gill Sans MT</vt:lpstr>
      <vt:lpstr>Times New Roman</vt:lpstr>
      <vt:lpstr>Verdana</vt:lpstr>
      <vt:lpstr>Wingdings</vt:lpstr>
      <vt:lpstr>Wingdings 2</vt:lpstr>
      <vt:lpstr>Dividendo</vt:lpstr>
      <vt:lpstr>Costo promedio ponderado de capital (WACC)</vt:lpstr>
      <vt:lpstr>AGENDA PROPUESTA</vt:lpstr>
      <vt:lpstr>AGENDA PROPUESTA</vt:lpstr>
      <vt:lpstr>COSTO PROMEDIO PONDERADO DE CAPITAL  (WACC)</vt:lpstr>
      <vt:lpstr>Costo del equity – RESUMEN</vt:lpstr>
      <vt:lpstr>Costo de la deuda DESPUÉS DE IMPUESTOS</vt:lpstr>
      <vt:lpstr>COSTO PROMEDIO PONDERADO DE CAPITAL  (WACC)</vt:lpstr>
      <vt:lpstr>COSTO PROMEDIO PONDERADO DE CAPITAL  (WACC)</vt:lpstr>
      <vt:lpstr>COSTO PROMEDIO PONDERADO DE CAPITAL  (WACC)</vt:lpstr>
      <vt:lpstr>COSTO PROMEDIO PONDERADO DE CAPITAL  (WACC)</vt:lpstr>
      <vt:lpstr>COSTO PROMEDIO PONDERADO DE CAPITAL  (WACC)</vt:lpstr>
      <vt:lpstr>COSTO PROMEDIO PONDERADO DE CAPITAL  (WACC)</vt:lpstr>
      <vt:lpstr>AGENDA PROPUESTA</vt:lpstr>
      <vt:lpstr>RESTRICCIONES deuda/equity (d/e)</vt:lpstr>
      <vt:lpstr>RESTRICCIONES deuda/equity (d/e)</vt:lpstr>
      <vt:lpstr>COSTO PROMEDIO PONDERADO DE CAPITAL  (WACC)</vt:lpstr>
      <vt:lpstr>Descargue la plantilla</vt:lpstr>
      <vt:lpstr>COSTO PROMEDIO PONDERADO DE CAPITAL  (WACC)</vt:lpstr>
      <vt:lpstr>RESTRICCIONES deuda/equity (d/e)</vt:lpstr>
      <vt:lpstr>RESTRICCIONES deuda/equity (d/e)</vt:lpstr>
      <vt:lpstr>RESTRICCIONES deuda/equity (d/e)</vt:lpstr>
      <vt:lpstr>RESTRICCIONES deuda/equity (d/e)</vt:lpstr>
      <vt:lpstr>RESTRICCIONES deuda/equity (d/e)</vt:lpstr>
      <vt:lpstr>EjeMPLO 1.2 (WACC)</vt:lpstr>
      <vt:lpstr>EJEMPLO 2. (WACC)</vt:lpstr>
      <vt:lpstr>Costo promedio ponderado de capital (WACC)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195</cp:revision>
  <dcterms:created xsi:type="dcterms:W3CDTF">2019-06-20T04:25:04Z</dcterms:created>
  <dcterms:modified xsi:type="dcterms:W3CDTF">2026-04-23T15:42:41Z</dcterms:modified>
</cp:coreProperties>
</file>