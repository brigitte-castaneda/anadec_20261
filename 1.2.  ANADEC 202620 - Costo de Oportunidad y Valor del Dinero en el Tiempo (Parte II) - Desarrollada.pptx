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autoCompressPictures="0">
  <p:sldMasterIdLst>
    <p:sldMasterId id="2147483732" r:id="rId1"/>
  </p:sldMasterIdLst>
  <p:notesMasterIdLst>
    <p:notesMasterId r:id="rId36"/>
  </p:notesMasterIdLst>
  <p:handoutMasterIdLst>
    <p:handoutMasterId r:id="rId37"/>
  </p:handoutMasterIdLst>
  <p:sldIdLst>
    <p:sldId id="398" r:id="rId2"/>
    <p:sldId id="354" r:id="rId3"/>
    <p:sldId id="454" r:id="rId4"/>
    <p:sldId id="344" r:id="rId5"/>
    <p:sldId id="432" r:id="rId6"/>
    <p:sldId id="448" r:id="rId7"/>
    <p:sldId id="453" r:id="rId8"/>
    <p:sldId id="449" r:id="rId9"/>
    <p:sldId id="268" r:id="rId10"/>
    <p:sldId id="306" r:id="rId11"/>
    <p:sldId id="269" r:id="rId12"/>
    <p:sldId id="320" r:id="rId13"/>
    <p:sldId id="270" r:id="rId14"/>
    <p:sldId id="458" r:id="rId15"/>
    <p:sldId id="459" r:id="rId16"/>
    <p:sldId id="460" r:id="rId17"/>
    <p:sldId id="461" r:id="rId18"/>
    <p:sldId id="450" r:id="rId19"/>
    <p:sldId id="279" r:id="rId20"/>
    <p:sldId id="272" r:id="rId21"/>
    <p:sldId id="462" r:id="rId22"/>
    <p:sldId id="278" r:id="rId23"/>
    <p:sldId id="451" r:id="rId24"/>
    <p:sldId id="282" r:id="rId25"/>
    <p:sldId id="283" r:id="rId26"/>
    <p:sldId id="284" r:id="rId27"/>
    <p:sldId id="452" r:id="rId28"/>
    <p:sldId id="285" r:id="rId29"/>
    <p:sldId id="286" r:id="rId30"/>
    <p:sldId id="456" r:id="rId31"/>
    <p:sldId id="457" r:id="rId32"/>
    <p:sldId id="438" r:id="rId33"/>
    <p:sldId id="455" r:id="rId34"/>
    <p:sldId id="424" r:id="rId3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ebastian Joseph Sanchez Oyola" initials="SJSO" lastIdx="1" clrIdx="0">
    <p:extLst>
      <p:ext uri="{19B8F6BF-5375-455C-9EA6-DF929625EA0E}">
        <p15:presenceInfo xmlns:p15="http://schemas.microsoft.com/office/powerpoint/2012/main" userId="Sebastian Joseph Sanchez Oyola"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7A700"/>
    <a:srgbClr val="00FA00"/>
    <a:srgbClr val="48BE7A"/>
    <a:srgbClr val="7A81FF"/>
    <a:srgbClr val="FF6600"/>
    <a:srgbClr val="FF8AD8"/>
    <a:srgbClr val="002F90"/>
    <a:srgbClr val="F0D6F2"/>
    <a:srgbClr val="FFF4E6"/>
    <a:srgbClr val="88D5A9"/>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36BBBAF0-7F28-BA41-ACCB-2DD440E5B320}" v="38" dt="2026-08-11T15:29:21.244"/>
  </p1510:revLst>
</p1510:revInfo>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Estilo medio 1 - Énfasis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72833802-FEF1-4C79-8D5D-14CF1EAF98D9}" styleName="Estilo claro 2 - Acento 2">
    <a:wholeTbl>
      <a:tcTxStyle>
        <a:fontRef idx="minor">
          <a:scrgbClr r="0" g="0" b="0"/>
        </a:fontRef>
        <a:schemeClr val="tx1"/>
      </a:tcTxStyle>
      <a:tcStyle>
        <a:tcBdr>
          <a:left>
            <a:lnRef idx="1">
              <a:schemeClr val="accent2"/>
            </a:lnRef>
          </a:left>
          <a:right>
            <a:lnRef idx="1">
              <a:schemeClr val="accent2"/>
            </a:lnRef>
          </a:right>
          <a:top>
            <a:lnRef idx="1">
              <a:schemeClr val="accent2"/>
            </a:lnRef>
          </a:top>
          <a:bottom>
            <a:lnRef idx="1">
              <a:schemeClr val="accent2"/>
            </a:lnRef>
          </a:bottom>
          <a:insideH>
            <a:ln>
              <a:noFill/>
            </a:ln>
          </a:insideH>
          <a:insideV>
            <a:ln>
              <a:noFill/>
            </a:ln>
          </a:insideV>
        </a:tcBdr>
        <a:fill>
          <a:noFill/>
        </a:fill>
      </a:tcStyle>
    </a:wholeTbl>
    <a:band1H>
      <a:tcStyle>
        <a:tcBdr>
          <a:top>
            <a:lnRef idx="1">
              <a:schemeClr val="accent2"/>
            </a:lnRef>
          </a:top>
          <a:bottom>
            <a:lnRef idx="1">
              <a:schemeClr val="accent2"/>
            </a:lnRef>
          </a:bottom>
        </a:tcBdr>
      </a:tcStyle>
    </a:band1H>
    <a:band1V>
      <a:tcStyle>
        <a:tcBdr>
          <a:left>
            <a:lnRef idx="1">
              <a:schemeClr val="accent2"/>
            </a:lnRef>
          </a:left>
          <a:right>
            <a:lnRef idx="1">
              <a:schemeClr val="accent2"/>
            </a:lnRef>
          </a:right>
        </a:tcBdr>
      </a:tcStyle>
    </a:band1V>
    <a:band2V>
      <a:tcStyle>
        <a:tcBdr>
          <a:left>
            <a:lnRef idx="1">
              <a:schemeClr val="accent2"/>
            </a:lnRef>
          </a:left>
          <a:right>
            <a:lnRef idx="1">
              <a:schemeClr val="accent2"/>
            </a:lnRef>
          </a:right>
        </a:tcBdr>
      </a:tcStyle>
    </a:band2V>
    <a:lastCol>
      <a:tcTxStyle b="on"/>
      <a:tcStyle>
        <a:tcBdr/>
      </a:tcStyle>
    </a:lastCol>
    <a:firstCol>
      <a:tcTxStyle b="on"/>
      <a:tcStyle>
        <a:tcBdr/>
      </a:tcStyle>
    </a:firstCol>
    <a:lastRow>
      <a:tcTxStyle b="on"/>
      <a:tcStyle>
        <a:tcBdr>
          <a:top>
            <a:ln w="50800" cmpd="dbl">
              <a:solidFill>
                <a:schemeClr val="accent2"/>
              </a:solidFill>
            </a:ln>
          </a:top>
        </a:tcBdr>
      </a:tcStyle>
    </a:lastRow>
    <a:firstRow>
      <a:tcTxStyle b="on">
        <a:fontRef idx="minor">
          <a:scrgbClr r="0" g="0" b="0"/>
        </a:fontRef>
        <a:schemeClr val="bg1"/>
      </a:tcTxStyle>
      <a:tcStyle>
        <a:tcBdr/>
        <a:fillRef idx="1">
          <a:schemeClr val="accent2"/>
        </a:fillRef>
      </a:tcStyle>
    </a:firstRow>
  </a:tblStyle>
  <a:tblStyle styleId="{0660B408-B3CF-4A94-85FC-2B1E0A45F4A2}" styleName="Estilo oscuro 2 - Énfasis 1/Énfasis 2">
    <a:wholeTbl>
      <a:tcTxStyle>
        <a:fontRef idx="minor">
          <a:scrgbClr r="0" g="0" b="0"/>
        </a:fontRef>
        <a:schemeClr val="dk1"/>
      </a:tcTxStyle>
      <a:tcStyle>
        <a:tcBdr>
          <a:left>
            <a:ln>
              <a:noFill/>
            </a:ln>
          </a:left>
          <a:right>
            <a:ln>
              <a:noFill/>
            </a:ln>
          </a:right>
          <a:top>
            <a:ln>
              <a:noFill/>
            </a:ln>
          </a:top>
          <a:bottom>
            <a:ln>
              <a:noFill/>
            </a:ln>
          </a:bottom>
          <a:insideH>
            <a:ln>
              <a:noFill/>
            </a:ln>
          </a:insideH>
          <a:insideV>
            <a:ln>
              <a:no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50800" cmpd="dbl">
              <a:solidFill>
                <a:schemeClr val="dk1"/>
              </a:solidFill>
            </a:ln>
          </a:top>
        </a:tcBdr>
        <a:fill>
          <a:solidFill>
            <a:schemeClr val="accent1">
              <a:tint val="20000"/>
            </a:schemeClr>
          </a:solidFill>
        </a:fill>
      </a:tcStyle>
    </a:lastRow>
    <a:firstRow>
      <a:tcTxStyle b="on">
        <a:fontRef idx="minor">
          <a:scrgbClr r="0" g="0" b="0"/>
        </a:fontRef>
        <a:schemeClr val="lt1"/>
      </a:tcTxStyle>
      <a:tcStyle>
        <a:tcBdr/>
        <a:fill>
          <a:solidFill>
            <a:schemeClr val="accent2"/>
          </a:solidFill>
        </a:fill>
      </a:tcStyle>
    </a:firstRow>
  </a:tblStyle>
  <a:tblStyle styleId="{5DA37D80-6434-44D0-A028-1B22A696006F}" styleName="Estilo claro 3 - Acento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21E4AEA4-8DFA-4A89-87EB-49C32662AFE0}" styleName="Estilo medio 2 - Énfasis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93296810-A885-4BE3-A3E7-6D5BEEA58F35}" styleName="Estilo medio 2 - Énfasis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7DF18680-E054-41AD-8BC1-D1AEF772440D}" styleName="Estilo medio 2 - Énfasis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 styleId="{00A15C55-8517-42AA-B614-E9B94910E393}" styleName="Estilo medio 2 - Énfasis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F5AB1C69-6EDB-4FF4-983F-18BD219EF322}" styleName="Estilo medio 2 - Énfasis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73A0DAA-6AF3-43AB-8588-CEC1D06C72B9}" styleName="Estilo medio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0841"/>
    <p:restoredTop sz="91918"/>
  </p:normalViewPr>
  <p:slideViewPr>
    <p:cSldViewPr snapToGrid="0">
      <p:cViewPr varScale="1">
        <p:scale>
          <a:sx n="207" d="100"/>
          <a:sy n="207" d="100"/>
        </p:scale>
        <p:origin x="1168" y="16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presProps" Target="presProps.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tableStyles" Target="tableStyle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handoutMaster" Target="handoutMasters/handoutMaster1.xml"/><Relationship Id="rId40"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microsoft.com/office/2015/10/relationships/revisionInfo" Target="revisionInfo.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a:extLst>
              <a:ext uri="{FF2B5EF4-FFF2-40B4-BE49-F238E27FC236}">
                <a16:creationId xmlns:a16="http://schemas.microsoft.com/office/drawing/2014/main" id="{97909239-6EB4-4F64-9166-01BA8CB152A4}"/>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a:extLst>
              <a:ext uri="{FF2B5EF4-FFF2-40B4-BE49-F238E27FC236}">
                <a16:creationId xmlns:a16="http://schemas.microsoft.com/office/drawing/2014/main" id="{C0D4A5E1-CC2B-4E68-93DE-1741C2D8FCC2}"/>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21EBC9B1-33DC-462F-829C-1E37E99682B9}" type="datetimeFigureOut">
              <a:rPr lang="es-CO" smtClean="0"/>
              <a:t>11/08/26</a:t>
            </a:fld>
            <a:endParaRPr lang="es-CO"/>
          </a:p>
        </p:txBody>
      </p:sp>
      <p:sp>
        <p:nvSpPr>
          <p:cNvPr id="4" name="Marcador de pie de página 3">
            <a:extLst>
              <a:ext uri="{FF2B5EF4-FFF2-40B4-BE49-F238E27FC236}">
                <a16:creationId xmlns:a16="http://schemas.microsoft.com/office/drawing/2014/main" id="{36E42B93-8418-4C73-AFC5-AD8733D5618E}"/>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5" name="Marcador de número de diapositiva 4">
            <a:extLst>
              <a:ext uri="{FF2B5EF4-FFF2-40B4-BE49-F238E27FC236}">
                <a16:creationId xmlns:a16="http://schemas.microsoft.com/office/drawing/2014/main" id="{2BF5AB0F-F981-4352-8DA3-CAD02A4EF5CC}"/>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6C9216A6-D02D-421D-81B5-58C62FCB13EF}" type="slidenum">
              <a:rPr lang="es-CO" smtClean="0"/>
              <a:t>‹#›</a:t>
            </a:fld>
            <a:endParaRPr lang="es-CO"/>
          </a:p>
        </p:txBody>
      </p:sp>
    </p:spTree>
    <p:extLst>
      <p:ext uri="{BB962C8B-B14F-4D97-AF65-F5344CB8AC3E}">
        <p14:creationId xmlns:p14="http://schemas.microsoft.com/office/powerpoint/2010/main" val="3094247631"/>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r>
              <a:rPr lang="es-CO"/>
              <a:t>Profesor Sebastián Joseph Sánchez Oyola</a:t>
            </a:r>
          </a:p>
        </p:txBody>
      </p:sp>
      <p:sp>
        <p:nvSpPr>
          <p:cNvPr id="3" name="Marcador de fecha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2BED2E0-4743-4E03-93B8-12386FF60236}" type="datetimeFigureOut">
              <a:rPr lang="es-CO" smtClean="0"/>
              <a:t>11/08/26</a:t>
            </a:fld>
            <a:endParaRPr lang="es-CO"/>
          </a:p>
        </p:txBody>
      </p:sp>
      <p:sp>
        <p:nvSpPr>
          <p:cNvPr id="4" name="Marcador de imagen de diapositiva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s-CO"/>
          </a:p>
        </p:txBody>
      </p:sp>
      <p:sp>
        <p:nvSpPr>
          <p:cNvPr id="5" name="Marcador de nota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s-CO"/>
          </a:p>
        </p:txBody>
      </p:sp>
      <p:sp>
        <p:nvSpPr>
          <p:cNvPr id="6" name="Marcador de pie de página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s-CO"/>
          </a:p>
        </p:txBody>
      </p:sp>
      <p:sp>
        <p:nvSpPr>
          <p:cNvPr id="7" name="Marcador de número de diapositiva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EAB8670-524E-4520-AA44-FE672760293D}" type="slidenum">
              <a:rPr lang="es-CO" smtClean="0"/>
              <a:t>‹#›</a:t>
            </a:fld>
            <a:endParaRPr lang="es-CO"/>
          </a:p>
        </p:txBody>
      </p:sp>
    </p:spTree>
    <p:extLst>
      <p:ext uri="{BB962C8B-B14F-4D97-AF65-F5344CB8AC3E}">
        <p14:creationId xmlns:p14="http://schemas.microsoft.com/office/powerpoint/2010/main" val="3044258673"/>
      </p:ext>
    </p:extLst>
  </p:cSld>
  <p:clrMap bg1="lt1" tx1="dk1" bg2="lt2" tx2="dk2" accent1="accent1" accent2="accent2" accent3="accent3" accent4="accent4" accent5="accent5" accent6="accent6" hlink="hlink" folHlink="folHlink"/>
  <p:hf sldNum="0"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4</a:t>
            </a:fld>
            <a:endParaRPr lang="en-US"/>
          </a:p>
        </p:txBody>
      </p:sp>
    </p:spTree>
    <p:extLst>
      <p:ext uri="{BB962C8B-B14F-4D97-AF65-F5344CB8AC3E}">
        <p14:creationId xmlns:p14="http://schemas.microsoft.com/office/powerpoint/2010/main" val="425394076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FDD156-A6B2-BBA5-5CCB-44E152E6B7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12AA24-47FA-6754-9CE3-4C193763907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83BA5BE-9E4B-996F-DDDE-9F5E9D12DF47}"/>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F3021263-DAF8-8EEC-3C8B-5AA8F8FB3309}"/>
              </a:ext>
            </a:extLst>
          </p:cNvPr>
          <p:cNvSpPr>
            <a:spLocks noGrp="1"/>
          </p:cNvSpPr>
          <p:nvPr>
            <p:ph type="sldNum" sz="quarter" idx="10"/>
          </p:nvPr>
        </p:nvSpPr>
        <p:spPr/>
        <p:txBody>
          <a:bodyPr/>
          <a:lstStyle/>
          <a:p>
            <a:fld id="{602C4E94-3DB4-C84A-925E-628A397D8BB4}" type="slidenum">
              <a:rPr lang="en-US" smtClean="0"/>
              <a:t>5</a:t>
            </a:fld>
            <a:endParaRPr lang="en-US"/>
          </a:p>
        </p:txBody>
      </p:sp>
    </p:spTree>
    <p:extLst>
      <p:ext uri="{BB962C8B-B14F-4D97-AF65-F5344CB8AC3E}">
        <p14:creationId xmlns:p14="http://schemas.microsoft.com/office/powerpoint/2010/main" val="56788136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790905629"/>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3D3E38-7D53-4DE9-EF94-205033AAA48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82ED198-8CE4-7E05-B68D-A64175F8A79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477A106-79C9-6760-C33F-3C5564A1AE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DA07C14-801E-B460-B39A-416D0229B72B}"/>
              </a:ext>
            </a:extLst>
          </p:cNvPr>
          <p:cNvSpPr>
            <a:spLocks noGrp="1"/>
          </p:cNvSpPr>
          <p:nvPr>
            <p:ph type="sldNum" sz="quarter" idx="10"/>
          </p:nvPr>
        </p:nvSpPr>
        <p:spPr/>
        <p:txBody>
          <a:bodyPr/>
          <a:lstStyle/>
          <a:p>
            <a:fld id="{602C4E94-3DB4-C84A-925E-628A397D8BB4}" type="slidenum">
              <a:rPr lang="en-US" smtClean="0"/>
              <a:t>7</a:t>
            </a:fld>
            <a:endParaRPr lang="en-US"/>
          </a:p>
        </p:txBody>
      </p:sp>
    </p:spTree>
    <p:extLst>
      <p:ext uri="{BB962C8B-B14F-4D97-AF65-F5344CB8AC3E}">
        <p14:creationId xmlns:p14="http://schemas.microsoft.com/office/powerpoint/2010/main" val="2623866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s-ES_tradnl" dirty="0"/>
          </a:p>
        </p:txBody>
      </p:sp>
    </p:spTree>
    <p:extLst>
      <p:ext uri="{BB962C8B-B14F-4D97-AF65-F5344CB8AC3E}">
        <p14:creationId xmlns:p14="http://schemas.microsoft.com/office/powerpoint/2010/main" val="390054707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9</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10</a:t>
            </a:fld>
            <a:endParaRPr lang="en-US"/>
          </a:p>
        </p:txBody>
      </p:sp>
    </p:spTree>
    <p:extLst>
      <p:ext uri="{BB962C8B-B14F-4D97-AF65-F5344CB8AC3E}">
        <p14:creationId xmlns:p14="http://schemas.microsoft.com/office/powerpoint/2010/main" val="105084912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11</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12</a:t>
            </a:fld>
            <a:endParaRPr lang="en-US"/>
          </a:p>
        </p:txBody>
      </p:sp>
    </p:spTree>
    <p:extLst>
      <p:ext uri="{BB962C8B-B14F-4D97-AF65-F5344CB8AC3E}">
        <p14:creationId xmlns:p14="http://schemas.microsoft.com/office/powerpoint/2010/main" val="13335739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13</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8CAD517-8877-58D0-60C0-3557048A53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C33BAFB-04EC-CE4E-7170-791B97651E3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9B9A81-DEA0-E5D9-DAD3-3C9B4EF2296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765BEC32-77CD-9A84-08A3-623678CE6B38}"/>
              </a:ext>
            </a:extLst>
          </p:cNvPr>
          <p:cNvSpPr>
            <a:spLocks noGrp="1"/>
          </p:cNvSpPr>
          <p:nvPr>
            <p:ph type="sldNum" sz="quarter" idx="10"/>
          </p:nvPr>
        </p:nvSpPr>
        <p:spPr/>
        <p:txBody>
          <a:bodyPr/>
          <a:lstStyle/>
          <a:p>
            <a:fld id="{602C4E94-3DB4-C84A-925E-628A397D8BB4}" type="slidenum">
              <a:rPr lang="en-US" smtClean="0"/>
              <a:t>14</a:t>
            </a:fld>
            <a:endParaRPr lang="en-US"/>
          </a:p>
        </p:txBody>
      </p:sp>
    </p:spTree>
    <p:extLst>
      <p:ext uri="{BB962C8B-B14F-4D97-AF65-F5344CB8AC3E}">
        <p14:creationId xmlns:p14="http://schemas.microsoft.com/office/powerpoint/2010/main" val="226279433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ACFB128-ECC1-54AE-B27C-EEBC1FD5BE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477974-3DB8-6457-782D-8B28169131B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4A8F724-BA34-B711-178B-B543BA4CEDF4}"/>
              </a:ext>
            </a:extLst>
          </p:cNvPr>
          <p:cNvSpPr>
            <a:spLocks noGrp="1"/>
          </p:cNvSpPr>
          <p:nvPr>
            <p:ph type="body" idx="1"/>
          </p:nvPr>
        </p:nvSpPr>
        <p:spPr/>
        <p:txBody>
          <a:bodyPr/>
          <a:lstStyle/>
          <a:p>
            <a:r>
              <a:rPr lang="en-CO" sz="1200" b="0" i="0" kern="1200" dirty="0">
                <a:solidFill>
                  <a:schemeClr val="tx1"/>
                </a:solidFill>
                <a:effectLst/>
                <a:latin typeface="+mn-lt"/>
                <a:ea typeface="+mn-ea"/>
                <a:cs typeface="+mn-cs"/>
              </a:rPr>
              <a:t>Igualmente, reduce la incertidumbre sobre la rentabilidad esperada de la inversión, lo cual la estimula e incrementa la confianza de los agentes económicos.</a:t>
            </a:r>
          </a:p>
          <a:p>
            <a:r>
              <a:rPr lang="en-CO" sz="1200" b="0" i="0" kern="1200" dirty="0">
                <a:solidFill>
                  <a:schemeClr val="tx1"/>
                </a:solidFill>
                <a:effectLst/>
                <a:latin typeface="+mn-lt"/>
                <a:ea typeface="+mn-ea"/>
                <a:cs typeface="+mn-cs"/>
              </a:rPr>
              <a:t>banco central de Colombia mediante la Ley 25 de 1923, según los parámetros definidos por la Misión Kemmerer.</a:t>
            </a:r>
          </a:p>
          <a:p>
            <a:r>
              <a:rPr lang="en-CO" sz="1200" b="0" i="0" kern="1200" dirty="0">
                <a:solidFill>
                  <a:schemeClr val="tx1"/>
                </a:solidFill>
                <a:effectLst/>
                <a:latin typeface="+mn-lt"/>
                <a:ea typeface="+mn-ea"/>
                <a:cs typeface="+mn-cs"/>
              </a:rPr>
              <a:t>Una inflación baja evita redistribuciones arbitrarias del ingreso y la riqueza, teniendo en cuenta que los estratos de ingresos bajos tienden a ser los más afectados por los choques inflacionarios. Por otra parte, una inflación baja ayuda a crear un buen clima laboral y reduce la volatilidad del nivel de empleo. También contribuye a que el sistema de impuestos sea más transparente y equitativo, al evitar las distorsiones que la inflación introduce sobre el valor de los activos y de los ingresos. </a:t>
            </a:r>
          </a:p>
          <a:p>
            <a:r>
              <a:rPr lang="en-CO" sz="1200" b="0" i="0" kern="1200" dirty="0">
                <a:solidFill>
                  <a:schemeClr val="tx1"/>
                </a:solidFill>
                <a:effectLst/>
                <a:latin typeface="+mn-lt"/>
                <a:ea typeface="+mn-ea"/>
                <a:cs typeface="+mn-cs"/>
              </a:rPr>
              <a:t>Finalmente, desde el punto de vista de la autoridad monetaria, uno de los beneficios más relevantes de una inflación baja es la credibilidad que los agentes económicos adquieren en la meta de inflación, lo que la convierte en un ancla nominal efectiva sobre el nivel de precios. Ello a su vez permite que la tasa de cambio frente a otras monedas pueda fluctuar y convertirse en el primer mecanismo de defensa frente a choques externos, tales como cambios abruptos en los precios de los bienes que se exportan o en las condiciones financieras internacionales, mitigando con ello los efectos de esos choques sobre la economía en su conjunto.</a:t>
            </a:r>
            <a:endParaRPr lang="en-US" dirty="0"/>
          </a:p>
        </p:txBody>
      </p:sp>
      <p:sp>
        <p:nvSpPr>
          <p:cNvPr id="4" name="Slide Number Placeholder 3">
            <a:extLst>
              <a:ext uri="{FF2B5EF4-FFF2-40B4-BE49-F238E27FC236}">
                <a16:creationId xmlns:a16="http://schemas.microsoft.com/office/drawing/2014/main" id="{34D3CBD9-3451-7DCE-576D-6F0F242C4B0D}"/>
              </a:ext>
            </a:extLst>
          </p:cNvPr>
          <p:cNvSpPr>
            <a:spLocks noGrp="1"/>
          </p:cNvSpPr>
          <p:nvPr>
            <p:ph type="sldNum" sz="quarter" idx="10"/>
          </p:nvPr>
        </p:nvSpPr>
        <p:spPr/>
        <p:txBody>
          <a:bodyPr/>
          <a:lstStyle/>
          <a:p>
            <a:fld id="{602C4E94-3DB4-C84A-925E-628A397D8BB4}" type="slidenum">
              <a:rPr lang="en-US" smtClean="0"/>
              <a:t>15</a:t>
            </a:fld>
            <a:endParaRPr lang="en-US"/>
          </a:p>
        </p:txBody>
      </p:sp>
    </p:spTree>
    <p:extLst>
      <p:ext uri="{BB962C8B-B14F-4D97-AF65-F5344CB8AC3E}">
        <p14:creationId xmlns:p14="http://schemas.microsoft.com/office/powerpoint/2010/main" val="42547745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2428DF-3997-5A64-8AAB-300EAC74989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02A003-E274-8F63-6B2F-6F4DE6AB789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055A5EB-127B-2EB7-A08E-865595474448}"/>
              </a:ext>
            </a:extLst>
          </p:cNvPr>
          <p:cNvSpPr>
            <a:spLocks noGrp="1"/>
          </p:cNvSpPr>
          <p:nvPr>
            <p:ph type="body" idx="1"/>
          </p:nvPr>
        </p:nvSpPr>
        <p:spPr/>
        <p:txBody>
          <a:bodyPr/>
          <a:lstStyle/>
          <a:p>
            <a:r>
              <a:rPr lang="en-CO" sz="1200" b="0" i="0" kern="1200" dirty="0">
                <a:solidFill>
                  <a:schemeClr val="tx1"/>
                </a:solidFill>
                <a:effectLst/>
                <a:latin typeface="+mn-lt"/>
                <a:ea typeface="+mn-ea"/>
                <a:cs typeface="+mn-cs"/>
              </a:rPr>
              <a:t>En los países avanzados la inflación promedio descendió a 4,6 % en 2023, y se situó alrededor de 2,5 % en 2024 y en 2025. En las economías emergentes y en desarrollo, la inflación promedio disminuyó a 8,2 % en 2023, 8,0 % en 2024 y 5,2 % en 2025.</a:t>
            </a:r>
          </a:p>
          <a:p>
            <a:endParaRPr lang="en-CO" sz="1200" b="0" i="0" kern="1200" dirty="0">
              <a:solidFill>
                <a:schemeClr val="tx1"/>
              </a:solidFill>
              <a:effectLst/>
              <a:latin typeface="+mn-lt"/>
              <a:ea typeface="+mn-ea"/>
              <a:cs typeface="+mn-cs"/>
            </a:endParaRPr>
          </a:p>
          <a:p>
            <a:r>
              <a:rPr lang="en-CO" sz="1200" b="0" i="0" kern="1200" dirty="0">
                <a:solidFill>
                  <a:schemeClr val="tx1"/>
                </a:solidFill>
                <a:effectLst/>
                <a:latin typeface="+mn-lt"/>
                <a:ea typeface="+mn-ea"/>
                <a:cs typeface="+mn-cs"/>
              </a:rPr>
              <a:t>Entre ellos cabe mencionar los bloqueos viales de mayo y junio de 2021, que afectaron la producción y distribución de alimentos; la fuerte depreciación del peso colombiano que se presentó en 2021 y 2022; y la reversión de los alivios temporales de precios de la gasolina, impuestos y tarifas que se concedieron durante la pandemia.</a:t>
            </a:r>
          </a:p>
          <a:p>
            <a:r>
              <a:rPr lang="en-CO" sz="1200" b="0" i="0" kern="1200" dirty="0">
                <a:solidFill>
                  <a:schemeClr val="tx1"/>
                </a:solidFill>
                <a:effectLst/>
                <a:latin typeface="+mn-lt"/>
                <a:ea typeface="+mn-ea"/>
                <a:cs typeface="+mn-cs"/>
              </a:rPr>
              <a:t>En los primeros meses de 2026 la inflación en Colombia volvió a aumentar alejándose nuevamente de la de sus pares de la región, en un contexto de notable expansión fiscal y fuertes choques de costos laborales.</a:t>
            </a:r>
          </a:p>
          <a:p>
            <a:br>
              <a:rPr lang="en-CO" dirty="0"/>
            </a:br>
            <a:endParaRPr lang="en-US" dirty="0"/>
          </a:p>
        </p:txBody>
      </p:sp>
      <p:sp>
        <p:nvSpPr>
          <p:cNvPr id="4" name="Slide Number Placeholder 3">
            <a:extLst>
              <a:ext uri="{FF2B5EF4-FFF2-40B4-BE49-F238E27FC236}">
                <a16:creationId xmlns:a16="http://schemas.microsoft.com/office/drawing/2014/main" id="{CBAFFD3F-4DF0-702B-4363-7FE25DC2F91A}"/>
              </a:ext>
            </a:extLst>
          </p:cNvPr>
          <p:cNvSpPr>
            <a:spLocks noGrp="1"/>
          </p:cNvSpPr>
          <p:nvPr>
            <p:ph type="sldNum" sz="quarter" idx="10"/>
          </p:nvPr>
        </p:nvSpPr>
        <p:spPr/>
        <p:txBody>
          <a:bodyPr/>
          <a:lstStyle/>
          <a:p>
            <a:fld id="{602C4E94-3DB4-C84A-925E-628A397D8BB4}" type="slidenum">
              <a:rPr lang="en-US" smtClean="0"/>
              <a:t>16</a:t>
            </a:fld>
            <a:endParaRPr lang="en-US"/>
          </a:p>
        </p:txBody>
      </p:sp>
    </p:spTree>
    <p:extLst>
      <p:ext uri="{BB962C8B-B14F-4D97-AF65-F5344CB8AC3E}">
        <p14:creationId xmlns:p14="http://schemas.microsoft.com/office/powerpoint/2010/main" val="237714509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1C255-21DE-AC9A-DA3B-D982BD065B7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7CF7AE6-7E98-5612-F12E-8516EEF5815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AB86D6-0A76-75C7-6A68-81A9091552FC}"/>
              </a:ext>
            </a:extLst>
          </p:cNvPr>
          <p:cNvSpPr>
            <a:spLocks noGrp="1"/>
          </p:cNvSpPr>
          <p:nvPr>
            <p:ph type="body" idx="1"/>
          </p:nvPr>
        </p:nvSpPr>
        <p:spPr/>
        <p:txBody>
          <a:bodyPr/>
          <a:lstStyle/>
          <a:p>
            <a:r>
              <a:rPr lang="en-CO" sz="1200" b="0" i="0" kern="1200" dirty="0">
                <a:solidFill>
                  <a:schemeClr val="tx1"/>
                </a:solidFill>
                <a:effectLst/>
                <a:latin typeface="+mn-lt"/>
                <a:ea typeface="+mn-ea"/>
                <a:cs typeface="+mn-cs"/>
              </a:rPr>
              <a:t>En los países avanzados la inflación promedio descendió a 4,6 % en 2023, y se situó alrededor de 2,5 % en 2024 y en 2025. En las economías emergentes y en desarrollo, la inflación promedio disminuyó a 8,2 % en 2023, 8,0 % en 2024 y 5,2 % en 2025.</a:t>
            </a:r>
          </a:p>
          <a:p>
            <a:endParaRPr lang="en-CO" sz="1200" b="0" i="0" kern="1200" dirty="0">
              <a:solidFill>
                <a:schemeClr val="tx1"/>
              </a:solidFill>
              <a:effectLst/>
              <a:latin typeface="+mn-lt"/>
              <a:ea typeface="+mn-ea"/>
              <a:cs typeface="+mn-cs"/>
            </a:endParaRPr>
          </a:p>
          <a:p>
            <a:r>
              <a:rPr lang="en-CO" sz="1200" b="0" i="0" kern="1200" dirty="0">
                <a:solidFill>
                  <a:schemeClr val="tx1"/>
                </a:solidFill>
                <a:effectLst/>
                <a:latin typeface="+mn-lt"/>
                <a:ea typeface="+mn-ea"/>
                <a:cs typeface="+mn-cs"/>
              </a:rPr>
              <a:t>Entre ellos cabe mencionar los bloqueos viales de mayo y junio de 2021, que afectaron la producción y distribución de alimentos; la fuerte depreciación del peso colombiano que se presentó en 2021 y 2022; y la reversión de los alivios temporales de precios de la gasolina, impuestos y tarifas que se concedieron durante la pandemia.</a:t>
            </a:r>
          </a:p>
          <a:p>
            <a:r>
              <a:rPr lang="en-CO" sz="1200" b="0" i="0" kern="1200" dirty="0">
                <a:solidFill>
                  <a:schemeClr val="tx1"/>
                </a:solidFill>
                <a:effectLst/>
                <a:latin typeface="+mn-lt"/>
                <a:ea typeface="+mn-ea"/>
                <a:cs typeface="+mn-cs"/>
              </a:rPr>
              <a:t>En los primeros meses de 2026 la inflación en Colombia volvió a aumentar alejándose nuevamente de la de sus pares de la región, en un contexto de notable expansión fiscal y fuertes choques de costos laborales.</a:t>
            </a:r>
          </a:p>
          <a:p>
            <a:br>
              <a:rPr lang="en-CO" dirty="0"/>
            </a:br>
            <a:endParaRPr lang="en-US" dirty="0"/>
          </a:p>
        </p:txBody>
      </p:sp>
      <p:sp>
        <p:nvSpPr>
          <p:cNvPr id="4" name="Slide Number Placeholder 3">
            <a:extLst>
              <a:ext uri="{FF2B5EF4-FFF2-40B4-BE49-F238E27FC236}">
                <a16:creationId xmlns:a16="http://schemas.microsoft.com/office/drawing/2014/main" id="{DC4B4598-F9E7-5B11-22F9-8CBF9B3C80E6}"/>
              </a:ext>
            </a:extLst>
          </p:cNvPr>
          <p:cNvSpPr>
            <a:spLocks noGrp="1"/>
          </p:cNvSpPr>
          <p:nvPr>
            <p:ph type="sldNum" sz="quarter" idx="10"/>
          </p:nvPr>
        </p:nvSpPr>
        <p:spPr/>
        <p:txBody>
          <a:bodyPr/>
          <a:lstStyle/>
          <a:p>
            <a:fld id="{602C4E94-3DB4-C84A-925E-628A397D8BB4}" type="slidenum">
              <a:rPr lang="en-US" smtClean="0"/>
              <a:t>17</a:t>
            </a:fld>
            <a:endParaRPr lang="en-US"/>
          </a:p>
        </p:txBody>
      </p:sp>
    </p:spTree>
    <p:extLst>
      <p:ext uri="{BB962C8B-B14F-4D97-AF65-F5344CB8AC3E}">
        <p14:creationId xmlns:p14="http://schemas.microsoft.com/office/powerpoint/2010/main" val="335051140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19</a:t>
            </a:fld>
            <a:endParaRPr lang="en-US"/>
          </a:p>
        </p:txBody>
      </p:sp>
    </p:spTree>
    <p:extLst>
      <p:ext uri="{BB962C8B-B14F-4D97-AF65-F5344CB8AC3E}">
        <p14:creationId xmlns:p14="http://schemas.microsoft.com/office/powerpoint/2010/main" val="3891942195"/>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20</a:t>
            </a:fld>
            <a:endParaRPr lang="en-US"/>
          </a:p>
        </p:txBody>
      </p:sp>
    </p:spTree>
    <p:extLst>
      <p:ext uri="{BB962C8B-B14F-4D97-AF65-F5344CB8AC3E}">
        <p14:creationId xmlns:p14="http://schemas.microsoft.com/office/powerpoint/2010/main" val="60837367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buFont typeface="Arial" panose="020B0604020202020204" pitchFamily="34" charset="0"/>
              <a:buChar char="•"/>
            </a:pPr>
            <a:r>
              <a:rPr lang="en-US" dirty="0"/>
              <a:t>Son </a:t>
            </a:r>
            <a:r>
              <a:rPr lang="en-US" b="1" dirty="0" err="1"/>
              <a:t>bonos</a:t>
            </a:r>
            <a:r>
              <a:rPr lang="en-US" b="1" dirty="0"/>
              <a:t> del </a:t>
            </a:r>
            <a:r>
              <a:rPr lang="en-US" b="1" dirty="0" err="1"/>
              <a:t>gobierno</a:t>
            </a:r>
            <a:r>
              <a:rPr lang="en-US" dirty="0"/>
              <a:t> </a:t>
            </a:r>
            <a:r>
              <a:rPr lang="en-US" dirty="0" err="1"/>
              <a:t>cuyo</a:t>
            </a:r>
            <a:r>
              <a:rPr lang="en-US" dirty="0"/>
              <a:t> valor </a:t>
            </a:r>
            <a:r>
              <a:rPr lang="en-US" dirty="0" err="1"/>
              <a:t>está</a:t>
            </a:r>
            <a:r>
              <a:rPr lang="en-US" dirty="0"/>
              <a:t> </a:t>
            </a:r>
            <a:r>
              <a:rPr lang="en-US" b="1" dirty="0" err="1"/>
              <a:t>indexado</a:t>
            </a:r>
            <a:r>
              <a:rPr lang="en-US" b="1" dirty="0"/>
              <a:t> a la </a:t>
            </a:r>
            <a:r>
              <a:rPr lang="en-US" b="1" dirty="0" err="1"/>
              <a:t>inflación</a:t>
            </a:r>
            <a:r>
              <a:rPr lang="en-US" dirty="0"/>
              <a:t> (UVR).</a:t>
            </a:r>
          </a:p>
          <a:p>
            <a:pPr>
              <a:buFont typeface="Arial" panose="020B0604020202020204" pitchFamily="34" charset="0"/>
              <a:buChar char="•"/>
            </a:pPr>
            <a:r>
              <a:rPr lang="en-US" dirty="0"/>
              <a:t>El Estado se </a:t>
            </a:r>
            <a:r>
              <a:rPr lang="en-US" dirty="0" err="1"/>
              <a:t>endeuda</a:t>
            </a:r>
            <a:r>
              <a:rPr lang="en-US" dirty="0"/>
              <a:t> y los </a:t>
            </a:r>
            <a:r>
              <a:rPr lang="en-US" dirty="0" err="1"/>
              <a:t>inversionistas</a:t>
            </a:r>
            <a:r>
              <a:rPr lang="en-US" dirty="0"/>
              <a:t> le </a:t>
            </a:r>
            <a:r>
              <a:rPr lang="en-US" dirty="0" err="1"/>
              <a:t>prestan</a:t>
            </a:r>
            <a:r>
              <a:rPr lang="en-US" dirty="0"/>
              <a:t> dinero.</a:t>
            </a:r>
          </a:p>
          <a:p>
            <a:pPr>
              <a:buFont typeface="Arial" panose="020B0604020202020204" pitchFamily="34" charset="0"/>
              <a:buChar char="•"/>
            </a:pPr>
            <a:r>
              <a:rPr lang="en-US" dirty="0"/>
              <a:t>Tasa </a:t>
            </a:r>
            <a:r>
              <a:rPr lang="en-US" dirty="0" err="1"/>
              <a:t>cupón</a:t>
            </a:r>
            <a:r>
              <a:rPr lang="en-US" dirty="0"/>
              <a:t> (la </a:t>
            </a:r>
            <a:r>
              <a:rPr lang="en-US" dirty="0" err="1"/>
              <a:t>tasa</a:t>
            </a:r>
            <a:r>
              <a:rPr lang="en-US" dirty="0"/>
              <a:t> “</a:t>
            </a:r>
            <a:r>
              <a:rPr lang="en-US" dirty="0" err="1"/>
              <a:t>prometida</a:t>
            </a:r>
            <a:r>
              <a:rPr lang="en-US" dirty="0"/>
              <a:t>”)</a:t>
            </a:r>
          </a:p>
          <a:p>
            <a:pPr>
              <a:buFont typeface="Arial" panose="020B0604020202020204" pitchFamily="34" charset="0"/>
              <a:buChar char="•"/>
            </a:pPr>
            <a:endParaRPr lang="en-US" dirty="0"/>
          </a:p>
          <a:p>
            <a:r>
              <a:rPr lang="en-US" b="1" dirty="0"/>
              <a:t>Tasa </a:t>
            </a:r>
            <a:r>
              <a:rPr lang="en-US" b="1" dirty="0" err="1"/>
              <a:t>cupón</a:t>
            </a:r>
            <a:r>
              <a:rPr lang="en-US" b="1" dirty="0"/>
              <a:t> + </a:t>
            </a:r>
            <a:r>
              <a:rPr lang="en-US" b="1" dirty="0" err="1"/>
              <a:t>inflación</a:t>
            </a:r>
            <a:endParaRPr lang="en-US" dirty="0"/>
          </a:p>
          <a:p>
            <a:r>
              <a:rPr lang="en-US" dirty="0"/>
              <a:t>Es la </a:t>
            </a:r>
            <a:r>
              <a:rPr lang="en-US" b="1" dirty="0" err="1"/>
              <a:t>tasa</a:t>
            </a:r>
            <a:r>
              <a:rPr lang="en-US" b="1" dirty="0"/>
              <a:t> real </a:t>
            </a:r>
            <a:r>
              <a:rPr lang="en-US" b="1" dirty="0" err="1"/>
              <a:t>anual</a:t>
            </a:r>
            <a:r>
              <a:rPr lang="en-US" dirty="0"/>
              <a:t> </a:t>
            </a:r>
            <a:r>
              <a:rPr lang="en-US" dirty="0" err="1"/>
              <a:t>que</a:t>
            </a:r>
            <a:r>
              <a:rPr lang="en-US" dirty="0"/>
              <a:t> </a:t>
            </a:r>
            <a:r>
              <a:rPr lang="en-US" dirty="0" err="1"/>
              <a:t>paga</a:t>
            </a:r>
            <a:r>
              <a:rPr lang="en-US" dirty="0"/>
              <a:t> el bono </a:t>
            </a:r>
            <a:r>
              <a:rPr lang="en-US" b="1" dirty="0" err="1"/>
              <a:t>sobre</a:t>
            </a:r>
            <a:r>
              <a:rPr lang="en-US" b="1" dirty="0"/>
              <a:t> UVR</a:t>
            </a:r>
            <a:r>
              <a:rPr lang="en-US" dirty="0"/>
              <a:t>.</a:t>
            </a:r>
          </a:p>
          <a:p>
            <a:r>
              <a:rPr lang="en-US" dirty="0" err="1"/>
              <a:t>Ejemplo</a:t>
            </a:r>
            <a:r>
              <a:rPr lang="en-US" dirty="0"/>
              <a:t>:</a:t>
            </a:r>
            <a:br>
              <a:rPr lang="en-US" dirty="0"/>
            </a:br>
            <a:r>
              <a:rPr lang="en-US" dirty="0"/>
              <a:t>Si </a:t>
            </a:r>
            <a:r>
              <a:rPr lang="en-US" dirty="0" err="1"/>
              <a:t>inflación</a:t>
            </a:r>
            <a:r>
              <a:rPr lang="en-US" dirty="0"/>
              <a:t> = 6% y </a:t>
            </a:r>
            <a:r>
              <a:rPr lang="en-US" dirty="0" err="1"/>
              <a:t>cupón</a:t>
            </a:r>
            <a:r>
              <a:rPr lang="en-US" dirty="0"/>
              <a:t> = 5% → </a:t>
            </a:r>
            <a:r>
              <a:rPr lang="en-US" dirty="0" err="1"/>
              <a:t>rendimiento</a:t>
            </a:r>
            <a:r>
              <a:rPr lang="en-US" dirty="0"/>
              <a:t> nominal ≈ </a:t>
            </a:r>
            <a:r>
              <a:rPr lang="en-US" b="1" dirty="0"/>
              <a:t>11%</a:t>
            </a:r>
            <a:endParaRPr lang="en-US" dirty="0"/>
          </a:p>
          <a:p>
            <a:r>
              <a:rPr lang="en-US" dirty="0"/>
              <a:t>Es la </a:t>
            </a:r>
            <a:r>
              <a:rPr lang="en-US" b="1" dirty="0" err="1"/>
              <a:t>tasa</a:t>
            </a:r>
            <a:r>
              <a:rPr lang="en-US" b="1" dirty="0"/>
              <a:t> real </a:t>
            </a:r>
            <a:r>
              <a:rPr lang="en-US" b="1" dirty="0" err="1"/>
              <a:t>máxima</a:t>
            </a:r>
            <a:r>
              <a:rPr lang="en-US" b="1" dirty="0"/>
              <a:t> </a:t>
            </a:r>
            <a:r>
              <a:rPr lang="en-US" b="1" dirty="0" err="1"/>
              <a:t>aceptada</a:t>
            </a:r>
            <a:r>
              <a:rPr lang="en-US" dirty="0"/>
              <a:t> por el </a:t>
            </a:r>
            <a:r>
              <a:rPr lang="en-US" dirty="0" err="1"/>
              <a:t>gobierno</a:t>
            </a:r>
            <a:r>
              <a:rPr lang="en-US" dirty="0"/>
              <a:t>.</a:t>
            </a:r>
          </a:p>
          <a:p>
            <a:endParaRPr lang="en-US" dirty="0"/>
          </a:p>
          <a:p>
            <a:r>
              <a:rPr lang="en-US" b="1" dirty="0"/>
              <a:t>Tasa de corte (clave </a:t>
            </a:r>
            <a:r>
              <a:rPr lang="en-US" b="1" dirty="0" err="1"/>
              <a:t>en</a:t>
            </a:r>
            <a:r>
              <a:rPr lang="en-US" b="1" dirty="0"/>
              <a:t> la </a:t>
            </a:r>
            <a:r>
              <a:rPr lang="en-US" b="1" dirty="0" err="1"/>
              <a:t>subasta</a:t>
            </a:r>
            <a:r>
              <a:rPr lang="en-US" b="1" dirty="0"/>
              <a:t>)</a:t>
            </a:r>
          </a:p>
          <a:p>
            <a:r>
              <a:rPr lang="en-US" dirty="0"/>
              <a:t>Es la </a:t>
            </a:r>
            <a:r>
              <a:rPr lang="en-US" b="1" dirty="0" err="1"/>
              <a:t>tasa</a:t>
            </a:r>
            <a:r>
              <a:rPr lang="en-US" b="1" dirty="0"/>
              <a:t> real </a:t>
            </a:r>
            <a:r>
              <a:rPr lang="en-US" b="1" dirty="0" err="1"/>
              <a:t>máxima</a:t>
            </a:r>
            <a:r>
              <a:rPr lang="en-US" b="1" dirty="0"/>
              <a:t> </a:t>
            </a:r>
            <a:r>
              <a:rPr lang="en-US" b="1" dirty="0" err="1"/>
              <a:t>aceptada</a:t>
            </a:r>
            <a:r>
              <a:rPr lang="en-US" dirty="0"/>
              <a:t> por el </a:t>
            </a:r>
            <a:r>
              <a:rPr lang="en-US" dirty="0" err="1"/>
              <a:t>gobierno</a:t>
            </a:r>
            <a:r>
              <a:rPr lang="en-US" dirty="0"/>
              <a:t>.</a:t>
            </a:r>
          </a:p>
          <a:p>
            <a:pPr>
              <a:buFont typeface="Arial" panose="020B0604020202020204" pitchFamily="34" charset="0"/>
              <a:buChar char="•"/>
            </a:pPr>
            <a:r>
              <a:rPr lang="en-US" dirty="0"/>
              <a:t>Los </a:t>
            </a:r>
            <a:r>
              <a:rPr lang="en-US" dirty="0" err="1"/>
              <a:t>inversionistas</a:t>
            </a:r>
            <a:r>
              <a:rPr lang="en-US" dirty="0"/>
              <a:t> </a:t>
            </a:r>
            <a:r>
              <a:rPr lang="en-US" b="1" dirty="0" err="1"/>
              <a:t>pidieron</a:t>
            </a:r>
            <a:r>
              <a:rPr lang="en-US" b="1" dirty="0"/>
              <a:t> </a:t>
            </a:r>
            <a:r>
              <a:rPr lang="en-US" b="1" dirty="0" err="1"/>
              <a:t>tasas</a:t>
            </a:r>
            <a:r>
              <a:rPr lang="en-US" b="1" dirty="0"/>
              <a:t> </a:t>
            </a:r>
            <a:r>
              <a:rPr lang="en-US" b="1" dirty="0" err="1"/>
              <a:t>más</a:t>
            </a:r>
            <a:r>
              <a:rPr lang="en-US" b="1" dirty="0"/>
              <a:t> </a:t>
            </a:r>
            <a:r>
              <a:rPr lang="en-US" b="1" dirty="0" err="1"/>
              <a:t>altas</a:t>
            </a:r>
            <a:r>
              <a:rPr lang="en-US" dirty="0"/>
              <a:t> </a:t>
            </a:r>
            <a:r>
              <a:rPr lang="en-US" dirty="0" err="1"/>
              <a:t>que</a:t>
            </a:r>
            <a:r>
              <a:rPr lang="en-US" dirty="0"/>
              <a:t> el </a:t>
            </a:r>
            <a:r>
              <a:rPr lang="en-US" dirty="0" err="1"/>
              <a:t>cupón</a:t>
            </a:r>
            <a:r>
              <a:rPr lang="en-US" dirty="0"/>
              <a:t>.</a:t>
            </a:r>
          </a:p>
          <a:p>
            <a:pPr>
              <a:buFont typeface="Arial" panose="020B0604020202020204" pitchFamily="34" charset="0"/>
              <a:buChar char="•"/>
            </a:pPr>
            <a:r>
              <a:rPr lang="en-US" dirty="0"/>
              <a:t>Como la </a:t>
            </a:r>
            <a:r>
              <a:rPr lang="en-US" dirty="0" err="1"/>
              <a:t>tasa</a:t>
            </a:r>
            <a:r>
              <a:rPr lang="en-US" dirty="0"/>
              <a:t> de corte &gt; </a:t>
            </a:r>
            <a:r>
              <a:rPr lang="en-US" dirty="0" err="1"/>
              <a:t>cupón</a:t>
            </a:r>
            <a:r>
              <a:rPr lang="en-US" dirty="0"/>
              <a:t> → los </a:t>
            </a:r>
            <a:r>
              <a:rPr lang="en-US" dirty="0" err="1"/>
              <a:t>bonos</a:t>
            </a:r>
            <a:r>
              <a:rPr lang="en-US" dirty="0"/>
              <a:t> se </a:t>
            </a:r>
            <a:r>
              <a:rPr lang="en-US" dirty="0" err="1"/>
              <a:t>colocaron</a:t>
            </a:r>
            <a:r>
              <a:rPr lang="en-US" dirty="0"/>
              <a:t> </a:t>
            </a:r>
            <a:r>
              <a:rPr lang="en-US" b="1" dirty="0"/>
              <a:t>con </a:t>
            </a:r>
            <a:r>
              <a:rPr lang="en-US" b="1" dirty="0" err="1"/>
              <a:t>descuento</a:t>
            </a:r>
            <a:r>
              <a:rPr lang="en-US" dirty="0"/>
              <a:t>.</a:t>
            </a:r>
          </a:p>
          <a:p>
            <a:pPr>
              <a:buFont typeface="Arial" panose="020B0604020202020204" pitchFamily="34" charset="0"/>
              <a:buChar char="•"/>
            </a:pPr>
            <a:r>
              <a:rPr lang="en-US" dirty="0" err="1"/>
              <a:t>Refleja</a:t>
            </a:r>
            <a:r>
              <a:rPr lang="en-US" dirty="0"/>
              <a:t>:</a:t>
            </a:r>
          </a:p>
          <a:p>
            <a:pPr marL="742950" lvl="1" indent="-285750">
              <a:buFont typeface="Arial" panose="020B0604020202020204" pitchFamily="34" charset="0"/>
              <a:buChar char="•"/>
            </a:pPr>
            <a:r>
              <a:rPr lang="en-US" dirty="0" err="1"/>
              <a:t>Expectativas</a:t>
            </a:r>
            <a:r>
              <a:rPr lang="en-US" dirty="0"/>
              <a:t> de </a:t>
            </a:r>
            <a:r>
              <a:rPr lang="en-US" dirty="0" err="1"/>
              <a:t>inflación</a:t>
            </a:r>
            <a:endParaRPr lang="en-US" dirty="0"/>
          </a:p>
          <a:p>
            <a:pPr marL="742950" lvl="1" indent="-285750">
              <a:buFont typeface="Arial" panose="020B0604020202020204" pitchFamily="34" charset="0"/>
              <a:buChar char="•"/>
            </a:pPr>
            <a:r>
              <a:rPr lang="en-US" dirty="0"/>
              <a:t>Riesgo fiscal</a:t>
            </a:r>
          </a:p>
          <a:p>
            <a:pPr marL="742950" lvl="1" indent="-285750">
              <a:buFont typeface="Arial" panose="020B0604020202020204" pitchFamily="34" charset="0"/>
              <a:buChar char="•"/>
            </a:pPr>
            <a:r>
              <a:rPr lang="en-US" dirty="0" err="1"/>
              <a:t>Condiciones</a:t>
            </a:r>
            <a:r>
              <a:rPr lang="en-US" dirty="0"/>
              <a:t> </a:t>
            </a:r>
            <a:r>
              <a:rPr lang="en-US" dirty="0" err="1"/>
              <a:t>financieras</a:t>
            </a:r>
            <a:r>
              <a:rPr lang="en-US" dirty="0"/>
              <a:t> del mercado</a:t>
            </a:r>
          </a:p>
          <a:p>
            <a:endParaRPr lang="es-ES_tradnl" dirty="0"/>
          </a:p>
        </p:txBody>
      </p:sp>
    </p:spTree>
    <p:extLst>
      <p:ext uri="{BB962C8B-B14F-4D97-AF65-F5344CB8AC3E}">
        <p14:creationId xmlns:p14="http://schemas.microsoft.com/office/powerpoint/2010/main" val="222672001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22</a:t>
            </a:fld>
            <a:endParaRPr lang="en-US"/>
          </a:p>
        </p:txBody>
      </p:sp>
    </p:spTree>
    <p:extLst>
      <p:ext uri="{BB962C8B-B14F-4D97-AF65-F5344CB8AC3E}">
        <p14:creationId xmlns:p14="http://schemas.microsoft.com/office/powerpoint/2010/main" val="2672399003"/>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602C4E94-3DB4-C84A-925E-628A397D8BB4}" type="slidenum">
              <a:rPr lang="en-US" smtClean="0"/>
              <a:t>24</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25</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26</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28</a:t>
            </a:fld>
            <a:endParaRPr lang="en-US"/>
          </a:p>
        </p:txBody>
      </p:sp>
    </p:spTree>
    <p:extLst>
      <p:ext uri="{BB962C8B-B14F-4D97-AF65-F5344CB8AC3E}">
        <p14:creationId xmlns:p14="http://schemas.microsoft.com/office/powerpoint/2010/main" val="2997444158"/>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602C4E94-3DB4-C84A-925E-628A397D8BB4}" type="slidenum">
              <a:rPr lang="en-US" smtClean="0"/>
              <a:t>29</a:t>
            </a:fld>
            <a:endParaRPr lang="en-US"/>
          </a:p>
        </p:txBody>
      </p:sp>
    </p:spTree>
    <p:extLst>
      <p:ext uri="{BB962C8B-B14F-4D97-AF65-F5344CB8AC3E}">
        <p14:creationId xmlns:p14="http://schemas.microsoft.com/office/powerpoint/2010/main" val="299744415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7" name="Rectangle 6"/>
          <p:cNvSpPr/>
          <p:nvPr/>
        </p:nvSpPr>
        <p:spPr>
          <a:xfrm>
            <a:off x="446534" y="3085765"/>
            <a:ext cx="11262866" cy="330480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ctrTitle"/>
          </p:nvPr>
        </p:nvSpPr>
        <p:spPr>
          <a:xfrm>
            <a:off x="581191" y="1020431"/>
            <a:ext cx="10993549" cy="1475013"/>
          </a:xfrm>
          <a:effectLst/>
        </p:spPr>
        <p:txBody>
          <a:bodyPr anchor="b">
            <a:normAutofit/>
          </a:bodyPr>
          <a:lstStyle>
            <a:lvl1pPr>
              <a:defRPr sz="3600">
                <a:solidFill>
                  <a:schemeClr val="accent1"/>
                </a:solidFill>
              </a:defRPr>
            </a:lvl1pPr>
          </a:lstStyle>
          <a:p>
            <a:r>
              <a:rPr lang="es-MX"/>
              <a:t>Haz clic para modificar el estilo de título del patrón</a:t>
            </a:r>
            <a:endParaRPr lang="en-US"/>
          </a:p>
        </p:txBody>
      </p:sp>
      <p:sp>
        <p:nvSpPr>
          <p:cNvPr id="3" name="Subtitle 2"/>
          <p:cNvSpPr>
            <a:spLocks noGrp="1"/>
          </p:cNvSpPr>
          <p:nvPr>
            <p:ph type="subTitle" idx="1"/>
          </p:nvPr>
        </p:nvSpPr>
        <p:spPr>
          <a:xfrm>
            <a:off x="581194" y="2495445"/>
            <a:ext cx="10993546" cy="590321"/>
          </a:xfrm>
        </p:spPr>
        <p:txBody>
          <a:bodyPr anchor="t">
            <a:normAutofit/>
          </a:bodyPr>
          <a:lstStyle>
            <a:lvl1pPr marL="0" indent="0" algn="l">
              <a:buNone/>
              <a:defRPr sz="1600" cap="all">
                <a:solidFill>
                  <a:schemeClr val="accent2"/>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s-MX"/>
              <a:t>Haz clic para editar el estilo de subtítulo del patrón</a:t>
            </a:r>
            <a:endParaRPr lang="en-US"/>
          </a:p>
        </p:txBody>
      </p:sp>
      <p:sp>
        <p:nvSpPr>
          <p:cNvPr id="4" name="Date Placeholder 3"/>
          <p:cNvSpPr>
            <a:spLocks noGrp="1"/>
          </p:cNvSpPr>
          <p:nvPr>
            <p:ph type="dt" sz="half" idx="10"/>
          </p:nvPr>
        </p:nvSpPr>
        <p:spPr>
          <a:xfrm>
            <a:off x="7605951" y="5956137"/>
            <a:ext cx="2844800" cy="365125"/>
          </a:xfrm>
        </p:spPr>
        <p:txBody>
          <a:bodyPr/>
          <a:lstStyle>
            <a:lvl1pPr>
              <a:defRPr>
                <a:solidFill>
                  <a:schemeClr val="accent1">
                    <a:lumMod val="75000"/>
                    <a:lumOff val="25000"/>
                  </a:schemeClr>
                </a:solidFill>
              </a:defRPr>
            </a:lvl1pPr>
          </a:lstStyle>
          <a:p>
            <a:fld id="{9AFD365D-553E-437E-906F-693C2E6CE28D}" type="datetime1">
              <a:rPr lang="en-US" smtClean="0"/>
              <a:t>8/11/26</a:t>
            </a:fld>
            <a:endParaRPr lang="en-US"/>
          </a:p>
        </p:txBody>
      </p:sp>
      <p:sp>
        <p:nvSpPr>
          <p:cNvPr id="5" name="Footer Placeholder 4"/>
          <p:cNvSpPr>
            <a:spLocks noGrp="1"/>
          </p:cNvSpPr>
          <p:nvPr>
            <p:ph type="ftr" sz="quarter" idx="11"/>
          </p:nvPr>
        </p:nvSpPr>
        <p:spPr>
          <a:xfrm>
            <a:off x="581192" y="5951811"/>
            <a:ext cx="6917210" cy="365125"/>
          </a:xfrm>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a:xfrm>
            <a:off x="10558300" y="5956137"/>
            <a:ext cx="1016440"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24778835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7" name="Rectangle 6"/>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2"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Content Placeholder 2"/>
          <p:cNvSpPr>
            <a:spLocks noGrp="1"/>
          </p:cNvSpPr>
          <p:nvPr>
            <p:ph idx="1"/>
          </p:nvPr>
        </p:nvSpPr>
        <p:spPr>
          <a:xfrm>
            <a:off x="581192" y="2180496"/>
            <a:ext cx="11029615" cy="3678303"/>
          </a:xfrm>
        </p:spPr>
        <p:txBody>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A523018D-1CC0-468E-BE3B-579A148A0691}" type="datetime1">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10558300" y="5956137"/>
            <a:ext cx="1052508" cy="365125"/>
          </a:xfrm>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30274628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8" name="Rectangle 7"/>
          <p:cNvSpPr>
            <a:spLocks noChangeAspect="1"/>
          </p:cNvSpPr>
          <p:nvPr/>
        </p:nvSpPr>
        <p:spPr>
          <a:xfrm>
            <a:off x="447817" y="5141974"/>
            <a:ext cx="11290860"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3043910"/>
            <a:ext cx="11029615" cy="1497507"/>
          </a:xfrm>
        </p:spPr>
        <p:txBody>
          <a:bodyPr anchor="b">
            <a:normAutofit/>
          </a:bodyPr>
          <a:lstStyle>
            <a:lvl1pPr algn="l">
              <a:defRPr sz="3600" b="0" cap="all">
                <a:solidFill>
                  <a:schemeClr val="accent1"/>
                </a:solidFill>
              </a:defRPr>
            </a:lvl1pPr>
          </a:lstStyle>
          <a:p>
            <a:r>
              <a:rPr lang="es-MX"/>
              <a:t>Haz clic para modificar el estilo de título del patrón</a:t>
            </a:r>
            <a:endParaRPr lang="en-US"/>
          </a:p>
        </p:txBody>
      </p:sp>
      <p:sp>
        <p:nvSpPr>
          <p:cNvPr id="3" name="Text Placeholder 2"/>
          <p:cNvSpPr>
            <a:spLocks noGrp="1"/>
          </p:cNvSpPr>
          <p:nvPr>
            <p:ph type="body" idx="1"/>
          </p:nvPr>
        </p:nvSpPr>
        <p:spPr>
          <a:xfrm>
            <a:off x="581192" y="4541417"/>
            <a:ext cx="11029615" cy="600556"/>
          </a:xfrm>
        </p:spPr>
        <p:txBody>
          <a:bodyPr anchor="t">
            <a:normAutofit/>
          </a:bodyPr>
          <a:lstStyle>
            <a:lvl1pPr marL="0" indent="0" algn="l">
              <a:buNone/>
              <a:defRPr sz="1800" cap="all">
                <a:solidFill>
                  <a:schemeClr val="accent2"/>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s-MX"/>
              <a:t>Haga clic para modificar los estilos de texto del patrón</a:t>
            </a:r>
          </a:p>
        </p:txBody>
      </p:sp>
      <p:sp>
        <p:nvSpPr>
          <p:cNvPr id="4" name="Date Placeholder 3"/>
          <p:cNvSpPr>
            <a:spLocks noGrp="1"/>
          </p:cNvSpPr>
          <p:nvPr>
            <p:ph type="dt" sz="half" idx="10"/>
          </p:nvPr>
        </p:nvSpPr>
        <p:spPr/>
        <p:txBody>
          <a:bodyPr/>
          <a:lstStyle>
            <a:lvl1pPr>
              <a:defRPr>
                <a:solidFill>
                  <a:schemeClr val="accent1">
                    <a:lumMod val="75000"/>
                    <a:lumOff val="25000"/>
                  </a:schemeClr>
                </a:solidFill>
              </a:defRPr>
            </a:lvl1pPr>
          </a:lstStyle>
          <a:p>
            <a:fld id="{CE7F702F-46BE-40AA-9A05-7C69E0403EE7}" type="datetime1">
              <a:rPr lang="en-US" smtClean="0"/>
              <a:t>8/11/26</a:t>
            </a:fld>
            <a:endParaRPr lang="en-US"/>
          </a:p>
        </p:txBody>
      </p:sp>
      <p:sp>
        <p:nvSpPr>
          <p:cNvPr id="5" name="Footer Placeholder 4"/>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6" name="Slide Number Placeholder 5"/>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66731168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8" name="Rectangle 7"/>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Content Placeholder 2"/>
          <p:cNvSpPr>
            <a:spLocks noGrp="1"/>
          </p:cNvSpPr>
          <p:nvPr>
            <p:ph sz="half" idx="1"/>
          </p:nvPr>
        </p:nvSpPr>
        <p:spPr>
          <a:xfrm>
            <a:off x="581193" y="2228003"/>
            <a:ext cx="5422390"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Content Placeholder 3"/>
          <p:cNvSpPr>
            <a:spLocks noGrp="1"/>
          </p:cNvSpPr>
          <p:nvPr>
            <p:ph sz="half" idx="2"/>
          </p:nvPr>
        </p:nvSpPr>
        <p:spPr>
          <a:xfrm>
            <a:off x="6188417" y="2228003"/>
            <a:ext cx="5422392" cy="3633047"/>
          </a:xfrm>
        </p:spPr>
        <p:txBody>
          <a:bodyP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Date Placeholder 4"/>
          <p:cNvSpPr>
            <a:spLocks noGrp="1"/>
          </p:cNvSpPr>
          <p:nvPr>
            <p:ph type="dt" sz="half" idx="10"/>
          </p:nvPr>
        </p:nvSpPr>
        <p:spPr/>
        <p:txBody>
          <a:bodyPr/>
          <a:lstStyle/>
          <a:p>
            <a:fld id="{C51F0D08-E4F7-43DB-810A-34BADF6468F7}" type="datetime1">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77895507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11" name="Rectangle 10"/>
          <p:cNvSpPr>
            <a:spLocks noChangeAspect="1"/>
          </p:cNvSpPr>
          <p:nvPr/>
        </p:nvSpPr>
        <p:spPr>
          <a:xfrm>
            <a:off x="445982"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12" name="Title 1"/>
          <p:cNvSpPr>
            <a:spLocks noGrp="1"/>
          </p:cNvSpPr>
          <p:nvPr>
            <p:ph type="title"/>
          </p:nvPr>
        </p:nvSpPr>
        <p:spPr>
          <a:xfrm>
            <a:off x="581193" y="729658"/>
            <a:ext cx="11029616" cy="988332"/>
          </a:xfrm>
        </p:spPr>
        <p:txBody>
          <a:bodyPr/>
          <a:lstStyle/>
          <a:p>
            <a:r>
              <a:rPr lang="es-MX"/>
              <a:t>Haz clic para modificar el estilo de título del patrón</a:t>
            </a:r>
            <a:endParaRPr lang="en-US"/>
          </a:p>
        </p:txBody>
      </p:sp>
      <p:sp>
        <p:nvSpPr>
          <p:cNvPr id="3" name="Text Placeholder 2"/>
          <p:cNvSpPr>
            <a:spLocks noGrp="1"/>
          </p:cNvSpPr>
          <p:nvPr>
            <p:ph type="body" idx="1"/>
          </p:nvPr>
        </p:nvSpPr>
        <p:spPr>
          <a:xfrm>
            <a:off x="887219" y="2250892"/>
            <a:ext cx="5087075" cy="536005"/>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4" name="Content Placeholder 3"/>
          <p:cNvSpPr>
            <a:spLocks noGrp="1"/>
          </p:cNvSpPr>
          <p:nvPr>
            <p:ph sz="half" idx="2"/>
          </p:nvPr>
        </p:nvSpPr>
        <p:spPr>
          <a:xfrm>
            <a:off x="581194"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5" name="Text Placeholder 4"/>
          <p:cNvSpPr>
            <a:spLocks noGrp="1"/>
          </p:cNvSpPr>
          <p:nvPr>
            <p:ph type="body" sz="quarter" idx="3"/>
          </p:nvPr>
        </p:nvSpPr>
        <p:spPr>
          <a:xfrm>
            <a:off x="6523735" y="2250892"/>
            <a:ext cx="5087073" cy="553373"/>
          </a:xfrm>
        </p:spPr>
        <p:txBody>
          <a:bodyPr anchor="b">
            <a:noAutofit/>
          </a:bodyPr>
          <a:lstStyle>
            <a:lvl1pPr marL="0" indent="0">
              <a:buNone/>
              <a:defRPr sz="2200" b="0">
                <a:solidFill>
                  <a:schemeClr val="accent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MX"/>
              <a:t>Haga clic para modificar los estilos de texto del patrón</a:t>
            </a:r>
          </a:p>
        </p:txBody>
      </p:sp>
      <p:sp>
        <p:nvSpPr>
          <p:cNvPr id="6" name="Content Placeholder 5"/>
          <p:cNvSpPr>
            <a:spLocks noGrp="1"/>
          </p:cNvSpPr>
          <p:nvPr>
            <p:ph sz="quarter" idx="4"/>
          </p:nvPr>
        </p:nvSpPr>
        <p:spPr>
          <a:xfrm>
            <a:off x="6217709" y="2926052"/>
            <a:ext cx="5393100" cy="2934999"/>
          </a:xfrm>
        </p:spPr>
        <p:txBody>
          <a:bodyPr anchor="t">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7" name="Date Placeholder 6"/>
          <p:cNvSpPr>
            <a:spLocks noGrp="1"/>
          </p:cNvSpPr>
          <p:nvPr>
            <p:ph type="dt" sz="half" idx="10"/>
          </p:nvPr>
        </p:nvSpPr>
        <p:spPr/>
        <p:txBody>
          <a:bodyPr/>
          <a:lstStyle/>
          <a:p>
            <a:fld id="{ADFE1DAC-EC09-4DEA-BBB4-788DDBA09515}" type="datetime1">
              <a:rPr lang="en-US" smtClean="0"/>
              <a:t>8/11/26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40416463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7" name="Rectangle 6"/>
          <p:cNvSpPr>
            <a:spLocks noChangeAspect="1"/>
          </p:cNvSpPr>
          <p:nvPr/>
        </p:nvSpPr>
        <p:spPr>
          <a:xfrm>
            <a:off x="440683" y="606554"/>
            <a:ext cx="11300036" cy="125882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8" name="Title 1"/>
          <p:cNvSpPr>
            <a:spLocks noGrp="1"/>
          </p:cNvSpPr>
          <p:nvPr>
            <p:ph type="title"/>
          </p:nvPr>
        </p:nvSpPr>
        <p:spPr>
          <a:xfrm>
            <a:off x="575894" y="729658"/>
            <a:ext cx="11029616" cy="988332"/>
          </a:xfrm>
        </p:spPr>
        <p:txBody>
          <a:bodyPr/>
          <a:lstStyle/>
          <a:p>
            <a:r>
              <a:rPr lang="es-MX"/>
              <a:t>Haz clic para modificar el estilo de título del patrón</a:t>
            </a:r>
            <a:endParaRPr lang="en-US"/>
          </a:p>
        </p:txBody>
      </p:sp>
      <p:sp>
        <p:nvSpPr>
          <p:cNvPr id="3" name="Date Placeholder 2"/>
          <p:cNvSpPr>
            <a:spLocks noGrp="1"/>
          </p:cNvSpPr>
          <p:nvPr>
            <p:ph type="dt" sz="half" idx="10"/>
          </p:nvPr>
        </p:nvSpPr>
        <p:spPr/>
        <p:txBody>
          <a:bodyPr/>
          <a:lstStyle/>
          <a:p>
            <a:fld id="{A9BFF582-E74C-4A8A-87B2-214B0CF47F99}" type="datetime1">
              <a:rPr lang="en-US" smtClean="0"/>
              <a:t>8/11/26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37927033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FC8AEA-E303-4B9D-B167-0A45CB59E0C2}" type="datetime1">
              <a:rPr lang="en-US" smtClean="0"/>
              <a:t>8/11/26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70439855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9" name="Rectangle 8"/>
          <p:cNvSpPr>
            <a:spLocks noChangeAspect="1"/>
          </p:cNvSpPr>
          <p:nvPr/>
        </p:nvSpPr>
        <p:spPr>
          <a:xfrm>
            <a:off x="447817" y="5141973"/>
            <a:ext cx="11298200" cy="1274702"/>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581192" y="5262296"/>
            <a:ext cx="4909445" cy="689514"/>
          </a:xfrm>
        </p:spPr>
        <p:txBody>
          <a:bodyPr anchor="ctr"/>
          <a:lstStyle>
            <a:lvl1pPr algn="l">
              <a:defRPr sz="2000" b="0">
                <a:solidFill>
                  <a:schemeClr val="accent1">
                    <a:lumMod val="75000"/>
                    <a:lumOff val="25000"/>
                  </a:schemeClr>
                </a:solidFill>
              </a:defRPr>
            </a:lvl1pPr>
          </a:lstStyle>
          <a:p>
            <a:r>
              <a:rPr lang="es-MX"/>
              <a:t>Haz clic para modificar el estilo de título del patrón</a:t>
            </a:r>
            <a:endParaRPr lang="en-US"/>
          </a:p>
        </p:txBody>
      </p:sp>
      <p:sp>
        <p:nvSpPr>
          <p:cNvPr id="3" name="Content Placeholder 2"/>
          <p:cNvSpPr>
            <a:spLocks noGrp="1"/>
          </p:cNvSpPr>
          <p:nvPr>
            <p:ph idx="1"/>
          </p:nvPr>
        </p:nvSpPr>
        <p:spPr>
          <a:xfrm>
            <a:off x="447816" y="601200"/>
            <a:ext cx="11292840" cy="4204800"/>
          </a:xfrm>
        </p:spPr>
        <p:txBody>
          <a:bodyPr anchor="ctr">
            <a:normAutofit/>
          </a:bodyPr>
          <a:lstStyle>
            <a:lvl1pPr>
              <a:defRPr sz="2000">
                <a:solidFill>
                  <a:schemeClr val="tx2"/>
                </a:solidFill>
              </a:defRPr>
            </a:lvl1pPr>
            <a:lvl2pPr>
              <a:defRPr sz="1800">
                <a:solidFill>
                  <a:schemeClr val="tx2"/>
                </a:solidFill>
              </a:defRPr>
            </a:lvl2pPr>
            <a:lvl3pPr>
              <a:defRPr sz="1600">
                <a:solidFill>
                  <a:schemeClr val="tx2"/>
                </a:solidFill>
              </a:defRPr>
            </a:lvl3pPr>
            <a:lvl4pPr>
              <a:defRPr sz="1400">
                <a:solidFill>
                  <a:schemeClr val="tx2"/>
                </a:solidFill>
              </a:defRPr>
            </a:lvl4pPr>
            <a:lvl5pPr>
              <a:defRPr sz="1400">
                <a:solidFill>
                  <a:schemeClr val="tx2"/>
                </a:solidFill>
              </a:defRPr>
            </a:lvl5pPr>
            <a:lvl6pPr>
              <a:defRPr sz="1400">
                <a:solidFill>
                  <a:schemeClr val="tx2"/>
                </a:solidFill>
              </a:defRPr>
            </a:lvl6pPr>
            <a:lvl7pPr>
              <a:defRPr sz="1400">
                <a:solidFill>
                  <a:schemeClr val="tx2"/>
                </a:solidFill>
              </a:defRPr>
            </a:lvl7pPr>
            <a:lvl8pPr>
              <a:defRPr sz="1400">
                <a:solidFill>
                  <a:schemeClr val="tx2"/>
                </a:solidFill>
              </a:defRPr>
            </a:lvl8pPr>
            <a:lvl9pPr>
              <a:defRPr sz="1400">
                <a:solidFill>
                  <a:schemeClr val="tx2"/>
                </a:solidFill>
              </a:defRPr>
            </a:lvl9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Text Placeholder 3"/>
          <p:cNvSpPr>
            <a:spLocks noGrp="1"/>
          </p:cNvSpPr>
          <p:nvPr>
            <p:ph type="body" sz="half" idx="2"/>
          </p:nvPr>
        </p:nvSpPr>
        <p:spPr>
          <a:xfrm>
            <a:off x="5740823" y="5262296"/>
            <a:ext cx="5869987" cy="689515"/>
          </a:xfrm>
        </p:spPr>
        <p:txBody>
          <a:bodyPr anchor="ctr">
            <a:normAutofit/>
          </a:bodyPr>
          <a:lstStyle>
            <a:lvl1pPr marL="0" indent="0" algn="r">
              <a:buNone/>
              <a:defRPr sz="1100">
                <a:solidFill>
                  <a:schemeClr val="bg1"/>
                </a:solidFill>
              </a:defRPr>
            </a:lvl1pPr>
            <a:lvl2pPr marL="457200" indent="0">
              <a:buNone/>
              <a:defRPr sz="11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lvl1pPr>
              <a:defRPr>
                <a:solidFill>
                  <a:schemeClr val="accent1">
                    <a:lumMod val="75000"/>
                    <a:lumOff val="25000"/>
                  </a:schemeClr>
                </a:solidFill>
              </a:defRPr>
            </a:lvl1pPr>
          </a:lstStyle>
          <a:p>
            <a:fld id="{7EBE2AAB-C9FD-4A72-8C62-A7C81FA189B4}" type="datetime1">
              <a:rPr lang="en-US" smtClean="0"/>
              <a:t>8/11/26</a:t>
            </a:fld>
            <a:endParaRPr lang="en-US"/>
          </a:p>
        </p:txBody>
      </p:sp>
      <p:sp>
        <p:nvSpPr>
          <p:cNvPr id="6" name="Footer Placeholder 5"/>
          <p:cNvSpPr>
            <a:spLocks noGrp="1"/>
          </p:cNvSpPr>
          <p:nvPr>
            <p:ph type="ftr" sz="quarter" idx="11"/>
          </p:nvPr>
        </p:nvSpPr>
        <p:spPr/>
        <p:txBody>
          <a:bodyPr/>
          <a:lstStyle>
            <a:lvl1pPr>
              <a:defRPr>
                <a:solidFill>
                  <a:schemeClr val="accent1">
                    <a:lumMod val="75000"/>
                    <a:lumOff val="25000"/>
                  </a:schemeClr>
                </a:solidFill>
              </a:defRPr>
            </a:lvl1pPr>
          </a:lstStyle>
          <a:p>
            <a:endParaRPr lang="en-US"/>
          </a:p>
        </p:txBody>
      </p:sp>
      <p:sp>
        <p:nvSpPr>
          <p:cNvPr id="7" name="Slide Number Placeholder 6"/>
          <p:cNvSpPr>
            <a:spLocks noGrp="1"/>
          </p:cNvSpPr>
          <p:nvPr>
            <p:ph type="sldNum" sz="quarter" idx="12"/>
          </p:nvPr>
        </p:nvSpPr>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8285316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itle 1"/>
          <p:cNvSpPr>
            <a:spLocks noGrp="1"/>
          </p:cNvSpPr>
          <p:nvPr>
            <p:ph type="title"/>
          </p:nvPr>
        </p:nvSpPr>
        <p:spPr>
          <a:xfrm>
            <a:off x="581193" y="4693389"/>
            <a:ext cx="11029616" cy="566738"/>
          </a:xfrm>
        </p:spPr>
        <p:txBody>
          <a:bodyPr anchor="b">
            <a:normAutofit/>
          </a:bodyPr>
          <a:lstStyle>
            <a:lvl1pPr algn="l">
              <a:defRPr sz="2400" b="0">
                <a:solidFill>
                  <a:schemeClr val="accent1"/>
                </a:solidFill>
              </a:defRPr>
            </a:lvl1pPr>
          </a:lstStyle>
          <a:p>
            <a:r>
              <a:rPr lang="es-MX"/>
              <a:t>Haz clic para modificar el estilo de título del patrón</a:t>
            </a:r>
            <a:endParaRPr lang="en-US"/>
          </a:p>
        </p:txBody>
      </p:sp>
      <p:sp>
        <p:nvSpPr>
          <p:cNvPr id="3" name="Picture Placeholder 2"/>
          <p:cNvSpPr>
            <a:spLocks noGrp="1" noChangeAspect="1"/>
          </p:cNvSpPr>
          <p:nvPr>
            <p:ph type="pic" idx="1"/>
          </p:nvPr>
        </p:nvSpPr>
        <p:spPr>
          <a:xfrm>
            <a:off x="447817" y="599725"/>
            <a:ext cx="11290859" cy="3557252"/>
          </a:xfrm>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s-MX"/>
              <a:t>Haz clic en el icono para agregar una imagen</a:t>
            </a:r>
            <a:endParaRPr lang="en-US"/>
          </a:p>
        </p:txBody>
      </p:sp>
      <p:sp>
        <p:nvSpPr>
          <p:cNvPr id="4" name="Text Placeholder 3"/>
          <p:cNvSpPr>
            <a:spLocks noGrp="1"/>
          </p:cNvSpPr>
          <p:nvPr>
            <p:ph type="body" sz="half" idx="2"/>
          </p:nvPr>
        </p:nvSpPr>
        <p:spPr>
          <a:xfrm>
            <a:off x="581192" y="5260127"/>
            <a:ext cx="11029617" cy="598671"/>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s-MX"/>
              <a:t>Haga clic para modificar los estilos de texto del patrón</a:t>
            </a:r>
          </a:p>
        </p:txBody>
      </p:sp>
      <p:sp>
        <p:nvSpPr>
          <p:cNvPr id="5" name="Date Placeholder 4"/>
          <p:cNvSpPr>
            <a:spLocks noGrp="1"/>
          </p:cNvSpPr>
          <p:nvPr>
            <p:ph type="dt" sz="half" idx="10"/>
          </p:nvPr>
        </p:nvSpPr>
        <p:spPr/>
        <p:txBody>
          <a:bodyPr/>
          <a:lstStyle/>
          <a:p>
            <a:fld id="{F4D9D4CC-5FC5-4711-9ACC-A7971700D612}" type="datetime1">
              <a:rPr lang="en-US" smtClean="0"/>
              <a:t>8/11/26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1976149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8" name="Rectangle 7"/>
          <p:cNvSpPr>
            <a:spLocks noChangeAspect="1"/>
          </p:cNvSpPr>
          <p:nvPr/>
        </p:nvSpPr>
        <p:spPr>
          <a:xfrm>
            <a:off x="440286" y="614407"/>
            <a:ext cx="11309338" cy="1189298"/>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9" name="Title 1"/>
          <p:cNvSpPr>
            <a:spLocks noGrp="1"/>
          </p:cNvSpPr>
          <p:nvPr>
            <p:ph type="title"/>
          </p:nvPr>
        </p:nvSpPr>
        <p:spPr>
          <a:xfrm>
            <a:off x="581192" y="702156"/>
            <a:ext cx="11029616" cy="1013800"/>
          </a:xfrm>
        </p:spPr>
        <p:txBody>
          <a:bodyPr/>
          <a:lstStyle/>
          <a:p>
            <a:r>
              <a:rPr lang="es-MX"/>
              <a:t>Haz clic para modificar el estilo de título del patrón</a:t>
            </a:r>
            <a:endParaRPr lang="en-US"/>
          </a:p>
        </p:txBody>
      </p:sp>
      <p:sp>
        <p:nvSpPr>
          <p:cNvPr id="3" name="Vertical Text Placeholder 2"/>
          <p:cNvSpPr>
            <a:spLocks noGrp="1"/>
          </p:cNvSpPr>
          <p:nvPr>
            <p:ph type="body" orient="vert" idx="1"/>
          </p:nvPr>
        </p:nvSpPr>
        <p:spPr/>
        <p:txBody>
          <a:bodyPr vert="eaVert" anchor="t"/>
          <a:lstStyle>
            <a:lvl1pPr algn="l">
              <a:defRPr/>
            </a:lvl1pPr>
            <a:lvl2pPr algn="l">
              <a:defRPr/>
            </a:lvl2pPr>
            <a:lvl3pPr algn="l">
              <a:defRPr/>
            </a:lvl3pPr>
            <a:lvl4pPr algn="l">
              <a:defRPr/>
            </a:lvl4pPr>
            <a:lvl5pPr algn="l">
              <a:defRPr/>
            </a:lvl5p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p:txBody>
          <a:bodyPr/>
          <a:lstStyle/>
          <a:p>
            <a:fld id="{5326DF8C-FC0D-41BB-BB53-20BBB44E4230}" type="datetime1">
              <a:rPr lang="en-US" smtClean="0"/>
              <a:t>8/11/26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a:p>
        </p:txBody>
      </p:sp>
    </p:spTree>
    <p:extLst>
      <p:ext uri="{BB962C8B-B14F-4D97-AF65-F5344CB8AC3E}">
        <p14:creationId xmlns:p14="http://schemas.microsoft.com/office/powerpoint/2010/main" val="265006963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7" name="Rectangle 6"/>
          <p:cNvSpPr>
            <a:spLocks noChangeAspect="1"/>
          </p:cNvSpPr>
          <p:nvPr/>
        </p:nvSpPr>
        <p:spPr>
          <a:xfrm>
            <a:off x="8839201" y="599725"/>
            <a:ext cx="2906817" cy="5816950"/>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839201" y="675726"/>
            <a:ext cx="2004164" cy="5183073"/>
          </a:xfrm>
        </p:spPr>
        <p:txBody>
          <a:bodyPr vert="eaVert"/>
          <a:lstStyle/>
          <a:p>
            <a:r>
              <a:rPr lang="es-MX"/>
              <a:t>Haz clic para modificar el estilo de título del patrón</a:t>
            </a:r>
            <a:endParaRPr lang="en-US"/>
          </a:p>
        </p:txBody>
      </p:sp>
      <p:sp>
        <p:nvSpPr>
          <p:cNvPr id="3" name="Vertical Text Placeholder 2"/>
          <p:cNvSpPr>
            <a:spLocks noGrp="1"/>
          </p:cNvSpPr>
          <p:nvPr>
            <p:ph type="body" orient="vert" idx="1"/>
          </p:nvPr>
        </p:nvSpPr>
        <p:spPr>
          <a:xfrm>
            <a:off x="774923" y="675726"/>
            <a:ext cx="7896279" cy="5183073"/>
          </a:xfrm>
        </p:spPr>
        <p:txBody>
          <a:bodyPr vert="eaVert" anchor="t"/>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10"/>
          </p:nvPr>
        </p:nvSpPr>
        <p:spPr>
          <a:xfrm>
            <a:off x="8993673" y="5956137"/>
            <a:ext cx="1328141" cy="365125"/>
          </a:xfrm>
        </p:spPr>
        <p:txBody>
          <a:bodyPr/>
          <a:lstStyle>
            <a:lvl1pPr>
              <a:defRPr>
                <a:solidFill>
                  <a:schemeClr val="accent1">
                    <a:lumMod val="75000"/>
                    <a:lumOff val="25000"/>
                  </a:schemeClr>
                </a:solidFill>
              </a:defRPr>
            </a:lvl1pPr>
          </a:lstStyle>
          <a:p>
            <a:fld id="{D119C4A7-5D51-4E42-9C0C-1785329211C5}" type="datetime1">
              <a:rPr lang="en-US" smtClean="0"/>
              <a:t>8/11/26</a:t>
            </a:fld>
            <a:endParaRPr lang="en-US"/>
          </a:p>
        </p:txBody>
      </p:sp>
      <p:sp>
        <p:nvSpPr>
          <p:cNvPr id="5" name="Footer Placeholder 4"/>
          <p:cNvSpPr>
            <a:spLocks noGrp="1"/>
          </p:cNvSpPr>
          <p:nvPr>
            <p:ph type="ftr" sz="quarter" idx="11"/>
          </p:nvPr>
        </p:nvSpPr>
        <p:spPr>
          <a:xfrm>
            <a:off x="774923" y="5951811"/>
            <a:ext cx="7896279" cy="365125"/>
          </a:xfrm>
        </p:spPr>
        <p:txBody>
          <a:bodyPr/>
          <a:lstStyle/>
          <a:p>
            <a:endParaRPr lang="en-US"/>
          </a:p>
        </p:txBody>
      </p:sp>
      <p:sp>
        <p:nvSpPr>
          <p:cNvPr id="6" name="Slide Number Placeholder 5"/>
          <p:cNvSpPr>
            <a:spLocks noGrp="1"/>
          </p:cNvSpPr>
          <p:nvPr>
            <p:ph type="sldNum" sz="quarter" idx="12"/>
          </p:nvPr>
        </p:nvSpPr>
        <p:spPr>
          <a:xfrm>
            <a:off x="10446615" y="5956137"/>
            <a:ext cx="1164195" cy="365125"/>
          </a:xfrm>
        </p:spPr>
        <p:txBody>
          <a:bodyPr/>
          <a:lstStyle>
            <a:lvl1pPr>
              <a:defRPr>
                <a:solidFill>
                  <a:schemeClr val="accent1">
                    <a:lumMod val="75000"/>
                    <a:lumOff val="25000"/>
                  </a:schemeClr>
                </a:solidFill>
              </a:defRPr>
            </a:lvl1pPr>
          </a:lstStyle>
          <a:p>
            <a:fld id="{D57F1E4F-1CFF-5643-939E-217C01CDF565}" type="slidenum">
              <a:rPr lang="en-US" smtClean="0"/>
              <a:pPr/>
              <a:t>‹#›</a:t>
            </a:fld>
            <a:endParaRPr lang="en-US"/>
          </a:p>
        </p:txBody>
      </p:sp>
    </p:spTree>
    <p:extLst>
      <p:ext uri="{BB962C8B-B14F-4D97-AF65-F5344CB8AC3E}">
        <p14:creationId xmlns:p14="http://schemas.microsoft.com/office/powerpoint/2010/main" val="139068110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81192" y="705124"/>
            <a:ext cx="11029616" cy="1189554"/>
          </a:xfrm>
          <a:prstGeom prst="rect">
            <a:avLst/>
          </a:prstGeom>
        </p:spPr>
        <p:txBody>
          <a:bodyPr vert="horz" lIns="91440" tIns="45720" rIns="91440" bIns="45720" rtlCol="0" anchor="b">
            <a:normAutofit/>
          </a:bodyPr>
          <a:lstStyle/>
          <a:p>
            <a:r>
              <a:rPr lang="es-MX"/>
              <a:t>Haz clic para modificar el estilo de título del patrón</a:t>
            </a:r>
            <a:endParaRPr lang="en-US"/>
          </a:p>
        </p:txBody>
      </p:sp>
      <p:sp>
        <p:nvSpPr>
          <p:cNvPr id="3" name="Text Placeholder 2"/>
          <p:cNvSpPr>
            <a:spLocks noGrp="1"/>
          </p:cNvSpPr>
          <p:nvPr>
            <p:ph type="body" idx="1"/>
          </p:nvPr>
        </p:nvSpPr>
        <p:spPr>
          <a:xfrm>
            <a:off x="581192" y="2336003"/>
            <a:ext cx="11029616" cy="3522794"/>
          </a:xfrm>
          <a:prstGeom prst="rect">
            <a:avLst/>
          </a:prstGeom>
        </p:spPr>
        <p:txBody>
          <a:bodyPr vert="horz" lIns="91440" tIns="45720" rIns="91440" bIns="45720" rtlCol="0" anchor="ctr">
            <a:normAutofit/>
          </a:bodyPr>
          <a:lstStyle/>
          <a:p>
            <a:pPr lvl="0"/>
            <a:r>
              <a:rPr lang="es-MX"/>
              <a:t>Haga clic para modificar los estilos de texto del patrón</a:t>
            </a:r>
          </a:p>
          <a:p>
            <a:pPr lvl="1"/>
            <a:r>
              <a:rPr lang="es-MX"/>
              <a:t>Segundo nivel</a:t>
            </a:r>
          </a:p>
          <a:p>
            <a:pPr lvl="2"/>
            <a:r>
              <a:rPr lang="es-MX"/>
              <a:t>Tercer nivel</a:t>
            </a:r>
          </a:p>
          <a:p>
            <a:pPr lvl="3"/>
            <a:r>
              <a:rPr lang="es-MX"/>
              <a:t>Cuarto nivel</a:t>
            </a:r>
          </a:p>
          <a:p>
            <a:pPr lvl="4"/>
            <a:r>
              <a:rPr lang="es-MX"/>
              <a:t>Quinto nivel</a:t>
            </a:r>
            <a:endParaRPr lang="en-US"/>
          </a:p>
        </p:txBody>
      </p:sp>
      <p:sp>
        <p:nvSpPr>
          <p:cNvPr id="4" name="Date Placeholder 3"/>
          <p:cNvSpPr>
            <a:spLocks noGrp="1"/>
          </p:cNvSpPr>
          <p:nvPr>
            <p:ph type="dt" sz="half" idx="2"/>
          </p:nvPr>
        </p:nvSpPr>
        <p:spPr>
          <a:xfrm>
            <a:off x="7605951" y="5956137"/>
            <a:ext cx="2844799" cy="365125"/>
          </a:xfrm>
          <a:prstGeom prst="rect">
            <a:avLst/>
          </a:prstGeom>
        </p:spPr>
        <p:txBody>
          <a:bodyPr vert="horz" lIns="91440" tIns="45720" rIns="91440" bIns="45720" rtlCol="0" anchor="ctr"/>
          <a:lstStyle>
            <a:lvl1pPr algn="r">
              <a:defRPr sz="900">
                <a:solidFill>
                  <a:schemeClr val="accent2"/>
                </a:solidFill>
              </a:defRPr>
            </a:lvl1pPr>
          </a:lstStyle>
          <a:p>
            <a:fld id="{D8027E5A-4482-46C4-A2DC-45BEF00C1E0A}" type="datetime1">
              <a:rPr lang="en-US" smtClean="0"/>
              <a:t>8/11/26</a:t>
            </a:fld>
            <a:endParaRPr lang="en-US"/>
          </a:p>
        </p:txBody>
      </p:sp>
      <p:sp>
        <p:nvSpPr>
          <p:cNvPr id="5" name="Footer Placeholder 4"/>
          <p:cNvSpPr>
            <a:spLocks noGrp="1"/>
          </p:cNvSpPr>
          <p:nvPr>
            <p:ph type="ftr" sz="quarter" idx="3"/>
          </p:nvPr>
        </p:nvSpPr>
        <p:spPr>
          <a:xfrm>
            <a:off x="581192" y="5951811"/>
            <a:ext cx="6917210" cy="365125"/>
          </a:xfrm>
          <a:prstGeom prst="rect">
            <a:avLst/>
          </a:prstGeom>
        </p:spPr>
        <p:txBody>
          <a:bodyPr vert="horz" lIns="91440" tIns="45720" rIns="91440" bIns="45720" rtlCol="0" anchor="ctr"/>
          <a:lstStyle>
            <a:lvl1pPr algn="l">
              <a:defRPr sz="900" cap="all">
                <a:solidFill>
                  <a:schemeClr val="accent2"/>
                </a:solidFill>
              </a:defRPr>
            </a:lvl1pPr>
          </a:lstStyle>
          <a:p>
            <a:endParaRPr lang="en-US"/>
          </a:p>
        </p:txBody>
      </p:sp>
      <p:sp>
        <p:nvSpPr>
          <p:cNvPr id="6" name="Slide Number Placeholder 5"/>
          <p:cNvSpPr>
            <a:spLocks noGrp="1"/>
          </p:cNvSpPr>
          <p:nvPr>
            <p:ph type="sldNum" sz="quarter" idx="4"/>
          </p:nvPr>
        </p:nvSpPr>
        <p:spPr>
          <a:xfrm>
            <a:off x="10558300" y="5956137"/>
            <a:ext cx="1052510" cy="365125"/>
          </a:xfrm>
          <a:prstGeom prst="rect">
            <a:avLst/>
          </a:prstGeom>
        </p:spPr>
        <p:txBody>
          <a:bodyPr vert="horz" lIns="91440" tIns="45720" rIns="91440" bIns="45720" rtlCol="0" anchor="ctr"/>
          <a:lstStyle>
            <a:lvl1pPr algn="r">
              <a:defRPr sz="900">
                <a:solidFill>
                  <a:schemeClr val="accent2"/>
                </a:solidFill>
              </a:defRPr>
            </a:lvl1pPr>
          </a:lstStyle>
          <a:p>
            <a:fld id="{D57F1E4F-1CFF-5643-939E-217C01CDF565}" type="slidenum">
              <a:rPr lang="en-US" smtClean="0"/>
              <a:pPr/>
              <a:t>‹#›</a:t>
            </a:fld>
            <a:endParaRPr lang="en-US"/>
          </a:p>
        </p:txBody>
      </p:sp>
      <p:sp>
        <p:nvSpPr>
          <p:cNvPr id="9" name="Rectangle 8"/>
          <p:cNvSpPr/>
          <p:nvPr/>
        </p:nvSpPr>
        <p:spPr>
          <a:xfrm>
            <a:off x="446534" y="457200"/>
            <a:ext cx="3703320" cy="94997"/>
          </a:xfrm>
          <a:prstGeom prst="rect">
            <a:avLst/>
          </a:prstGeom>
          <a:solidFill>
            <a:schemeClr val="accent1"/>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0" name="Rectangle 9"/>
          <p:cNvSpPr/>
          <p:nvPr/>
        </p:nvSpPr>
        <p:spPr>
          <a:xfrm>
            <a:off x="8042147" y="453643"/>
            <a:ext cx="3703320" cy="98554"/>
          </a:xfrm>
          <a:prstGeom prst="rect">
            <a:avLst/>
          </a:prstGeom>
          <a:solidFill>
            <a:schemeClr val="accent4"/>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
        <p:nvSpPr>
          <p:cNvPr id="11" name="Rectangle 10"/>
          <p:cNvSpPr/>
          <p:nvPr/>
        </p:nvSpPr>
        <p:spPr>
          <a:xfrm>
            <a:off x="4241830" y="457200"/>
            <a:ext cx="3703320" cy="9144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CO"/>
          </a:p>
        </p:txBody>
      </p:sp>
    </p:spTree>
    <p:extLst>
      <p:ext uri="{BB962C8B-B14F-4D97-AF65-F5344CB8AC3E}">
        <p14:creationId xmlns:p14="http://schemas.microsoft.com/office/powerpoint/2010/main" val="1205695485"/>
      </p:ext>
    </p:extLst>
  </p:cSld>
  <p:clrMap bg1="lt1" tx1="dk1" bg2="lt2" tx2="dk2" accent1="accent1" accent2="accent2" accent3="accent3" accent4="accent4" accent5="accent5" accent6="accent6" hlink="hlink" folHlink="folHlink"/>
  <p:sldLayoutIdLst>
    <p:sldLayoutId id="2147483733" r:id="rId1"/>
    <p:sldLayoutId id="2147483734" r:id="rId2"/>
    <p:sldLayoutId id="2147483735" r:id="rId3"/>
    <p:sldLayoutId id="2147483736" r:id="rId4"/>
    <p:sldLayoutId id="2147483737" r:id="rId5"/>
    <p:sldLayoutId id="2147483738" r:id="rId6"/>
    <p:sldLayoutId id="2147483739" r:id="rId7"/>
    <p:sldLayoutId id="2147483740" r:id="rId8"/>
    <p:sldLayoutId id="2147483741" r:id="rId9"/>
    <p:sldLayoutId id="2147483742" r:id="rId10"/>
    <p:sldLayoutId id="2147483743" r:id="rId11"/>
  </p:sldLayoutIdLst>
  <p:hf hdr="0" ftr="0" dt="0"/>
  <p:txStyles>
    <p:titleStyle>
      <a:lvl1pPr algn="l" defTabSz="457200" rtl="0" eaLnBrk="1" latinLnBrk="0" hangingPunct="1">
        <a:spcBef>
          <a:spcPct val="0"/>
        </a:spcBef>
        <a:buNone/>
        <a:defRPr sz="2800" b="0" kern="1200" cap="all">
          <a:solidFill>
            <a:schemeClr val="bg1"/>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06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800" kern="1200">
          <a:solidFill>
            <a:schemeClr val="tx2"/>
          </a:solidFill>
          <a:latin typeface="+mn-lt"/>
          <a:ea typeface="+mn-ea"/>
          <a:cs typeface="+mn-cs"/>
        </a:defRPr>
      </a:lvl1pPr>
      <a:lvl2pPr marL="630000" indent="-306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600" kern="1200">
          <a:solidFill>
            <a:schemeClr val="tx2"/>
          </a:solidFill>
          <a:latin typeface="+mn-lt"/>
          <a:ea typeface="+mn-ea"/>
          <a:cs typeface="+mn-cs"/>
        </a:defRPr>
      </a:lvl2pPr>
      <a:lvl3pPr marL="900000" indent="-270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400" kern="1200">
          <a:solidFill>
            <a:schemeClr val="tx2"/>
          </a:solidFill>
          <a:latin typeface="+mn-lt"/>
          <a:ea typeface="+mn-ea"/>
          <a:cs typeface="+mn-cs"/>
        </a:defRPr>
      </a:lvl3pPr>
      <a:lvl4pPr marL="124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4pPr>
      <a:lvl5pPr marL="1602000" indent="-2340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5pPr>
      <a:lvl6pPr marL="19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6pPr>
      <a:lvl7pPr marL="22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7pPr>
      <a:lvl8pPr marL="25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8pPr>
      <a:lvl9pPr marL="2800000" indent="-228600" algn="l" defTabSz="457200" rtl="0" eaLnBrk="1" latinLnBrk="0" hangingPunct="1">
        <a:spcBef>
          <a:spcPct val="20000"/>
        </a:spcBef>
        <a:spcAft>
          <a:spcPts val="600"/>
        </a:spcAft>
        <a:buClr>
          <a:schemeClr val="accent2"/>
        </a:buClr>
        <a:buSzPct val="92000"/>
        <a:buFont typeface="Wingdings 2" panose="05020102010507070707" pitchFamily="18" charset="2"/>
        <a:buChar char=""/>
        <a:defRPr sz="1200" kern="1200">
          <a:solidFill>
            <a:schemeClr val="tx2"/>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6.jpeg"/><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9.xml.rels><?xml version="1.0" encoding="UTF-8" standalone="yes"?>
<Relationships xmlns="http://schemas.openxmlformats.org/package/2006/relationships"><Relationship Id="rId8" Type="http://schemas.openxmlformats.org/officeDocument/2006/relationships/image" Target="../media/image12.png"/><Relationship Id="rId3" Type="http://schemas.openxmlformats.org/officeDocument/2006/relationships/image" Target="../media/image8.png"/><Relationship Id="rId7" Type="http://schemas.openxmlformats.org/officeDocument/2006/relationships/image" Target="../media/image1.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1.png"/><Relationship Id="rId5" Type="http://schemas.openxmlformats.org/officeDocument/2006/relationships/image" Target="../media/image10.png"/><Relationship Id="rId4" Type="http://schemas.openxmlformats.org/officeDocument/2006/relationships/image" Target="../media/image9.png"/><Relationship Id="rId9" Type="http://schemas.openxmlformats.org/officeDocument/2006/relationships/image" Target="../media/image13.jpeg"/></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5.png"/></Relationships>
</file>

<file path=ppt/slides/_rels/slide11.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1.png"/><Relationship Id="rId4" Type="http://schemas.openxmlformats.org/officeDocument/2006/relationships/image" Target="../media/image17.jpeg"/></Relationships>
</file>

<file path=ppt/slides/_rels/slide12.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2.xml"/><Relationship Id="rId4" Type="http://schemas.openxmlformats.org/officeDocument/2006/relationships/image" Target="../media/image1.png"/></Relationships>
</file>

<file path=ppt/slides/_rels/slide1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0.xml"/><Relationship Id="rId1" Type="http://schemas.openxmlformats.org/officeDocument/2006/relationships/slideLayout" Target="../slideLayouts/slideLayout2.xml"/><Relationship Id="rId4" Type="http://schemas.openxmlformats.org/officeDocument/2006/relationships/image" Target="../media/image18.jpeg"/></Relationships>
</file>

<file path=ppt/slides/_rels/slide1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1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2.xml"/><Relationship Id="rId1" Type="http://schemas.openxmlformats.org/officeDocument/2006/relationships/slideLayout" Target="../slideLayouts/slideLayout2.xml"/><Relationship Id="rId5" Type="http://schemas.openxmlformats.org/officeDocument/2006/relationships/hyperlink" Target="https://www.banrep.gov.co/es/node/59521/printable/print" TargetMode="External"/><Relationship Id="rId4" Type="http://schemas.openxmlformats.org/officeDocument/2006/relationships/image" Target="../media/image20.png"/></Relationships>
</file>

<file path=ppt/slides/_rels/slide1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3.xml"/><Relationship Id="rId1" Type="http://schemas.openxmlformats.org/officeDocument/2006/relationships/slideLayout" Target="../slideLayouts/slideLayout2.xml"/><Relationship Id="rId5" Type="http://schemas.openxmlformats.org/officeDocument/2006/relationships/image" Target="../media/image22.png"/><Relationship Id="rId4" Type="http://schemas.openxmlformats.org/officeDocument/2006/relationships/image" Target="../media/image2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4.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5.png"/></Relationships>
</file>

<file path=ppt/slides/_rels/slide2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26.jpg"/></Relationships>
</file>

<file path=ppt/slides/_rels/slide21.xml.rels><?xml version="1.0" encoding="UTF-8" standalone="yes"?>
<Relationships xmlns="http://schemas.openxmlformats.org/package/2006/relationships"><Relationship Id="rId3" Type="http://schemas.openxmlformats.org/officeDocument/2006/relationships/image" Target="../media/image27.jpg"/><Relationship Id="rId2" Type="http://schemas.openxmlformats.org/officeDocument/2006/relationships/notesSlide" Target="../notesSlides/notesSlide17.xml"/><Relationship Id="rId1" Type="http://schemas.openxmlformats.org/officeDocument/2006/relationships/slideLayout" Target="../slideLayouts/slideLayout2.xml"/><Relationship Id="rId4" Type="http://schemas.openxmlformats.org/officeDocument/2006/relationships/image" Target="../media/image28.jpg"/></Relationships>
</file>

<file path=ppt/slides/_rels/slide2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8.xml"/><Relationship Id="rId1" Type="http://schemas.openxmlformats.org/officeDocument/2006/relationships/slideLayout" Target="../slideLayouts/slideLayout2.xml"/><Relationship Id="rId4" Type="http://schemas.openxmlformats.org/officeDocument/2006/relationships/image" Target="../media/image29.jpeg"/></Relationships>
</file>

<file path=ppt/slides/_rels/slide2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9.xml"/><Relationship Id="rId1" Type="http://schemas.openxmlformats.org/officeDocument/2006/relationships/slideLayout" Target="../slideLayouts/slideLayout2.xml"/><Relationship Id="rId4" Type="http://schemas.openxmlformats.org/officeDocument/2006/relationships/image" Target="../media/image30.jpeg"/></Relationships>
</file>

<file path=ppt/slides/_rels/slide2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1.xml"/><Relationship Id="rId1" Type="http://schemas.openxmlformats.org/officeDocument/2006/relationships/slideLayout" Target="../slideLayouts/slideLayout2.xml"/><Relationship Id="rId4" Type="http://schemas.openxmlformats.org/officeDocument/2006/relationships/image" Target="../media/image31.jpeg"/></Relationships>
</file>

<file path=ppt/slides/_rels/slide2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2.xml"/><Relationship Id="rId1" Type="http://schemas.openxmlformats.org/officeDocument/2006/relationships/slideLayout" Target="../slideLayouts/slideLayout2.xml"/><Relationship Id="rId5" Type="http://schemas.openxmlformats.org/officeDocument/2006/relationships/image" Target="../media/image33.jpeg"/><Relationship Id="rId4" Type="http://schemas.openxmlformats.org/officeDocument/2006/relationships/image" Target="../media/image32.png"/></Relationships>
</file>

<file path=ppt/slides/_rels/slide2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34.jpeg"/></Relationships>
</file>

<file path=ppt/slides/_rels/slide3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1.xml"/><Relationship Id="rId6" Type="http://schemas.openxmlformats.org/officeDocument/2006/relationships/image" Target="../media/image37.jpeg"/><Relationship Id="rId5" Type="http://schemas.openxmlformats.org/officeDocument/2006/relationships/image" Target="../media/image36.png"/><Relationship Id="rId4" Type="http://schemas.openxmlformats.org/officeDocument/2006/relationships/image" Target="../media/image35.svg"/></Relationships>
</file>

<file path=ppt/slides/_rels/slide3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2.xml"/><Relationship Id="rId6" Type="http://schemas.openxmlformats.org/officeDocument/2006/relationships/image" Target="../media/image35.svg"/><Relationship Id="rId5" Type="http://schemas.openxmlformats.org/officeDocument/2006/relationships/image" Target="../media/image39.jpeg"/><Relationship Id="rId4" Type="http://schemas.openxmlformats.org/officeDocument/2006/relationships/image" Target="../media/image38.png"/></Relationships>
</file>

<file path=ppt/slides/_rels/slide3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3.xml"/><Relationship Id="rId5" Type="http://schemas.openxmlformats.org/officeDocument/2006/relationships/image" Target="../media/image41.png"/><Relationship Id="rId4" Type="http://schemas.openxmlformats.org/officeDocument/2006/relationships/image" Target="../media/image40.png"/></Relationships>
</file>

<file path=ppt/slides/_rels/slide3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slideLayout" Target="../slideLayouts/slideLayout2.xml"/><Relationship Id="rId1" Type="http://schemas.openxmlformats.org/officeDocument/2006/relationships/tags" Target="../tags/tag4.xml"/><Relationship Id="rId5" Type="http://schemas.openxmlformats.org/officeDocument/2006/relationships/image" Target="../media/image43.jpeg"/><Relationship Id="rId4" Type="http://schemas.openxmlformats.org/officeDocument/2006/relationships/image" Target="../media/image42.png"/></Relationships>
</file>

<file path=ppt/slides/_rels/slide34.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ctrTitle"/>
          </p:nvPr>
        </p:nvSpPr>
        <p:spPr>
          <a:xfrm>
            <a:off x="470868" y="1814732"/>
            <a:ext cx="10359896" cy="826833"/>
          </a:xfrm>
        </p:spPr>
        <p:txBody>
          <a:bodyPr>
            <a:noAutofit/>
          </a:bodyPr>
          <a:lstStyle/>
          <a:p>
            <a:pPr algn="just"/>
            <a:r>
              <a:rPr lang="es-CO" sz="4000">
                <a:latin typeface="Century Gothic"/>
              </a:rPr>
              <a:t>COSTO DE OPORTUNIDAD Y VALOR DEL DINERO EN EL TIEMPO (</a:t>
            </a:r>
            <a:r>
              <a:rPr lang="es-CO" sz="4000">
                <a:solidFill>
                  <a:srgbClr val="D7A700"/>
                </a:solidFill>
                <a:latin typeface="Century Gothic"/>
              </a:rPr>
              <a:t>parte ii</a:t>
            </a:r>
            <a:r>
              <a:rPr lang="es-CO" sz="4000">
                <a:latin typeface="Century Gothic"/>
              </a:rPr>
              <a:t>)</a:t>
            </a:r>
            <a:endParaRPr lang="es-ES"/>
          </a:p>
        </p:txBody>
      </p:sp>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7" name="CuadroTexto 6">
            <a:extLst>
              <a:ext uri="{FF2B5EF4-FFF2-40B4-BE49-F238E27FC236}">
                <a16:creationId xmlns:a16="http://schemas.microsoft.com/office/drawing/2014/main" id="{656129FE-1765-CF67-C87C-BC6B66530414}"/>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10" name="Rectángulo 9">
            <a:extLst>
              <a:ext uri="{FF2B5EF4-FFF2-40B4-BE49-F238E27FC236}">
                <a16:creationId xmlns:a16="http://schemas.microsoft.com/office/drawing/2014/main" id="{EF5D7759-D4F8-B20D-1EA4-78622ADAD3F1}"/>
              </a:ext>
            </a:extLst>
          </p:cNvPr>
          <p:cNvSpPr/>
          <p:nvPr/>
        </p:nvSpPr>
        <p:spPr>
          <a:xfrm>
            <a:off x="8399257" y="147138"/>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1426745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046988"/>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sz="160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sz="1600">
                <a:solidFill>
                  <a:schemeClr val="accent1"/>
                </a:solidFill>
                <a:latin typeface="Century Gothic"/>
                <a:cs typeface="Arial"/>
              </a:rPr>
              <a:t>¿Cuáles son los Agentes Económicos?</a:t>
            </a:r>
          </a:p>
          <a:p>
            <a:pPr marL="342900" indent="-342900">
              <a:buClr>
                <a:srgbClr val="2C7C9F"/>
              </a:buClr>
              <a:buFontTx/>
              <a:buAutoNum type="arabicPeriod"/>
            </a:pPr>
            <a:endParaRPr lang="es-CO" sz="1600">
              <a:solidFill>
                <a:schemeClr val="accent1"/>
              </a:solidFill>
              <a:latin typeface="Century Gothic"/>
              <a:cs typeface="Arial"/>
            </a:endParaRPr>
          </a:p>
          <a:p>
            <a:pPr marL="342900" indent="-342900">
              <a:buClr>
                <a:srgbClr val="48BE7A"/>
              </a:buClr>
              <a:buFontTx/>
              <a:buAutoNum type="arabicPeriod"/>
            </a:pPr>
            <a:r>
              <a:rPr lang="es-CO" sz="1600">
                <a:solidFill>
                  <a:schemeClr val="accent1"/>
                </a:solidFill>
                <a:latin typeface="Century Gothic"/>
                <a:cs typeface="Arial"/>
              </a:rPr>
              <a:t>Costo de Oportunidad de un Agente Consumidor.</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Costo de Oportunidad de un Agente Ahorrador.</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Costo de Oportunidad de un Agente Inversionista.</a:t>
            </a: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endParaRPr lang="es-CO" sz="1600">
              <a:solidFill>
                <a:schemeClr val="accent1"/>
              </a:solidFill>
              <a:latin typeface="Century Gothic" panose="020B0502020202020204" pitchFamily="34" charset="0"/>
              <a:cs typeface="Arial"/>
            </a:endParaRPr>
          </a:p>
          <a:p>
            <a:pPr marL="342900" indent="-342900">
              <a:buClr>
                <a:srgbClr val="48BE7A"/>
              </a:buClr>
              <a:buAutoNum type="arabicPeriod"/>
            </a:pPr>
            <a:r>
              <a:rPr lang="es-CO" sz="1600">
                <a:solidFill>
                  <a:schemeClr val="accent1"/>
                </a:solidFill>
                <a:latin typeface="Century Gothic"/>
                <a:cs typeface="Arial"/>
              </a:rPr>
              <a:t>Consolidación y Práctica</a:t>
            </a:r>
            <a:endParaRPr lang="es-CO" sz="1600">
              <a:solidFill>
                <a:schemeClr val="accent1"/>
              </a:solidFill>
              <a:latin typeface="Century Gothic" panose="020B0502020202020204" pitchFamily="34" charset="0"/>
              <a:cs typeface="Arial"/>
            </a:endParaRPr>
          </a:p>
          <a:p>
            <a:pPr>
              <a:buClr>
                <a:schemeClr val="accent3">
                  <a:lumMod val="75000"/>
                </a:schemeClr>
              </a:buClr>
            </a:pPr>
            <a:endParaRPr lang="es-CO" sz="160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BFA8B0E-2DF1-6E90-A843-CD5CA7ADA18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2549711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A2EE3F-9650-B66C-B1AC-5CAFF6E03C53}"/>
            </a:ext>
          </a:extLst>
        </p:cNvPr>
        <p:cNvGrpSpPr/>
        <p:nvPr/>
      </p:nvGrpSpPr>
      <p:grpSpPr>
        <a:xfrm>
          <a:off x="0" y="0"/>
          <a:ext cx="0" cy="0"/>
          <a:chOff x="0" y="0"/>
          <a:chExt cx="0" cy="0"/>
        </a:xfrm>
      </p:grpSpPr>
      <p:sp>
        <p:nvSpPr>
          <p:cNvPr id="2" name="Título 1">
            <a:extLst>
              <a:ext uri="{FF2B5EF4-FFF2-40B4-BE49-F238E27FC236}">
                <a16:creationId xmlns:a16="http://schemas.microsoft.com/office/drawing/2014/main" id="{AEC9901E-82DC-46DE-5992-64C0A87E0C2C}"/>
              </a:ext>
            </a:extLst>
          </p:cNvPr>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a:extLst>
              <a:ext uri="{FF2B5EF4-FFF2-40B4-BE49-F238E27FC236}">
                <a16:creationId xmlns:a16="http://schemas.microsoft.com/office/drawing/2014/main" id="{6A07C5F6-A721-1A06-8D4F-A542EE8AED40}"/>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B5F109E8-6187-003A-58AF-E3E2AE5D7F91}"/>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0D527E45-9C9C-47D4-3D20-FCD74A34F71E}"/>
              </a:ext>
            </a:extLst>
          </p:cNvPr>
          <p:cNvSpPr/>
          <p:nvPr/>
        </p:nvSpPr>
        <p:spPr>
          <a:xfrm>
            <a:off x="2806200" y="2772729"/>
            <a:ext cx="8540907" cy="341632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¿Cuáles son los Agentes Económicos?</a:t>
            </a:r>
          </a:p>
          <a:p>
            <a:pPr marL="342900" indent="-342900">
              <a:buClr>
                <a:srgbClr val="2C7C9F"/>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Costo de Oportunidad de un Agente Consumidor.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Ahorrador.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Inversionista.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Consolidación y Práctica</a:t>
            </a:r>
            <a:endParaRPr lang="es-CO" dirty="0">
              <a:solidFill>
                <a:schemeClr val="bg2">
                  <a:lumMod val="90000"/>
                </a:schemeClr>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749D00F4-3BCF-EE6B-359E-6C8981AEEA8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7C8B80E3-C32F-4A49-00F7-EDC15C46240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917A8417-75BA-174F-0E2D-0FE4A55599A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178969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VALOR DEL DINERO EN EL TIEMPO (VDT)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4</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7390B6E8-A156-E384-863E-9CF4D4D1EB1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FC0B4EA0-1E48-FD5C-6178-6F0252FE57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24" name="Triángulo 23">
            <a:extLst>
              <a:ext uri="{FF2B5EF4-FFF2-40B4-BE49-F238E27FC236}">
                <a16:creationId xmlns:a16="http://schemas.microsoft.com/office/drawing/2014/main" id="{4363FABA-7AC2-9490-4FE6-F2022D4B5B22}"/>
              </a:ext>
            </a:extLst>
          </p:cNvPr>
          <p:cNvSpPr/>
          <p:nvPr/>
        </p:nvSpPr>
        <p:spPr>
          <a:xfrm rot="4002253">
            <a:off x="2259508" y="3987777"/>
            <a:ext cx="1278388" cy="1195950"/>
          </a:xfrm>
          <a:prstGeom prst="triangle">
            <a:avLst>
              <a:gd name="adj" fmla="val 4950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Triángulo 24">
            <a:extLst>
              <a:ext uri="{FF2B5EF4-FFF2-40B4-BE49-F238E27FC236}">
                <a16:creationId xmlns:a16="http://schemas.microsoft.com/office/drawing/2014/main" id="{DA09EB97-AF40-8827-D0B1-F95225152F57}"/>
              </a:ext>
            </a:extLst>
          </p:cNvPr>
          <p:cNvSpPr/>
          <p:nvPr/>
        </p:nvSpPr>
        <p:spPr>
          <a:xfrm rot="10225864">
            <a:off x="6389477" y="4186801"/>
            <a:ext cx="1278388" cy="1195950"/>
          </a:xfrm>
          <a:prstGeom prst="triangle">
            <a:avLst>
              <a:gd name="adj" fmla="val 4950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68EAB9A8-C7F0-164D-5EA3-ED41BF5DD0C0}"/>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CuadroTexto 18">
            <a:extLst>
              <a:ext uri="{FF2B5EF4-FFF2-40B4-BE49-F238E27FC236}">
                <a16:creationId xmlns:a16="http://schemas.microsoft.com/office/drawing/2014/main" id="{19091B90-26F2-D238-C239-DD87B59A33E4}"/>
              </a:ext>
            </a:extLst>
          </p:cNvPr>
          <p:cNvSpPr txBox="1"/>
          <p:nvPr/>
        </p:nvSpPr>
        <p:spPr>
          <a:xfrm>
            <a:off x="685080" y="2158300"/>
            <a:ext cx="10280731" cy="646331"/>
          </a:xfrm>
          <a:prstGeom prst="rect">
            <a:avLst/>
          </a:prstGeom>
          <a:noFill/>
        </p:spPr>
        <p:txBody>
          <a:bodyPr wrap="square">
            <a:spAutoFit/>
          </a:bodyPr>
          <a:lstStyle/>
          <a:p>
            <a:pPr marL="0" indent="0" algn="just">
              <a:buNone/>
            </a:pPr>
            <a:r>
              <a:rPr lang="es-ES_tradnl">
                <a:solidFill>
                  <a:schemeClr val="accent1"/>
                </a:solidFill>
                <a:latin typeface="Century Gothic" panose="020B0502020202020204" pitchFamily="34" charset="0"/>
              </a:rPr>
              <a:t>El Valor del Dinero en el Tiempo (VDT) es un principio financiero que indica que </a:t>
            </a:r>
            <a:r>
              <a:rPr lang="es-ES_tradnl" b="1">
                <a:solidFill>
                  <a:schemeClr val="accent1"/>
                </a:solidFill>
                <a:latin typeface="Century Gothic" panose="020B0502020202020204" pitchFamily="34" charset="0"/>
              </a:rPr>
              <a:t>el dinero disponible hoy tiene más valor que el mismo monto en el futuro</a:t>
            </a:r>
            <a:r>
              <a:rPr lang="es-ES_tradnl">
                <a:solidFill>
                  <a:schemeClr val="accent1"/>
                </a:solidFill>
                <a:latin typeface="Century Gothic" panose="020B0502020202020204" pitchFamily="34" charset="0"/>
              </a:rPr>
              <a:t>.</a:t>
            </a:r>
          </a:p>
        </p:txBody>
      </p:sp>
      <p:sp>
        <p:nvSpPr>
          <p:cNvPr id="20" name="CuadroTexto 19">
            <a:extLst>
              <a:ext uri="{FF2B5EF4-FFF2-40B4-BE49-F238E27FC236}">
                <a16:creationId xmlns:a16="http://schemas.microsoft.com/office/drawing/2014/main" id="{C840B64A-796B-D6CB-4ADD-7820C64D1D3A}"/>
              </a:ext>
            </a:extLst>
          </p:cNvPr>
          <p:cNvSpPr txBox="1"/>
          <p:nvPr/>
        </p:nvSpPr>
        <p:spPr>
          <a:xfrm>
            <a:off x="685080" y="5462448"/>
            <a:ext cx="8799534" cy="369332"/>
          </a:xfrm>
          <a:prstGeom prst="rect">
            <a:avLst/>
          </a:prstGeom>
          <a:noFill/>
        </p:spPr>
        <p:txBody>
          <a:bodyPr wrap="square">
            <a:spAutoFit/>
          </a:bodyPr>
          <a:lstStyle/>
          <a:p>
            <a:pPr marL="0" indent="0" algn="just">
              <a:buNone/>
            </a:pPr>
            <a:r>
              <a:rPr lang="es-ES_tradnl">
                <a:solidFill>
                  <a:schemeClr val="accent1"/>
                </a:solidFill>
                <a:latin typeface="Century Gothic" panose="020B0502020202020204" pitchFamily="34" charset="0"/>
              </a:rPr>
              <a:t>En otras palabras: </a:t>
            </a:r>
            <a:r>
              <a:rPr lang="es-ES_tradnl" b="1">
                <a:solidFill>
                  <a:srgbClr val="C00000"/>
                </a:solidFill>
                <a:latin typeface="Century Gothic" panose="020B0502020202020204" pitchFamily="34" charset="0"/>
              </a:rPr>
              <a:t>“un peso hoy vale más que un peso mañana”</a:t>
            </a:r>
            <a:r>
              <a:rPr lang="es-ES_tradnl">
                <a:solidFill>
                  <a:schemeClr val="accent1"/>
                </a:solidFill>
                <a:latin typeface="Century Gothic" panose="020B0502020202020204" pitchFamily="34" charset="0"/>
              </a:rPr>
              <a:t>. Por ello…</a:t>
            </a:r>
          </a:p>
        </p:txBody>
      </p:sp>
      <p:sp>
        <p:nvSpPr>
          <p:cNvPr id="21" name="CuadroTexto 20">
            <a:extLst>
              <a:ext uri="{FF2B5EF4-FFF2-40B4-BE49-F238E27FC236}">
                <a16:creationId xmlns:a16="http://schemas.microsoft.com/office/drawing/2014/main" id="{57B510ED-6214-A2F0-C3D7-385AACB7EE1C}"/>
              </a:ext>
            </a:extLst>
          </p:cNvPr>
          <p:cNvSpPr txBox="1"/>
          <p:nvPr/>
        </p:nvSpPr>
        <p:spPr>
          <a:xfrm>
            <a:off x="685080" y="3316439"/>
            <a:ext cx="10099830" cy="1723549"/>
          </a:xfrm>
          <a:prstGeom prst="rect">
            <a:avLst/>
          </a:prstGeom>
          <a:noFill/>
        </p:spPr>
        <p:txBody>
          <a:bodyPr wrap="square">
            <a:spAutoFit/>
          </a:bodyPr>
          <a:lstStyle/>
          <a:p>
            <a:pPr marL="0" indent="0" algn="just">
              <a:buNone/>
            </a:pPr>
            <a:r>
              <a:rPr lang="es-ES_tradnl" b="1">
                <a:solidFill>
                  <a:srgbClr val="D7A700"/>
                </a:solidFill>
                <a:latin typeface="Century Gothic" panose="020B0502020202020204" pitchFamily="34" charset="0"/>
              </a:rPr>
              <a:t>¿Por qué el dinero hoy vale más que mañana?</a:t>
            </a:r>
          </a:p>
          <a:p>
            <a:pPr marL="0" indent="0" algn="just">
              <a:buNone/>
            </a:pPr>
            <a:endParaRPr lang="es-ES_tradnl">
              <a:solidFill>
                <a:schemeClr val="accent1"/>
              </a:solidFill>
              <a:latin typeface="Century Gothic" panose="020B0502020202020204" pitchFamily="34" charset="0"/>
            </a:endParaRPr>
          </a:p>
          <a:p>
            <a:pPr marL="285750" indent="-285750" algn="just">
              <a:buClr>
                <a:schemeClr val="accent2"/>
              </a:buClr>
              <a:buFont typeface="Arial" panose="020B0604020202020204" pitchFamily="34" charset="0"/>
              <a:buChar char="•"/>
            </a:pPr>
            <a:r>
              <a:rPr lang="es-ES_tradnl">
                <a:solidFill>
                  <a:schemeClr val="accent1"/>
                </a:solidFill>
                <a:latin typeface="Century Gothic" panose="020B0502020202020204" pitchFamily="34" charset="0"/>
              </a:rPr>
              <a:t>Porque el dinero hoy permite consumo inmediato o invertirse y generar rendimientos.</a:t>
            </a:r>
          </a:p>
          <a:p>
            <a:pPr marL="285750" indent="-285750" algn="just">
              <a:buClr>
                <a:schemeClr val="accent2"/>
              </a:buClr>
              <a:buFont typeface="Arial" panose="020B0604020202020204" pitchFamily="34" charset="0"/>
              <a:buChar char="•"/>
            </a:pPr>
            <a:endParaRPr lang="es-ES_tradnl" sz="800">
              <a:solidFill>
                <a:schemeClr val="accent1"/>
              </a:solidFill>
              <a:latin typeface="Century Gothic" panose="020B0502020202020204" pitchFamily="34" charset="0"/>
            </a:endParaRPr>
          </a:p>
          <a:p>
            <a:pPr marL="285750" indent="-285750" algn="just">
              <a:buClr>
                <a:schemeClr val="accent2"/>
              </a:buClr>
              <a:buFont typeface="Arial" panose="020B0604020202020204" pitchFamily="34" charset="0"/>
              <a:buChar char="•"/>
            </a:pPr>
            <a:r>
              <a:rPr lang="es-ES_tradnl">
                <a:solidFill>
                  <a:schemeClr val="accent1"/>
                </a:solidFill>
                <a:latin typeface="Century Gothic" panose="020B0502020202020204" pitchFamily="34" charset="0"/>
              </a:rPr>
              <a:t>Porque existe riesgo e incertidumbre sobre el futuro.</a:t>
            </a:r>
          </a:p>
          <a:p>
            <a:pPr marL="285750" indent="-285750" algn="just">
              <a:buClr>
                <a:schemeClr val="accent2"/>
              </a:buClr>
              <a:buFont typeface="Arial" panose="020B0604020202020204" pitchFamily="34" charset="0"/>
              <a:buChar char="•"/>
            </a:pPr>
            <a:endParaRPr lang="es-ES_tradnl" sz="800">
              <a:solidFill>
                <a:schemeClr val="accent1"/>
              </a:solidFill>
              <a:latin typeface="Century Gothic" panose="020B0502020202020204" pitchFamily="34" charset="0"/>
            </a:endParaRPr>
          </a:p>
          <a:p>
            <a:pPr marL="285750" indent="-285750" algn="just">
              <a:buClr>
                <a:schemeClr val="accent2"/>
              </a:buClr>
              <a:buFont typeface="Arial" panose="020B0604020202020204" pitchFamily="34" charset="0"/>
              <a:buChar char="•"/>
            </a:pPr>
            <a:r>
              <a:rPr lang="es-ES_tradnl">
                <a:solidFill>
                  <a:schemeClr val="accent1"/>
                </a:solidFill>
                <a:latin typeface="Century Gothic" panose="020B0502020202020204" pitchFamily="34" charset="0"/>
              </a:rPr>
              <a:t>Por el efecto de la inflación, que erosiona el poder adquisitivo con el tiempo.</a:t>
            </a:r>
          </a:p>
        </p:txBody>
      </p:sp>
      <p:pic>
        <p:nvPicPr>
          <p:cNvPr id="2052" name="Picture 4" descr="El Valor del Dinero en el Tiempo: Cómo el Costo de Oportunidad Impacta tus  Decisiones Financieras">
            <a:extLst>
              <a:ext uri="{FF2B5EF4-FFF2-40B4-BE49-F238E27FC236}">
                <a16:creationId xmlns:a16="http://schemas.microsoft.com/office/drawing/2014/main" id="{FD66FEC4-1AB9-F8BF-C35E-E8E227F9350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36983" y="2680223"/>
            <a:ext cx="1621317" cy="10750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879443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checkerboard(across)">
                                      <p:cBhvr>
                                        <p:cTn id="7" dur="500"/>
                                        <p:tgtEl>
                                          <p:spTgt spid="21"/>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0"/>
                                        </p:tgtEl>
                                        <p:attrNameLst>
                                          <p:attrName>style.visibility</p:attrName>
                                        </p:attrNameLst>
                                      </p:cBhvr>
                                      <p:to>
                                        <p:strVal val="visible"/>
                                      </p:to>
                                    </p:set>
                                    <p:animEffect transition="in" filter="checkerboard(across)">
                                      <p:cBhvr>
                                        <p:cTn id="12" dur="500"/>
                                        <p:tgtEl>
                                          <p:spTgt spid="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P spid="21"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8F089D-15EC-24A4-465F-03873AEBFA99}"/>
            </a:ext>
          </a:extLst>
        </p:cNvPr>
        <p:cNvGrpSpPr/>
        <p:nvPr/>
      </p:nvGrpSpPr>
      <p:grpSpPr>
        <a:xfrm>
          <a:off x="0" y="0"/>
          <a:ext cx="0" cy="0"/>
          <a:chOff x="0" y="0"/>
          <a:chExt cx="0" cy="0"/>
        </a:xfrm>
      </p:grpSpPr>
      <p:sp>
        <p:nvSpPr>
          <p:cNvPr id="11" name="Slide Number Placeholder 10">
            <a:extLst>
              <a:ext uri="{FF2B5EF4-FFF2-40B4-BE49-F238E27FC236}">
                <a16:creationId xmlns:a16="http://schemas.microsoft.com/office/drawing/2014/main" id="{3262C802-8194-4F36-F712-EF9583A6C749}"/>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5</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DC83C357-9F57-FA20-6F52-BA35796B901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CBCB84BA-AB5F-CA96-E98C-526CF4EAD2F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3C744B9-4436-93A4-86AB-78ECDAEC010D}"/>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19" name="Title 4">
            <a:extLst>
              <a:ext uri="{FF2B5EF4-FFF2-40B4-BE49-F238E27FC236}">
                <a16:creationId xmlns:a16="http://schemas.microsoft.com/office/drawing/2014/main" id="{92F1ABD6-9B38-59A3-E1B7-93F674F0B71C}"/>
              </a:ext>
            </a:extLst>
          </p:cNvPr>
          <p:cNvSpPr>
            <a:spLocks noGrp="1"/>
          </p:cNvSpPr>
          <p:nvPr>
            <p:ph type="title"/>
          </p:nvPr>
        </p:nvSpPr>
        <p:spPr>
          <a:xfrm>
            <a:off x="581192" y="702156"/>
            <a:ext cx="11029616" cy="1013800"/>
          </a:xfrm>
        </p:spPr>
        <p:txBody>
          <a:bodyPr>
            <a:normAutofit/>
          </a:bodyPr>
          <a:lstStyle/>
          <a:p>
            <a:r>
              <a:rPr lang="es-ES_tradnl">
                <a:latin typeface="Century Gothic" panose="020B0502020202020204" pitchFamily="34" charset="0"/>
              </a:rPr>
              <a:t>VALOR DEL DINERO EN EL TIEMPO (VDT)</a:t>
            </a:r>
          </a:p>
        </p:txBody>
      </p:sp>
      <p:sp>
        <p:nvSpPr>
          <p:cNvPr id="5" name="Rectángulo 4">
            <a:extLst>
              <a:ext uri="{FF2B5EF4-FFF2-40B4-BE49-F238E27FC236}">
                <a16:creationId xmlns:a16="http://schemas.microsoft.com/office/drawing/2014/main" id="{F5FFD1B5-23FF-4D4A-92CB-C575808F8A05}"/>
              </a:ext>
            </a:extLst>
          </p:cNvPr>
          <p:cNvSpPr/>
          <p:nvPr/>
        </p:nvSpPr>
        <p:spPr>
          <a:xfrm>
            <a:off x="2498264" y="2220716"/>
            <a:ext cx="671979" cy="400110"/>
          </a:xfrm>
          <a:prstGeom prst="rect">
            <a:avLst/>
          </a:prstGeom>
          <a:solidFill>
            <a:schemeClr val="accent3">
              <a:lumMod val="75000"/>
              <a:lumOff val="25000"/>
            </a:schemeClr>
          </a:solidFill>
        </p:spPr>
        <p:txBody>
          <a:bodyPr wrap="none">
            <a:spAutoFit/>
          </a:bodyPr>
          <a:lstStyle/>
          <a:p>
            <a:pPr algn="ctr"/>
            <a:r>
              <a:rPr lang="es-ES_tradnl" sz="2000" b="1">
                <a:solidFill>
                  <a:schemeClr val="accent3">
                    <a:lumMod val="50000"/>
                  </a:schemeClr>
                </a:solidFill>
                <a:latin typeface="Century Gothic" panose="020B0502020202020204" pitchFamily="34" charset="0"/>
              </a:rPr>
              <a:t>Hoy</a:t>
            </a:r>
          </a:p>
        </p:txBody>
      </p:sp>
      <p:sp>
        <p:nvSpPr>
          <p:cNvPr id="7" name="Rectángulo 6">
            <a:extLst>
              <a:ext uri="{FF2B5EF4-FFF2-40B4-BE49-F238E27FC236}">
                <a16:creationId xmlns:a16="http://schemas.microsoft.com/office/drawing/2014/main" id="{CF46856A-348A-09B2-1E83-A7D54A7F5847}"/>
              </a:ext>
            </a:extLst>
          </p:cNvPr>
          <p:cNvSpPr/>
          <p:nvPr/>
        </p:nvSpPr>
        <p:spPr>
          <a:xfrm>
            <a:off x="800523" y="2985225"/>
            <a:ext cx="1342034" cy="400110"/>
          </a:xfrm>
          <a:prstGeom prst="rect">
            <a:avLst/>
          </a:prstGeom>
          <a:noFill/>
        </p:spPr>
        <p:txBody>
          <a:bodyPr wrap="none">
            <a:spAutoFit/>
          </a:bodyPr>
          <a:lstStyle/>
          <a:p>
            <a:pPr algn="ctr"/>
            <a:r>
              <a:rPr lang="es-ES_tradnl" sz="2000">
                <a:solidFill>
                  <a:schemeClr val="accent3">
                    <a:lumMod val="50000"/>
                  </a:schemeClr>
                </a:solidFill>
                <a:latin typeface="Century Gothic" panose="020B0502020202020204" pitchFamily="34" charset="0"/>
              </a:rPr>
              <a:t>Consumir</a:t>
            </a:r>
          </a:p>
        </p:txBody>
      </p:sp>
      <p:sp>
        <p:nvSpPr>
          <p:cNvPr id="8" name="Rectángulo 7">
            <a:extLst>
              <a:ext uri="{FF2B5EF4-FFF2-40B4-BE49-F238E27FC236}">
                <a16:creationId xmlns:a16="http://schemas.microsoft.com/office/drawing/2014/main" id="{645B8076-2408-F566-B458-B57473AE1157}"/>
              </a:ext>
            </a:extLst>
          </p:cNvPr>
          <p:cNvSpPr/>
          <p:nvPr/>
        </p:nvSpPr>
        <p:spPr>
          <a:xfrm>
            <a:off x="3229137" y="2985225"/>
            <a:ext cx="1770035" cy="400110"/>
          </a:xfrm>
          <a:prstGeom prst="rect">
            <a:avLst/>
          </a:prstGeom>
          <a:noFill/>
        </p:spPr>
        <p:txBody>
          <a:bodyPr wrap="none">
            <a:spAutoFit/>
          </a:bodyPr>
          <a:lstStyle/>
          <a:p>
            <a:pPr algn="ctr"/>
            <a:r>
              <a:rPr lang="es-ES_tradnl" sz="2000">
                <a:solidFill>
                  <a:schemeClr val="accent3">
                    <a:lumMod val="50000"/>
                  </a:schemeClr>
                </a:solidFill>
                <a:latin typeface="Century Gothic" panose="020B0502020202020204" pitchFamily="34" charset="0"/>
              </a:rPr>
              <a:t>No Consumir</a:t>
            </a:r>
          </a:p>
        </p:txBody>
      </p:sp>
      <p:pic>
        <p:nvPicPr>
          <p:cNvPr id="9" name="Picture 2" descr="Hamburguesa clipart. Dibujos animados descargar gratis. | Creazilla">
            <a:extLst>
              <a:ext uri="{FF2B5EF4-FFF2-40B4-BE49-F238E27FC236}">
                <a16:creationId xmlns:a16="http://schemas.microsoft.com/office/drawing/2014/main" id="{5B26934A-3168-D47E-35DE-42FF480729F9}"/>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14868" t="17143" r="15926" b="17249"/>
          <a:stretch/>
        </p:blipFill>
        <p:spPr bwMode="auto">
          <a:xfrm>
            <a:off x="799847" y="3578574"/>
            <a:ext cx="1343386" cy="1273547"/>
          </a:xfrm>
          <a:prstGeom prst="rect">
            <a:avLst/>
          </a:prstGeom>
          <a:noFill/>
          <a:extLst>
            <a:ext uri="{909E8E84-426E-40DD-AFC4-6F175D3DCCD1}">
              <a14:hiddenFill xmlns:a14="http://schemas.microsoft.com/office/drawing/2010/main">
                <a:solidFill>
                  <a:srgbClr val="FFFFFF"/>
                </a:solidFill>
              </a14:hiddenFill>
            </a:ext>
          </a:extLst>
        </p:spPr>
      </p:pic>
      <p:pic>
        <p:nvPicPr>
          <p:cNvPr id="12" name="Picture 2" descr="Hamburguesa clipart. Dibujos animados descargar gratis. | Creazilla">
            <a:extLst>
              <a:ext uri="{FF2B5EF4-FFF2-40B4-BE49-F238E27FC236}">
                <a16:creationId xmlns:a16="http://schemas.microsoft.com/office/drawing/2014/main" id="{36716528-4E28-C34D-8FAD-71F21CABE4A5}"/>
              </a:ext>
            </a:extLst>
          </p:cNvPr>
          <p:cNvPicPr>
            <a:picLocks noChangeAspect="1" noChangeArrowheads="1"/>
          </p:cNvPicPr>
          <p:nvPr/>
        </p:nvPicPr>
        <p:blipFill rotWithShape="1">
          <a:blip r:embed="rId4">
            <a:duotone>
              <a:schemeClr val="bg2">
                <a:shade val="45000"/>
                <a:satMod val="135000"/>
              </a:schemeClr>
              <a:prstClr val="white"/>
            </a:duotone>
            <a:extLst>
              <a:ext uri="{28A0092B-C50C-407E-A947-70E740481C1C}">
                <a14:useLocalDpi xmlns:a14="http://schemas.microsoft.com/office/drawing/2010/main" val="0"/>
              </a:ext>
            </a:extLst>
          </a:blip>
          <a:srcRect l="14868" t="17143" r="15926" b="17249"/>
          <a:stretch/>
        </p:blipFill>
        <p:spPr bwMode="auto">
          <a:xfrm>
            <a:off x="3442462" y="3578574"/>
            <a:ext cx="1343386" cy="1273547"/>
          </a:xfrm>
          <a:prstGeom prst="rect">
            <a:avLst/>
          </a:prstGeom>
          <a:noFill/>
          <a:extLst>
            <a:ext uri="{909E8E84-426E-40DD-AFC4-6F175D3DCCD1}">
              <a14:hiddenFill xmlns:a14="http://schemas.microsoft.com/office/drawing/2010/main">
                <a:solidFill>
                  <a:srgbClr val="FFFFFF"/>
                </a:solidFill>
              </a14:hiddenFill>
            </a:ext>
          </a:extLst>
        </p:spPr>
      </p:pic>
      <p:sp>
        <p:nvSpPr>
          <p:cNvPr id="17" name="Rectángulo 16">
            <a:extLst>
              <a:ext uri="{FF2B5EF4-FFF2-40B4-BE49-F238E27FC236}">
                <a16:creationId xmlns:a16="http://schemas.microsoft.com/office/drawing/2014/main" id="{60B72C54-7C08-7191-7B5B-42DF51F5F65A}"/>
              </a:ext>
            </a:extLst>
          </p:cNvPr>
          <p:cNvSpPr/>
          <p:nvPr/>
        </p:nvSpPr>
        <p:spPr>
          <a:xfrm>
            <a:off x="8086905" y="2220715"/>
            <a:ext cx="1233030" cy="400110"/>
          </a:xfrm>
          <a:prstGeom prst="rect">
            <a:avLst/>
          </a:prstGeom>
          <a:solidFill>
            <a:schemeClr val="accent3">
              <a:lumMod val="75000"/>
              <a:lumOff val="25000"/>
            </a:schemeClr>
          </a:solidFill>
        </p:spPr>
        <p:txBody>
          <a:bodyPr wrap="none">
            <a:spAutoFit/>
          </a:bodyPr>
          <a:lstStyle/>
          <a:p>
            <a:pPr algn="ctr"/>
            <a:r>
              <a:rPr lang="es-ES_tradnl" sz="2000" b="1">
                <a:solidFill>
                  <a:schemeClr val="accent3">
                    <a:lumMod val="50000"/>
                  </a:schemeClr>
                </a:solidFill>
                <a:latin typeface="Century Gothic" panose="020B0502020202020204" pitchFamily="34" charset="0"/>
              </a:rPr>
              <a:t>Mañana</a:t>
            </a:r>
          </a:p>
        </p:txBody>
      </p:sp>
      <p:sp>
        <p:nvSpPr>
          <p:cNvPr id="18" name="Forma libre: forma 2">
            <a:extLst>
              <a:ext uri="{FF2B5EF4-FFF2-40B4-BE49-F238E27FC236}">
                <a16:creationId xmlns:a16="http://schemas.microsoft.com/office/drawing/2014/main" id="{7C8A73E1-C896-1F4C-2967-AE069F7143F6}"/>
              </a:ext>
            </a:extLst>
          </p:cNvPr>
          <p:cNvSpPr/>
          <p:nvPr/>
        </p:nvSpPr>
        <p:spPr>
          <a:xfrm rot="230383">
            <a:off x="4843674" y="4810219"/>
            <a:ext cx="3693173" cy="959979"/>
          </a:xfrm>
          <a:custGeom>
            <a:avLst/>
            <a:gdLst>
              <a:gd name="connsiteX0" fmla="*/ 0 w 3831772"/>
              <a:gd name="connsiteY0" fmla="*/ 203200 h 959979"/>
              <a:gd name="connsiteX1" fmla="*/ 2119086 w 3831772"/>
              <a:gd name="connsiteY1" fmla="*/ 957943 h 959979"/>
              <a:gd name="connsiteX2" fmla="*/ 3831772 w 3831772"/>
              <a:gd name="connsiteY2" fmla="*/ 0 h 959979"/>
            </a:gdLst>
            <a:ahLst/>
            <a:cxnLst>
              <a:cxn ang="0">
                <a:pos x="connsiteX0" y="connsiteY0"/>
              </a:cxn>
              <a:cxn ang="0">
                <a:pos x="connsiteX1" y="connsiteY1"/>
              </a:cxn>
              <a:cxn ang="0">
                <a:pos x="connsiteX2" y="connsiteY2"/>
              </a:cxn>
            </a:cxnLst>
            <a:rect l="l" t="t" r="r" b="b"/>
            <a:pathLst>
              <a:path w="3831772" h="959979">
                <a:moveTo>
                  <a:pt x="0" y="203200"/>
                </a:moveTo>
                <a:cubicBezTo>
                  <a:pt x="740228" y="597505"/>
                  <a:pt x="1480457" y="991810"/>
                  <a:pt x="2119086" y="957943"/>
                </a:cubicBezTo>
                <a:cubicBezTo>
                  <a:pt x="2757715" y="924076"/>
                  <a:pt x="3294743" y="462038"/>
                  <a:pt x="3831772" y="0"/>
                </a:cubicBezTo>
              </a:path>
            </a:pathLst>
          </a:custGeom>
          <a:ln>
            <a:headEnd type="none" w="med" len="med"/>
            <a:tailEnd type="arrow" w="med" len="med"/>
          </a:ln>
        </p:spPr>
        <p:style>
          <a:lnRef idx="3">
            <a:schemeClr val="accent5"/>
          </a:lnRef>
          <a:fillRef idx="0">
            <a:schemeClr val="accent5"/>
          </a:fillRef>
          <a:effectRef idx="2">
            <a:schemeClr val="accent5"/>
          </a:effectRef>
          <a:fontRef idx="minor">
            <a:schemeClr val="tx1"/>
          </a:fontRef>
        </p:style>
        <p:txBody>
          <a:bodyPr rtlCol="0" anchor="ctr"/>
          <a:lstStyle/>
          <a:p>
            <a:pPr algn="ctr"/>
            <a:endParaRPr lang="es-CO"/>
          </a:p>
        </p:txBody>
      </p:sp>
      <p:sp>
        <p:nvSpPr>
          <p:cNvPr id="20" name="Rectángulo 19">
            <a:extLst>
              <a:ext uri="{FF2B5EF4-FFF2-40B4-BE49-F238E27FC236}">
                <a16:creationId xmlns:a16="http://schemas.microsoft.com/office/drawing/2014/main" id="{79EE392A-236F-F6A8-A6D8-C9B32FB84962}"/>
              </a:ext>
            </a:extLst>
          </p:cNvPr>
          <p:cNvSpPr/>
          <p:nvPr/>
        </p:nvSpPr>
        <p:spPr>
          <a:xfrm>
            <a:off x="3498435" y="5970323"/>
            <a:ext cx="6862777" cy="400110"/>
          </a:xfrm>
          <a:prstGeom prst="rect">
            <a:avLst/>
          </a:prstGeom>
          <a:noFill/>
        </p:spPr>
        <p:txBody>
          <a:bodyPr wrap="none" lIns="91440" tIns="45720" rIns="91440" bIns="45720" anchor="t">
            <a:spAutoFit/>
          </a:bodyPr>
          <a:lstStyle/>
          <a:p>
            <a:pPr algn="ctr"/>
            <a:r>
              <a:rPr lang="es-ES_tradnl" sz="2000" b="1">
                <a:solidFill>
                  <a:srgbClr val="C00000"/>
                </a:solidFill>
                <a:latin typeface="Century Gothic"/>
              </a:rPr>
              <a:t>¿Cuánto me deberían dar para escoger esta opción?</a:t>
            </a:r>
          </a:p>
        </p:txBody>
      </p:sp>
      <p:pic>
        <p:nvPicPr>
          <p:cNvPr id="21" name="Picture 4" descr="15 ideas de Signo de interrogacion | signo de interrogación, signos, signo  de pregunta">
            <a:extLst>
              <a:ext uri="{FF2B5EF4-FFF2-40B4-BE49-F238E27FC236}">
                <a16:creationId xmlns:a16="http://schemas.microsoft.com/office/drawing/2014/main" id="{DED69A64-763B-93C9-F1E0-47FC5D7A466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996380" y="3187913"/>
            <a:ext cx="1414080" cy="1414080"/>
          </a:xfrm>
          <a:prstGeom prst="rect">
            <a:avLst/>
          </a:prstGeom>
          <a:noFill/>
          <a:extLst>
            <a:ext uri="{909E8E84-426E-40DD-AFC4-6F175D3DCCD1}">
              <a14:hiddenFill xmlns:a14="http://schemas.microsoft.com/office/drawing/2010/main">
                <a:solidFill>
                  <a:srgbClr val="FFFFFF"/>
                </a:solidFill>
              </a14:hiddenFill>
            </a:ext>
          </a:extLst>
        </p:spPr>
      </p:pic>
      <p:sp>
        <p:nvSpPr>
          <p:cNvPr id="22" name="Rectángulo 21">
            <a:extLst>
              <a:ext uri="{FF2B5EF4-FFF2-40B4-BE49-F238E27FC236}">
                <a16:creationId xmlns:a16="http://schemas.microsoft.com/office/drawing/2014/main" id="{5A08545C-B860-DC44-B6FC-9264B54D819C}"/>
              </a:ext>
            </a:extLst>
          </p:cNvPr>
          <p:cNvSpPr/>
          <p:nvPr/>
        </p:nvSpPr>
        <p:spPr>
          <a:xfrm>
            <a:off x="9166380" y="3401096"/>
            <a:ext cx="1771292" cy="1015663"/>
          </a:xfrm>
          <a:prstGeom prst="rect">
            <a:avLst/>
          </a:prstGeom>
          <a:noFill/>
        </p:spPr>
        <p:txBody>
          <a:bodyPr wrap="square">
            <a:spAutoFit/>
          </a:bodyPr>
          <a:lstStyle/>
          <a:p>
            <a:pPr algn="ctr"/>
            <a:r>
              <a:rPr lang="es-ES_tradnl" sz="2000" b="1">
                <a:solidFill>
                  <a:schemeClr val="accent3">
                    <a:lumMod val="50000"/>
                  </a:schemeClr>
                </a:solidFill>
                <a:latin typeface="Century Gothic" panose="020B0502020202020204" pitchFamily="34" charset="0"/>
              </a:rPr>
              <a:t>Agente Económico</a:t>
            </a:r>
          </a:p>
          <a:p>
            <a:pPr algn="ctr"/>
            <a:r>
              <a:rPr lang="es-ES_tradnl" sz="2000" b="1">
                <a:solidFill>
                  <a:schemeClr val="accent3">
                    <a:lumMod val="50000"/>
                  </a:schemeClr>
                </a:solidFill>
                <a:latin typeface="Century Gothic" panose="020B0502020202020204" pitchFamily="34" charset="0"/>
              </a:rPr>
              <a:t>(VDT)</a:t>
            </a:r>
          </a:p>
        </p:txBody>
      </p:sp>
    </p:spTree>
    <p:extLst>
      <p:ext uri="{BB962C8B-B14F-4D97-AF65-F5344CB8AC3E}">
        <p14:creationId xmlns:p14="http://schemas.microsoft.com/office/powerpoint/2010/main" val="20232787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9"/>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21"/>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p:bldP spid="8" grpId="0"/>
      <p:bldP spid="17" grpId="0" animBg="1"/>
      <p:bldP spid="18" grpId="0" animBg="1"/>
      <p:bldP spid="20" grpId="0"/>
      <p:bldP spid="2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6</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3416320"/>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accent1"/>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accent1"/>
                </a:solidFill>
                <a:latin typeface="Century Gothic"/>
                <a:cs typeface="Arial"/>
              </a:rPr>
              <a:t>¿Cuáles son los Agentes Económicos?</a:t>
            </a: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Costo de Oportunidad de un Agente Consumidor.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Ahorrador.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Inversionista.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Consolidación y Práctica.</a:t>
            </a:r>
            <a:endParaRPr lang="es-CO" dirty="0">
              <a:solidFill>
                <a:schemeClr val="bg2">
                  <a:lumMod val="90000"/>
                </a:schemeClr>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9E73942-C3A2-0855-669C-292953C91A7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396218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1B2EC0-6D7C-ADF3-7EB9-19E14861B93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30751D7E-6F26-F5D1-E8A8-C41E74FC3915}"/>
              </a:ext>
            </a:extLst>
          </p:cNvPr>
          <p:cNvSpPr>
            <a:spLocks noGrp="1"/>
          </p:cNvSpPr>
          <p:nvPr>
            <p:ph type="title"/>
          </p:nvPr>
        </p:nvSpPr>
        <p:spPr/>
        <p:txBody>
          <a:bodyPr>
            <a:normAutofit/>
          </a:bodyPr>
          <a:lstStyle/>
          <a:p>
            <a:r>
              <a:rPr lang="es-ES_tradnl">
                <a:latin typeface="Century Gothic" panose="020B0502020202020204" pitchFamily="34" charset="0"/>
              </a:rPr>
              <a:t>¿CUÁLES SON LOS AGENTES ECONÓMICOS?</a:t>
            </a:r>
          </a:p>
        </p:txBody>
      </p:sp>
      <p:sp>
        <p:nvSpPr>
          <p:cNvPr id="11" name="Slide Number Placeholder 10">
            <a:extLst>
              <a:ext uri="{FF2B5EF4-FFF2-40B4-BE49-F238E27FC236}">
                <a16:creationId xmlns:a16="http://schemas.microsoft.com/office/drawing/2014/main" id="{92762689-543D-0FB6-8C36-FF22322BF79C}"/>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7</a:t>
            </a:fld>
            <a:endParaRPr lang="en-US" sz="2000" b="1">
              <a:latin typeface="Century Gothic" panose="020B0502020202020204" pitchFamily="34" charset="0"/>
            </a:endParaRPr>
          </a:p>
        </p:txBody>
      </p:sp>
      <p:sp>
        <p:nvSpPr>
          <p:cNvPr id="6" name="AutoShape 4">
            <a:extLst>
              <a:ext uri="{FF2B5EF4-FFF2-40B4-BE49-F238E27FC236}">
                <a16:creationId xmlns:a16="http://schemas.microsoft.com/office/drawing/2014/main" id="{C6E39E73-76CF-0BE9-DDE0-1689EEAD3F3B}"/>
              </a:ext>
            </a:extLst>
          </p:cNvPr>
          <p:cNvSpPr>
            <a:spLocks/>
          </p:cNvSpPr>
          <p:nvPr/>
        </p:nvSpPr>
        <p:spPr bwMode="auto">
          <a:xfrm>
            <a:off x="1902905" y="2516176"/>
            <a:ext cx="5969000" cy="3810000"/>
          </a:xfrm>
          <a:prstGeom prst="triangle">
            <a:avLst>
              <a:gd name="adj" fmla="val 50000"/>
            </a:avLst>
          </a:prstGeom>
          <a:solidFill>
            <a:srgbClr val="002F90"/>
          </a:solidFill>
          <a:ln w="25400">
            <a:solidFill>
              <a:srgbClr val="362B28">
                <a:alpha val="52940"/>
              </a:srgbClr>
            </a:solidFill>
            <a:miter lim="800000"/>
            <a:headEnd/>
            <a:tailEnd/>
          </a:ln>
        </p:spPr>
        <p:txBody>
          <a:bodyPr/>
          <a:lstStyle/>
          <a:p>
            <a:pPr algn="ctr"/>
            <a:endParaRPr lang="es-ES_tradnl"/>
          </a:p>
        </p:txBody>
      </p:sp>
      <p:sp>
        <p:nvSpPr>
          <p:cNvPr id="7" name="AutoShape 5">
            <a:extLst>
              <a:ext uri="{FF2B5EF4-FFF2-40B4-BE49-F238E27FC236}">
                <a16:creationId xmlns:a16="http://schemas.microsoft.com/office/drawing/2014/main" id="{7A20436F-0F59-49EA-736D-DCAF96272F9A}"/>
              </a:ext>
            </a:extLst>
          </p:cNvPr>
          <p:cNvSpPr>
            <a:spLocks/>
          </p:cNvSpPr>
          <p:nvPr/>
        </p:nvSpPr>
        <p:spPr bwMode="auto">
          <a:xfrm>
            <a:off x="4061110" y="2496270"/>
            <a:ext cx="1651201" cy="1080850"/>
          </a:xfrm>
          <a:prstGeom prst="triangle">
            <a:avLst>
              <a:gd name="adj" fmla="val 50000"/>
            </a:avLst>
          </a:prstGeom>
          <a:solidFill>
            <a:schemeClr val="accent3">
              <a:lumMod val="50000"/>
            </a:schemeClr>
          </a:solidFill>
          <a:ln w="25400">
            <a:solidFill>
              <a:schemeClr val="accent3">
                <a:lumMod val="50000"/>
                <a:alpha val="52156"/>
              </a:schemeClr>
            </a:solidFill>
            <a:miter lim="800000"/>
            <a:headEnd/>
            <a:tailEnd/>
          </a:ln>
        </p:spPr>
        <p:txBody>
          <a:bodyPr/>
          <a:lstStyle/>
          <a:p>
            <a:pPr algn="ctr"/>
            <a:endParaRPr lang="es-ES_tradnl" b="1" i="1"/>
          </a:p>
        </p:txBody>
      </p:sp>
      <p:sp>
        <p:nvSpPr>
          <p:cNvPr id="13" name="Rectangle 12">
            <a:extLst>
              <a:ext uri="{FF2B5EF4-FFF2-40B4-BE49-F238E27FC236}">
                <a16:creationId xmlns:a16="http://schemas.microsoft.com/office/drawing/2014/main" id="{BB6EEA6C-AC6C-7924-A85F-8A7EBAB341DF}"/>
              </a:ext>
            </a:extLst>
          </p:cNvPr>
          <p:cNvSpPr>
            <a:spLocks/>
          </p:cNvSpPr>
          <p:nvPr/>
        </p:nvSpPr>
        <p:spPr bwMode="auto">
          <a:xfrm>
            <a:off x="4013129" y="3743295"/>
            <a:ext cx="1699183"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200" b="1">
                <a:ln w="6350">
                  <a:solidFill>
                    <a:sysClr val="windowText" lastClr="000000"/>
                  </a:solidFill>
                </a:ln>
                <a:solidFill>
                  <a:schemeClr val="bg1"/>
                </a:solidFill>
                <a:effectLst>
                  <a:glow rad="101600">
                    <a:schemeClr val="accent1">
                      <a:lumMod val="95000"/>
                      <a:lumOff val="5000"/>
                      <a:alpha val="40000"/>
                    </a:schemeClr>
                  </a:glow>
                </a:effectLst>
                <a:latin typeface="Century Gothic" panose="020B0502020202020204" pitchFamily="34" charset="0"/>
              </a:rPr>
              <a:t>Especulador</a:t>
            </a:r>
          </a:p>
        </p:txBody>
      </p:sp>
      <p:sp>
        <p:nvSpPr>
          <p:cNvPr id="14" name="Rectangle 13">
            <a:extLst>
              <a:ext uri="{FF2B5EF4-FFF2-40B4-BE49-F238E27FC236}">
                <a16:creationId xmlns:a16="http://schemas.microsoft.com/office/drawing/2014/main" id="{26A4E73E-B631-DFCE-F900-1C7D25EE38F5}"/>
              </a:ext>
            </a:extLst>
          </p:cNvPr>
          <p:cNvSpPr>
            <a:spLocks/>
          </p:cNvSpPr>
          <p:nvPr/>
        </p:nvSpPr>
        <p:spPr bwMode="auto">
          <a:xfrm>
            <a:off x="3131135" y="2761201"/>
            <a:ext cx="3484928"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200" b="1">
                <a:ln w="6350">
                  <a:solidFill>
                    <a:sysClr val="windowText" lastClr="000000"/>
                  </a:solidFill>
                </a:ln>
                <a:solidFill>
                  <a:schemeClr val="bg1"/>
                </a:solidFill>
                <a:effectLst>
                  <a:glow rad="101600">
                    <a:schemeClr val="accent1">
                      <a:lumMod val="95000"/>
                      <a:lumOff val="5000"/>
                      <a:alpha val="40000"/>
                    </a:schemeClr>
                  </a:glow>
                </a:effectLst>
                <a:latin typeface="Century Gothic" panose="020B0502020202020204" pitchFamily="34" charset="0"/>
              </a:rPr>
              <a:t>Inversionista / Empresario</a:t>
            </a:r>
          </a:p>
        </p:txBody>
      </p:sp>
      <p:sp>
        <p:nvSpPr>
          <p:cNvPr id="3" name="Rectángulo 2">
            <a:extLst>
              <a:ext uri="{FF2B5EF4-FFF2-40B4-BE49-F238E27FC236}">
                <a16:creationId xmlns:a16="http://schemas.microsoft.com/office/drawing/2014/main" id="{CC36B219-17B4-AEF7-9802-F32A853D086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1547158A-EE1B-3ECA-4755-ACF8083FC11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15" name="Rectángulo 14">
            <a:extLst>
              <a:ext uri="{FF2B5EF4-FFF2-40B4-BE49-F238E27FC236}">
                <a16:creationId xmlns:a16="http://schemas.microsoft.com/office/drawing/2014/main" id="{63F7467F-A573-A260-8770-4FF0DD5CD952}"/>
              </a:ext>
            </a:extLst>
          </p:cNvPr>
          <p:cNvSpPr/>
          <p:nvPr/>
        </p:nvSpPr>
        <p:spPr>
          <a:xfrm>
            <a:off x="2689329" y="4403479"/>
            <a:ext cx="4396153" cy="914400"/>
          </a:xfrm>
          <a:prstGeom prst="rect">
            <a:avLst/>
          </a:prstGeom>
          <a:solidFill>
            <a:schemeClr val="accent3">
              <a:lumMod val="50000"/>
            </a:schemeClr>
          </a:solidFill>
          <a:ln>
            <a:solidFill>
              <a:schemeClr val="accent3">
                <a:lumMod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4" name="Triángulo 23">
            <a:extLst>
              <a:ext uri="{FF2B5EF4-FFF2-40B4-BE49-F238E27FC236}">
                <a16:creationId xmlns:a16="http://schemas.microsoft.com/office/drawing/2014/main" id="{E5460F03-360B-4501-A1E1-DA153B2F16A5}"/>
              </a:ext>
            </a:extLst>
          </p:cNvPr>
          <p:cNvSpPr/>
          <p:nvPr/>
        </p:nvSpPr>
        <p:spPr>
          <a:xfrm rot="4002253">
            <a:off x="2259508" y="3987777"/>
            <a:ext cx="1278388" cy="1195950"/>
          </a:xfrm>
          <a:prstGeom prst="triangle">
            <a:avLst>
              <a:gd name="adj" fmla="val 4950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5" name="Triángulo 24">
            <a:extLst>
              <a:ext uri="{FF2B5EF4-FFF2-40B4-BE49-F238E27FC236}">
                <a16:creationId xmlns:a16="http://schemas.microsoft.com/office/drawing/2014/main" id="{5901BED9-7305-CA04-3BFC-3A91F228273E}"/>
              </a:ext>
            </a:extLst>
          </p:cNvPr>
          <p:cNvSpPr/>
          <p:nvPr/>
        </p:nvSpPr>
        <p:spPr>
          <a:xfrm rot="10225864">
            <a:off x="6389477" y="4186801"/>
            <a:ext cx="1278388" cy="1195950"/>
          </a:xfrm>
          <a:prstGeom prst="triangle">
            <a:avLst>
              <a:gd name="adj" fmla="val 49504"/>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p>
        </p:txBody>
      </p:sp>
      <p:grpSp>
        <p:nvGrpSpPr>
          <p:cNvPr id="12" name="Group 8">
            <a:extLst>
              <a:ext uri="{FF2B5EF4-FFF2-40B4-BE49-F238E27FC236}">
                <a16:creationId xmlns:a16="http://schemas.microsoft.com/office/drawing/2014/main" id="{6B21D0FA-DE0D-47B2-F78D-F13C61C8AA05}"/>
              </a:ext>
            </a:extLst>
          </p:cNvPr>
          <p:cNvGrpSpPr>
            <a:grpSpLocks/>
          </p:cNvGrpSpPr>
          <p:nvPr/>
        </p:nvGrpSpPr>
        <p:grpSpPr bwMode="auto">
          <a:xfrm>
            <a:off x="4061111" y="4667788"/>
            <a:ext cx="1652588" cy="1391626"/>
            <a:chOff x="3980" y="240429"/>
            <a:chExt cx="1041" cy="1391626"/>
          </a:xfrm>
        </p:grpSpPr>
        <p:sp>
          <p:nvSpPr>
            <p:cNvPr id="17" name="Rectangle 11">
              <a:extLst>
                <a:ext uri="{FF2B5EF4-FFF2-40B4-BE49-F238E27FC236}">
                  <a16:creationId xmlns:a16="http://schemas.microsoft.com/office/drawing/2014/main" id="{70D6564E-7F37-9EF4-E3E4-C97E727CC4D5}"/>
                </a:ext>
              </a:extLst>
            </p:cNvPr>
            <p:cNvSpPr>
              <a:spLocks/>
            </p:cNvSpPr>
            <p:nvPr/>
          </p:nvSpPr>
          <p:spPr bwMode="auto">
            <a:xfrm>
              <a:off x="4048" y="240429"/>
              <a:ext cx="870"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200" b="1">
                  <a:ln w="6350">
                    <a:solidFill>
                      <a:sysClr val="windowText" lastClr="000000"/>
                    </a:solidFill>
                  </a:ln>
                  <a:solidFill>
                    <a:schemeClr val="bg1"/>
                  </a:solidFill>
                  <a:effectLst>
                    <a:glow rad="101600">
                      <a:schemeClr val="accent1">
                        <a:lumMod val="95000"/>
                        <a:lumOff val="5000"/>
                        <a:alpha val="40000"/>
                      </a:schemeClr>
                    </a:glow>
                  </a:effectLst>
                  <a:latin typeface="Century Gothic" panose="020B0502020202020204" pitchFamily="34" charset="0"/>
                </a:rPr>
                <a:t>Ahorrador</a:t>
              </a:r>
            </a:p>
          </p:txBody>
        </p:sp>
        <p:sp>
          <p:nvSpPr>
            <p:cNvPr id="16" name="Rectangle 10">
              <a:extLst>
                <a:ext uri="{FF2B5EF4-FFF2-40B4-BE49-F238E27FC236}">
                  <a16:creationId xmlns:a16="http://schemas.microsoft.com/office/drawing/2014/main" id="{DB4B0277-7332-900E-5598-7898FFA7CD45}"/>
                </a:ext>
              </a:extLst>
            </p:cNvPr>
            <p:cNvSpPr>
              <a:spLocks/>
            </p:cNvSpPr>
            <p:nvPr/>
          </p:nvSpPr>
          <p:spPr bwMode="auto">
            <a:xfrm>
              <a:off x="3980" y="1293501"/>
              <a:ext cx="1041" cy="33855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n-US" sz="2200" b="1">
                  <a:ln w="6350">
                    <a:solidFill>
                      <a:sysClr val="windowText" lastClr="000000"/>
                    </a:solidFill>
                  </a:ln>
                  <a:solidFill>
                    <a:schemeClr val="bg1"/>
                  </a:solidFill>
                  <a:effectLst>
                    <a:glow rad="101600">
                      <a:schemeClr val="accent1">
                        <a:lumMod val="95000"/>
                        <a:lumOff val="5000"/>
                        <a:alpha val="40000"/>
                      </a:schemeClr>
                    </a:glow>
                  </a:effectLst>
                  <a:latin typeface="Century Gothic" panose="020B0502020202020204" pitchFamily="34" charset="0"/>
                </a:rPr>
                <a:t>Consumidor</a:t>
              </a:r>
            </a:p>
          </p:txBody>
        </p:sp>
      </p:grpSp>
      <p:sp>
        <p:nvSpPr>
          <p:cNvPr id="26" name="Marco 25">
            <a:extLst>
              <a:ext uri="{FF2B5EF4-FFF2-40B4-BE49-F238E27FC236}">
                <a16:creationId xmlns:a16="http://schemas.microsoft.com/office/drawing/2014/main" id="{24F71336-3882-F019-1A1F-86B01307AC73}"/>
              </a:ext>
            </a:extLst>
          </p:cNvPr>
          <p:cNvSpPr/>
          <p:nvPr/>
        </p:nvSpPr>
        <p:spPr>
          <a:xfrm>
            <a:off x="1889099" y="2454521"/>
            <a:ext cx="5969000" cy="1104902"/>
          </a:xfrm>
          <a:prstGeom prst="frame">
            <a:avLst>
              <a:gd name="adj1" fmla="val 4464"/>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7" name="Marco 26">
            <a:extLst>
              <a:ext uri="{FF2B5EF4-FFF2-40B4-BE49-F238E27FC236}">
                <a16:creationId xmlns:a16="http://schemas.microsoft.com/office/drawing/2014/main" id="{5828D557-1F50-E66D-7B91-223CEC28813F}"/>
              </a:ext>
            </a:extLst>
          </p:cNvPr>
          <p:cNvSpPr/>
          <p:nvPr/>
        </p:nvSpPr>
        <p:spPr>
          <a:xfrm>
            <a:off x="1873843" y="4366478"/>
            <a:ext cx="5969000" cy="914400"/>
          </a:xfrm>
          <a:prstGeom prst="frame">
            <a:avLst>
              <a:gd name="adj1" fmla="val 4464"/>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8" name="Marco 27">
            <a:extLst>
              <a:ext uri="{FF2B5EF4-FFF2-40B4-BE49-F238E27FC236}">
                <a16:creationId xmlns:a16="http://schemas.microsoft.com/office/drawing/2014/main" id="{B5533AC6-B042-60F0-99CC-D75EBEDF0A2B}"/>
              </a:ext>
            </a:extLst>
          </p:cNvPr>
          <p:cNvSpPr/>
          <p:nvPr/>
        </p:nvSpPr>
        <p:spPr>
          <a:xfrm>
            <a:off x="1875123" y="5268510"/>
            <a:ext cx="5969000" cy="1052752"/>
          </a:xfrm>
          <a:prstGeom prst="frame">
            <a:avLst>
              <a:gd name="adj1" fmla="val 4464"/>
            </a:avLst>
          </a:prstGeom>
          <a:solidFill>
            <a:srgbClr val="C00000"/>
          </a:solidFill>
          <a:ln>
            <a:solidFill>
              <a:srgbClr val="C0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s-CO">
              <a:solidFill>
                <a:schemeClr val="tx1"/>
              </a:solidFill>
            </a:endParaRPr>
          </a:p>
        </p:txBody>
      </p:sp>
      <p:sp>
        <p:nvSpPr>
          <p:cNvPr id="2" name="Rectángulo 1">
            <a:extLst>
              <a:ext uri="{FF2B5EF4-FFF2-40B4-BE49-F238E27FC236}">
                <a16:creationId xmlns:a16="http://schemas.microsoft.com/office/drawing/2014/main" id="{618AF0CD-94F9-ADA0-AEF5-BBD9D3F587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2050" name="Picture 2" descr="Qué son los agentes económicos y cómo se clasifican? Guía Completa">
            <a:extLst>
              <a:ext uri="{FF2B5EF4-FFF2-40B4-BE49-F238E27FC236}">
                <a16:creationId xmlns:a16="http://schemas.microsoft.com/office/drawing/2014/main" id="{4E28A09A-BD64-E658-2263-A14BB04BF6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70513" y="3170814"/>
            <a:ext cx="3165920" cy="1899552"/>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72835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 calcmode="lin" valueType="num">
                                      <p:cBhvr additive="base">
                                        <p:cTn id="7" dur="500" fill="hold"/>
                                        <p:tgtEl>
                                          <p:spTgt spid="26"/>
                                        </p:tgtEl>
                                        <p:attrNameLst>
                                          <p:attrName>ppt_x</p:attrName>
                                        </p:attrNameLst>
                                      </p:cBhvr>
                                      <p:tavLst>
                                        <p:tav tm="0">
                                          <p:val>
                                            <p:strVal val="#ppt_x"/>
                                          </p:val>
                                        </p:tav>
                                        <p:tav tm="100000">
                                          <p:val>
                                            <p:strVal val="#ppt_x"/>
                                          </p:val>
                                        </p:tav>
                                      </p:tavLst>
                                    </p:anim>
                                    <p:anim calcmode="lin" valueType="num">
                                      <p:cBhvr additive="base">
                                        <p:cTn id="8" dur="500" fill="hold"/>
                                        <p:tgtEl>
                                          <p:spTgt spid="26"/>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7"/>
                                        </p:tgtEl>
                                        <p:attrNameLst>
                                          <p:attrName>style.visibility</p:attrName>
                                        </p:attrNameLst>
                                      </p:cBhvr>
                                      <p:to>
                                        <p:strVal val="visible"/>
                                      </p:to>
                                    </p:set>
                                    <p:anim calcmode="lin" valueType="num">
                                      <p:cBhvr additive="base">
                                        <p:cTn id="11" dur="500" fill="hold"/>
                                        <p:tgtEl>
                                          <p:spTgt spid="27"/>
                                        </p:tgtEl>
                                        <p:attrNameLst>
                                          <p:attrName>ppt_x</p:attrName>
                                        </p:attrNameLst>
                                      </p:cBhvr>
                                      <p:tavLst>
                                        <p:tav tm="0">
                                          <p:val>
                                            <p:strVal val="#ppt_x"/>
                                          </p:val>
                                        </p:tav>
                                        <p:tav tm="100000">
                                          <p:val>
                                            <p:strVal val="#ppt_x"/>
                                          </p:val>
                                        </p:tav>
                                      </p:tavLst>
                                    </p:anim>
                                    <p:anim calcmode="lin" valueType="num">
                                      <p:cBhvr additive="base">
                                        <p:cTn id="12" dur="500" fill="hold"/>
                                        <p:tgtEl>
                                          <p:spTgt spid="27"/>
                                        </p:tgtEl>
                                        <p:attrNameLst>
                                          <p:attrName>ppt_y</p:attrName>
                                        </p:attrNameLst>
                                      </p:cBhvr>
                                      <p:tavLst>
                                        <p:tav tm="0">
                                          <p:val>
                                            <p:strVal val="1+#ppt_h/2"/>
                                          </p:val>
                                        </p:tav>
                                        <p:tav tm="100000">
                                          <p:val>
                                            <p:strVal val="#ppt_y"/>
                                          </p:val>
                                        </p:tav>
                                      </p:tavLst>
                                    </p:anim>
                                  </p:childTnLst>
                                </p:cTn>
                              </p:par>
                              <p:par>
                                <p:cTn id="13" presetID="2" presetClass="entr" presetSubtype="4" fill="hold" grpId="0" nodeType="withEffect">
                                  <p:stCondLst>
                                    <p:cond delay="0"/>
                                  </p:stCondLst>
                                  <p:childTnLst>
                                    <p:set>
                                      <p:cBhvr>
                                        <p:cTn id="14" dur="1" fill="hold">
                                          <p:stCondLst>
                                            <p:cond delay="0"/>
                                          </p:stCondLst>
                                        </p:cTn>
                                        <p:tgtEl>
                                          <p:spTgt spid="28"/>
                                        </p:tgtEl>
                                        <p:attrNameLst>
                                          <p:attrName>style.visibility</p:attrName>
                                        </p:attrNameLst>
                                      </p:cBhvr>
                                      <p:to>
                                        <p:strVal val="visible"/>
                                      </p:to>
                                    </p:set>
                                    <p:anim calcmode="lin" valueType="num">
                                      <p:cBhvr additive="base">
                                        <p:cTn id="15" dur="500" fill="hold"/>
                                        <p:tgtEl>
                                          <p:spTgt spid="28"/>
                                        </p:tgtEl>
                                        <p:attrNameLst>
                                          <p:attrName>ppt_x</p:attrName>
                                        </p:attrNameLst>
                                      </p:cBhvr>
                                      <p:tavLst>
                                        <p:tav tm="0">
                                          <p:val>
                                            <p:strVal val="#ppt_x"/>
                                          </p:val>
                                        </p:tav>
                                        <p:tav tm="100000">
                                          <p:val>
                                            <p:strVal val="#ppt_x"/>
                                          </p:val>
                                        </p:tav>
                                      </p:tavLst>
                                    </p:anim>
                                    <p:anim calcmode="lin" valueType="num">
                                      <p:cBhvr additive="base">
                                        <p:cTn id="16" dur="500" fill="hold"/>
                                        <p:tgtEl>
                                          <p:spTgt spid="28"/>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 grpId="0" animBg="1"/>
      <p:bldP spid="27" grpId="0" animBg="1"/>
      <p:bldP spid="28"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3"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80131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¿Cuáles son los Agentes Económicos?</a:t>
            </a:r>
          </a:p>
          <a:p>
            <a:pPr marL="342900" indent="-342900">
              <a:buClr>
                <a:srgbClr val="2C7C9F"/>
              </a:buClr>
              <a:buFontTx/>
              <a:buAutoNum type="arabicPeriod"/>
            </a:pPr>
            <a:endParaRPr lang="es-CO" dirty="0">
              <a:solidFill>
                <a:schemeClr val="accent1"/>
              </a:solidFill>
              <a:latin typeface="Century Gothic"/>
              <a:cs typeface="Arial"/>
            </a:endParaRPr>
          </a:p>
          <a:p>
            <a:pPr marL="342900" indent="-342900">
              <a:buClr>
                <a:srgbClr val="48BE7A"/>
              </a:buClr>
              <a:buFontTx/>
              <a:buAutoNum type="arabicPeriod"/>
            </a:pPr>
            <a:r>
              <a:rPr lang="es-CO" dirty="0">
                <a:solidFill>
                  <a:schemeClr val="accent1"/>
                </a:solidFill>
                <a:latin typeface="Century Gothic"/>
                <a:cs typeface="Arial"/>
              </a:rPr>
              <a:t>Costo de Oportunidad de un Agente Consumidor.</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Ahorrador.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Inversionista.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Consolidación.</a:t>
            </a: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rgbClr val="48BE7A"/>
              </a:buClr>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8B5B6405-D4B0-F4AF-99E1-B07AABCD693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4905077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9" name="Content Placeholder 6"/>
          <p:cNvSpPr>
            <a:spLocks noGrp="1"/>
          </p:cNvSpPr>
          <p:nvPr>
            <p:ph idx="1"/>
          </p:nvPr>
        </p:nvSpPr>
        <p:spPr>
          <a:xfrm>
            <a:off x="1255432" y="2645966"/>
            <a:ext cx="7712852" cy="956023"/>
          </a:xfrm>
        </p:spPr>
        <p:txBody>
          <a:bodyPr>
            <a:normAutofit/>
          </a:bodyPr>
          <a:lstStyle/>
          <a:p>
            <a:pPr marL="0" indent="0" algn="just">
              <a:buNone/>
            </a:pPr>
            <a:r>
              <a:rPr lang="es-ES_tradnl" dirty="0">
                <a:solidFill>
                  <a:schemeClr val="accent1"/>
                </a:solidFill>
                <a:latin typeface="Century Gothic" panose="020B0502020202020204" pitchFamily="34" charset="0"/>
              </a:rPr>
              <a:t>Todos los agentes son consumidores por definición.</a:t>
            </a:r>
          </a:p>
          <a:p>
            <a:pPr marL="0" indent="0" algn="just">
              <a:buNone/>
            </a:pPr>
            <a:endParaRPr lang="es-ES_tradnl" dirty="0">
              <a:solidFill>
                <a:schemeClr val="accent1"/>
              </a:solidFill>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9</a:t>
            </a:fld>
            <a:endParaRPr lang="en-US" sz="2000" b="1">
              <a:latin typeface="Century Gothic" panose="020B0502020202020204" pitchFamily="34" charset="0"/>
            </a:endParaRPr>
          </a:p>
        </p:txBody>
      </p:sp>
      <p:sp>
        <p:nvSpPr>
          <p:cNvPr id="2" name="Rectángulo 1"/>
          <p:cNvSpPr/>
          <p:nvPr/>
        </p:nvSpPr>
        <p:spPr>
          <a:xfrm>
            <a:off x="446043" y="2149633"/>
            <a:ext cx="1973617"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Consumidor</a:t>
            </a:r>
          </a:p>
        </p:txBody>
      </p:sp>
      <p:pic>
        <p:nvPicPr>
          <p:cNvPr id="4" name="Imagen 3"/>
          <p:cNvPicPr>
            <a:picLocks noChangeAspect="1"/>
          </p:cNvPicPr>
          <p:nvPr/>
        </p:nvPicPr>
        <p:blipFill>
          <a:blip r:embed="rId3"/>
          <a:stretch>
            <a:fillRect/>
          </a:stretch>
        </p:blipFill>
        <p:spPr>
          <a:xfrm>
            <a:off x="7149652" y="2535759"/>
            <a:ext cx="1693894" cy="952174"/>
          </a:xfrm>
          <a:prstGeom prst="rect">
            <a:avLst/>
          </a:prstGeom>
          <a:ln>
            <a:noFill/>
          </a:ln>
          <a:effectLst>
            <a:softEdge rad="112500"/>
          </a:effectLst>
        </p:spPr>
      </p:pic>
      <p:pic>
        <p:nvPicPr>
          <p:cNvPr id="12" name="Imagen 11"/>
          <p:cNvPicPr>
            <a:picLocks noChangeAspect="1"/>
          </p:cNvPicPr>
          <p:nvPr/>
        </p:nvPicPr>
        <p:blipFill>
          <a:blip r:embed="rId4"/>
          <a:stretch>
            <a:fillRect/>
          </a:stretch>
        </p:blipFill>
        <p:spPr>
          <a:xfrm>
            <a:off x="1662386" y="3766736"/>
            <a:ext cx="1311462" cy="848220"/>
          </a:xfrm>
          <a:prstGeom prst="rect">
            <a:avLst/>
          </a:prstGeom>
        </p:spPr>
      </p:pic>
      <p:sp>
        <p:nvSpPr>
          <p:cNvPr id="13" name="Rectángulo 12"/>
          <p:cNvSpPr/>
          <p:nvPr/>
        </p:nvSpPr>
        <p:spPr>
          <a:xfrm>
            <a:off x="3158380" y="3716046"/>
            <a:ext cx="6489711" cy="1200329"/>
          </a:xfrm>
          <a:prstGeom prst="rect">
            <a:avLst/>
          </a:prstGeom>
        </p:spPr>
        <p:txBody>
          <a:bodyPr wrap="square">
            <a:spAutoFit/>
          </a:bodyPr>
          <a:lstStyle/>
          <a:p>
            <a:pPr algn="just"/>
            <a:r>
              <a:rPr lang="es-ES_tradnl">
                <a:solidFill>
                  <a:schemeClr val="accent1"/>
                </a:solidFill>
                <a:latin typeface="Century Gothic" panose="020B0502020202020204" pitchFamily="34" charset="0"/>
              </a:rPr>
              <a:t>Todo agente racional consume bienes y servicios pues proporcionan satisfacción al consumirse. ¿Quién no desea satisfacción del consumo?</a:t>
            </a:r>
          </a:p>
          <a:p>
            <a:pPr algn="just"/>
            <a:endParaRPr lang="es-ES_tradnl">
              <a:solidFill>
                <a:schemeClr val="accent1"/>
              </a:solidFill>
              <a:latin typeface="Century Gothic" panose="020B0502020202020204" pitchFamily="34" charset="0"/>
            </a:endParaRPr>
          </a:p>
        </p:txBody>
      </p:sp>
      <p:sp>
        <p:nvSpPr>
          <p:cNvPr id="14" name="Rectángulo 13"/>
          <p:cNvSpPr/>
          <p:nvPr/>
        </p:nvSpPr>
        <p:spPr>
          <a:xfrm>
            <a:off x="1255433" y="4899250"/>
            <a:ext cx="8978814" cy="369332"/>
          </a:xfrm>
          <a:prstGeom prst="rect">
            <a:avLst/>
          </a:prstGeom>
        </p:spPr>
        <p:txBody>
          <a:bodyPr wrap="square">
            <a:spAutoFit/>
          </a:bodyPr>
          <a:lstStyle/>
          <a:p>
            <a:pPr algn="just"/>
            <a:r>
              <a:rPr lang="es-ES_tradnl" dirty="0">
                <a:solidFill>
                  <a:schemeClr val="accent1"/>
                </a:solidFill>
                <a:latin typeface="Century Gothic" panose="020B0502020202020204" pitchFamily="34" charset="0"/>
              </a:rPr>
              <a:t>Las decisiones de consumo pueden ser inmediatas (t = 0) o en el futuro (t &gt; 0).</a:t>
            </a:r>
          </a:p>
        </p:txBody>
      </p:sp>
      <p:sp>
        <p:nvSpPr>
          <p:cNvPr id="15" name="Rectángulo 14"/>
          <p:cNvSpPr/>
          <p:nvPr/>
        </p:nvSpPr>
        <p:spPr>
          <a:xfrm>
            <a:off x="446043" y="5703914"/>
            <a:ext cx="6535096" cy="923330"/>
          </a:xfrm>
          <a:prstGeom prst="rect">
            <a:avLst/>
          </a:prstGeom>
        </p:spPr>
        <p:txBody>
          <a:bodyPr wrap="square">
            <a:spAutoFit/>
          </a:bodyPr>
          <a:lstStyle/>
          <a:p>
            <a:pPr algn="just"/>
            <a:r>
              <a:rPr lang="es-ES_tradnl" dirty="0">
                <a:solidFill>
                  <a:schemeClr val="accent1"/>
                </a:solidFill>
                <a:latin typeface="Century Gothic" panose="020B0502020202020204" pitchFamily="34" charset="0"/>
              </a:rPr>
              <a:t>Los bienes de consumo se “agotan” en el proceso mismo del consumo. Es decir, un bien no se consume infinitamente.</a:t>
            </a:r>
          </a:p>
        </p:txBody>
      </p:sp>
      <p:pic>
        <p:nvPicPr>
          <p:cNvPr id="17" name="Imagen 16"/>
          <p:cNvPicPr>
            <a:picLocks noChangeAspect="1"/>
          </p:cNvPicPr>
          <p:nvPr/>
        </p:nvPicPr>
        <p:blipFill rotWithShape="1">
          <a:blip r:embed="rId5">
            <a:clrChange>
              <a:clrFrom>
                <a:srgbClr val="FDFDFD"/>
              </a:clrFrom>
              <a:clrTo>
                <a:srgbClr val="FDFDFD">
                  <a:alpha val="0"/>
                </a:srgbClr>
              </a:clrTo>
            </a:clrChange>
          </a:blip>
          <a:srcRect l="25703" t="18381" r="25027" b="18381"/>
          <a:stretch/>
        </p:blipFill>
        <p:spPr>
          <a:xfrm>
            <a:off x="7149651" y="5570001"/>
            <a:ext cx="731520" cy="938910"/>
          </a:xfrm>
          <a:prstGeom prst="rect">
            <a:avLst/>
          </a:prstGeom>
        </p:spPr>
      </p:pic>
      <p:pic>
        <p:nvPicPr>
          <p:cNvPr id="18" name="Imagen 17"/>
          <p:cNvPicPr>
            <a:picLocks noChangeAspect="1"/>
          </p:cNvPicPr>
          <p:nvPr/>
        </p:nvPicPr>
        <p:blipFill rotWithShape="1">
          <a:blip r:embed="rId6">
            <a:clrChange>
              <a:clrFrom>
                <a:srgbClr val="FDFDFD"/>
              </a:clrFrom>
              <a:clrTo>
                <a:srgbClr val="FDFDFD">
                  <a:alpha val="0"/>
                </a:srgbClr>
              </a:clrTo>
            </a:clrChange>
          </a:blip>
          <a:srcRect t="21645" b="19447"/>
          <a:stretch/>
        </p:blipFill>
        <p:spPr>
          <a:xfrm>
            <a:off x="8049683" y="5693005"/>
            <a:ext cx="1183337" cy="697086"/>
          </a:xfrm>
          <a:prstGeom prst="rect">
            <a:avLst/>
          </a:prstGeom>
        </p:spPr>
      </p:pic>
      <p:sp>
        <p:nvSpPr>
          <p:cNvPr id="3" name="Rectángulo 2">
            <a:extLst>
              <a:ext uri="{FF2B5EF4-FFF2-40B4-BE49-F238E27FC236}">
                <a16:creationId xmlns:a16="http://schemas.microsoft.com/office/drawing/2014/main" id="{A2A702B4-8AB0-5DDA-4528-427FE96C833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21" name="Picture 2" descr="Clientes y aliados | Centro de Evaluación | Uniandes">
            <a:extLst>
              <a:ext uri="{FF2B5EF4-FFF2-40B4-BE49-F238E27FC236}">
                <a16:creationId xmlns:a16="http://schemas.microsoft.com/office/drawing/2014/main" id="{0CC6FE11-FC75-0976-F4E5-E4890E9653A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Así funcionan los servicios públicos en Colombia – Info Pa'lante">
            <a:extLst>
              <a:ext uri="{FF2B5EF4-FFF2-40B4-BE49-F238E27FC236}">
                <a16:creationId xmlns:a16="http://schemas.microsoft.com/office/drawing/2014/main" id="{69E81AD7-409F-CB1E-02B1-F1BE9B801439}"/>
              </a:ext>
            </a:extLst>
          </p:cNvPr>
          <p:cNvPicPr>
            <a:picLocks noChangeAspect="1" noChangeArrowheads="1"/>
          </p:cNvPicPr>
          <p:nvPr/>
        </p:nvPicPr>
        <p:blipFill>
          <a:blip r:embed="rId8">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8843546" y="2535759"/>
            <a:ext cx="1271201" cy="952174"/>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Reloj, De Dibujos Animados, Relojes De Alarma imagen png - imagen  transparente descarga gratuita">
            <a:extLst>
              <a:ext uri="{FF2B5EF4-FFF2-40B4-BE49-F238E27FC236}">
                <a16:creationId xmlns:a16="http://schemas.microsoft.com/office/drawing/2014/main" id="{E815F3BF-AC4A-1985-D709-F88B0B0107CF}"/>
              </a:ext>
            </a:extLst>
          </p:cNvPr>
          <p:cNvPicPr>
            <a:picLocks noChangeAspect="1" noChangeArrowheads="1"/>
          </p:cNvPicPr>
          <p:nvPr/>
        </p:nvPicPr>
        <p:blipFill>
          <a:blip r:embed="rId9">
            <a:clrChange>
              <a:clrFrom>
                <a:srgbClr val="FEFEFE"/>
              </a:clrFrom>
              <a:clrTo>
                <a:srgbClr val="FEFEFE">
                  <a:alpha val="0"/>
                </a:srgbClr>
              </a:clrTo>
            </a:clrChange>
            <a:extLst>
              <a:ext uri="{28A0092B-C50C-407E-A947-70E740481C1C}">
                <a14:useLocalDpi xmlns:a14="http://schemas.microsoft.com/office/drawing/2010/main" val="0"/>
              </a:ext>
            </a:extLst>
          </a:blip>
          <a:srcRect/>
          <a:stretch>
            <a:fillRect/>
          </a:stretch>
        </p:blipFill>
        <p:spPr bwMode="auto">
          <a:xfrm>
            <a:off x="10558300" y="4386664"/>
            <a:ext cx="1157589" cy="1183337"/>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C191BF17-3042-CAC4-9F11-6C303EEDD7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8328724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5" presetClass="entr" presetSubtype="10" fill="hold" nodeType="clickEffect">
                                  <p:stCondLst>
                                    <p:cond delay="0"/>
                                  </p:stCondLst>
                                  <p:childTnLst>
                                    <p:set>
                                      <p:cBhvr>
                                        <p:cTn id="10" dur="1" fill="hold">
                                          <p:stCondLst>
                                            <p:cond delay="0"/>
                                          </p:stCondLst>
                                        </p:cTn>
                                        <p:tgtEl>
                                          <p:spTgt spid="1026"/>
                                        </p:tgtEl>
                                        <p:attrNameLst>
                                          <p:attrName>style.visibility</p:attrName>
                                        </p:attrNameLst>
                                      </p:cBhvr>
                                      <p:to>
                                        <p:strVal val="visible"/>
                                      </p:to>
                                    </p:set>
                                    <p:animEffect transition="in" filter="checkerboard(across)">
                                      <p:cBhvr>
                                        <p:cTn id="11" dur="500"/>
                                        <p:tgtEl>
                                          <p:spTgt spid="1026"/>
                                        </p:tgtEl>
                                      </p:cBhvr>
                                    </p:animEffect>
                                  </p:childTnLst>
                                </p:cTn>
                              </p:par>
                              <p:par>
                                <p:cTn id="12" presetID="1" presetClass="entr" presetSubtype="0" fill="hold" nodeType="withEffect">
                                  <p:stCondLst>
                                    <p:cond delay="0"/>
                                  </p:stCondLst>
                                  <p:childTnLst>
                                    <p:set>
                                      <p:cBhvr>
                                        <p:cTn id="13" dur="1" fill="hold">
                                          <p:stCondLst>
                                            <p:cond delay="0"/>
                                          </p:stCondLst>
                                        </p:cTn>
                                        <p:tgtEl>
                                          <p:spTgt spid="4"/>
                                        </p:tgtEl>
                                        <p:attrNameLst>
                                          <p:attrName>style.visibility</p:attrName>
                                        </p:attrNameLst>
                                      </p:cBhvr>
                                      <p:to>
                                        <p:strVal val="visible"/>
                                      </p:to>
                                    </p:set>
                                  </p:childTnLst>
                                </p:cTn>
                              </p:par>
                            </p:childTnLst>
                          </p:cTn>
                        </p:par>
                      </p:childTnLst>
                    </p:cTn>
                  </p:par>
                  <p:par>
                    <p:cTn id="14" fill="hold">
                      <p:stCondLst>
                        <p:cond delay="indefinite"/>
                      </p:stCondLst>
                      <p:childTnLst>
                        <p:par>
                          <p:cTn id="15" fill="hold">
                            <p:stCondLst>
                              <p:cond delay="0"/>
                            </p:stCondLst>
                            <p:childTnLst>
                              <p:par>
                                <p:cTn id="16" presetID="1" presetClass="entr" presetSubtype="0" fill="hold" nodeType="clickEffect">
                                  <p:stCondLst>
                                    <p:cond delay="0"/>
                                  </p:stCondLst>
                                  <p:childTnLst>
                                    <p:set>
                                      <p:cBhvr>
                                        <p:cTn id="17" dur="1" fill="hold">
                                          <p:stCondLst>
                                            <p:cond delay="0"/>
                                          </p:stCondLst>
                                        </p:cTn>
                                        <p:tgtEl>
                                          <p:spTgt spid="12"/>
                                        </p:tgtEl>
                                        <p:attrNameLst>
                                          <p:attrName>style.visibility</p:attrName>
                                        </p:attrNameLst>
                                      </p:cBhvr>
                                      <p:to>
                                        <p:strVal val="visible"/>
                                      </p:to>
                                    </p:set>
                                  </p:childTnLst>
                                </p:cTn>
                              </p:par>
                              <p:par>
                                <p:cTn id="18" presetID="1" presetClass="entr" presetSubtype="0" fill="hold" grpId="0" nodeType="withEffect">
                                  <p:stCondLst>
                                    <p:cond delay="0"/>
                                  </p:stCondLst>
                                  <p:childTnLst>
                                    <p:set>
                                      <p:cBhvr>
                                        <p:cTn id="19" dur="1" fill="hold">
                                          <p:stCondLst>
                                            <p:cond delay="0"/>
                                          </p:stCondLst>
                                        </p:cTn>
                                        <p:tgtEl>
                                          <p:spTgt spid="13"/>
                                        </p:tgtEl>
                                        <p:attrNameLst>
                                          <p:attrName>style.visibility</p:attrName>
                                        </p:attrNameLst>
                                      </p:cBhvr>
                                      <p:to>
                                        <p:strVal val="visible"/>
                                      </p:to>
                                    </p:set>
                                  </p:childTnLst>
                                </p:cTn>
                              </p:par>
                            </p:childTnLst>
                          </p:cTn>
                        </p:par>
                      </p:childTnLst>
                    </p:cTn>
                  </p:par>
                  <p:par>
                    <p:cTn id="20" fill="hold">
                      <p:stCondLst>
                        <p:cond delay="indefinite"/>
                      </p:stCondLst>
                      <p:childTnLst>
                        <p:par>
                          <p:cTn id="21" fill="hold">
                            <p:stCondLst>
                              <p:cond delay="0"/>
                            </p:stCondLst>
                            <p:childTnLst>
                              <p:par>
                                <p:cTn id="22" presetID="1" presetClass="entr" presetSubtype="0" fill="hold" grpId="0" nodeType="clickEffect">
                                  <p:stCondLst>
                                    <p:cond delay="0"/>
                                  </p:stCondLst>
                                  <p:childTnLst>
                                    <p:set>
                                      <p:cBhvr>
                                        <p:cTn id="23" dur="1" fill="hold">
                                          <p:stCondLst>
                                            <p:cond delay="0"/>
                                          </p:stCondLst>
                                        </p:cTn>
                                        <p:tgtEl>
                                          <p:spTgt spid="14"/>
                                        </p:tgtEl>
                                        <p:attrNameLst>
                                          <p:attrName>style.visibility</p:attrName>
                                        </p:attrNameLst>
                                      </p:cBhvr>
                                      <p:to>
                                        <p:strVal val="visible"/>
                                      </p:to>
                                    </p:set>
                                  </p:childTnLst>
                                </p:cTn>
                              </p:par>
                              <p:par>
                                <p:cTn id="24" presetID="5" presetClass="entr" presetSubtype="10" fill="hold" nodeType="withEffect">
                                  <p:stCondLst>
                                    <p:cond delay="0"/>
                                  </p:stCondLst>
                                  <p:childTnLst>
                                    <p:set>
                                      <p:cBhvr>
                                        <p:cTn id="25" dur="1" fill="hold">
                                          <p:stCondLst>
                                            <p:cond delay="0"/>
                                          </p:stCondLst>
                                        </p:cTn>
                                        <p:tgtEl>
                                          <p:spTgt spid="1028"/>
                                        </p:tgtEl>
                                        <p:attrNameLst>
                                          <p:attrName>style.visibility</p:attrName>
                                        </p:attrNameLst>
                                      </p:cBhvr>
                                      <p:to>
                                        <p:strVal val="visible"/>
                                      </p:to>
                                    </p:set>
                                    <p:animEffect transition="in" filter="checkerboard(across)">
                                      <p:cBhvr>
                                        <p:cTn id="26" dur="500"/>
                                        <p:tgtEl>
                                          <p:spTgt spid="1028"/>
                                        </p:tgtEl>
                                      </p:cBhvr>
                                    </p:animEffec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5"/>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17"/>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 grpId="0" build="p"/>
      <p:bldP spid="13" grpId="0"/>
      <p:bldP spid="14" grpId="0"/>
      <p:bldP spid="1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10</a:t>
            </a:fld>
            <a:endParaRPr lang="en-US" sz="2000" b="1">
              <a:latin typeface="Century Gothic" panose="020B0502020202020204" pitchFamily="34" charset="0"/>
            </a:endParaRPr>
          </a:p>
        </p:txBody>
      </p:sp>
      <p:pic>
        <p:nvPicPr>
          <p:cNvPr id="2" name="Picture 1"/>
          <p:cNvPicPr>
            <a:picLocks noChangeAspect="1"/>
          </p:cNvPicPr>
          <p:nvPr/>
        </p:nvPicPr>
        <p:blipFill>
          <a:blip r:embed="rId3">
            <a:clrChange>
              <a:clrFrom>
                <a:srgbClr val="FFFFFF"/>
              </a:clrFrom>
              <a:clrTo>
                <a:srgbClr val="FFFFFF">
                  <a:alpha val="0"/>
                </a:srgbClr>
              </a:clrTo>
            </a:clrChange>
          </a:blip>
          <a:stretch>
            <a:fillRect/>
          </a:stretch>
        </p:blipFill>
        <p:spPr>
          <a:xfrm>
            <a:off x="1415434" y="3429000"/>
            <a:ext cx="4473225" cy="2638584"/>
          </a:xfrm>
          <a:prstGeom prst="rect">
            <a:avLst/>
          </a:prstGeom>
        </p:spPr>
      </p:pic>
      <p:pic>
        <p:nvPicPr>
          <p:cNvPr id="3" name="Picture 2"/>
          <p:cNvPicPr>
            <a:picLocks noChangeAspect="1"/>
          </p:cNvPicPr>
          <p:nvPr/>
        </p:nvPicPr>
        <p:blipFill rotWithShape="1">
          <a:blip r:embed="rId4">
            <a:clrChange>
              <a:clrFrom>
                <a:srgbClr val="FFFFFF"/>
              </a:clrFrom>
              <a:clrTo>
                <a:srgbClr val="FFFFFF">
                  <a:alpha val="0"/>
                </a:srgbClr>
              </a:clrTo>
            </a:clrChange>
          </a:blip>
          <a:srcRect l="13866" t="13416" r="15415" b="18649"/>
          <a:stretch/>
        </p:blipFill>
        <p:spPr>
          <a:xfrm>
            <a:off x="7108014" y="3621768"/>
            <a:ext cx="3158443" cy="2167220"/>
          </a:xfrm>
          <a:prstGeom prst="rect">
            <a:avLst/>
          </a:prstGeom>
        </p:spPr>
      </p:pic>
      <p:sp>
        <p:nvSpPr>
          <p:cNvPr id="12" name="Rectángulo 11"/>
          <p:cNvSpPr/>
          <p:nvPr/>
        </p:nvSpPr>
        <p:spPr>
          <a:xfrm>
            <a:off x="446043" y="2149633"/>
            <a:ext cx="1973617"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Consumidor</a:t>
            </a:r>
          </a:p>
        </p:txBody>
      </p:sp>
      <p:sp>
        <p:nvSpPr>
          <p:cNvPr id="6" name="Rectángulo 5"/>
          <p:cNvSpPr/>
          <p:nvPr/>
        </p:nvSpPr>
        <p:spPr>
          <a:xfrm>
            <a:off x="2215265" y="2829531"/>
            <a:ext cx="8141972" cy="430887"/>
          </a:xfrm>
          <a:prstGeom prst="rect">
            <a:avLst/>
          </a:prstGeom>
        </p:spPr>
        <p:txBody>
          <a:bodyPr wrap="none">
            <a:spAutoFit/>
          </a:bodyPr>
          <a:lstStyle/>
          <a:p>
            <a:r>
              <a:rPr lang="es-ES_tradnl" sz="2200" b="1" dirty="0">
                <a:solidFill>
                  <a:srgbClr val="C00000"/>
                </a:solidFill>
                <a:latin typeface="Century Gothic" panose="020B0502020202020204" pitchFamily="34" charset="0"/>
              </a:rPr>
              <a:t>Si usted contara con presupuesto ilimitado, ¿qué prefiere?</a:t>
            </a:r>
            <a:endParaRPr lang="es-CO" sz="2200" b="1" dirty="0">
              <a:solidFill>
                <a:srgbClr val="C00000"/>
              </a:solidFill>
              <a:latin typeface="Century Gothic" panose="020B0502020202020204" pitchFamily="34" charset="0"/>
            </a:endParaRPr>
          </a:p>
        </p:txBody>
      </p:sp>
      <p:sp>
        <p:nvSpPr>
          <p:cNvPr id="4" name="Rectángulo 3">
            <a:extLst>
              <a:ext uri="{FF2B5EF4-FFF2-40B4-BE49-F238E27FC236}">
                <a16:creationId xmlns:a16="http://schemas.microsoft.com/office/drawing/2014/main" id="{D7B2E06E-8ED4-540F-A65C-9B7B344ACFB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7786CA3C-9CFF-D1A7-229B-D7A78C3093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092BDBE-8225-27DE-6502-C43495D1BD8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Rectángulo 5">
            <a:extLst>
              <a:ext uri="{FF2B5EF4-FFF2-40B4-BE49-F238E27FC236}">
                <a16:creationId xmlns:a16="http://schemas.microsoft.com/office/drawing/2014/main" id="{8598B126-EF26-69E7-A1AB-2EA43EEFACE7}"/>
              </a:ext>
            </a:extLst>
          </p:cNvPr>
          <p:cNvSpPr/>
          <p:nvPr/>
        </p:nvSpPr>
        <p:spPr>
          <a:xfrm>
            <a:off x="5200056" y="5998047"/>
            <a:ext cx="1547218" cy="430887"/>
          </a:xfrm>
          <a:prstGeom prst="rect">
            <a:avLst/>
          </a:prstGeom>
        </p:spPr>
        <p:txBody>
          <a:bodyPr wrap="none">
            <a:spAutoFit/>
          </a:bodyPr>
          <a:lstStyle/>
          <a:p>
            <a:r>
              <a:rPr lang="es-ES_tradnl" sz="2200" b="1" dirty="0">
                <a:solidFill>
                  <a:srgbClr val="D7A700"/>
                </a:solidFill>
                <a:latin typeface="Century Gothic" panose="020B0502020202020204" pitchFamily="34" charset="0"/>
              </a:rPr>
              <a:t>¿Por qué?</a:t>
            </a:r>
            <a:endParaRPr lang="es-CO" sz="2200" b="1" dirty="0">
              <a:solidFill>
                <a:srgbClr val="D7A700"/>
              </a:solidFill>
              <a:latin typeface="Century Gothic" panose="020B0502020202020204" pitchFamily="34" charset="0"/>
            </a:endParaRPr>
          </a:p>
        </p:txBody>
      </p:sp>
    </p:spTree>
    <p:extLst>
      <p:ext uri="{BB962C8B-B14F-4D97-AF65-F5344CB8AC3E}">
        <p14:creationId xmlns:p14="http://schemas.microsoft.com/office/powerpoint/2010/main" val="9159729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heckerboard(across)">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5"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checkerboard(across)">
                                      <p:cBhvr>
                                        <p:cTn id="12" dur="500"/>
                                        <p:tgtEl>
                                          <p:spTgt spid="3"/>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9" name="Content Placeholder 6"/>
          <p:cNvSpPr>
            <a:spLocks noGrp="1"/>
          </p:cNvSpPr>
          <p:nvPr>
            <p:ph idx="1"/>
          </p:nvPr>
        </p:nvSpPr>
        <p:spPr>
          <a:xfrm>
            <a:off x="1688489" y="2483763"/>
            <a:ext cx="8815022" cy="924188"/>
          </a:xfrm>
        </p:spPr>
        <p:txBody>
          <a:bodyPr>
            <a:normAutofit/>
          </a:bodyPr>
          <a:lstStyle/>
          <a:p>
            <a:pPr marL="0" indent="0" algn="just">
              <a:buNone/>
            </a:pPr>
            <a:endParaRPr lang="es-ES_tradnl" dirty="0">
              <a:latin typeface="Century Gothic" panose="020B0502020202020204" pitchFamily="34" charset="0"/>
            </a:endParaRPr>
          </a:p>
          <a:p>
            <a:pPr marL="0" indent="0" algn="just">
              <a:buNone/>
            </a:pPr>
            <a:r>
              <a:rPr lang="es-ES_tradnl" dirty="0">
                <a:latin typeface="Century Gothic" panose="020B0502020202020204" pitchFamily="34" charset="0"/>
              </a:rPr>
              <a:t>Entonces,</a:t>
            </a:r>
            <a:r>
              <a:rPr lang="es-ES_tradnl" dirty="0">
                <a:solidFill>
                  <a:srgbClr val="FF8AD8"/>
                </a:solidFill>
                <a:latin typeface="Century Gothic" panose="020B0502020202020204" pitchFamily="34" charset="0"/>
              </a:rPr>
              <a:t> </a:t>
            </a:r>
            <a:r>
              <a:rPr lang="es-ES_tradnl" b="1" dirty="0">
                <a:solidFill>
                  <a:srgbClr val="C00000"/>
                </a:solidFill>
                <a:latin typeface="Century Gothic" panose="020B0502020202020204" pitchFamily="34" charset="0"/>
              </a:rPr>
              <a:t>¿qué define la capacidad de consumo de los agentes?</a:t>
            </a:r>
          </a:p>
          <a:p>
            <a:pPr algn="just">
              <a:buFont typeface="Wingdings" charset="2"/>
              <a:buChar char="§"/>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11</a:t>
            </a:fld>
            <a:endParaRPr lang="en-US" sz="2000" b="1">
              <a:latin typeface="Century Gothic" panose="020B0502020202020204" pitchFamily="34" charset="0"/>
            </a:endParaRPr>
          </a:p>
        </p:txBody>
      </p:sp>
      <p:sp>
        <p:nvSpPr>
          <p:cNvPr id="12" name="Rectángulo 11"/>
          <p:cNvSpPr/>
          <p:nvPr/>
        </p:nvSpPr>
        <p:spPr>
          <a:xfrm>
            <a:off x="446043" y="2149633"/>
            <a:ext cx="1973617"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Consumidor</a:t>
            </a:r>
          </a:p>
        </p:txBody>
      </p:sp>
      <p:pic>
        <p:nvPicPr>
          <p:cNvPr id="13314" name="Picture 2" descr="Resultado de imagen para precios"/>
          <p:cNvPicPr>
            <a:picLocks noChangeAspect="1" noChangeArrowheads="1"/>
          </p:cNvPicPr>
          <p:nvPr/>
        </p:nvPicPr>
        <p:blipFill>
          <a:blip r:embed="rId3">
            <a:clrChange>
              <a:clrFrom>
                <a:srgbClr val="FFFFFF"/>
              </a:clrFrom>
              <a:clrTo>
                <a:srgbClr val="FFFFFF">
                  <a:alpha val="0"/>
                </a:srgbClr>
              </a:clrTo>
            </a:clrChange>
            <a:extLst>
              <a:ext uri="{28A0092B-C50C-407E-A947-70E740481C1C}">
                <a14:useLocalDpi xmlns:a14="http://schemas.microsoft.com/office/drawing/2010/main" val="0"/>
              </a:ext>
            </a:extLst>
          </a:blip>
          <a:srcRect/>
          <a:stretch>
            <a:fillRect/>
          </a:stretch>
        </p:blipFill>
        <p:spPr bwMode="auto">
          <a:xfrm>
            <a:off x="3335153" y="3642773"/>
            <a:ext cx="1699351" cy="1132900"/>
          </a:xfrm>
          <a:prstGeom prst="rect">
            <a:avLst/>
          </a:prstGeom>
          <a:noFill/>
          <a:extLst>
            <a:ext uri="{909E8E84-426E-40DD-AFC4-6F175D3DCCD1}">
              <a14:hiddenFill xmlns:a14="http://schemas.microsoft.com/office/drawing/2010/main">
                <a:solidFill>
                  <a:srgbClr val="FFFFFF"/>
                </a:solidFill>
              </a14:hiddenFill>
            </a:ext>
          </a:extLst>
        </p:spPr>
      </p:pic>
      <p:pic>
        <p:nvPicPr>
          <p:cNvPr id="13316" name="Picture 4" descr="Resultado de imagen para salario"/>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977398" y="3337891"/>
            <a:ext cx="2470060" cy="1587895"/>
          </a:xfrm>
          <a:prstGeom prst="rect">
            <a:avLst/>
          </a:prstGeom>
          <a:ln>
            <a:noFill/>
          </a:ln>
          <a:effectLst>
            <a:softEdge rad="112500"/>
          </a:effectLst>
          <a:extLst>
            <a:ext uri="{909E8E84-426E-40DD-AFC4-6F175D3DCCD1}">
              <a14:hiddenFill xmlns:a14="http://schemas.microsoft.com/office/drawing/2010/main">
                <a:solidFill>
                  <a:srgbClr val="FFFFFF"/>
                </a:solidFill>
              </a14:hiddenFill>
            </a:ext>
          </a:extLst>
        </p:spPr>
      </p:pic>
      <p:sp>
        <p:nvSpPr>
          <p:cNvPr id="4" name="Rectángulo 3"/>
          <p:cNvSpPr/>
          <p:nvPr/>
        </p:nvSpPr>
        <p:spPr>
          <a:xfrm>
            <a:off x="3120535" y="5417528"/>
            <a:ext cx="5950930" cy="1077218"/>
          </a:xfrm>
          <a:prstGeom prst="rect">
            <a:avLst/>
          </a:prstGeom>
          <a:noFill/>
          <a:ln w="28575">
            <a:solidFill>
              <a:srgbClr val="D7A700"/>
            </a:solidFill>
          </a:ln>
        </p:spPr>
        <p:txBody>
          <a:bodyPr wrap="square">
            <a:spAutoFit/>
          </a:bodyPr>
          <a:lstStyle/>
          <a:p>
            <a:pPr algn="ctr"/>
            <a:r>
              <a:rPr lang="es-ES_tradnl" sz="1600">
                <a:solidFill>
                  <a:schemeClr val="accent2">
                    <a:lumMod val="50000"/>
                  </a:schemeClr>
                </a:solidFill>
                <a:latin typeface="Century Gothic" panose="020B0502020202020204" pitchFamily="34" charset="0"/>
              </a:rPr>
              <a:t>En términos económicos, la riqueza de un consumidor determina, junto con su ingreso y posibilidades de endeudamiento, su capacidad de consumo presente y futuro.</a:t>
            </a:r>
          </a:p>
        </p:txBody>
      </p:sp>
      <p:sp>
        <p:nvSpPr>
          <p:cNvPr id="6" name="Rectángulo 5"/>
          <p:cNvSpPr/>
          <p:nvPr/>
        </p:nvSpPr>
        <p:spPr>
          <a:xfrm>
            <a:off x="850714" y="3606750"/>
            <a:ext cx="575799" cy="938719"/>
          </a:xfrm>
          <a:prstGeom prst="rect">
            <a:avLst/>
          </a:prstGeom>
        </p:spPr>
        <p:txBody>
          <a:bodyPr wrap="none">
            <a:spAutoFit/>
          </a:bodyPr>
          <a:lstStyle/>
          <a:p>
            <a:r>
              <a:rPr lang="es-ES_tradnl" sz="5500">
                <a:solidFill>
                  <a:srgbClr val="48BE7A"/>
                </a:solidFill>
                <a:latin typeface="Century Gothic" panose="020B0502020202020204" pitchFamily="34" charset="0"/>
              </a:rPr>
              <a:t>1</a:t>
            </a:r>
            <a:endParaRPr lang="es-CO" sz="5500">
              <a:solidFill>
                <a:srgbClr val="48BE7A"/>
              </a:solidFill>
              <a:latin typeface="Century Gothic" panose="020B0502020202020204" pitchFamily="34" charset="0"/>
            </a:endParaRPr>
          </a:p>
        </p:txBody>
      </p:sp>
      <p:sp>
        <p:nvSpPr>
          <p:cNvPr id="16" name="Rectángulo 15"/>
          <p:cNvSpPr/>
          <p:nvPr/>
        </p:nvSpPr>
        <p:spPr>
          <a:xfrm>
            <a:off x="6342815" y="3669211"/>
            <a:ext cx="575799" cy="938719"/>
          </a:xfrm>
          <a:prstGeom prst="rect">
            <a:avLst/>
          </a:prstGeom>
        </p:spPr>
        <p:txBody>
          <a:bodyPr wrap="none">
            <a:spAutoFit/>
          </a:bodyPr>
          <a:lstStyle/>
          <a:p>
            <a:r>
              <a:rPr lang="es-ES_tradnl" sz="5500">
                <a:solidFill>
                  <a:srgbClr val="48BE7A"/>
                </a:solidFill>
                <a:latin typeface="Century Gothic" panose="020B0502020202020204" pitchFamily="34" charset="0"/>
              </a:rPr>
              <a:t>2</a:t>
            </a:r>
            <a:endParaRPr lang="es-CO" sz="5500">
              <a:solidFill>
                <a:srgbClr val="48BE7A"/>
              </a:solidFill>
              <a:latin typeface="Century Gothic" panose="020B0502020202020204" pitchFamily="34" charset="0"/>
            </a:endParaRPr>
          </a:p>
        </p:txBody>
      </p:sp>
      <p:sp>
        <p:nvSpPr>
          <p:cNvPr id="13" name="Rectángulo 12"/>
          <p:cNvSpPr/>
          <p:nvPr/>
        </p:nvSpPr>
        <p:spPr>
          <a:xfrm>
            <a:off x="6949331" y="3774141"/>
            <a:ext cx="1951939" cy="584775"/>
          </a:xfrm>
          <a:prstGeom prst="rect">
            <a:avLst/>
          </a:prstGeom>
        </p:spPr>
        <p:txBody>
          <a:bodyPr wrap="square">
            <a:spAutoFit/>
          </a:bodyPr>
          <a:lstStyle/>
          <a:p>
            <a:pPr algn="ctr"/>
            <a:r>
              <a:rPr lang="es-ES_tradnl" sz="1600">
                <a:solidFill>
                  <a:schemeClr val="accent1"/>
                </a:solidFill>
                <a:latin typeface="Century Gothic" panose="020B0502020202020204" pitchFamily="34" charset="0"/>
              </a:rPr>
              <a:t>Nivel de ingresos de un individuo</a:t>
            </a:r>
            <a:endParaRPr lang="es-CO" sz="1600">
              <a:solidFill>
                <a:schemeClr val="accent1"/>
              </a:solidFill>
              <a:latin typeface="Century Gothic" panose="020B0502020202020204" pitchFamily="34" charset="0"/>
            </a:endParaRPr>
          </a:p>
        </p:txBody>
      </p:sp>
      <p:sp>
        <p:nvSpPr>
          <p:cNvPr id="18" name="Rectángulo 17"/>
          <p:cNvSpPr/>
          <p:nvPr/>
        </p:nvSpPr>
        <p:spPr>
          <a:xfrm>
            <a:off x="1254534" y="3770452"/>
            <a:ext cx="1951939" cy="584775"/>
          </a:xfrm>
          <a:prstGeom prst="rect">
            <a:avLst/>
          </a:prstGeom>
        </p:spPr>
        <p:txBody>
          <a:bodyPr wrap="square">
            <a:spAutoFit/>
          </a:bodyPr>
          <a:lstStyle/>
          <a:p>
            <a:pPr algn="ctr"/>
            <a:r>
              <a:rPr lang="es-ES_tradnl" sz="1600">
                <a:solidFill>
                  <a:schemeClr val="accent1"/>
                </a:solidFill>
                <a:latin typeface="Century Gothic" panose="020B0502020202020204" pitchFamily="34" charset="0"/>
              </a:rPr>
              <a:t>Nivel y cambio de los precios</a:t>
            </a:r>
            <a:endParaRPr lang="es-CO" sz="1600">
              <a:solidFill>
                <a:schemeClr val="accent1"/>
              </a:solidFill>
              <a:latin typeface="Century Gothic" panose="020B0502020202020204" pitchFamily="34" charset="0"/>
            </a:endParaRPr>
          </a:p>
        </p:txBody>
      </p:sp>
      <p:sp>
        <p:nvSpPr>
          <p:cNvPr id="2" name="Rectángulo 1">
            <a:extLst>
              <a:ext uri="{FF2B5EF4-FFF2-40B4-BE49-F238E27FC236}">
                <a16:creationId xmlns:a16="http://schemas.microsoft.com/office/drawing/2014/main" id="{500FB116-FA6E-4158-16C7-4B16FF3DCD5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4" name="Picture 2" descr="Clientes y aliados | Centro de Evaluación | Uniandes">
            <a:extLst>
              <a:ext uri="{FF2B5EF4-FFF2-40B4-BE49-F238E27FC236}">
                <a16:creationId xmlns:a16="http://schemas.microsoft.com/office/drawing/2014/main" id="{D39857B5-FE8A-F7CB-5C3E-E60B54AFE68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F4D68064-7763-53B6-D3C9-F1D9DAD0A88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39830933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3314"/>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3"/>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13316"/>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p:bldP spid="16" grpId="0"/>
      <p:bldP spid="13" grpId="0"/>
      <p:bldP spid="18"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12</a:t>
            </a:fld>
            <a:endParaRPr lang="en-US" sz="2000" b="1">
              <a:latin typeface="Century Gothic" panose="020B0502020202020204" pitchFamily="34" charset="0"/>
            </a:endParaRPr>
          </a:p>
        </p:txBody>
      </p:sp>
      <p:pic>
        <p:nvPicPr>
          <p:cNvPr id="3" name="Picture 2"/>
          <p:cNvPicPr>
            <a:picLocks noChangeAspect="1"/>
          </p:cNvPicPr>
          <p:nvPr/>
        </p:nvPicPr>
        <p:blipFill rotWithShape="1">
          <a:blip r:embed="rId3">
            <a:clrChange>
              <a:clrFrom>
                <a:srgbClr val="FFFFFF"/>
              </a:clrFrom>
              <a:clrTo>
                <a:srgbClr val="FFFFFF">
                  <a:alpha val="0"/>
                </a:srgbClr>
              </a:clrTo>
            </a:clrChange>
          </a:blip>
          <a:srcRect l="13866" t="13416" r="15415" b="18649"/>
          <a:stretch/>
        </p:blipFill>
        <p:spPr>
          <a:xfrm>
            <a:off x="4516776" y="3566350"/>
            <a:ext cx="3158443" cy="2167220"/>
          </a:xfrm>
          <a:prstGeom prst="rect">
            <a:avLst/>
          </a:prstGeom>
        </p:spPr>
      </p:pic>
      <p:sp>
        <p:nvSpPr>
          <p:cNvPr id="12" name="Rectángulo 11"/>
          <p:cNvSpPr/>
          <p:nvPr/>
        </p:nvSpPr>
        <p:spPr>
          <a:xfrm>
            <a:off x="446043" y="2149633"/>
            <a:ext cx="1973617"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Consumidor</a:t>
            </a:r>
          </a:p>
        </p:txBody>
      </p:sp>
      <p:sp>
        <p:nvSpPr>
          <p:cNvPr id="6" name="Rectángulo 5"/>
          <p:cNvSpPr/>
          <p:nvPr/>
        </p:nvSpPr>
        <p:spPr>
          <a:xfrm>
            <a:off x="4650731" y="2860764"/>
            <a:ext cx="3004349" cy="430887"/>
          </a:xfrm>
          <a:prstGeom prst="rect">
            <a:avLst/>
          </a:prstGeom>
        </p:spPr>
        <p:txBody>
          <a:bodyPr wrap="none">
            <a:spAutoFit/>
          </a:bodyPr>
          <a:lstStyle/>
          <a:p>
            <a:r>
              <a:rPr lang="es-ES_tradnl" sz="2200" b="1">
                <a:solidFill>
                  <a:schemeClr val="accent1"/>
                </a:solidFill>
                <a:latin typeface="Century Gothic" panose="020B0502020202020204" pitchFamily="34" charset="0"/>
              </a:rPr>
              <a:t>Decisión de Compra</a:t>
            </a:r>
            <a:endParaRPr lang="es-CO" sz="2200" b="1">
              <a:solidFill>
                <a:schemeClr val="accent1"/>
              </a:solidFill>
              <a:latin typeface="Century Gothic" panose="020B0502020202020204" pitchFamily="34" charset="0"/>
            </a:endParaRPr>
          </a:p>
        </p:txBody>
      </p:sp>
      <p:sp>
        <p:nvSpPr>
          <p:cNvPr id="2" name="Rectángulo 1">
            <a:extLst>
              <a:ext uri="{FF2B5EF4-FFF2-40B4-BE49-F238E27FC236}">
                <a16:creationId xmlns:a16="http://schemas.microsoft.com/office/drawing/2014/main" id="{AB07953B-7C04-F370-9977-C68A2C41559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3" name="Picture 2" descr="Clientes y aliados | Centro de Evaluación | Uniandes">
            <a:extLst>
              <a:ext uri="{FF2B5EF4-FFF2-40B4-BE49-F238E27FC236}">
                <a16:creationId xmlns:a16="http://schemas.microsoft.com/office/drawing/2014/main" id="{8D7BBD28-6617-B30D-FCD8-5E54779CDD3B}"/>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66DE3182-F0A5-363F-C6F7-0A4A5FCE3D1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7873482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9" name="Content Placeholder 6"/>
          <p:cNvSpPr>
            <a:spLocks noGrp="1"/>
          </p:cNvSpPr>
          <p:nvPr>
            <p:ph idx="1"/>
          </p:nvPr>
        </p:nvSpPr>
        <p:spPr>
          <a:xfrm>
            <a:off x="3533020" y="3519904"/>
            <a:ext cx="7610476" cy="2586550"/>
          </a:xfrm>
        </p:spPr>
        <p:txBody>
          <a:bodyPr>
            <a:noAutofit/>
          </a:bodyPr>
          <a:lstStyle/>
          <a:p>
            <a:pPr marL="0" indent="0" algn="ctr">
              <a:buNone/>
            </a:pPr>
            <a:r>
              <a:rPr lang="es-ES_tradnl" dirty="0">
                <a:solidFill>
                  <a:schemeClr val="accent1"/>
                </a:solidFill>
                <a:latin typeface="Century Gothic" panose="020B0502020202020204" pitchFamily="34" charset="0"/>
              </a:rPr>
              <a:t>¿Qué se prefiere? ¿Consumir hoy? ¿Consumir mañana?</a:t>
            </a:r>
          </a:p>
          <a:p>
            <a:pPr algn="just">
              <a:buFont typeface="Wingdings" charset="2"/>
              <a:buChar char="§"/>
            </a:pPr>
            <a:endParaRPr lang="es-ES_tradnl" dirty="0">
              <a:latin typeface="Century Gothic" panose="020B0502020202020204" pitchFamily="34" charset="0"/>
            </a:endParaRPr>
          </a:p>
          <a:p>
            <a:pPr marL="0" indent="0" algn="ctr">
              <a:buNone/>
            </a:pPr>
            <a:r>
              <a:rPr lang="es-ES_tradnl" b="1" dirty="0">
                <a:solidFill>
                  <a:srgbClr val="D7A700"/>
                </a:solidFill>
                <a:latin typeface="Century Gothic" panose="020B0502020202020204" pitchFamily="34" charset="0"/>
              </a:rPr>
              <a:t>Un consumidor esperará poder consumir mañana al menos lo mismo que consume hoy.</a:t>
            </a:r>
          </a:p>
          <a:p>
            <a:pPr marL="0" indent="0" algn="ctr">
              <a:buNone/>
            </a:pPr>
            <a:endParaRPr lang="es-ES_tradnl" dirty="0">
              <a:solidFill>
                <a:srgbClr val="FF0000"/>
              </a:solidFill>
              <a:latin typeface="Century Gothic" panose="020B0502020202020204" pitchFamily="34" charset="0"/>
            </a:endParaRPr>
          </a:p>
          <a:p>
            <a:pPr marL="0" indent="0" algn="ctr">
              <a:buNone/>
            </a:pPr>
            <a:r>
              <a:rPr lang="es-ES_tradnl" dirty="0">
                <a:solidFill>
                  <a:schemeClr val="accent1"/>
                </a:solidFill>
                <a:latin typeface="Century Gothic" panose="020B0502020202020204" pitchFamily="34" charset="0"/>
              </a:rPr>
              <a:t>¿Cuál es el costo de oportunidad del consumidor?</a:t>
            </a:r>
          </a:p>
          <a:p>
            <a:pPr marL="0" indent="0" algn="ctr">
              <a:buNone/>
            </a:pPr>
            <a:r>
              <a:rPr lang="es-ES_tradnl" b="1" dirty="0">
                <a:solidFill>
                  <a:srgbClr val="C00000"/>
                </a:solidFill>
                <a:latin typeface="Century Gothic" panose="020B0502020202020204" pitchFamily="34" charset="0"/>
              </a:rPr>
              <a:t>¡La inflación!</a:t>
            </a:r>
          </a:p>
          <a:p>
            <a:pPr algn="just">
              <a:buFont typeface="Wingdings" charset="2"/>
              <a:buChar char="§"/>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13</a:t>
            </a:fld>
            <a:endParaRPr lang="en-US" sz="2000" b="1">
              <a:latin typeface="Century Gothic" panose="020B0502020202020204" pitchFamily="34" charset="0"/>
            </a:endParaRPr>
          </a:p>
        </p:txBody>
      </p:sp>
      <p:sp>
        <p:nvSpPr>
          <p:cNvPr id="10" name="Rectángulo 9"/>
          <p:cNvSpPr/>
          <p:nvPr/>
        </p:nvSpPr>
        <p:spPr>
          <a:xfrm>
            <a:off x="446043" y="2149633"/>
            <a:ext cx="1973617"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Consumidor</a:t>
            </a:r>
          </a:p>
        </p:txBody>
      </p:sp>
      <p:sp>
        <p:nvSpPr>
          <p:cNvPr id="2" name="Rectángulo 1"/>
          <p:cNvSpPr/>
          <p:nvPr/>
        </p:nvSpPr>
        <p:spPr>
          <a:xfrm>
            <a:off x="2728452" y="2092824"/>
            <a:ext cx="9008921" cy="646331"/>
          </a:xfrm>
          <a:prstGeom prst="rect">
            <a:avLst/>
          </a:prstGeom>
        </p:spPr>
        <p:txBody>
          <a:bodyPr wrap="square">
            <a:spAutoFit/>
          </a:bodyPr>
          <a:lstStyle/>
          <a:p>
            <a:pPr algn="ctr"/>
            <a:r>
              <a:rPr lang="es-ES_tradnl" dirty="0">
                <a:solidFill>
                  <a:schemeClr val="accent1"/>
                </a:solidFill>
                <a:latin typeface="Century Gothic" panose="020B0502020202020204" pitchFamily="34" charset="0"/>
              </a:rPr>
              <a:t>Usted en lugar de comprarse el carro, decide prestar  COP $100 millones hoy. </a:t>
            </a:r>
          </a:p>
          <a:p>
            <a:pPr algn="ctr"/>
            <a:r>
              <a:rPr lang="es-ES_tradnl" dirty="0">
                <a:solidFill>
                  <a:schemeClr val="accent1"/>
                </a:solidFill>
                <a:latin typeface="Century Gothic" panose="020B0502020202020204" pitchFamily="34" charset="0"/>
              </a:rPr>
              <a:t>¿Cuánto espera recibir en un año?</a:t>
            </a: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DFC1D1FE-A276-FE4E-5C72-D9D4C00B66F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5E24DA08-9B83-BDDC-2254-97EAAC6524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026" name="Picture 2" descr="El consumidor en el ordenamiento jurídico español. - Cirineo Abogados">
            <a:extLst>
              <a:ext uri="{FF2B5EF4-FFF2-40B4-BE49-F238E27FC236}">
                <a16:creationId xmlns:a16="http://schemas.microsoft.com/office/drawing/2014/main" id="{BCF93BCB-D992-FCCF-63D4-19109A72B902}"/>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22378" r="4162"/>
          <a:stretch/>
        </p:blipFill>
        <p:spPr bwMode="auto">
          <a:xfrm>
            <a:off x="1045026" y="3356016"/>
            <a:ext cx="2428152" cy="1983259"/>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375D2EA-E088-4683-5AA6-DEAC160A7C1A}"/>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6075558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animEffect transition="in" filter="fade">
                                      <p:cBhvr>
                                        <p:cTn id="7" dur="500"/>
                                        <p:tgtEl>
                                          <p:spTgt spid="19">
                                            <p:txEl>
                                              <p:pRg st="0" end="0"/>
                                            </p:txEl>
                                          </p:spTgt>
                                        </p:tgtEl>
                                      </p:cBhvr>
                                    </p:animEffect>
                                  </p:childTnLst>
                                </p:cTn>
                              </p:par>
                            </p:childTnLst>
                          </p:cTn>
                        </p:par>
                      </p:childTnLst>
                    </p:cTn>
                  </p:par>
                  <p:par>
                    <p:cTn id="8" fill="hold">
                      <p:stCondLst>
                        <p:cond delay="indefinite"/>
                      </p:stCondLst>
                      <p:childTnLst>
                        <p:par>
                          <p:cTn id="9" fill="hold">
                            <p:stCondLst>
                              <p:cond delay="0"/>
                            </p:stCondLst>
                            <p:childTnLst>
                              <p:par>
                                <p:cTn id="10" presetID="42" presetClass="entr" presetSubtype="0" fill="hold" nodeType="clickEffect">
                                  <p:stCondLst>
                                    <p:cond delay="0"/>
                                  </p:stCondLst>
                                  <p:childTnLst>
                                    <p:set>
                                      <p:cBhvr>
                                        <p:cTn id="11" dur="1" fill="hold">
                                          <p:stCondLst>
                                            <p:cond delay="0"/>
                                          </p:stCondLst>
                                        </p:cTn>
                                        <p:tgtEl>
                                          <p:spTgt spid="19">
                                            <p:txEl>
                                              <p:pRg st="2" end="2"/>
                                            </p:txEl>
                                          </p:spTgt>
                                        </p:tgtEl>
                                        <p:attrNameLst>
                                          <p:attrName>style.visibility</p:attrName>
                                        </p:attrNameLst>
                                      </p:cBhvr>
                                      <p:to>
                                        <p:strVal val="visible"/>
                                      </p:to>
                                    </p:set>
                                    <p:animEffect transition="in" filter="fade">
                                      <p:cBhvr>
                                        <p:cTn id="12" dur="1000"/>
                                        <p:tgtEl>
                                          <p:spTgt spid="19">
                                            <p:txEl>
                                              <p:pRg st="2" end="2"/>
                                            </p:txEl>
                                          </p:spTgt>
                                        </p:tgtEl>
                                      </p:cBhvr>
                                    </p:animEffect>
                                    <p:anim calcmode="lin" valueType="num">
                                      <p:cBhvr>
                                        <p:cTn id="13" dur="1000" fill="hold"/>
                                        <p:tgtEl>
                                          <p:spTgt spid="19">
                                            <p:txEl>
                                              <p:pRg st="2" end="2"/>
                                            </p:txEl>
                                          </p:spTgt>
                                        </p:tgtEl>
                                        <p:attrNameLst>
                                          <p:attrName>ppt_x</p:attrName>
                                        </p:attrNameLst>
                                      </p:cBhvr>
                                      <p:tavLst>
                                        <p:tav tm="0">
                                          <p:val>
                                            <p:strVal val="#ppt_x"/>
                                          </p:val>
                                        </p:tav>
                                        <p:tav tm="100000">
                                          <p:val>
                                            <p:strVal val="#ppt_x"/>
                                          </p:val>
                                        </p:tav>
                                      </p:tavLst>
                                    </p:anim>
                                    <p:anim calcmode="lin" valueType="num">
                                      <p:cBhvr>
                                        <p:cTn id="14" dur="1000" fill="hold"/>
                                        <p:tgtEl>
                                          <p:spTgt spid="1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10" presetClass="entr" presetSubtype="0" fill="hold" nodeType="clickEffect">
                                  <p:stCondLst>
                                    <p:cond delay="0"/>
                                  </p:stCondLst>
                                  <p:childTnLst>
                                    <p:set>
                                      <p:cBhvr>
                                        <p:cTn id="18" dur="1" fill="hold">
                                          <p:stCondLst>
                                            <p:cond delay="0"/>
                                          </p:stCondLst>
                                        </p:cTn>
                                        <p:tgtEl>
                                          <p:spTgt spid="19">
                                            <p:txEl>
                                              <p:pRg st="4" end="4"/>
                                            </p:txEl>
                                          </p:spTgt>
                                        </p:tgtEl>
                                        <p:attrNameLst>
                                          <p:attrName>style.visibility</p:attrName>
                                        </p:attrNameLst>
                                      </p:cBhvr>
                                      <p:to>
                                        <p:strVal val="visible"/>
                                      </p:to>
                                    </p:set>
                                    <p:animEffect transition="in" filter="fade">
                                      <p:cBhvr>
                                        <p:cTn id="19" dur="500"/>
                                        <p:tgtEl>
                                          <p:spTgt spid="19">
                                            <p:txEl>
                                              <p:pRg st="4" end="4"/>
                                            </p:txEl>
                                          </p:spTgt>
                                        </p:tgtEl>
                                      </p:cBhvr>
                                    </p:animEffect>
                                  </p:childTnLst>
                                </p:cTn>
                              </p:par>
                            </p:childTnLst>
                          </p:cTn>
                        </p:par>
                      </p:childTnLst>
                    </p:cTn>
                  </p:par>
                  <p:par>
                    <p:cTn id="20" fill="hold">
                      <p:stCondLst>
                        <p:cond delay="indefinite"/>
                      </p:stCondLst>
                      <p:childTnLst>
                        <p:par>
                          <p:cTn id="21" fill="hold">
                            <p:stCondLst>
                              <p:cond delay="0"/>
                            </p:stCondLst>
                            <p:childTnLst>
                              <p:par>
                                <p:cTn id="22" presetID="37" presetClass="entr" presetSubtype="0" fill="hold" nodeType="clickEffect">
                                  <p:stCondLst>
                                    <p:cond delay="0"/>
                                  </p:stCondLst>
                                  <p:childTnLst>
                                    <p:set>
                                      <p:cBhvr>
                                        <p:cTn id="23" dur="1" fill="hold">
                                          <p:stCondLst>
                                            <p:cond delay="0"/>
                                          </p:stCondLst>
                                        </p:cTn>
                                        <p:tgtEl>
                                          <p:spTgt spid="19">
                                            <p:txEl>
                                              <p:pRg st="5" end="5"/>
                                            </p:txEl>
                                          </p:spTgt>
                                        </p:tgtEl>
                                        <p:attrNameLst>
                                          <p:attrName>style.visibility</p:attrName>
                                        </p:attrNameLst>
                                      </p:cBhvr>
                                      <p:to>
                                        <p:strVal val="visible"/>
                                      </p:to>
                                    </p:set>
                                    <p:animEffect transition="in" filter="fade">
                                      <p:cBhvr>
                                        <p:cTn id="24" dur="1000"/>
                                        <p:tgtEl>
                                          <p:spTgt spid="19">
                                            <p:txEl>
                                              <p:pRg st="5" end="5"/>
                                            </p:txEl>
                                          </p:spTgt>
                                        </p:tgtEl>
                                      </p:cBhvr>
                                    </p:animEffect>
                                    <p:anim calcmode="lin" valueType="num">
                                      <p:cBhvr>
                                        <p:cTn id="25" dur="1000" fill="hold"/>
                                        <p:tgtEl>
                                          <p:spTgt spid="19">
                                            <p:txEl>
                                              <p:pRg st="5" end="5"/>
                                            </p:txEl>
                                          </p:spTgt>
                                        </p:tgtEl>
                                        <p:attrNameLst>
                                          <p:attrName>ppt_x</p:attrName>
                                        </p:attrNameLst>
                                      </p:cBhvr>
                                      <p:tavLst>
                                        <p:tav tm="0">
                                          <p:val>
                                            <p:strVal val="#ppt_x"/>
                                          </p:val>
                                        </p:tav>
                                        <p:tav tm="100000">
                                          <p:val>
                                            <p:strVal val="#ppt_x"/>
                                          </p:val>
                                        </p:tav>
                                      </p:tavLst>
                                    </p:anim>
                                    <p:anim calcmode="lin" valueType="num">
                                      <p:cBhvr>
                                        <p:cTn id="26" dur="900" decel="100000" fill="hold"/>
                                        <p:tgtEl>
                                          <p:spTgt spid="19">
                                            <p:txEl>
                                              <p:pRg st="5" end="5"/>
                                            </p:txEl>
                                          </p:spTgt>
                                        </p:tgtEl>
                                        <p:attrNameLst>
                                          <p:attrName>ppt_y</p:attrName>
                                        </p:attrNameLst>
                                      </p:cBhvr>
                                      <p:tavLst>
                                        <p:tav tm="0">
                                          <p:val>
                                            <p:strVal val="#ppt_y+1"/>
                                          </p:val>
                                        </p:tav>
                                        <p:tav tm="100000">
                                          <p:val>
                                            <p:strVal val="#ppt_y-.03"/>
                                          </p:val>
                                        </p:tav>
                                      </p:tavLst>
                                    </p:anim>
                                    <p:anim calcmode="lin" valueType="num">
                                      <p:cBhvr>
                                        <p:cTn id="27" dur="100" accel="100000" fill="hold">
                                          <p:stCondLst>
                                            <p:cond delay="900"/>
                                          </p:stCondLst>
                                        </p:cTn>
                                        <p:tgtEl>
                                          <p:spTgt spid="19">
                                            <p:txEl>
                                              <p:pRg st="5" end="5"/>
                                            </p:txEl>
                                          </p:spTgt>
                                        </p:tgtEl>
                                        <p:attrNameLst>
                                          <p:attrName>ppt_y</p:attrName>
                                        </p:attrNameLst>
                                      </p:cBhvr>
                                      <p:tavLst>
                                        <p:tav tm="0">
                                          <p:val>
                                            <p:strVal val="#ppt_y-.03"/>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763E3C4-20BF-1A4D-1ADC-BB69DD0D9419}"/>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907BAAEC-9C84-B0E8-131B-8A420CC8F082}"/>
              </a:ext>
            </a:extLst>
          </p:cNvPr>
          <p:cNvSpPr>
            <a:spLocks noGrp="1"/>
          </p:cNvSpPr>
          <p:nvPr>
            <p:ph type="title"/>
          </p:nvPr>
        </p:nvSpPr>
        <p:spPr/>
        <p:txBody>
          <a:bodyPr>
            <a:normAutofit/>
          </a:bodyPr>
          <a:lstStyle/>
          <a:p>
            <a:r>
              <a:rPr lang="es-ES_tradnl">
                <a:latin typeface="Century Gothic" panose="020B0502020202020204" pitchFamily="34" charset="0"/>
              </a:rPr>
              <a:t>COSTO DE OPORTUNIDAD SEGÚN UN CONSUMIDOR</a:t>
            </a:r>
          </a:p>
        </p:txBody>
      </p:sp>
      <p:sp>
        <p:nvSpPr>
          <p:cNvPr id="11" name="Slide Number Placeholder 10">
            <a:extLst>
              <a:ext uri="{FF2B5EF4-FFF2-40B4-BE49-F238E27FC236}">
                <a16:creationId xmlns:a16="http://schemas.microsoft.com/office/drawing/2014/main" id="{618DB6C9-AF2F-4D97-7DCE-62DB25E4A37E}"/>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14</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9327EBF6-4E17-B51E-7F05-2C3102A8711D}"/>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DA2A562-177B-FC1B-4B8F-9AAAFB57DAC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646CD51D-6E49-23A7-03CC-9978D5D6E64E}"/>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4" name="Picture 3">
            <a:extLst>
              <a:ext uri="{FF2B5EF4-FFF2-40B4-BE49-F238E27FC236}">
                <a16:creationId xmlns:a16="http://schemas.microsoft.com/office/drawing/2014/main" id="{E88E3136-0622-3E51-7AD2-D38F63B17EB8}"/>
              </a:ext>
            </a:extLst>
          </p:cNvPr>
          <p:cNvPicPr>
            <a:picLocks noChangeAspect="1"/>
          </p:cNvPicPr>
          <p:nvPr/>
        </p:nvPicPr>
        <p:blipFill>
          <a:blip r:embed="rId4"/>
          <a:srcRect l="-1675" t="-667" r="1630" b="667"/>
          <a:stretch>
            <a:fillRect/>
          </a:stretch>
        </p:blipFill>
        <p:spPr>
          <a:xfrm>
            <a:off x="1495696" y="1953021"/>
            <a:ext cx="9204784" cy="4368246"/>
          </a:xfrm>
          <a:prstGeom prst="rect">
            <a:avLst/>
          </a:prstGeom>
        </p:spPr>
      </p:pic>
    </p:spTree>
    <p:extLst>
      <p:ext uri="{BB962C8B-B14F-4D97-AF65-F5344CB8AC3E}">
        <p14:creationId xmlns:p14="http://schemas.microsoft.com/office/powerpoint/2010/main" val="399246877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D7505F-CDA1-2398-4593-958ACAC2EB0F}"/>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2966459D-3F05-65AD-561D-F9F6DD8C1DF5}"/>
              </a:ext>
            </a:extLst>
          </p:cNvPr>
          <p:cNvSpPr>
            <a:spLocks noGrp="1"/>
          </p:cNvSpPr>
          <p:nvPr>
            <p:ph type="title"/>
          </p:nvPr>
        </p:nvSpPr>
        <p:spPr/>
        <p:txBody>
          <a:bodyPr>
            <a:normAutofit/>
          </a:bodyPr>
          <a:lstStyle/>
          <a:p>
            <a:r>
              <a:rPr lang="es-ES_tradnl" dirty="0">
                <a:latin typeface="Century Gothic" panose="020B0502020202020204" pitchFamily="34" charset="0"/>
              </a:rPr>
              <a:t>SOBRE LA INFLACIÓN</a:t>
            </a:r>
          </a:p>
        </p:txBody>
      </p:sp>
      <p:sp>
        <p:nvSpPr>
          <p:cNvPr id="11" name="Slide Number Placeholder 10">
            <a:extLst>
              <a:ext uri="{FF2B5EF4-FFF2-40B4-BE49-F238E27FC236}">
                <a16:creationId xmlns:a16="http://schemas.microsoft.com/office/drawing/2014/main" id="{3C2808FB-9E93-252E-17BF-198DA8F9B388}"/>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15</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CE3C5BC2-163D-D271-59C6-B23CF27B5B4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62B4A8FF-D717-217B-0DDD-606861A3283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0E2794C-011E-01FF-495D-26824503C4FB}"/>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2" name="Picture 1">
            <a:extLst>
              <a:ext uri="{FF2B5EF4-FFF2-40B4-BE49-F238E27FC236}">
                <a16:creationId xmlns:a16="http://schemas.microsoft.com/office/drawing/2014/main" id="{7BE998FE-CAFF-9D66-5FA6-86F0BCEB06CA}"/>
              </a:ext>
            </a:extLst>
          </p:cNvPr>
          <p:cNvPicPr>
            <a:picLocks noChangeAspect="1"/>
          </p:cNvPicPr>
          <p:nvPr/>
        </p:nvPicPr>
        <p:blipFill>
          <a:blip r:embed="rId4"/>
          <a:stretch>
            <a:fillRect/>
          </a:stretch>
        </p:blipFill>
        <p:spPr>
          <a:xfrm>
            <a:off x="1636889" y="2038392"/>
            <a:ext cx="7772400" cy="3886200"/>
          </a:xfrm>
          <a:prstGeom prst="rect">
            <a:avLst/>
          </a:prstGeom>
        </p:spPr>
      </p:pic>
      <p:sp>
        <p:nvSpPr>
          <p:cNvPr id="8" name="TextBox 7">
            <a:extLst>
              <a:ext uri="{FF2B5EF4-FFF2-40B4-BE49-F238E27FC236}">
                <a16:creationId xmlns:a16="http://schemas.microsoft.com/office/drawing/2014/main" id="{5CEE618E-1CD8-F48E-1C26-EB31360C4DF6}"/>
              </a:ext>
            </a:extLst>
          </p:cNvPr>
          <p:cNvSpPr txBox="1"/>
          <p:nvPr/>
        </p:nvSpPr>
        <p:spPr>
          <a:xfrm>
            <a:off x="1806221" y="5923862"/>
            <a:ext cx="9330267" cy="253916"/>
          </a:xfrm>
          <a:prstGeom prst="rect">
            <a:avLst/>
          </a:prstGeom>
          <a:noFill/>
        </p:spPr>
        <p:txBody>
          <a:bodyPr wrap="square">
            <a:spAutoFit/>
          </a:bodyPr>
          <a:lstStyle/>
          <a:p>
            <a:r>
              <a:rPr lang="en-CO" sz="1000" b="1" i="0" dirty="0">
                <a:solidFill>
                  <a:srgbClr val="000000"/>
                </a:solidFill>
                <a:effectLst/>
                <a:latin typeface="DejaVu Sans"/>
              </a:rPr>
              <a:t>Inflación total anual al consumidor y su meta. </a:t>
            </a:r>
            <a:r>
              <a:rPr lang="en-CO" sz="1000" b="1" dirty="0">
                <a:solidFill>
                  <a:srgbClr val="000000"/>
                </a:solidFill>
                <a:latin typeface="DejaVu Sans"/>
              </a:rPr>
              <a:t>Fuente: </a:t>
            </a:r>
            <a:r>
              <a:rPr lang="en-US" sz="1000" b="1" dirty="0">
                <a:solidFill>
                  <a:srgbClr val="000000"/>
                </a:solidFill>
                <a:latin typeface="DejaVu Sans"/>
                <a:hlinkClick r:id="rId5"/>
              </a:rPr>
              <a:t>https://www.banrep.gov.co/es/node/59521/printable/print</a:t>
            </a:r>
            <a:r>
              <a:rPr lang="en-US" sz="1000" b="1" dirty="0">
                <a:solidFill>
                  <a:srgbClr val="000000"/>
                </a:solidFill>
                <a:latin typeface="DejaVu Sans"/>
              </a:rPr>
              <a:t> </a:t>
            </a:r>
            <a:endParaRPr lang="es-ES_tradnl" sz="1000" dirty="0"/>
          </a:p>
        </p:txBody>
      </p:sp>
    </p:spTree>
    <p:extLst>
      <p:ext uri="{BB962C8B-B14F-4D97-AF65-F5344CB8AC3E}">
        <p14:creationId xmlns:p14="http://schemas.microsoft.com/office/powerpoint/2010/main" val="23231244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7BF121-4731-339D-DE97-6FD7687C2A04}"/>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6449D012-DD81-6091-FD9E-3C04A41A027A}"/>
              </a:ext>
            </a:extLst>
          </p:cNvPr>
          <p:cNvSpPr>
            <a:spLocks noGrp="1"/>
          </p:cNvSpPr>
          <p:nvPr>
            <p:ph type="title"/>
          </p:nvPr>
        </p:nvSpPr>
        <p:spPr/>
        <p:txBody>
          <a:bodyPr>
            <a:normAutofit/>
          </a:bodyPr>
          <a:lstStyle/>
          <a:p>
            <a:r>
              <a:rPr lang="es-ES_tradnl" dirty="0">
                <a:latin typeface="Century Gothic" panose="020B0502020202020204" pitchFamily="34" charset="0"/>
              </a:rPr>
              <a:t>SOBRE LA INFLACIÓN</a:t>
            </a:r>
          </a:p>
        </p:txBody>
      </p:sp>
      <p:sp>
        <p:nvSpPr>
          <p:cNvPr id="11" name="Slide Number Placeholder 10">
            <a:extLst>
              <a:ext uri="{FF2B5EF4-FFF2-40B4-BE49-F238E27FC236}">
                <a16:creationId xmlns:a16="http://schemas.microsoft.com/office/drawing/2014/main" id="{C6803F17-1FE0-32D3-3818-9B45FC3C9347}"/>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16</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BC6B8941-2A7A-FE2F-FEF9-0B79B20B137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70A0CF12-8623-C8DC-13AA-9897373AACB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04CD54A2-29B6-4C3A-6FD0-E9E5227BC09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extBox 7">
            <a:extLst>
              <a:ext uri="{FF2B5EF4-FFF2-40B4-BE49-F238E27FC236}">
                <a16:creationId xmlns:a16="http://schemas.microsoft.com/office/drawing/2014/main" id="{3AF1F635-DC76-2974-F33F-14ACF482466C}"/>
              </a:ext>
            </a:extLst>
          </p:cNvPr>
          <p:cNvSpPr txBox="1"/>
          <p:nvPr/>
        </p:nvSpPr>
        <p:spPr>
          <a:xfrm>
            <a:off x="416441" y="6321262"/>
            <a:ext cx="5597734" cy="400110"/>
          </a:xfrm>
          <a:prstGeom prst="rect">
            <a:avLst/>
          </a:prstGeom>
          <a:noFill/>
        </p:spPr>
        <p:txBody>
          <a:bodyPr wrap="square">
            <a:spAutoFit/>
          </a:bodyPr>
          <a:lstStyle/>
          <a:p>
            <a:r>
              <a:rPr lang="en-CO" sz="1000" b="1" dirty="0"/>
              <a:t>Inflación de Colombia en el contexto mundial </a:t>
            </a:r>
            <a:r>
              <a:rPr lang="en-CO" sz="1000" dirty="0"/>
              <a:t>Fuente: Fondo Monetario Internacional y DANE para Colombia.</a:t>
            </a:r>
            <a:endParaRPr lang="es-ES_tradnl" sz="1000" dirty="0"/>
          </a:p>
        </p:txBody>
      </p:sp>
      <p:pic>
        <p:nvPicPr>
          <p:cNvPr id="4" name="Picture 3" descr="Gráfico de líneas que muestra la evolución de la inflación entre 2020 y 2025 para cuatro grupos: mundial (línea azul punteada), economías avanzadas (línea verde punteada), economías emergentes y en desarrollo (línea gris punteada) y Colombia (línea naranja continua). En 2020 la inflación en Colombia se ubica en 1,6% se observa una tendencia creciente para todos los grupos. En 2022 se observa un pico, especialmente en Colombia con 13,1%, por encima del promedio mundial (8,7%), emergentes (9,7%) y avanzadas (7,3%). En 2024 se observa una tendencia descendente con Colombia en 5,2%, mundial 5,8%, emergentes 8,0% y avanzadas 2,6%. Para 2025, Colombia se sitúa en 5,1%, cercano a emergentes (5,2%) y por encima del promedio mundial (4,1%) y de economías avanzadas (2,5%).">
            <a:extLst>
              <a:ext uri="{FF2B5EF4-FFF2-40B4-BE49-F238E27FC236}">
                <a16:creationId xmlns:a16="http://schemas.microsoft.com/office/drawing/2014/main" id="{56CEE79B-5B85-6A50-C23C-124E5E2C0CAD}"/>
              </a:ext>
            </a:extLst>
          </p:cNvPr>
          <p:cNvPicPr>
            <a:picLocks noChangeAspect="1"/>
          </p:cNvPicPr>
          <p:nvPr/>
        </p:nvPicPr>
        <p:blipFill>
          <a:blip r:embed="rId4"/>
          <a:stretch>
            <a:fillRect/>
          </a:stretch>
        </p:blipFill>
        <p:spPr>
          <a:xfrm>
            <a:off x="478680" y="1841519"/>
            <a:ext cx="5483654" cy="4401701"/>
          </a:xfrm>
          <a:prstGeom prst="rect">
            <a:avLst/>
          </a:prstGeom>
        </p:spPr>
      </p:pic>
      <p:pic>
        <p:nvPicPr>
          <p:cNvPr id="7" name="Picture 6" descr="Gráfico de líneas que muestra la evolución mensual de la inflación entre abril de 2020 y abril de 2026 en cinco países: México (línea verde), Colombia (línea naranja), Brasil (línea amarilla), Perú (línea gris) y Chile (línea azul). Entre 2020 y 2021, todos los países presentan niveles moderados de inflación (entre 2% y 6 %), con Brasil mostrando un aumento más pronunciado desde 2021, superando el 10%. En 2022, la inflación alcanza sus máximos en la mayoría de los países: Chile llega aproximadamente a 14%, Colombia a 13,3%, Brasil cerca de 12%, mientras México y Perú alcanzan alrededor de 8%. A partir de 2023, la inflación disminuye de forma generalizada. Colombia reduce gradualmente desde su pico hasta cerca de 9,3 % en 2023 y continúa bajando. En 2025 y comienzos de 2026, las líneas convergen: Colombia se ubica alrededor de 5,7 %, México y Brasil en 4,4 %, y Perú y Chile en 4,0 %.">
            <a:extLst>
              <a:ext uri="{FF2B5EF4-FFF2-40B4-BE49-F238E27FC236}">
                <a16:creationId xmlns:a16="http://schemas.microsoft.com/office/drawing/2014/main" id="{DFE98EF1-224E-28BB-36A6-AC5FF422A41F}"/>
              </a:ext>
            </a:extLst>
          </p:cNvPr>
          <p:cNvPicPr>
            <a:picLocks noChangeAspect="1"/>
          </p:cNvPicPr>
          <p:nvPr/>
        </p:nvPicPr>
        <p:blipFill>
          <a:blip r:embed="rId5"/>
          <a:stretch>
            <a:fillRect/>
          </a:stretch>
        </p:blipFill>
        <p:spPr>
          <a:xfrm>
            <a:off x="6302611" y="1841518"/>
            <a:ext cx="5483654" cy="4401701"/>
          </a:xfrm>
          <a:prstGeom prst="rect">
            <a:avLst/>
          </a:prstGeom>
        </p:spPr>
      </p:pic>
      <p:sp>
        <p:nvSpPr>
          <p:cNvPr id="9" name="TextBox 8">
            <a:extLst>
              <a:ext uri="{FF2B5EF4-FFF2-40B4-BE49-F238E27FC236}">
                <a16:creationId xmlns:a16="http://schemas.microsoft.com/office/drawing/2014/main" id="{AA817757-9DAA-C8C7-C040-8AAF54F495A7}"/>
              </a:ext>
            </a:extLst>
          </p:cNvPr>
          <p:cNvSpPr txBox="1"/>
          <p:nvPr/>
        </p:nvSpPr>
        <p:spPr>
          <a:xfrm>
            <a:off x="6302611" y="6339780"/>
            <a:ext cx="5597734" cy="246221"/>
          </a:xfrm>
          <a:prstGeom prst="rect">
            <a:avLst/>
          </a:prstGeom>
          <a:noFill/>
        </p:spPr>
        <p:txBody>
          <a:bodyPr wrap="square">
            <a:spAutoFit/>
          </a:bodyPr>
          <a:lstStyle/>
          <a:p>
            <a:r>
              <a:rPr lang="en-CO" sz="1000" b="1" dirty="0"/>
              <a:t>Inflación de Colombia y de sus pares latinoamericanos (porcentaje) </a:t>
            </a:r>
            <a:r>
              <a:rPr lang="en-CO" sz="1000" dirty="0"/>
              <a:t>Fuente: Bloomberg.</a:t>
            </a:r>
            <a:endParaRPr lang="es-ES_tradnl" sz="1000" dirty="0"/>
          </a:p>
        </p:txBody>
      </p:sp>
    </p:spTree>
    <p:extLst>
      <p:ext uri="{BB962C8B-B14F-4D97-AF65-F5344CB8AC3E}">
        <p14:creationId xmlns:p14="http://schemas.microsoft.com/office/powerpoint/2010/main" val="308620680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341A3C-560A-5BCE-E5BE-6D6BBACABB33}"/>
            </a:ext>
          </a:extLst>
        </p:cNvPr>
        <p:cNvGrpSpPr/>
        <p:nvPr/>
      </p:nvGrpSpPr>
      <p:grpSpPr>
        <a:xfrm>
          <a:off x="0" y="0"/>
          <a:ext cx="0" cy="0"/>
          <a:chOff x="0" y="0"/>
          <a:chExt cx="0" cy="0"/>
        </a:xfrm>
      </p:grpSpPr>
      <p:sp>
        <p:nvSpPr>
          <p:cNvPr id="5" name="Title 4">
            <a:extLst>
              <a:ext uri="{FF2B5EF4-FFF2-40B4-BE49-F238E27FC236}">
                <a16:creationId xmlns:a16="http://schemas.microsoft.com/office/drawing/2014/main" id="{4EC2508A-AD00-5203-919C-C904253E625D}"/>
              </a:ext>
            </a:extLst>
          </p:cNvPr>
          <p:cNvSpPr>
            <a:spLocks noGrp="1"/>
          </p:cNvSpPr>
          <p:nvPr>
            <p:ph type="title"/>
          </p:nvPr>
        </p:nvSpPr>
        <p:spPr/>
        <p:txBody>
          <a:bodyPr>
            <a:normAutofit/>
          </a:bodyPr>
          <a:lstStyle/>
          <a:p>
            <a:r>
              <a:rPr lang="es-ES_tradnl" dirty="0">
                <a:latin typeface="Century Gothic" panose="020B0502020202020204" pitchFamily="34" charset="0"/>
              </a:rPr>
              <a:t>SOBRE LA INFLACIÓN</a:t>
            </a:r>
          </a:p>
        </p:txBody>
      </p:sp>
      <p:sp>
        <p:nvSpPr>
          <p:cNvPr id="11" name="Slide Number Placeholder 10">
            <a:extLst>
              <a:ext uri="{FF2B5EF4-FFF2-40B4-BE49-F238E27FC236}">
                <a16:creationId xmlns:a16="http://schemas.microsoft.com/office/drawing/2014/main" id="{D0781FF5-0EA2-E2C6-FD52-0D82EB553BE4}"/>
              </a:ext>
            </a:extLst>
          </p:cNvPr>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17</a:t>
            </a:fld>
            <a:endParaRPr lang="en-US" sz="2000" b="1">
              <a:latin typeface="Century Gothic" panose="020B0502020202020204" pitchFamily="34" charset="0"/>
            </a:endParaRPr>
          </a:p>
        </p:txBody>
      </p:sp>
      <p:sp>
        <p:nvSpPr>
          <p:cNvPr id="3" name="Rectángulo 2">
            <a:extLst>
              <a:ext uri="{FF2B5EF4-FFF2-40B4-BE49-F238E27FC236}">
                <a16:creationId xmlns:a16="http://schemas.microsoft.com/office/drawing/2014/main" id="{197397F0-1E55-F9AB-9EAF-E05CA341653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2" name="Picture 2" descr="Clientes y aliados | Centro de Evaluación | Uniandes">
            <a:extLst>
              <a:ext uri="{FF2B5EF4-FFF2-40B4-BE49-F238E27FC236}">
                <a16:creationId xmlns:a16="http://schemas.microsoft.com/office/drawing/2014/main" id="{6EFF368B-C221-C642-6222-3EC2C37103A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B7365C9F-1ACA-B8E3-85B7-E92101FC49C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
        <p:nvSpPr>
          <p:cNvPr id="8" name="TextBox 7">
            <a:extLst>
              <a:ext uri="{FF2B5EF4-FFF2-40B4-BE49-F238E27FC236}">
                <a16:creationId xmlns:a16="http://schemas.microsoft.com/office/drawing/2014/main" id="{474F59ED-7C2B-17F0-050A-CE75DAD27B14}"/>
              </a:ext>
            </a:extLst>
          </p:cNvPr>
          <p:cNvSpPr txBox="1"/>
          <p:nvPr/>
        </p:nvSpPr>
        <p:spPr>
          <a:xfrm>
            <a:off x="434927" y="6155844"/>
            <a:ext cx="5597734" cy="400110"/>
          </a:xfrm>
          <a:prstGeom prst="rect">
            <a:avLst/>
          </a:prstGeom>
          <a:noFill/>
        </p:spPr>
        <p:txBody>
          <a:bodyPr wrap="square">
            <a:spAutoFit/>
          </a:bodyPr>
          <a:lstStyle/>
          <a:p>
            <a:r>
              <a:rPr lang="en-CO" sz="1000" b="1" dirty="0"/>
              <a:t>Tasa de interés de política de Colombia y de sus pares latinoamericanos (porcentaje) </a:t>
            </a:r>
            <a:r>
              <a:rPr lang="en-CO" sz="1000" dirty="0"/>
              <a:t>Fuente: Bloomberg.</a:t>
            </a:r>
            <a:endParaRPr lang="es-ES_tradnl" sz="1000" dirty="0"/>
          </a:p>
        </p:txBody>
      </p:sp>
      <p:sp>
        <p:nvSpPr>
          <p:cNvPr id="9" name="TextBox 8">
            <a:extLst>
              <a:ext uri="{FF2B5EF4-FFF2-40B4-BE49-F238E27FC236}">
                <a16:creationId xmlns:a16="http://schemas.microsoft.com/office/drawing/2014/main" id="{7FE6FB7F-9FDA-EE11-96CF-356A272DE903}"/>
              </a:ext>
            </a:extLst>
          </p:cNvPr>
          <p:cNvSpPr txBox="1"/>
          <p:nvPr/>
        </p:nvSpPr>
        <p:spPr>
          <a:xfrm>
            <a:off x="6041945" y="5833888"/>
            <a:ext cx="5597734" cy="400110"/>
          </a:xfrm>
          <a:prstGeom prst="rect">
            <a:avLst/>
          </a:prstGeom>
          <a:noFill/>
        </p:spPr>
        <p:txBody>
          <a:bodyPr wrap="square">
            <a:spAutoFit/>
          </a:bodyPr>
          <a:lstStyle/>
          <a:p>
            <a:r>
              <a:rPr lang="en-CO" sz="1000" b="1" dirty="0"/>
              <a:t>Balance primario neto* del Gobierno General de Colombia y de sus pares latinoamericanos (porcentaje del PIB). </a:t>
            </a:r>
            <a:r>
              <a:rPr lang="en-CO" sz="1000" dirty="0"/>
              <a:t>Fuente: Fondo Monetario Internacional.</a:t>
            </a:r>
          </a:p>
        </p:txBody>
      </p:sp>
      <p:pic>
        <p:nvPicPr>
          <p:cNvPr id="2" name="Picture 1" descr="Gráfico de líneas que presenta la evolución mensual de las tasas de interés de política monetaria entre abril de 2020 y abril de 2026 para cinco países: México (línea verde), Colombia (línea naranja), Brasil (línea amarilla), Perú (línea gris) y Chile (línea azul). En 2020 las tasas comienzan en niveles bajos: Chile y Perú cerca de 0,5%, Colombia alrededor de 3% y México cerca de 6%, mientras Brasil ronda entre 2% y 4%. A partir de 2021 y durante 2022, todos los países incrementan sus tasas de forma sostenida. En 2023 se observan los máximos o mesetas: Colombia alrededor de 13,3 %, Brasil cerca de 14%, y México y Chile cerca de 11%. Posteriormente, desde 2023 y durante 2024, inicia una fase de reducciones en la mayoría de los países, con descensos marcados en Chile y Perú, y más graduales en Colombia y México. Para 2025 y abril de 2026, las tasas muestran divergencias: Brasil finaliza el periodo en 14,75%, Colombia en 11,25%, México en 6,75%, Chile en 4,50% y Perú en 4,25%.">
            <a:extLst>
              <a:ext uri="{FF2B5EF4-FFF2-40B4-BE49-F238E27FC236}">
                <a16:creationId xmlns:a16="http://schemas.microsoft.com/office/drawing/2014/main" id="{41342E94-5AF3-BC45-0F3C-6BDEC95F8670}"/>
              </a:ext>
            </a:extLst>
          </p:cNvPr>
          <p:cNvPicPr>
            <a:picLocks noChangeAspect="1"/>
          </p:cNvPicPr>
          <p:nvPr/>
        </p:nvPicPr>
        <p:blipFill>
          <a:blip r:embed="rId4"/>
          <a:stretch>
            <a:fillRect/>
          </a:stretch>
        </p:blipFill>
        <p:spPr>
          <a:xfrm>
            <a:off x="416442" y="1827018"/>
            <a:ext cx="5211108" cy="4182930"/>
          </a:xfrm>
          <a:prstGeom prst="rect">
            <a:avLst/>
          </a:prstGeom>
        </p:spPr>
      </p:pic>
      <p:pic>
        <p:nvPicPr>
          <p:cNvPr id="14" name="Picture 13" descr="Gráfico de que muestra la evolución anual del balance primario neto entre 2020 y 2025 para cinco países: México (línea verde), Colombia (línea naranja), Brasil (línea amarilla), Perú (línea gris) y Chile (línea azul). En 2020, todos los países, excepto México (cerca de 0%), registran déficits significativos: Colombia alrededor de −4,5%, Chile cerca de −6,5%, Perú alrededor de −6%, Brasil cerca de −7,5 %. En 2021 se observa una mejora generalizada, pero Colombia y Chile continúan en déficit. En 2023, las líneas convergen y Colombia registra un superávit cercano a 1%. Para 2025 se observa una divergencia: México consolida superávit y alcanza  el 1,2% del PIB en 2025; Brasil se sitúa cerca de −0,4%; Perú alrededor de −0,9%; Chile cerca de −2,0%; y Colombia registra el mayor déficit del grupo, cercano a −3,5% del PIB.">
            <a:extLst>
              <a:ext uri="{FF2B5EF4-FFF2-40B4-BE49-F238E27FC236}">
                <a16:creationId xmlns:a16="http://schemas.microsoft.com/office/drawing/2014/main" id="{9E49AB0B-0811-B2E1-FC9C-AA28A9F8666A}"/>
              </a:ext>
            </a:extLst>
          </p:cNvPr>
          <p:cNvPicPr>
            <a:picLocks noChangeAspect="1"/>
          </p:cNvPicPr>
          <p:nvPr/>
        </p:nvPicPr>
        <p:blipFill>
          <a:blip r:embed="rId5"/>
          <a:stretch>
            <a:fillRect/>
          </a:stretch>
        </p:blipFill>
        <p:spPr>
          <a:xfrm>
            <a:off x="6096000" y="1862200"/>
            <a:ext cx="5138766" cy="3902297"/>
          </a:xfrm>
          <a:prstGeom prst="rect">
            <a:avLst/>
          </a:prstGeom>
        </p:spPr>
      </p:pic>
      <p:sp>
        <p:nvSpPr>
          <p:cNvPr id="16" name="TextBox 15">
            <a:extLst>
              <a:ext uri="{FF2B5EF4-FFF2-40B4-BE49-F238E27FC236}">
                <a16:creationId xmlns:a16="http://schemas.microsoft.com/office/drawing/2014/main" id="{A59C835A-B451-A180-062A-28DE22AE01F7}"/>
              </a:ext>
            </a:extLst>
          </p:cNvPr>
          <p:cNvSpPr txBox="1"/>
          <p:nvPr/>
        </p:nvSpPr>
        <p:spPr>
          <a:xfrm>
            <a:off x="6096000" y="6210003"/>
            <a:ext cx="6096000" cy="507831"/>
          </a:xfrm>
          <a:prstGeom prst="rect">
            <a:avLst/>
          </a:prstGeom>
          <a:noFill/>
        </p:spPr>
        <p:txBody>
          <a:bodyPr wrap="square">
            <a:spAutoFit/>
          </a:bodyPr>
          <a:lstStyle/>
          <a:p>
            <a:r>
              <a:rPr lang="en-CO" sz="900" dirty="0"/>
              <a:t>*Es la diferencia negativa entre los ingresos fiscales (como los impuestos) y los gastos públicos en un periodo determinado (sin contar los intereses de la deuda). Se financia generalmente con deuda pública, es decir, vendiendo bonos en pesos, como los TES, o en moneda extranjera.</a:t>
            </a:r>
          </a:p>
        </p:txBody>
      </p:sp>
    </p:spTree>
    <p:extLst>
      <p:ext uri="{BB962C8B-B14F-4D97-AF65-F5344CB8AC3E}">
        <p14:creationId xmlns:p14="http://schemas.microsoft.com/office/powerpoint/2010/main" val="39275557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18</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80131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¿Cuáles son los Agentes Económicos?</a:t>
            </a:r>
          </a:p>
          <a:p>
            <a:pPr marL="342900" indent="-342900">
              <a:buClr>
                <a:srgbClr val="2C7C9F"/>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Costo de Oportunidad de un Agente Consumidor.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accent1"/>
                </a:solidFill>
                <a:latin typeface="Century Gothic"/>
                <a:cs typeface="Arial"/>
              </a:rPr>
              <a:t>Costo de Oportunidad de un Agente Ahorrador.</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Inversionista.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Consolidación.</a:t>
            </a: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rgbClr val="48BE7A"/>
              </a:buClr>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C68ECCBE-C147-7EAD-60B9-8CA1D143195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7740900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AHORRADOR</a:t>
            </a:r>
          </a:p>
        </p:txBody>
      </p:sp>
      <p:sp>
        <p:nvSpPr>
          <p:cNvPr id="19" name="Content Placeholder 6"/>
          <p:cNvSpPr>
            <a:spLocks noGrp="1"/>
          </p:cNvSpPr>
          <p:nvPr>
            <p:ph idx="1"/>
          </p:nvPr>
        </p:nvSpPr>
        <p:spPr>
          <a:xfrm>
            <a:off x="763728" y="2907188"/>
            <a:ext cx="7728918" cy="3670767"/>
          </a:xfrm>
        </p:spPr>
        <p:txBody>
          <a:bodyPr>
            <a:normAutofit/>
          </a:bodyPr>
          <a:lstStyle/>
          <a:p>
            <a:pPr marL="0" indent="0" algn="ctr">
              <a:buNone/>
            </a:pPr>
            <a:r>
              <a:rPr lang="es-ES_tradnl" b="1" dirty="0">
                <a:solidFill>
                  <a:schemeClr val="accent1"/>
                </a:solidFill>
                <a:latin typeface="Century Gothic"/>
              </a:rPr>
              <a:t>Ahorrar </a:t>
            </a:r>
            <a:r>
              <a:rPr lang="es-ES_tradnl" dirty="0">
                <a:latin typeface="Century Gothic"/>
              </a:rPr>
              <a:t>es la capacidad de reservar parte de sus ingresos actuales </a:t>
            </a:r>
            <a:r>
              <a:rPr lang="es-ES_tradnl">
                <a:latin typeface="Century Gothic"/>
              </a:rPr>
              <a:t>para ingresos en el futuro.</a:t>
            </a:r>
          </a:p>
          <a:p>
            <a:pPr marL="0" indent="0" algn="ctr">
              <a:buNone/>
            </a:pPr>
            <a:endParaRPr lang="es-ES_tradnl" dirty="0">
              <a:latin typeface="Century Gothic" panose="020B0502020202020204" pitchFamily="34" charset="0"/>
            </a:endParaRPr>
          </a:p>
          <a:p>
            <a:pPr marL="0" indent="0" algn="ctr">
              <a:buNone/>
            </a:pPr>
            <a:r>
              <a:rPr lang="es-ES_tradnl" b="1" dirty="0">
                <a:solidFill>
                  <a:schemeClr val="accent1"/>
                </a:solidFill>
                <a:latin typeface="Century Gothic" panose="020B0502020202020204" pitchFamily="34" charset="0"/>
              </a:rPr>
              <a:t>¿Por qué alguien ahorra dinero?</a:t>
            </a:r>
          </a:p>
          <a:p>
            <a:pPr marL="0" indent="0" algn="ctr">
              <a:buNone/>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Es una decisión racional, en la que el agente sacrifica el consumo presente en aras de </a:t>
            </a:r>
            <a:r>
              <a:rPr lang="es-ES_tradnl" b="1" u="sng" dirty="0">
                <a:solidFill>
                  <a:srgbClr val="D7A700"/>
                </a:solidFill>
                <a:latin typeface="Century Gothic" panose="020B0502020202020204" pitchFamily="34" charset="0"/>
              </a:rPr>
              <a:t>aumentar</a:t>
            </a:r>
            <a:r>
              <a:rPr lang="es-ES_tradnl" dirty="0">
                <a:latin typeface="Century Gothic" panose="020B0502020202020204" pitchFamily="34" charset="0"/>
              </a:rPr>
              <a:t> el consumo futuro.</a:t>
            </a:r>
          </a:p>
          <a:p>
            <a:pPr algn="ctr">
              <a:buFont typeface="Wingdings" charset="2"/>
              <a:buChar char="§"/>
            </a:pPr>
            <a:endParaRPr lang="es-ES_tradnl" dirty="0">
              <a:latin typeface="Century Gothic" panose="020B0502020202020204" pitchFamily="34" charset="0"/>
            </a:endParaRPr>
          </a:p>
          <a:p>
            <a:pPr marL="0" indent="0" algn="ctr">
              <a:buNone/>
            </a:pPr>
            <a:r>
              <a:rPr lang="es-ES_tradnl" b="1">
                <a:solidFill>
                  <a:srgbClr val="C00000"/>
                </a:solidFill>
                <a:latin typeface="Century Gothic"/>
              </a:rPr>
              <a:t>Cuando pone la plata debajo del colchón, ¿está ahorrando?</a:t>
            </a:r>
          </a:p>
          <a:p>
            <a:pPr algn="ctr">
              <a:buFont typeface="Wingdings" charset="2"/>
              <a:buChar char="§"/>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19</a:t>
            </a:fld>
            <a:endParaRPr lang="en-US" sz="2000" b="1">
              <a:latin typeface="Century Gothic" panose="020B0502020202020204" pitchFamily="34" charset="0"/>
            </a:endParaRPr>
          </a:p>
        </p:txBody>
      </p:sp>
      <p:sp>
        <p:nvSpPr>
          <p:cNvPr id="10" name="Rectángulo 9"/>
          <p:cNvSpPr/>
          <p:nvPr/>
        </p:nvSpPr>
        <p:spPr>
          <a:xfrm>
            <a:off x="570982" y="2149633"/>
            <a:ext cx="1723742"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Ahorrador</a:t>
            </a:r>
          </a:p>
        </p:txBody>
      </p:sp>
      <p:sp>
        <p:nvSpPr>
          <p:cNvPr id="2" name="Rectángulo 1">
            <a:extLst>
              <a:ext uri="{FF2B5EF4-FFF2-40B4-BE49-F238E27FC236}">
                <a16:creationId xmlns:a16="http://schemas.microsoft.com/office/drawing/2014/main" id="{2A3CE6DC-E38E-5E04-C417-935BB20AE60A}"/>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8FCE4AF-8390-457F-67B6-B3C2BA2ABD1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2050" name="Picture 2" descr="Fomenta en tus hijos la cultura del ahorro - Diario de Querétaro | Noticias  Locales, Policiacas, de México, Querétaro y el Mundo">
            <a:extLst>
              <a:ext uri="{FF2B5EF4-FFF2-40B4-BE49-F238E27FC236}">
                <a16:creationId xmlns:a16="http://schemas.microsoft.com/office/drawing/2014/main" id="{698BB58B-4423-6B70-E72C-2E231BBBDD13}"/>
              </a:ext>
            </a:extLst>
          </p:cNvPr>
          <p:cNvPicPr>
            <a:picLocks noChangeAspect="1" noChangeArrowheads="1"/>
          </p:cNvPicPr>
          <p:nvPr/>
        </p:nvPicPr>
        <p:blipFill rotWithShape="1">
          <a:blip r:embed="rId4">
            <a:extLst>
              <a:ext uri="{28A0092B-C50C-407E-A947-70E740481C1C}">
                <a14:useLocalDpi xmlns:a14="http://schemas.microsoft.com/office/drawing/2010/main" val="0"/>
              </a:ext>
            </a:extLst>
          </a:blip>
          <a:srcRect l="6533" r="17284"/>
          <a:stretch/>
        </p:blipFill>
        <p:spPr bwMode="auto">
          <a:xfrm>
            <a:off x="9116657" y="2611298"/>
            <a:ext cx="2093157" cy="1715956"/>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5D729E14-A445-A3A0-C1D4-60A4A609D26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80294831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Effect transition="in" filter="blinds(horizontal)">
                                      <p:cBhvr>
                                        <p:cTn id="7" dur="500"/>
                                        <p:tgtEl>
                                          <p:spTgt spid="19">
                                            <p:txEl>
                                              <p:pRg st="2" end="2"/>
                                            </p:txEl>
                                          </p:spTgt>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9">
                                            <p:txEl>
                                              <p:pRg st="4" end="4"/>
                                            </p:txEl>
                                          </p:spTgt>
                                        </p:tgtEl>
                                        <p:attrNameLst>
                                          <p:attrName>style.visibility</p:attrName>
                                        </p:attrNameLst>
                                      </p:cBhvr>
                                      <p:to>
                                        <p:strVal val="visible"/>
                                      </p:to>
                                    </p:set>
                                    <p:animEffect transition="in" filter="blinds(horizontal)">
                                      <p:cBhvr>
                                        <p:cTn id="12" dur="500"/>
                                        <p:tgtEl>
                                          <p:spTgt spid="19">
                                            <p:txEl>
                                              <p:pRg st="4" end="4"/>
                                            </p:txEl>
                                          </p:spTgt>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19">
                                            <p:txEl>
                                              <p:pRg st="6" end="6"/>
                                            </p:txEl>
                                          </p:spTgt>
                                        </p:tgtEl>
                                        <p:attrNameLst>
                                          <p:attrName>style.visibility</p:attrName>
                                        </p:attrNameLst>
                                      </p:cBhvr>
                                      <p:to>
                                        <p:strVal val="visible"/>
                                      </p:to>
                                    </p:set>
                                    <p:anim calcmode="lin" valueType="num">
                                      <p:cBhvr additive="base">
                                        <p:cTn id="17"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18" dur="500" fill="hold"/>
                                        <p:tgtEl>
                                          <p:spTgt spid="19">
                                            <p:txEl>
                                              <p:pRg st="6" end="6"/>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AHORRADOR</a:t>
            </a:r>
          </a:p>
        </p:txBody>
      </p:sp>
      <p:sp>
        <p:nvSpPr>
          <p:cNvPr id="19" name="Content Placeholder 6"/>
          <p:cNvSpPr>
            <a:spLocks noGrp="1"/>
          </p:cNvSpPr>
          <p:nvPr>
            <p:ph idx="1"/>
          </p:nvPr>
        </p:nvSpPr>
        <p:spPr>
          <a:xfrm>
            <a:off x="4719286" y="2650495"/>
            <a:ext cx="7168457" cy="3670767"/>
          </a:xfrm>
        </p:spPr>
        <p:txBody>
          <a:bodyPr>
            <a:noAutofit/>
          </a:bodyPr>
          <a:lstStyle/>
          <a:p>
            <a:pPr marL="0" indent="0" algn="ctr">
              <a:buNone/>
            </a:pPr>
            <a:r>
              <a:rPr lang="es-ES_tradnl" dirty="0">
                <a:latin typeface="Century Gothic" panose="020B0502020202020204" pitchFamily="34" charset="0"/>
              </a:rPr>
              <a:t>Ahorrar es prestar dinero hoy, a cambio de un interés.</a:t>
            </a:r>
          </a:p>
          <a:p>
            <a:pPr marL="0" indent="0" algn="ctr">
              <a:buNone/>
            </a:pPr>
            <a:endParaRPr lang="es-ES_tradnl" dirty="0">
              <a:latin typeface="Century Gothic" panose="020B0502020202020204" pitchFamily="34" charset="0"/>
            </a:endParaRPr>
          </a:p>
          <a:p>
            <a:pPr marL="0" indent="0" algn="ctr">
              <a:buNone/>
            </a:pPr>
            <a:r>
              <a:rPr lang="es-ES_tradnl" b="1" dirty="0">
                <a:solidFill>
                  <a:srgbClr val="D7A700"/>
                </a:solidFill>
                <a:latin typeface="Century Gothic" panose="020B0502020202020204" pitchFamily="34" charset="0"/>
              </a:rPr>
              <a:t>¿Cuál es el costo de oportunidad del ahorrador?</a:t>
            </a:r>
          </a:p>
          <a:p>
            <a:pPr marL="0" indent="0" algn="ctr">
              <a:buNone/>
            </a:pPr>
            <a:r>
              <a:rPr lang="es-ES_tradnl" b="1" dirty="0">
                <a:solidFill>
                  <a:srgbClr val="C00000"/>
                </a:solidFill>
                <a:latin typeface="Century Gothic" panose="020B0502020202020204" pitchFamily="34" charset="0"/>
              </a:rPr>
              <a:t>La tasa de captación ofrecida en el mercado financiero.</a:t>
            </a:r>
          </a:p>
          <a:p>
            <a:pPr marL="0" indent="0" algn="ctr">
              <a:buNone/>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El ahorro se hace típicamente al adquirir activos financieros:</a:t>
            </a:r>
          </a:p>
          <a:p>
            <a:pPr lvl="1" algn="ctr">
              <a:buFont typeface="Arial"/>
              <a:buChar char="•"/>
            </a:pPr>
            <a:r>
              <a:rPr lang="es-ES_tradnl" sz="1800" dirty="0">
                <a:latin typeface="Century Gothic" panose="020B0502020202020204" pitchFamily="34" charset="0"/>
              </a:rPr>
              <a:t>Certificado de Depósito a Término (CDT).</a:t>
            </a:r>
          </a:p>
          <a:p>
            <a:pPr lvl="1" algn="ctr">
              <a:buFont typeface="Arial"/>
              <a:buChar char="•"/>
            </a:pPr>
            <a:r>
              <a:rPr lang="es-ES_tradnl" sz="1800" dirty="0">
                <a:latin typeface="Century Gothic" panose="020B0502020202020204" pitchFamily="34" charset="0"/>
              </a:rPr>
              <a:t>Título de Deuda Pública (TES).</a:t>
            </a:r>
          </a:p>
          <a:p>
            <a:pPr algn="just">
              <a:buFont typeface="Wingdings" charset="2"/>
              <a:buChar char="§"/>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20</a:t>
            </a:fld>
            <a:endParaRPr lang="en-US" sz="2000" b="1">
              <a:latin typeface="Century Gothic" panose="020B0502020202020204" pitchFamily="34" charset="0"/>
            </a:endParaRPr>
          </a:p>
        </p:txBody>
      </p:sp>
      <p:sp>
        <p:nvSpPr>
          <p:cNvPr id="10" name="Rectángulo 9"/>
          <p:cNvSpPr/>
          <p:nvPr/>
        </p:nvSpPr>
        <p:spPr>
          <a:xfrm>
            <a:off x="570982" y="2149633"/>
            <a:ext cx="1723742"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Ahorrador</a:t>
            </a:r>
          </a:p>
        </p:txBody>
      </p:sp>
      <p:sp>
        <p:nvSpPr>
          <p:cNvPr id="2" name="Rectángulo 1">
            <a:extLst>
              <a:ext uri="{FF2B5EF4-FFF2-40B4-BE49-F238E27FC236}">
                <a16:creationId xmlns:a16="http://schemas.microsoft.com/office/drawing/2014/main" id="{65C32170-85D0-AB45-8DC7-F58FC89F844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546D15E8-C536-CF7F-1AC7-0607A085E54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FDB0728E-DECF-94C1-3696-EFD41B7AC86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 name="Picture 7" descr="El Banco de la República subió las tasas de interés hasta 12%, con un alza  de 75 puntos básicos">
            <a:extLst>
              <a:ext uri="{FF2B5EF4-FFF2-40B4-BE49-F238E27FC236}">
                <a16:creationId xmlns:a16="http://schemas.microsoft.com/office/drawing/2014/main" id="{BC002090-F9A0-1BAC-B29B-47844D0085AD}"/>
              </a:ext>
            </a:extLst>
          </p:cNvPr>
          <p:cNvPicPr>
            <a:picLocks noChangeAspect="1"/>
          </p:cNvPicPr>
          <p:nvPr/>
        </p:nvPicPr>
        <p:blipFill>
          <a:blip r:embed="rId4"/>
          <a:stretch>
            <a:fillRect/>
          </a:stretch>
        </p:blipFill>
        <p:spPr>
          <a:xfrm>
            <a:off x="581192" y="2802904"/>
            <a:ext cx="3463034" cy="2885862"/>
          </a:xfrm>
          <a:prstGeom prst="rect">
            <a:avLst/>
          </a:prstGeom>
        </p:spPr>
      </p:pic>
    </p:spTree>
    <p:extLst>
      <p:ext uri="{BB962C8B-B14F-4D97-AF65-F5344CB8AC3E}">
        <p14:creationId xmlns:p14="http://schemas.microsoft.com/office/powerpoint/2010/main" val="84564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anim calcmode="lin" valueType="num">
                                      <p:cBhvr additive="base">
                                        <p:cTn id="7" dur="500" fill="hold"/>
                                        <p:tgtEl>
                                          <p:spTgt spid="19">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19">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19">
                                            <p:txEl>
                                              <p:pRg st="3" end="3"/>
                                            </p:txEl>
                                          </p:spTgt>
                                        </p:tgtEl>
                                        <p:attrNameLst>
                                          <p:attrName>style.visibility</p:attrName>
                                        </p:attrNameLst>
                                      </p:cBhvr>
                                      <p:to>
                                        <p:strVal val="visible"/>
                                      </p:to>
                                    </p:set>
                                    <p:anim calcmode="lin" valueType="num">
                                      <p:cBhvr additive="base">
                                        <p:cTn id="13" dur="500" fill="hold"/>
                                        <p:tgtEl>
                                          <p:spTgt spid="19">
                                            <p:txEl>
                                              <p:pRg st="3" end="3"/>
                                            </p:txEl>
                                          </p:spTgt>
                                        </p:tgtEl>
                                        <p:attrNameLst>
                                          <p:attrName>ppt_x</p:attrName>
                                        </p:attrNameLst>
                                      </p:cBhvr>
                                      <p:tavLst>
                                        <p:tav tm="0">
                                          <p:val>
                                            <p:strVal val="#ppt_x"/>
                                          </p:val>
                                        </p:tav>
                                        <p:tav tm="100000">
                                          <p:val>
                                            <p:strVal val="#ppt_x"/>
                                          </p:val>
                                        </p:tav>
                                      </p:tavLst>
                                    </p:anim>
                                    <p:anim calcmode="lin" valueType="num">
                                      <p:cBhvr additive="base">
                                        <p:cTn id="14" dur="500" fill="hold"/>
                                        <p:tgtEl>
                                          <p:spTgt spid="19">
                                            <p:txEl>
                                              <p:pRg st="3" end="3"/>
                                            </p:txEl>
                                          </p:spTgt>
                                        </p:tgtEl>
                                        <p:attrNameLst>
                                          <p:attrName>ppt_y</p:attrName>
                                        </p:attrNameLst>
                                      </p:cBhvr>
                                      <p:tavLst>
                                        <p:tav tm="0">
                                          <p:val>
                                            <p:strVal val="1+#ppt_h/2"/>
                                          </p:val>
                                        </p:tav>
                                        <p:tav tm="100000">
                                          <p:val>
                                            <p:strVal val="#ppt_y"/>
                                          </p:val>
                                        </p:tav>
                                      </p:tavLst>
                                    </p:anim>
                                  </p:childTnLst>
                                </p:cTn>
                              </p:par>
                            </p:childTnLst>
                          </p:cTn>
                        </p:par>
                      </p:childTnLst>
                    </p:cTn>
                  </p:par>
                  <p:par>
                    <p:cTn id="15" fill="hold">
                      <p:stCondLst>
                        <p:cond delay="indefinite"/>
                      </p:stCondLst>
                      <p:childTnLst>
                        <p:par>
                          <p:cTn id="16" fill="hold">
                            <p:stCondLst>
                              <p:cond delay="0"/>
                            </p:stCondLst>
                            <p:childTnLst>
                              <p:par>
                                <p:cTn id="17" presetID="2" presetClass="entr" presetSubtype="4" fill="hold" nodeType="clickEffect">
                                  <p:stCondLst>
                                    <p:cond delay="0"/>
                                  </p:stCondLst>
                                  <p:childTnLst>
                                    <p:set>
                                      <p:cBhvr>
                                        <p:cTn id="18" dur="1" fill="hold">
                                          <p:stCondLst>
                                            <p:cond delay="0"/>
                                          </p:stCondLst>
                                        </p:cTn>
                                        <p:tgtEl>
                                          <p:spTgt spid="19">
                                            <p:txEl>
                                              <p:pRg st="5" end="5"/>
                                            </p:txEl>
                                          </p:spTgt>
                                        </p:tgtEl>
                                        <p:attrNameLst>
                                          <p:attrName>style.visibility</p:attrName>
                                        </p:attrNameLst>
                                      </p:cBhvr>
                                      <p:to>
                                        <p:strVal val="visible"/>
                                      </p:to>
                                    </p:set>
                                    <p:anim calcmode="lin" valueType="num">
                                      <p:cBhvr additive="base">
                                        <p:cTn id="19" dur="500" fill="hold"/>
                                        <p:tgtEl>
                                          <p:spTgt spid="19">
                                            <p:txEl>
                                              <p:pRg st="5" end="5"/>
                                            </p:txEl>
                                          </p:spTgt>
                                        </p:tgtEl>
                                        <p:attrNameLst>
                                          <p:attrName>ppt_x</p:attrName>
                                        </p:attrNameLst>
                                      </p:cBhvr>
                                      <p:tavLst>
                                        <p:tav tm="0">
                                          <p:val>
                                            <p:strVal val="#ppt_x"/>
                                          </p:val>
                                        </p:tav>
                                        <p:tav tm="100000">
                                          <p:val>
                                            <p:strVal val="#ppt_x"/>
                                          </p:val>
                                        </p:tav>
                                      </p:tavLst>
                                    </p:anim>
                                    <p:anim calcmode="lin" valueType="num">
                                      <p:cBhvr additive="base">
                                        <p:cTn id="20" dur="500" fill="hold"/>
                                        <p:tgtEl>
                                          <p:spTgt spid="19">
                                            <p:txEl>
                                              <p:pRg st="5" end="5"/>
                                            </p:txEl>
                                          </p:spTgt>
                                        </p:tgtEl>
                                        <p:attrNameLst>
                                          <p:attrName>ppt_y</p:attrName>
                                        </p:attrNameLst>
                                      </p:cBhvr>
                                      <p:tavLst>
                                        <p:tav tm="0">
                                          <p:val>
                                            <p:strVal val="1+#ppt_h/2"/>
                                          </p:val>
                                        </p:tav>
                                        <p:tav tm="100000">
                                          <p:val>
                                            <p:strVal val="#ppt_y"/>
                                          </p:val>
                                        </p:tav>
                                      </p:tavLst>
                                    </p:anim>
                                  </p:childTnLst>
                                </p:cTn>
                              </p:par>
                              <p:par>
                                <p:cTn id="21" presetID="2" presetClass="entr" presetSubtype="4" fill="hold" nodeType="withEffect">
                                  <p:stCondLst>
                                    <p:cond delay="0"/>
                                  </p:stCondLst>
                                  <p:childTnLst>
                                    <p:set>
                                      <p:cBhvr>
                                        <p:cTn id="22" dur="1" fill="hold">
                                          <p:stCondLst>
                                            <p:cond delay="0"/>
                                          </p:stCondLst>
                                        </p:cTn>
                                        <p:tgtEl>
                                          <p:spTgt spid="19">
                                            <p:txEl>
                                              <p:pRg st="6" end="6"/>
                                            </p:txEl>
                                          </p:spTgt>
                                        </p:tgtEl>
                                        <p:attrNameLst>
                                          <p:attrName>style.visibility</p:attrName>
                                        </p:attrNameLst>
                                      </p:cBhvr>
                                      <p:to>
                                        <p:strVal val="visible"/>
                                      </p:to>
                                    </p:set>
                                    <p:anim calcmode="lin" valueType="num">
                                      <p:cBhvr additive="base">
                                        <p:cTn id="23" dur="500" fill="hold"/>
                                        <p:tgtEl>
                                          <p:spTgt spid="19">
                                            <p:txEl>
                                              <p:pRg st="6" end="6"/>
                                            </p:txEl>
                                          </p:spTgt>
                                        </p:tgtEl>
                                        <p:attrNameLst>
                                          <p:attrName>ppt_x</p:attrName>
                                        </p:attrNameLst>
                                      </p:cBhvr>
                                      <p:tavLst>
                                        <p:tav tm="0">
                                          <p:val>
                                            <p:strVal val="#ppt_x"/>
                                          </p:val>
                                        </p:tav>
                                        <p:tav tm="100000">
                                          <p:val>
                                            <p:strVal val="#ppt_x"/>
                                          </p:val>
                                        </p:tav>
                                      </p:tavLst>
                                    </p:anim>
                                    <p:anim calcmode="lin" valueType="num">
                                      <p:cBhvr additive="base">
                                        <p:cTn id="24" dur="500" fill="hold"/>
                                        <p:tgtEl>
                                          <p:spTgt spid="19">
                                            <p:txEl>
                                              <p:pRg st="6" end="6"/>
                                            </p:txEl>
                                          </p:spTgt>
                                        </p:tgtEl>
                                        <p:attrNameLst>
                                          <p:attrName>ppt_y</p:attrName>
                                        </p:attrNameLst>
                                      </p:cBhvr>
                                      <p:tavLst>
                                        <p:tav tm="0">
                                          <p:val>
                                            <p:strVal val="1+#ppt_h/2"/>
                                          </p:val>
                                        </p:tav>
                                        <p:tav tm="100000">
                                          <p:val>
                                            <p:strVal val="#ppt_y"/>
                                          </p:val>
                                        </p:tav>
                                      </p:tavLst>
                                    </p:anim>
                                  </p:childTnLst>
                                </p:cTn>
                              </p:par>
                              <p:par>
                                <p:cTn id="25" presetID="2" presetClass="entr" presetSubtype="4" fill="hold" nodeType="withEffect">
                                  <p:stCondLst>
                                    <p:cond delay="0"/>
                                  </p:stCondLst>
                                  <p:childTnLst>
                                    <p:set>
                                      <p:cBhvr>
                                        <p:cTn id="26" dur="1" fill="hold">
                                          <p:stCondLst>
                                            <p:cond delay="0"/>
                                          </p:stCondLst>
                                        </p:cTn>
                                        <p:tgtEl>
                                          <p:spTgt spid="19">
                                            <p:txEl>
                                              <p:pRg st="7" end="7"/>
                                            </p:txEl>
                                          </p:spTgt>
                                        </p:tgtEl>
                                        <p:attrNameLst>
                                          <p:attrName>style.visibility</p:attrName>
                                        </p:attrNameLst>
                                      </p:cBhvr>
                                      <p:to>
                                        <p:strVal val="visible"/>
                                      </p:to>
                                    </p:set>
                                    <p:anim calcmode="lin" valueType="num">
                                      <p:cBhvr additive="base">
                                        <p:cTn id="27" dur="500" fill="hold"/>
                                        <p:tgtEl>
                                          <p:spTgt spid="19">
                                            <p:txEl>
                                              <p:pRg st="7" end="7"/>
                                            </p:txEl>
                                          </p:spTgt>
                                        </p:tgtEl>
                                        <p:attrNameLst>
                                          <p:attrName>ppt_x</p:attrName>
                                        </p:attrNameLst>
                                      </p:cBhvr>
                                      <p:tavLst>
                                        <p:tav tm="0">
                                          <p:val>
                                            <p:strVal val="#ppt_x"/>
                                          </p:val>
                                        </p:tav>
                                        <p:tav tm="100000">
                                          <p:val>
                                            <p:strVal val="#ppt_x"/>
                                          </p:val>
                                        </p:tav>
                                      </p:tavLst>
                                    </p:anim>
                                    <p:anim calcmode="lin" valueType="num">
                                      <p:cBhvr additive="base">
                                        <p:cTn id="28" dur="500" fill="hold"/>
                                        <p:tgtEl>
                                          <p:spTgt spid="19">
                                            <p:txEl>
                                              <p:pRg st="7" end="7"/>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3DE51D-4F5E-96B0-636A-B98242F2059A}"/>
              </a:ext>
            </a:extLst>
          </p:cNvPr>
          <p:cNvSpPr>
            <a:spLocks noGrp="1"/>
          </p:cNvSpPr>
          <p:nvPr>
            <p:ph type="title"/>
          </p:nvPr>
        </p:nvSpPr>
        <p:spPr/>
        <p:txBody>
          <a:bodyPr/>
          <a:lstStyle/>
          <a:p>
            <a:r>
              <a:rPr lang="es-ES_tradnl" dirty="0" err="1"/>
              <a:t>Cdt</a:t>
            </a:r>
            <a:r>
              <a:rPr lang="es-ES_tradnl" dirty="0"/>
              <a:t> y tes</a:t>
            </a:r>
          </a:p>
        </p:txBody>
      </p:sp>
      <p:pic>
        <p:nvPicPr>
          <p:cNvPr id="5" name="Content Placeholder 4">
            <a:extLst>
              <a:ext uri="{FF2B5EF4-FFF2-40B4-BE49-F238E27FC236}">
                <a16:creationId xmlns:a16="http://schemas.microsoft.com/office/drawing/2014/main" id="{00A46C1E-F593-6B50-5EFA-9A396113BA60}"/>
              </a:ext>
            </a:extLst>
          </p:cNvPr>
          <p:cNvPicPr>
            <a:picLocks noGrp="1" noChangeAspect="1"/>
          </p:cNvPicPr>
          <p:nvPr>
            <p:ph idx="1"/>
          </p:nvPr>
        </p:nvPicPr>
        <p:blipFill>
          <a:blip r:embed="rId3"/>
          <a:stretch>
            <a:fillRect/>
          </a:stretch>
        </p:blipFill>
        <p:spPr>
          <a:xfrm>
            <a:off x="655229" y="2076897"/>
            <a:ext cx="3983651" cy="3678238"/>
          </a:xfrm>
          <a:prstGeom prst="rect">
            <a:avLst/>
          </a:prstGeom>
        </p:spPr>
      </p:pic>
      <p:sp>
        <p:nvSpPr>
          <p:cNvPr id="4" name="Slide Number Placeholder 3">
            <a:extLst>
              <a:ext uri="{FF2B5EF4-FFF2-40B4-BE49-F238E27FC236}">
                <a16:creationId xmlns:a16="http://schemas.microsoft.com/office/drawing/2014/main" id="{C0F2EA8B-59C0-FFCD-034A-D3F0ECB9BB12}"/>
              </a:ext>
            </a:extLst>
          </p:cNvPr>
          <p:cNvSpPr>
            <a:spLocks noGrp="1"/>
          </p:cNvSpPr>
          <p:nvPr>
            <p:ph type="sldNum" sz="quarter" idx="12"/>
          </p:nvPr>
        </p:nvSpPr>
        <p:spPr/>
        <p:txBody>
          <a:bodyPr/>
          <a:lstStyle/>
          <a:p>
            <a:fld id="{D57F1E4F-1CFF-5643-939E-217C01CDF565}" type="slidenum">
              <a:rPr lang="en-US" smtClean="0"/>
              <a:pPr/>
              <a:t>21</a:t>
            </a:fld>
            <a:endParaRPr lang="en-US"/>
          </a:p>
        </p:txBody>
      </p:sp>
      <p:pic>
        <p:nvPicPr>
          <p:cNvPr id="6" name="Picture 5" descr="Los bonos TES de corto y largo plazo arrancan el año con tasas por encima  de 11%">
            <a:extLst>
              <a:ext uri="{FF2B5EF4-FFF2-40B4-BE49-F238E27FC236}">
                <a16:creationId xmlns:a16="http://schemas.microsoft.com/office/drawing/2014/main" id="{F442ACC0-2AF3-5A66-4603-D0DF5D68397D}"/>
              </a:ext>
            </a:extLst>
          </p:cNvPr>
          <p:cNvPicPr>
            <a:picLocks noChangeAspect="1"/>
          </p:cNvPicPr>
          <p:nvPr/>
        </p:nvPicPr>
        <p:blipFill>
          <a:blip r:embed="rId4"/>
          <a:stretch>
            <a:fillRect/>
          </a:stretch>
        </p:blipFill>
        <p:spPr>
          <a:xfrm>
            <a:off x="6182324" y="1999620"/>
            <a:ext cx="4987468" cy="4156224"/>
          </a:xfrm>
          <a:prstGeom prst="rect">
            <a:avLst/>
          </a:prstGeom>
        </p:spPr>
      </p:pic>
    </p:spTree>
    <p:extLst>
      <p:ext uri="{BB962C8B-B14F-4D97-AF65-F5344CB8AC3E}">
        <p14:creationId xmlns:p14="http://schemas.microsoft.com/office/powerpoint/2010/main" val="2648019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AHORRADOR</a:t>
            </a:r>
          </a:p>
        </p:txBody>
      </p:sp>
      <p:sp>
        <p:nvSpPr>
          <p:cNvPr id="19" name="Content Placeholder 6"/>
          <p:cNvSpPr>
            <a:spLocks noGrp="1"/>
          </p:cNvSpPr>
          <p:nvPr>
            <p:ph idx="1"/>
          </p:nvPr>
        </p:nvSpPr>
        <p:spPr>
          <a:xfrm>
            <a:off x="1235676" y="1865240"/>
            <a:ext cx="9440562" cy="2278135"/>
          </a:xfrm>
        </p:spPr>
        <p:txBody>
          <a:bodyPr>
            <a:normAutofit/>
          </a:bodyPr>
          <a:lstStyle/>
          <a:p>
            <a:pPr marL="0" indent="0" algn="just">
              <a:buNone/>
            </a:pPr>
            <a:r>
              <a:rPr lang="es-ES_tradnl" dirty="0">
                <a:latin typeface="Century Gothic" panose="020B0502020202020204" pitchFamily="34" charset="0"/>
              </a:rPr>
              <a:t>Dado que la lógica del </a:t>
            </a:r>
            <a:r>
              <a:rPr lang="es-ES_tradnl" b="1" dirty="0">
                <a:solidFill>
                  <a:srgbClr val="D7A700"/>
                </a:solidFill>
                <a:latin typeface="Century Gothic" panose="020B0502020202020204" pitchFamily="34" charset="0"/>
              </a:rPr>
              <a:t>AHORRADOR</a:t>
            </a:r>
            <a:r>
              <a:rPr lang="es-ES_tradnl" dirty="0">
                <a:latin typeface="Century Gothic" panose="020B0502020202020204" pitchFamily="34" charset="0"/>
              </a:rPr>
              <a:t> es defenderse contra la inflación y/o sacrificar consumo hoy para consumir más mañana, </a:t>
            </a:r>
            <a:r>
              <a:rPr lang="es-ES_tradnl" b="1" dirty="0">
                <a:solidFill>
                  <a:schemeClr val="accent1"/>
                </a:solidFill>
                <a:latin typeface="Century Gothic" panose="020B0502020202020204" pitchFamily="34" charset="0"/>
              </a:rPr>
              <a:t>¿cuál es la tasa de interés (R) que debe exigir si el agente es racional?</a:t>
            </a:r>
          </a:p>
          <a:p>
            <a:pPr algn="just"/>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22</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D20E6635-6D4F-7E75-0824-DE1A90393B86}"/>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D2051D7E-41BA-B018-062E-6A26F671477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4098" name="Picture 2" descr="Qué es la inflación? - El Orden Mundial - EOM">
            <a:extLst>
              <a:ext uri="{FF2B5EF4-FFF2-40B4-BE49-F238E27FC236}">
                <a16:creationId xmlns:a16="http://schemas.microsoft.com/office/drawing/2014/main" id="{965A3BCA-A013-6F05-A7C8-B45294EE4FB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10935" y="4342547"/>
            <a:ext cx="3290044" cy="2100649"/>
          </a:xfrm>
          <a:prstGeom prst="rect">
            <a:avLst/>
          </a:prstGeom>
          <a:noFill/>
          <a:extLst>
            <a:ext uri="{909E8E84-426E-40DD-AFC4-6F175D3DCCD1}">
              <a14:hiddenFill xmlns:a14="http://schemas.microsoft.com/office/drawing/2010/main">
                <a:solidFill>
                  <a:srgbClr val="FFFFFF"/>
                </a:solidFill>
              </a14:hiddenFill>
            </a:ext>
          </a:extLst>
        </p:spPr>
      </p:pic>
      <p:sp>
        <p:nvSpPr>
          <p:cNvPr id="7" name="CuadroTexto 6">
            <a:extLst>
              <a:ext uri="{FF2B5EF4-FFF2-40B4-BE49-F238E27FC236}">
                <a16:creationId xmlns:a16="http://schemas.microsoft.com/office/drawing/2014/main" id="{9DDD56A2-857E-9508-67BE-08265C972FA5}"/>
              </a:ext>
            </a:extLst>
          </p:cNvPr>
          <p:cNvSpPr txBox="1"/>
          <p:nvPr/>
        </p:nvSpPr>
        <p:spPr>
          <a:xfrm>
            <a:off x="3045619" y="3688963"/>
            <a:ext cx="6100762" cy="369332"/>
          </a:xfrm>
          <a:prstGeom prst="rect">
            <a:avLst/>
          </a:prstGeom>
          <a:noFill/>
        </p:spPr>
        <p:txBody>
          <a:bodyPr wrap="square">
            <a:spAutoFit/>
          </a:bodyPr>
          <a:lstStyle/>
          <a:p>
            <a:pPr marL="0" indent="0" algn="ctr">
              <a:buNone/>
            </a:pPr>
            <a:r>
              <a:rPr lang="es-ES_tradnl" b="1" dirty="0">
                <a:solidFill>
                  <a:srgbClr val="C00000"/>
                </a:solidFill>
                <a:latin typeface="Century Gothic" panose="020B0502020202020204" pitchFamily="34" charset="0"/>
              </a:rPr>
              <a:t>R &gt; Inflación (</a:t>
            </a:r>
            <a:r>
              <a:rPr lang="en-US" b="1" dirty="0">
                <a:solidFill>
                  <a:srgbClr val="C00000"/>
                </a:solidFill>
                <a:latin typeface="Century Gothic" panose="020B0502020202020204" pitchFamily="34" charset="0"/>
              </a:rPr>
              <a:t>∆ </a:t>
            </a:r>
            <a:r>
              <a:rPr lang="es-ES_tradnl" b="1" dirty="0">
                <a:solidFill>
                  <a:srgbClr val="C00000"/>
                </a:solidFill>
                <a:latin typeface="Century Gothic" panose="020B0502020202020204" pitchFamily="34" charset="0"/>
              </a:rPr>
              <a:t>IPC)</a:t>
            </a:r>
          </a:p>
        </p:txBody>
      </p:sp>
      <p:sp>
        <p:nvSpPr>
          <p:cNvPr id="6" name="Rectángulo 5">
            <a:extLst>
              <a:ext uri="{FF2B5EF4-FFF2-40B4-BE49-F238E27FC236}">
                <a16:creationId xmlns:a16="http://schemas.microsoft.com/office/drawing/2014/main" id="{F426B733-A979-1948-EC30-FA5A50625E2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0006392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4098"/>
                                        </p:tgtEl>
                                        <p:attrNameLst>
                                          <p:attrName>style.visibility</p:attrName>
                                        </p:attrNameLst>
                                      </p:cBhvr>
                                      <p:to>
                                        <p:strVal val="visible"/>
                                      </p:to>
                                    </p:set>
                                    <p:anim calcmode="lin" valueType="num">
                                      <p:cBhvr additive="base">
                                        <p:cTn id="7" dur="500" fill="hold"/>
                                        <p:tgtEl>
                                          <p:spTgt spid="4098"/>
                                        </p:tgtEl>
                                        <p:attrNameLst>
                                          <p:attrName>ppt_x</p:attrName>
                                        </p:attrNameLst>
                                      </p:cBhvr>
                                      <p:tavLst>
                                        <p:tav tm="0">
                                          <p:val>
                                            <p:strVal val="#ppt_x"/>
                                          </p:val>
                                        </p:tav>
                                        <p:tav tm="100000">
                                          <p:val>
                                            <p:strVal val="#ppt_x"/>
                                          </p:val>
                                        </p:tav>
                                      </p:tavLst>
                                    </p:anim>
                                    <p:anim calcmode="lin" valueType="num">
                                      <p:cBhvr additive="base">
                                        <p:cTn id="8" dur="500" fill="hold"/>
                                        <p:tgtEl>
                                          <p:spTgt spid="4098"/>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anim calcmode="lin" valueType="num">
                                      <p:cBhvr additive="base">
                                        <p:cTn id="11" dur="500" fill="hold"/>
                                        <p:tgtEl>
                                          <p:spTgt spid="7"/>
                                        </p:tgtEl>
                                        <p:attrNameLst>
                                          <p:attrName>ppt_x</p:attrName>
                                        </p:attrNameLst>
                                      </p:cBhvr>
                                      <p:tavLst>
                                        <p:tav tm="0">
                                          <p:val>
                                            <p:strVal val="#ppt_x"/>
                                          </p:val>
                                        </p:tav>
                                        <p:tav tm="100000">
                                          <p:val>
                                            <p:strVal val="#ppt_x"/>
                                          </p:val>
                                        </p:tav>
                                      </p:tavLst>
                                    </p:anim>
                                    <p:anim calcmode="lin" valueType="num">
                                      <p:cBhvr additive="base">
                                        <p:cTn id="12"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23</a:t>
            </a:fld>
            <a:endParaRPr lang="en-US" sz="2000" b="1">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801314"/>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¿Cuáles son los Agentes Económicos?</a:t>
            </a:r>
          </a:p>
          <a:p>
            <a:pPr marL="342900" indent="-342900">
              <a:buClr>
                <a:srgbClr val="2C7C9F"/>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Costo de Oportunidad de un Agente Consumidor.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Ahorrador.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accent1"/>
                </a:solidFill>
                <a:latin typeface="Century Gothic"/>
                <a:cs typeface="Arial"/>
              </a:rPr>
              <a:t>Costo de Oportunidad de un Agente Inversionista.</a:t>
            </a: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Consolidación.</a:t>
            </a: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rgbClr val="48BE7A"/>
              </a:buClr>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4FD1BD9A-F785-C02E-C83B-2049260831CC}"/>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7831552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INVERSIONISTA</a:t>
            </a:r>
          </a:p>
        </p:txBody>
      </p:sp>
      <p:sp>
        <p:nvSpPr>
          <p:cNvPr id="19" name="Content Placeholder 6"/>
          <p:cNvSpPr>
            <a:spLocks noGrp="1"/>
          </p:cNvSpPr>
          <p:nvPr>
            <p:ph idx="1"/>
          </p:nvPr>
        </p:nvSpPr>
        <p:spPr>
          <a:xfrm>
            <a:off x="1448088" y="2777594"/>
            <a:ext cx="6561033" cy="3670767"/>
          </a:xfrm>
        </p:spPr>
        <p:txBody>
          <a:bodyPr>
            <a:normAutofit/>
          </a:bodyPr>
          <a:lstStyle/>
          <a:p>
            <a:pPr marL="0" indent="0" algn="ctr">
              <a:buNone/>
            </a:pPr>
            <a:r>
              <a:rPr lang="es-ES_tradnl" dirty="0">
                <a:latin typeface="Century Gothic" panose="020B0502020202020204" pitchFamily="34" charset="0"/>
              </a:rPr>
              <a:t>Es un individuo cuya racionalidad económica es </a:t>
            </a:r>
            <a:r>
              <a:rPr lang="es-ES_tradnl" b="1" dirty="0">
                <a:solidFill>
                  <a:srgbClr val="C00000"/>
                </a:solidFill>
                <a:latin typeface="Century Gothic" panose="020B0502020202020204" pitchFamily="34" charset="0"/>
              </a:rPr>
              <a:t>CAPTAR</a:t>
            </a:r>
            <a:r>
              <a:rPr lang="es-ES_tradnl" dirty="0">
                <a:solidFill>
                  <a:srgbClr val="000000"/>
                </a:solidFill>
                <a:latin typeface="Century Gothic" panose="020B0502020202020204" pitchFamily="34" charset="0"/>
              </a:rPr>
              <a:t> </a:t>
            </a:r>
            <a:r>
              <a:rPr lang="es-ES_tradnl" dirty="0">
                <a:latin typeface="Century Gothic" panose="020B0502020202020204" pitchFamily="34" charset="0"/>
              </a:rPr>
              <a:t>recursos financieros y </a:t>
            </a:r>
            <a:r>
              <a:rPr lang="es-ES_tradnl" b="1" dirty="0">
                <a:solidFill>
                  <a:srgbClr val="C00000"/>
                </a:solidFill>
                <a:latin typeface="Century Gothic" panose="020B0502020202020204" pitchFamily="34" charset="0"/>
              </a:rPr>
              <a:t>COLOCAR</a:t>
            </a:r>
            <a:r>
              <a:rPr lang="es-ES_tradnl" dirty="0">
                <a:solidFill>
                  <a:srgbClr val="000000"/>
                </a:solidFill>
                <a:latin typeface="Century Gothic" panose="020B0502020202020204" pitchFamily="34" charset="0"/>
              </a:rPr>
              <a:t> </a:t>
            </a:r>
            <a:r>
              <a:rPr lang="es-ES_tradnl" dirty="0">
                <a:latin typeface="Century Gothic" panose="020B0502020202020204" pitchFamily="34" charset="0"/>
              </a:rPr>
              <a:t>dichos recursos a producir en proyectos reales (</a:t>
            </a:r>
            <a:r>
              <a:rPr lang="es-ES_tradnl" b="1" dirty="0">
                <a:solidFill>
                  <a:schemeClr val="accent3">
                    <a:lumMod val="75000"/>
                  </a:schemeClr>
                </a:solidFill>
                <a:latin typeface="Century Gothic" panose="020B0502020202020204" pitchFamily="34" charset="0"/>
              </a:rPr>
              <a:t>INVERTIR</a:t>
            </a:r>
            <a:r>
              <a:rPr lang="es-ES_tradnl" dirty="0">
                <a:latin typeface="Century Gothic" panose="020B0502020202020204" pitchFamily="34" charset="0"/>
              </a:rPr>
              <a:t>), con el fin de obtener una rentabilidad que permita la creación y acumulación de </a:t>
            </a:r>
            <a:r>
              <a:rPr lang="es-ES_tradnl" b="1" dirty="0">
                <a:solidFill>
                  <a:schemeClr val="accent3">
                    <a:lumMod val="75000"/>
                  </a:schemeClr>
                </a:solidFill>
                <a:latin typeface="Century Gothic" panose="020B0502020202020204" pitchFamily="34" charset="0"/>
              </a:rPr>
              <a:t>VALOR</a:t>
            </a:r>
            <a:r>
              <a:rPr lang="es-ES_tradnl" dirty="0">
                <a:latin typeface="Century Gothic" panose="020B0502020202020204" pitchFamily="34" charset="0"/>
              </a:rPr>
              <a:t>.</a:t>
            </a:r>
          </a:p>
          <a:p>
            <a:pPr marL="0" indent="0" algn="ctr">
              <a:buNone/>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A diferencia del consumidor, el inversionista compra </a:t>
            </a:r>
            <a:r>
              <a:rPr lang="es-ES_tradnl" b="1" dirty="0">
                <a:solidFill>
                  <a:srgbClr val="D7A700"/>
                </a:solidFill>
                <a:latin typeface="Century Gothic" panose="020B0502020202020204" pitchFamily="34" charset="0"/>
              </a:rPr>
              <a:t>factores/bienes productivos</a:t>
            </a:r>
            <a:r>
              <a:rPr lang="es-ES_tradnl" dirty="0">
                <a:solidFill>
                  <a:srgbClr val="D7A700"/>
                </a:solidFill>
                <a:latin typeface="Century Gothic" panose="020B0502020202020204" pitchFamily="34" charset="0"/>
              </a:rPr>
              <a:t>.</a:t>
            </a:r>
          </a:p>
          <a:p>
            <a:pPr marL="0" indent="0" algn="ctr">
              <a:buNone/>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24</a:t>
            </a:fld>
            <a:endParaRPr lang="en-US" sz="2000" b="1">
              <a:latin typeface="Century Gothic" panose="020B0502020202020204" pitchFamily="34" charset="0"/>
            </a:endParaRPr>
          </a:p>
        </p:txBody>
      </p:sp>
      <p:sp>
        <p:nvSpPr>
          <p:cNvPr id="10" name="Rectángulo 9"/>
          <p:cNvSpPr/>
          <p:nvPr/>
        </p:nvSpPr>
        <p:spPr>
          <a:xfrm>
            <a:off x="515045" y="2149633"/>
            <a:ext cx="2018501"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Inversionista</a:t>
            </a:r>
          </a:p>
        </p:txBody>
      </p:sp>
      <p:sp>
        <p:nvSpPr>
          <p:cNvPr id="2" name="Rectángulo 1">
            <a:extLst>
              <a:ext uri="{FF2B5EF4-FFF2-40B4-BE49-F238E27FC236}">
                <a16:creationId xmlns:a16="http://schemas.microsoft.com/office/drawing/2014/main" id="{94AC02C3-472B-C63D-C2D5-136CA13BF12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6DCB95FB-CB1D-120A-710D-1A4C0F01F6A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1296C3AA-3827-3507-2CC7-1AFB174A74C9}"/>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8194" name="Picture 2" descr="Vida de los 3 Mejores Inversionistas en 2023 | Acción Latina">
            <a:extLst>
              <a:ext uri="{FF2B5EF4-FFF2-40B4-BE49-F238E27FC236}">
                <a16:creationId xmlns:a16="http://schemas.microsoft.com/office/drawing/2014/main" id="{9FD597C6-E271-53DB-82F3-58AEAAF482E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9257" y="3156559"/>
            <a:ext cx="3150778" cy="177231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1984512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a:scene3d>
            <a:camera prst="orthographicFront"/>
            <a:lightRig rig="threePt" dir="t"/>
          </a:scene3d>
          <a:sp3d/>
        </p:spPr>
        <p:txBody>
          <a:bodyPr>
            <a:normAutofit/>
          </a:bodyPr>
          <a:lstStyle/>
          <a:p>
            <a:r>
              <a:rPr lang="es-ES_tradnl">
                <a:latin typeface="Century Gothic" panose="020B0502020202020204" pitchFamily="34" charset="0"/>
              </a:rPr>
              <a:t>COSTO DE OPORTUNIDAD SEGÚN UN INVERSIONISTA</a:t>
            </a:r>
          </a:p>
        </p:txBody>
      </p:sp>
      <p:sp>
        <p:nvSpPr>
          <p:cNvPr id="11" name="Slide Number Placeholder 10"/>
          <p:cNvSpPr>
            <a:spLocks noGrp="1"/>
          </p:cNvSpPr>
          <p:nvPr>
            <p:ph type="sldNum" sz="quarter" idx="12"/>
          </p:nvPr>
        </p:nvSpPr>
        <p:spPr>
          <a:scene3d>
            <a:camera prst="orthographicFront"/>
            <a:lightRig rig="threePt" dir="t"/>
          </a:scene3d>
          <a:sp3d/>
        </p:spPr>
        <p:txBody>
          <a:bodyPr/>
          <a:lstStyle/>
          <a:p>
            <a:fld id="{5E3E23BA-6E79-2442-BA73-D218A5E297C3}" type="slidenum">
              <a:rPr lang="en-US" sz="2000" b="1" smtClean="0">
                <a:latin typeface="Century Gothic" panose="020B0502020202020204" pitchFamily="34" charset="0"/>
              </a:rPr>
              <a:t>25</a:t>
            </a:fld>
            <a:endParaRPr lang="en-US" sz="2000" b="1">
              <a:latin typeface="Century Gothic" panose="020B0502020202020204" pitchFamily="34" charset="0"/>
            </a:endParaRPr>
          </a:p>
        </p:txBody>
      </p:sp>
      <p:sp>
        <p:nvSpPr>
          <p:cNvPr id="6" name="Rounded Rectangle 5"/>
          <p:cNvSpPr/>
          <p:nvPr/>
        </p:nvSpPr>
        <p:spPr>
          <a:xfrm>
            <a:off x="1673080" y="2188371"/>
            <a:ext cx="2809377" cy="690287"/>
          </a:xfrm>
          <a:prstGeom prst="roundRect">
            <a:avLst/>
          </a:prstGeom>
          <a:solidFill>
            <a:srgbClr val="C00000"/>
          </a:solidFill>
          <a:ln>
            <a:no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Crédito/Deuda</a:t>
            </a:r>
          </a:p>
        </p:txBody>
      </p:sp>
      <p:sp>
        <p:nvSpPr>
          <p:cNvPr id="7" name="Rounded Rectangle 6"/>
          <p:cNvSpPr/>
          <p:nvPr/>
        </p:nvSpPr>
        <p:spPr>
          <a:xfrm>
            <a:off x="1673080" y="3559923"/>
            <a:ext cx="2809377" cy="690287"/>
          </a:xfrm>
          <a:prstGeom prst="roundRect">
            <a:avLst/>
          </a:prstGeom>
          <a:solidFill>
            <a:srgbClr val="D7A700"/>
          </a:solidFill>
          <a:ln>
            <a:no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Equity / Recursos Propios</a:t>
            </a:r>
          </a:p>
        </p:txBody>
      </p:sp>
      <p:sp>
        <p:nvSpPr>
          <p:cNvPr id="8" name="Rounded Rectangle 7"/>
          <p:cNvSpPr/>
          <p:nvPr/>
        </p:nvSpPr>
        <p:spPr>
          <a:xfrm>
            <a:off x="6331312" y="2520244"/>
            <a:ext cx="3802910" cy="1039678"/>
          </a:xfrm>
          <a:prstGeom prst="roundRect">
            <a:avLst/>
          </a:prstGeom>
          <a:solidFill>
            <a:schemeClr val="accent3">
              <a:lumMod val="50000"/>
            </a:schemeClr>
          </a:solidFill>
          <a:ln>
            <a:no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Recursos Naturales</a:t>
            </a:r>
          </a:p>
          <a:p>
            <a:pPr algn="ctr"/>
            <a:r>
              <a:rPr lang="es-ES_tradnl" sz="1600">
                <a:latin typeface="Century Gothic" panose="020B0502020202020204" pitchFamily="34" charset="0"/>
              </a:rPr>
              <a:t>Energía Humana</a:t>
            </a:r>
          </a:p>
          <a:p>
            <a:pPr algn="ctr"/>
            <a:r>
              <a:rPr lang="es-ES_tradnl" sz="1600">
                <a:latin typeface="Century Gothic" panose="020B0502020202020204" pitchFamily="34" charset="0"/>
              </a:rPr>
              <a:t>Activos Fijos</a:t>
            </a:r>
          </a:p>
        </p:txBody>
      </p:sp>
      <p:sp>
        <p:nvSpPr>
          <p:cNvPr id="9" name="Rounded Rectangle 8"/>
          <p:cNvSpPr/>
          <p:nvPr/>
        </p:nvSpPr>
        <p:spPr>
          <a:xfrm>
            <a:off x="6715533" y="4385774"/>
            <a:ext cx="3034468" cy="676525"/>
          </a:xfrm>
          <a:prstGeom prst="roundRect">
            <a:avLst/>
          </a:prstGeom>
          <a:solidFill>
            <a:schemeClr val="accent6">
              <a:lumMod val="50000"/>
            </a:schemeClr>
          </a:solidFill>
          <a:ln>
            <a:solidFill>
              <a:schemeClr val="accent6">
                <a:lumMod val="50000"/>
              </a:schemeClr>
            </a:solid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sz="1600">
                <a:latin typeface="Century Gothic" panose="020B0502020202020204" pitchFamily="34" charset="0"/>
              </a:rPr>
              <a:t>Producción</a:t>
            </a:r>
          </a:p>
        </p:txBody>
      </p:sp>
      <p:sp>
        <p:nvSpPr>
          <p:cNvPr id="10" name="Rounded Rectangle 9"/>
          <p:cNvSpPr/>
          <p:nvPr/>
        </p:nvSpPr>
        <p:spPr>
          <a:xfrm>
            <a:off x="4814078" y="6071518"/>
            <a:ext cx="3034468" cy="531669"/>
          </a:xfrm>
          <a:prstGeom prst="roundRect">
            <a:avLst/>
          </a:prstGeom>
          <a:solidFill>
            <a:schemeClr val="accent1"/>
          </a:solidFill>
          <a:ln>
            <a:solidFill>
              <a:schemeClr val="accent1"/>
            </a:solidFill>
          </a:ln>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Creación de Valor</a:t>
            </a:r>
          </a:p>
        </p:txBody>
      </p:sp>
      <p:sp>
        <p:nvSpPr>
          <p:cNvPr id="12" name="Rounded Rectangle 11"/>
          <p:cNvSpPr/>
          <p:nvPr/>
        </p:nvSpPr>
        <p:spPr>
          <a:xfrm>
            <a:off x="1162498" y="6071518"/>
            <a:ext cx="3034468" cy="531669"/>
          </a:xfrm>
          <a:prstGeom prst="roundRect">
            <a:avLst/>
          </a:prstGeom>
          <a:solidFill>
            <a:schemeClr val="accent1"/>
          </a:solidFill>
          <a:ln>
            <a:solidFill>
              <a:schemeClr val="accent1"/>
            </a:solidFill>
          </a:ln>
          <a:scene3d>
            <a:camera prst="orthographicFront"/>
            <a:lightRig rig="threePt" dir="t"/>
          </a:scene3d>
          <a:sp3d/>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es-ES_tradnl" sz="1600">
                <a:latin typeface="Century Gothic" panose="020B0502020202020204" pitchFamily="34" charset="0"/>
              </a:rPr>
              <a:t>Acumulación de Valor</a:t>
            </a:r>
          </a:p>
        </p:txBody>
      </p:sp>
      <p:sp>
        <p:nvSpPr>
          <p:cNvPr id="2" name="Rectángulo 1">
            <a:extLst>
              <a:ext uri="{FF2B5EF4-FFF2-40B4-BE49-F238E27FC236}">
                <a16:creationId xmlns:a16="http://schemas.microsoft.com/office/drawing/2014/main" id="{B653A21A-D609-4399-1709-91BB10B1F33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3D8886D2-1433-83F3-B837-D5578CACFDA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cxnSp>
        <p:nvCxnSpPr>
          <p:cNvPr id="16" name="Conector recto de flecha 15">
            <a:extLst>
              <a:ext uri="{FF2B5EF4-FFF2-40B4-BE49-F238E27FC236}">
                <a16:creationId xmlns:a16="http://schemas.microsoft.com/office/drawing/2014/main" id="{2F6AAA19-DB4C-7A7B-7EE5-6052D7DFA462}"/>
              </a:ext>
            </a:extLst>
          </p:cNvPr>
          <p:cNvCxnSpPr>
            <a:endCxn id="8" idx="1"/>
          </p:cNvCxnSpPr>
          <p:nvPr/>
        </p:nvCxnSpPr>
        <p:spPr>
          <a:xfrm flipV="1">
            <a:off x="4482457" y="3040083"/>
            <a:ext cx="1848855" cy="852295"/>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17" name="Conector recto de flecha 16">
            <a:extLst>
              <a:ext uri="{FF2B5EF4-FFF2-40B4-BE49-F238E27FC236}">
                <a16:creationId xmlns:a16="http://schemas.microsoft.com/office/drawing/2014/main" id="{D79276A9-56B7-FAC2-2DD1-D2E4183E35C8}"/>
              </a:ext>
            </a:extLst>
          </p:cNvPr>
          <p:cNvCxnSpPr>
            <a:cxnSpLocks/>
          </p:cNvCxnSpPr>
          <p:nvPr/>
        </p:nvCxnSpPr>
        <p:spPr>
          <a:xfrm>
            <a:off x="4482457" y="2520244"/>
            <a:ext cx="1848855" cy="519839"/>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4" name="Conector recto de flecha 23">
            <a:extLst>
              <a:ext uri="{FF2B5EF4-FFF2-40B4-BE49-F238E27FC236}">
                <a16:creationId xmlns:a16="http://schemas.microsoft.com/office/drawing/2014/main" id="{6C93C7F5-A0E7-CE04-0B73-A3A34DA374B1}"/>
              </a:ext>
            </a:extLst>
          </p:cNvPr>
          <p:cNvCxnSpPr>
            <a:stCxn id="8" idx="2"/>
            <a:endCxn id="9" idx="0"/>
          </p:cNvCxnSpPr>
          <p:nvPr/>
        </p:nvCxnSpPr>
        <p:spPr>
          <a:xfrm>
            <a:off x="8232767" y="3559922"/>
            <a:ext cx="0" cy="825852"/>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cxnSp>
        <p:nvCxnSpPr>
          <p:cNvPr id="28" name="Conector angular 27">
            <a:extLst>
              <a:ext uri="{FF2B5EF4-FFF2-40B4-BE49-F238E27FC236}">
                <a16:creationId xmlns:a16="http://schemas.microsoft.com/office/drawing/2014/main" id="{8D21A6D7-758C-391C-EC18-779526BB9D7F}"/>
              </a:ext>
            </a:extLst>
          </p:cNvPr>
          <p:cNvCxnSpPr>
            <a:endCxn id="10" idx="3"/>
          </p:cNvCxnSpPr>
          <p:nvPr/>
        </p:nvCxnSpPr>
        <p:spPr>
          <a:xfrm rot="5400000">
            <a:off x="7403130" y="5507716"/>
            <a:ext cx="1275054" cy="384221"/>
          </a:xfrm>
          <a:prstGeom prst="bentConnector2">
            <a:avLst/>
          </a:prstGeom>
          <a:ln>
            <a:tailEnd type="triangle"/>
          </a:ln>
        </p:spPr>
        <p:style>
          <a:lnRef idx="3">
            <a:schemeClr val="dk1"/>
          </a:lnRef>
          <a:fillRef idx="0">
            <a:schemeClr val="dk1"/>
          </a:fillRef>
          <a:effectRef idx="2">
            <a:schemeClr val="dk1"/>
          </a:effectRef>
          <a:fontRef idx="minor">
            <a:schemeClr val="tx1"/>
          </a:fontRef>
        </p:style>
      </p:cxnSp>
      <p:cxnSp>
        <p:nvCxnSpPr>
          <p:cNvPr id="30" name="Conector recto de flecha 29">
            <a:extLst>
              <a:ext uri="{FF2B5EF4-FFF2-40B4-BE49-F238E27FC236}">
                <a16:creationId xmlns:a16="http://schemas.microsoft.com/office/drawing/2014/main" id="{4D73B420-6463-DC71-B095-F33591210C9B}"/>
              </a:ext>
            </a:extLst>
          </p:cNvPr>
          <p:cNvCxnSpPr>
            <a:endCxn id="12" idx="3"/>
          </p:cNvCxnSpPr>
          <p:nvPr/>
        </p:nvCxnSpPr>
        <p:spPr>
          <a:xfrm flipH="1">
            <a:off x="4196966" y="6321262"/>
            <a:ext cx="617112" cy="16091"/>
          </a:xfrm>
          <a:prstGeom prst="straightConnector1">
            <a:avLst/>
          </a:prstGeom>
          <a:ln>
            <a:tailEnd type="triangle"/>
          </a:ln>
        </p:spPr>
        <p:style>
          <a:lnRef idx="3">
            <a:schemeClr val="dk1"/>
          </a:lnRef>
          <a:fillRef idx="0">
            <a:schemeClr val="dk1"/>
          </a:fillRef>
          <a:effectRef idx="2">
            <a:schemeClr val="dk1"/>
          </a:effectRef>
          <a:fontRef idx="minor">
            <a:schemeClr val="tx1"/>
          </a:fontRef>
        </p:style>
      </p:cxnSp>
      <p:sp>
        <p:nvSpPr>
          <p:cNvPr id="13" name="Rectángulo 12">
            <a:extLst>
              <a:ext uri="{FF2B5EF4-FFF2-40B4-BE49-F238E27FC236}">
                <a16:creationId xmlns:a16="http://schemas.microsoft.com/office/drawing/2014/main" id="{83294957-FA71-4BE3-C81D-F66E39A3617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19998907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6" presetClass="entr" presetSubtype="21" fill="hold" nodeType="clickEffect">
                                  <p:stCondLst>
                                    <p:cond delay="0"/>
                                  </p:stCondLst>
                                  <p:childTnLst>
                                    <p:set>
                                      <p:cBhvr>
                                        <p:cTn id="6" dur="1" fill="hold">
                                          <p:stCondLst>
                                            <p:cond delay="0"/>
                                          </p:stCondLst>
                                        </p:cTn>
                                        <p:tgtEl>
                                          <p:spTgt spid="17"/>
                                        </p:tgtEl>
                                        <p:attrNameLst>
                                          <p:attrName>style.visibility</p:attrName>
                                        </p:attrNameLst>
                                      </p:cBhvr>
                                      <p:to>
                                        <p:strVal val="visible"/>
                                      </p:to>
                                    </p:set>
                                    <p:animEffect transition="in" filter="barn(inVertical)">
                                      <p:cBhvr>
                                        <p:cTn id="7" dur="500"/>
                                        <p:tgtEl>
                                          <p:spTgt spid="17"/>
                                        </p:tgtEl>
                                      </p:cBhvr>
                                    </p:animEffect>
                                  </p:childTnLst>
                                </p:cTn>
                              </p:par>
                              <p:par>
                                <p:cTn id="8" presetID="16" presetClass="entr" presetSubtype="21" fill="hold" nodeType="withEffect">
                                  <p:stCondLst>
                                    <p:cond delay="0"/>
                                  </p:stCondLst>
                                  <p:childTnLst>
                                    <p:set>
                                      <p:cBhvr>
                                        <p:cTn id="9" dur="1" fill="hold">
                                          <p:stCondLst>
                                            <p:cond delay="0"/>
                                          </p:stCondLst>
                                        </p:cTn>
                                        <p:tgtEl>
                                          <p:spTgt spid="16"/>
                                        </p:tgtEl>
                                        <p:attrNameLst>
                                          <p:attrName>style.visibility</p:attrName>
                                        </p:attrNameLst>
                                      </p:cBhvr>
                                      <p:to>
                                        <p:strVal val="visible"/>
                                      </p:to>
                                    </p:set>
                                    <p:animEffect transition="in" filter="barn(inVertical)">
                                      <p:cBhvr>
                                        <p:cTn id="10" dur="500"/>
                                        <p:tgtEl>
                                          <p:spTgt spid="16"/>
                                        </p:tgtEl>
                                      </p:cBhvr>
                                    </p:animEffect>
                                  </p:childTnLst>
                                </p:cTn>
                              </p:par>
                              <p:par>
                                <p:cTn id="11" presetID="16" presetClass="entr" presetSubtype="21"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barn(inVertical)">
                                      <p:cBhvr>
                                        <p:cTn id="13" dur="500"/>
                                        <p:tgtEl>
                                          <p:spTgt spid="8"/>
                                        </p:tgtEl>
                                      </p:cBhvr>
                                    </p:animEffect>
                                  </p:childTnLst>
                                </p:cTn>
                              </p:par>
                            </p:childTnLst>
                          </p:cTn>
                        </p:par>
                      </p:childTnLst>
                    </p:cTn>
                  </p:par>
                  <p:par>
                    <p:cTn id="14" fill="hold">
                      <p:stCondLst>
                        <p:cond delay="indefinite"/>
                      </p:stCondLst>
                      <p:childTnLst>
                        <p:par>
                          <p:cTn id="15" fill="hold">
                            <p:stCondLst>
                              <p:cond delay="0"/>
                            </p:stCondLst>
                            <p:childTnLst>
                              <p:par>
                                <p:cTn id="16" presetID="18" presetClass="entr" presetSubtype="12" fill="hold" nodeType="clickEffect">
                                  <p:stCondLst>
                                    <p:cond delay="0"/>
                                  </p:stCondLst>
                                  <p:childTnLst>
                                    <p:set>
                                      <p:cBhvr>
                                        <p:cTn id="17" dur="1" fill="hold">
                                          <p:stCondLst>
                                            <p:cond delay="0"/>
                                          </p:stCondLst>
                                        </p:cTn>
                                        <p:tgtEl>
                                          <p:spTgt spid="24"/>
                                        </p:tgtEl>
                                        <p:attrNameLst>
                                          <p:attrName>style.visibility</p:attrName>
                                        </p:attrNameLst>
                                      </p:cBhvr>
                                      <p:to>
                                        <p:strVal val="visible"/>
                                      </p:to>
                                    </p:set>
                                    <p:animEffect transition="in" filter="strips(downLeft)">
                                      <p:cBhvr>
                                        <p:cTn id="18" dur="500"/>
                                        <p:tgtEl>
                                          <p:spTgt spid="24"/>
                                        </p:tgtEl>
                                      </p:cBhvr>
                                    </p:animEffect>
                                  </p:childTnLst>
                                </p:cTn>
                              </p:par>
                              <p:par>
                                <p:cTn id="19" presetID="18" presetClass="entr" presetSubtype="12" fill="hold" grpId="0" nodeType="with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strips(downLeft)">
                                      <p:cBhvr>
                                        <p:cTn id="21" dur="500"/>
                                        <p:tgtEl>
                                          <p:spTgt spid="9"/>
                                        </p:tgtEl>
                                      </p:cBhvr>
                                    </p:animEffect>
                                  </p:childTnLst>
                                </p:cTn>
                              </p:par>
                            </p:childTnLst>
                          </p:cTn>
                        </p:par>
                      </p:childTnLst>
                    </p:cTn>
                  </p:par>
                  <p:par>
                    <p:cTn id="22" fill="hold">
                      <p:stCondLst>
                        <p:cond delay="indefinite"/>
                      </p:stCondLst>
                      <p:childTnLst>
                        <p:par>
                          <p:cTn id="23" fill="hold">
                            <p:stCondLst>
                              <p:cond delay="0"/>
                            </p:stCondLst>
                            <p:childTnLst>
                              <p:par>
                                <p:cTn id="24" presetID="18" presetClass="entr" presetSubtype="12" fill="hold" nodeType="clickEffect">
                                  <p:stCondLst>
                                    <p:cond delay="0"/>
                                  </p:stCondLst>
                                  <p:childTnLst>
                                    <p:set>
                                      <p:cBhvr>
                                        <p:cTn id="25" dur="1" fill="hold">
                                          <p:stCondLst>
                                            <p:cond delay="0"/>
                                          </p:stCondLst>
                                        </p:cTn>
                                        <p:tgtEl>
                                          <p:spTgt spid="28"/>
                                        </p:tgtEl>
                                        <p:attrNameLst>
                                          <p:attrName>style.visibility</p:attrName>
                                        </p:attrNameLst>
                                      </p:cBhvr>
                                      <p:to>
                                        <p:strVal val="visible"/>
                                      </p:to>
                                    </p:set>
                                    <p:animEffect transition="in" filter="strips(downLeft)">
                                      <p:cBhvr>
                                        <p:cTn id="26" dur="500"/>
                                        <p:tgtEl>
                                          <p:spTgt spid="28"/>
                                        </p:tgtEl>
                                      </p:cBhvr>
                                    </p:animEffect>
                                  </p:childTnLst>
                                </p:cTn>
                              </p:par>
                              <p:par>
                                <p:cTn id="27" presetID="18" presetClass="entr" presetSubtype="12" fill="hold" grpId="0" nodeType="withEffect">
                                  <p:stCondLst>
                                    <p:cond delay="0"/>
                                  </p:stCondLst>
                                  <p:childTnLst>
                                    <p:set>
                                      <p:cBhvr>
                                        <p:cTn id="28" dur="1" fill="hold">
                                          <p:stCondLst>
                                            <p:cond delay="0"/>
                                          </p:stCondLst>
                                        </p:cTn>
                                        <p:tgtEl>
                                          <p:spTgt spid="10"/>
                                        </p:tgtEl>
                                        <p:attrNameLst>
                                          <p:attrName>style.visibility</p:attrName>
                                        </p:attrNameLst>
                                      </p:cBhvr>
                                      <p:to>
                                        <p:strVal val="visible"/>
                                      </p:to>
                                    </p:set>
                                    <p:animEffect transition="in" filter="strips(downLeft)">
                                      <p:cBhvr>
                                        <p:cTn id="29" dur="500"/>
                                        <p:tgtEl>
                                          <p:spTgt spid="10"/>
                                        </p:tgtEl>
                                      </p:cBhvr>
                                    </p:animEffect>
                                  </p:childTnLst>
                                </p:cTn>
                              </p:par>
                            </p:childTnLst>
                          </p:cTn>
                        </p:par>
                      </p:childTnLst>
                    </p:cTn>
                  </p:par>
                  <p:par>
                    <p:cTn id="30" fill="hold">
                      <p:stCondLst>
                        <p:cond delay="indefinite"/>
                      </p:stCondLst>
                      <p:childTnLst>
                        <p:par>
                          <p:cTn id="31" fill="hold">
                            <p:stCondLst>
                              <p:cond delay="0"/>
                            </p:stCondLst>
                            <p:childTnLst>
                              <p:par>
                                <p:cTn id="32" presetID="16" presetClass="entr" presetSubtype="21" fill="hold" nodeType="clickEffect">
                                  <p:stCondLst>
                                    <p:cond delay="0"/>
                                  </p:stCondLst>
                                  <p:childTnLst>
                                    <p:set>
                                      <p:cBhvr>
                                        <p:cTn id="33" dur="1" fill="hold">
                                          <p:stCondLst>
                                            <p:cond delay="0"/>
                                          </p:stCondLst>
                                        </p:cTn>
                                        <p:tgtEl>
                                          <p:spTgt spid="30"/>
                                        </p:tgtEl>
                                        <p:attrNameLst>
                                          <p:attrName>style.visibility</p:attrName>
                                        </p:attrNameLst>
                                      </p:cBhvr>
                                      <p:to>
                                        <p:strVal val="visible"/>
                                      </p:to>
                                    </p:set>
                                    <p:animEffect transition="in" filter="barn(inVertical)">
                                      <p:cBhvr>
                                        <p:cTn id="34" dur="500"/>
                                        <p:tgtEl>
                                          <p:spTgt spid="30"/>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12"/>
                                        </p:tgtEl>
                                        <p:attrNameLst>
                                          <p:attrName>style.visibility</p:attrName>
                                        </p:attrNameLst>
                                      </p:cBhvr>
                                      <p:to>
                                        <p:strVal val="visible"/>
                                      </p:to>
                                    </p:set>
                                    <p:animEffect transition="in" filter="barn(inVertical)">
                                      <p:cBhvr>
                                        <p:cTn id="3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0" grpId="0" animBg="1"/>
      <p:bldP spid="12" grpId="0" animBg="1"/>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COSTO DE OPORTUNIDAD SEGÚN UN INVERSIONISTA</a:t>
            </a:r>
          </a:p>
        </p:txBody>
      </p:sp>
      <p:sp>
        <p:nvSpPr>
          <p:cNvPr id="19" name="Content Placeholder 6"/>
          <p:cNvSpPr>
            <a:spLocks noGrp="1"/>
          </p:cNvSpPr>
          <p:nvPr>
            <p:ph idx="1"/>
          </p:nvPr>
        </p:nvSpPr>
        <p:spPr>
          <a:xfrm>
            <a:off x="882092" y="2541180"/>
            <a:ext cx="7335152" cy="3670767"/>
          </a:xfrm>
        </p:spPr>
        <p:txBody>
          <a:bodyPr>
            <a:normAutofit/>
          </a:bodyPr>
          <a:lstStyle/>
          <a:p>
            <a:pPr marL="0" indent="0" algn="ctr">
              <a:buNone/>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En el caso del inversionista, el costo de oportunidad será equivalente al costo de obtener los recursos económicos (deuda y </a:t>
            </a:r>
            <a:r>
              <a:rPr lang="es-ES_tradnl" i="1" dirty="0" err="1">
                <a:latin typeface="Century Gothic" panose="020B0502020202020204" pitchFamily="34" charset="0"/>
              </a:rPr>
              <a:t>equity</a:t>
            </a:r>
            <a:r>
              <a:rPr lang="es-ES_tradnl" dirty="0">
                <a:latin typeface="Century Gothic" panose="020B0502020202020204" pitchFamily="34" charset="0"/>
              </a:rPr>
              <a:t>) para financiar sus inversiones.</a:t>
            </a:r>
          </a:p>
          <a:p>
            <a:pPr algn="ctr">
              <a:buFont typeface="Wingdings" charset="2"/>
              <a:buChar char="§"/>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Más adelante veremos que a dicho costo de financiación se le conoce como el Costo Promedio Ponderado de Capital o</a:t>
            </a:r>
            <a:r>
              <a:rPr lang="es-ES_tradnl" b="1" dirty="0">
                <a:solidFill>
                  <a:srgbClr val="0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Weighted</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Average</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Cost</a:t>
            </a:r>
            <a:r>
              <a:rPr lang="es-ES_tradnl" b="1" i="1" dirty="0">
                <a:solidFill>
                  <a:srgbClr val="C00000"/>
                </a:solidFill>
                <a:latin typeface="Century Gothic" panose="020B0502020202020204" pitchFamily="34" charset="0"/>
              </a:rPr>
              <a:t> </a:t>
            </a:r>
            <a:r>
              <a:rPr lang="es-ES_tradnl" b="1" i="1" dirty="0" err="1">
                <a:solidFill>
                  <a:srgbClr val="C00000"/>
                </a:solidFill>
                <a:latin typeface="Century Gothic" panose="020B0502020202020204" pitchFamily="34" charset="0"/>
              </a:rPr>
              <a:t>of</a:t>
            </a:r>
            <a:r>
              <a:rPr lang="es-ES_tradnl" b="1" i="1" dirty="0">
                <a:solidFill>
                  <a:srgbClr val="C00000"/>
                </a:solidFill>
                <a:latin typeface="Century Gothic" panose="020B0502020202020204" pitchFamily="34" charset="0"/>
              </a:rPr>
              <a:t> Capital</a:t>
            </a:r>
            <a:r>
              <a:rPr lang="es-ES_tradnl" b="1" dirty="0">
                <a:solidFill>
                  <a:srgbClr val="C00000"/>
                </a:solidFill>
                <a:latin typeface="Century Gothic" panose="020B0502020202020204" pitchFamily="34" charset="0"/>
              </a:rPr>
              <a:t> (WACC)</a:t>
            </a:r>
            <a:r>
              <a:rPr lang="es-ES_tradnl" dirty="0">
                <a:latin typeface="Century Gothic" panose="020B0502020202020204" pitchFamily="34" charset="0"/>
              </a:rPr>
              <a:t>.</a:t>
            </a:r>
            <a:endParaRPr lang="es-ES_tradnl" b="1" dirty="0">
              <a:solidFill>
                <a:srgbClr val="C00000"/>
              </a:solidFill>
              <a:latin typeface="Century Gothic" panose="020B0502020202020204" pitchFamily="34" charset="0"/>
            </a:endParaRPr>
          </a:p>
          <a:p>
            <a:pPr marL="0" indent="0" algn="ctr">
              <a:buNone/>
            </a:pPr>
            <a:endParaRPr lang="es-ES_tradnl" dirty="0">
              <a:latin typeface="Century Gothic" panose="020B0502020202020204" pitchFamily="34" charset="0"/>
            </a:endParaRP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26</a:t>
            </a:fld>
            <a:endParaRPr lang="en-US" sz="2000" b="1">
              <a:latin typeface="Century Gothic" panose="020B0502020202020204" pitchFamily="34" charset="0"/>
            </a:endParaRPr>
          </a:p>
        </p:txBody>
      </p:sp>
      <p:sp>
        <p:nvSpPr>
          <p:cNvPr id="10" name="Rectángulo 9"/>
          <p:cNvSpPr/>
          <p:nvPr/>
        </p:nvSpPr>
        <p:spPr>
          <a:xfrm>
            <a:off x="515045" y="2149633"/>
            <a:ext cx="2018501" cy="461665"/>
          </a:xfrm>
          <a:prstGeom prst="rect">
            <a:avLst/>
          </a:prstGeom>
          <a:solidFill>
            <a:schemeClr val="accent3">
              <a:lumMod val="60000"/>
              <a:lumOff val="40000"/>
            </a:schemeClr>
          </a:solidFill>
        </p:spPr>
        <p:txBody>
          <a:bodyPr wrap="none">
            <a:spAutoFit/>
          </a:bodyPr>
          <a:lstStyle/>
          <a:p>
            <a:pPr algn="just"/>
            <a:r>
              <a:rPr lang="es-ES_tradnl" sz="2400" b="1">
                <a:solidFill>
                  <a:schemeClr val="accent3">
                    <a:lumMod val="50000"/>
                  </a:schemeClr>
                </a:solidFill>
                <a:latin typeface="Century Gothic" panose="020B0502020202020204" pitchFamily="34" charset="0"/>
              </a:rPr>
              <a:t>Inversionista</a:t>
            </a:r>
          </a:p>
        </p:txBody>
      </p:sp>
      <p:sp>
        <p:nvSpPr>
          <p:cNvPr id="2" name="Rectángulo 1">
            <a:extLst>
              <a:ext uri="{FF2B5EF4-FFF2-40B4-BE49-F238E27FC236}">
                <a16:creationId xmlns:a16="http://schemas.microsoft.com/office/drawing/2014/main" id="{6DC6E2CA-6ECA-14DC-18EE-0AD6BC513E6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A68FAA48-84E6-1691-4D87-CF743566252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2820D7F0-E370-CC42-8AB6-85F595851F22}"/>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4100" name="Picture 4" descr="Dividendos y sus ventajas de inversión - Universo financiero">
            <a:extLst>
              <a:ext uri="{FF2B5EF4-FFF2-40B4-BE49-F238E27FC236}">
                <a16:creationId xmlns:a16="http://schemas.microsoft.com/office/drawing/2014/main" id="{B077EB68-3876-3EDE-E387-F76F0638989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9257" y="3389877"/>
            <a:ext cx="2875182" cy="197337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671897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xEl>
                                              <p:pRg st="3" end="3"/>
                                            </p:txEl>
                                          </p:spTgt>
                                        </p:tgtEl>
                                        <p:attrNameLst>
                                          <p:attrName>style.visibility</p:attrName>
                                        </p:attrNameLst>
                                      </p:cBhvr>
                                      <p:to>
                                        <p:strVal val="visible"/>
                                      </p:to>
                                    </p:set>
                                    <p:animEffect transition="in" filter="fade">
                                      <p:cBhvr>
                                        <p:cTn id="7" dur="500"/>
                                        <p:tgtEl>
                                          <p:spTgt spid="19">
                                            <p:txEl>
                                              <p:pRg st="3" end="3"/>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p:cNvSpPr>
            <a:spLocks noGrp="1"/>
          </p:cNvSpPr>
          <p:nvPr>
            <p:ph type="title"/>
          </p:nvPr>
        </p:nvSpPr>
        <p:spPr/>
        <p:txBody>
          <a:bodyPr>
            <a:normAutofit/>
          </a:bodyPr>
          <a:lstStyle/>
          <a:p>
            <a:r>
              <a:rPr lang="es-CO" sz="3200">
                <a:latin typeface="Century Gothic" panose="020B0502020202020204" pitchFamily="34" charset="0"/>
              </a:rPr>
              <a:t>AGENDA PROPUESTA</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27</a:t>
            </a:fld>
            <a:endParaRPr lang="en-US" sz="2000" b="1" dirty="0">
              <a:latin typeface="Century Gothic" panose="020B0502020202020204" pitchFamily="34" charset="0"/>
            </a:endParaRPr>
          </a:p>
        </p:txBody>
      </p:sp>
      <p:pic>
        <p:nvPicPr>
          <p:cNvPr id="6" name="Picture 6" descr="Resultado de imagen para RELOJ VECTOR">
            <a:extLst>
              <a:ext uri="{FF2B5EF4-FFF2-40B4-BE49-F238E27FC236}">
                <a16:creationId xmlns:a16="http://schemas.microsoft.com/office/drawing/2014/main" id="{0F651596-1125-43ED-8471-A57EDDF3518A}"/>
              </a:ext>
            </a:extLst>
          </p:cNvPr>
          <p:cNvPicPr>
            <a:picLocks noChangeAspect="1" noChangeArrowheads="1"/>
          </p:cNvPicPr>
          <p:nvPr/>
        </p:nvPicPr>
        <p:blipFill rotWithShape="1">
          <a:blip r:embed="rId2" cstate="print">
            <a:clrChange>
              <a:clrFrom>
                <a:srgbClr val="F6F6F6"/>
              </a:clrFrom>
              <a:clrTo>
                <a:srgbClr val="F6F6F6">
                  <a:alpha val="0"/>
                </a:srgbClr>
              </a:clrTo>
            </a:clrChange>
            <a:duotone>
              <a:schemeClr val="accent3">
                <a:shade val="45000"/>
                <a:satMod val="135000"/>
              </a:schemeClr>
              <a:prstClr val="white"/>
            </a:duotone>
            <a:extLst>
              <a:ext uri="{28A0092B-C50C-407E-A947-70E740481C1C}">
                <a14:useLocalDpi xmlns:a14="http://schemas.microsoft.com/office/drawing/2010/main" val="0"/>
              </a:ext>
            </a:extLst>
          </a:blip>
          <a:srcRect l="24517" t="6285" r="24815" b="6503"/>
          <a:stretch/>
        </p:blipFill>
        <p:spPr bwMode="auto">
          <a:xfrm>
            <a:off x="1256045" y="2772729"/>
            <a:ext cx="1236705" cy="1246074"/>
          </a:xfrm>
          <a:prstGeom prst="rect">
            <a:avLst/>
          </a:prstGeom>
          <a:noFill/>
          <a:extLst>
            <a:ext uri="{909E8E84-426E-40DD-AFC4-6F175D3DCCD1}">
              <a14:hiddenFill xmlns:a14="http://schemas.microsoft.com/office/drawing/2010/main">
                <a:solidFill>
                  <a:srgbClr val="FFFFFF"/>
                </a:solidFill>
              </a14:hiddenFill>
            </a:ext>
          </a:extLst>
        </p:spPr>
      </p:pic>
      <p:sp>
        <p:nvSpPr>
          <p:cNvPr id="23" name="Rectángulo 22">
            <a:extLst>
              <a:ext uri="{FF2B5EF4-FFF2-40B4-BE49-F238E27FC236}">
                <a16:creationId xmlns:a16="http://schemas.microsoft.com/office/drawing/2014/main" id="{8F837980-0A38-47A1-8A30-C7AFF3A98D5A}"/>
              </a:ext>
            </a:extLst>
          </p:cNvPr>
          <p:cNvSpPr/>
          <p:nvPr/>
        </p:nvSpPr>
        <p:spPr>
          <a:xfrm>
            <a:off x="2806200" y="2772729"/>
            <a:ext cx="8540907" cy="4524315"/>
          </a:xfrm>
          <a:prstGeom prst="rect">
            <a:avLst/>
          </a:prstGeom>
        </p:spPr>
        <p:txBody>
          <a:bodyPr wrap="square" lIns="91440" tIns="45720" rIns="91440" bIns="45720" anchor="t">
            <a:spAutoFit/>
          </a:bodyPr>
          <a:lstStyle/>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Valor del Dinero en el Tiempo (VDT)</a:t>
            </a:r>
          </a:p>
          <a:p>
            <a:pPr marL="342900" indent="-342900">
              <a:buClr>
                <a:schemeClr val="accent3">
                  <a:lumMod val="75000"/>
                </a:schemeClr>
              </a:buClr>
              <a:buFont typeface="Gill Sans MT" panose="020B0502020104020203"/>
              <a:buAutoNum type="arabicPeriod"/>
            </a:pPr>
            <a:endParaRPr lang="es-CO" dirty="0">
              <a:solidFill>
                <a:schemeClr val="bg2">
                  <a:lumMod val="90000"/>
                </a:schemeClr>
              </a:solidFill>
              <a:latin typeface="Century Gothic"/>
              <a:cs typeface="Arial"/>
            </a:endParaRPr>
          </a:p>
          <a:p>
            <a:pPr marL="342900" indent="-342900">
              <a:buClr>
                <a:schemeClr val="accent3">
                  <a:lumMod val="75000"/>
                </a:schemeClr>
              </a:buClr>
              <a:buFont typeface="Gill Sans MT" panose="020B0502020104020203"/>
              <a:buAutoNum type="arabicPeriod"/>
            </a:pPr>
            <a:r>
              <a:rPr lang="es-CO" dirty="0">
                <a:solidFill>
                  <a:schemeClr val="bg2">
                    <a:lumMod val="90000"/>
                  </a:schemeClr>
                </a:solidFill>
                <a:latin typeface="Century Gothic"/>
                <a:cs typeface="Arial"/>
              </a:rPr>
              <a:t>¿Cuáles son los Agentes Económicos?</a:t>
            </a:r>
          </a:p>
          <a:p>
            <a:pPr marL="342900" indent="-342900">
              <a:buClr>
                <a:srgbClr val="2C7C9F"/>
              </a:buClr>
              <a:buFontTx/>
              <a:buAutoNum type="arabicPeriod"/>
            </a:pPr>
            <a:endParaRPr lang="es-CO" dirty="0">
              <a:solidFill>
                <a:schemeClr val="bg2">
                  <a:lumMod val="90000"/>
                </a:schemeClr>
              </a:solidFill>
              <a:latin typeface="Century Gothic"/>
              <a:cs typeface="Arial"/>
            </a:endParaRPr>
          </a:p>
          <a:p>
            <a:pPr marL="342900" indent="-342900">
              <a:buClr>
                <a:srgbClr val="48BE7A"/>
              </a:buClr>
              <a:buFontTx/>
              <a:buAutoNum type="arabicPeriod"/>
            </a:pPr>
            <a:r>
              <a:rPr lang="es-CO" dirty="0">
                <a:solidFill>
                  <a:schemeClr val="bg2">
                    <a:lumMod val="90000"/>
                  </a:schemeClr>
                </a:solidFill>
                <a:latin typeface="Century Gothic"/>
                <a:cs typeface="Arial"/>
              </a:rPr>
              <a:t>Costo de Oportunidad de un Agente Consumidor.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Ahorrador.</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r>
              <a:rPr lang="es-CO" dirty="0">
                <a:solidFill>
                  <a:schemeClr val="bg2">
                    <a:lumMod val="90000"/>
                  </a:schemeClr>
                </a:solidFill>
                <a:latin typeface="Century Gothic"/>
                <a:cs typeface="Arial"/>
              </a:rPr>
              <a:t>Costo de Oportunidad de un Agente Inversionista.</a:t>
            </a:r>
            <a:endParaRPr lang="es-CO" dirty="0">
              <a:solidFill>
                <a:schemeClr val="bg2">
                  <a:lumMod val="90000"/>
                </a:schemeClr>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r>
              <a:rPr lang="es-CO" dirty="0">
                <a:solidFill>
                  <a:schemeClr val="accent1"/>
                </a:solidFill>
                <a:latin typeface="Century Gothic"/>
                <a:cs typeface="Arial"/>
              </a:rPr>
              <a:t>Consolidación.</a:t>
            </a:r>
            <a:endParaRPr lang="es-CO" dirty="0">
              <a:solidFill>
                <a:schemeClr val="accent1"/>
              </a:solidFill>
              <a:latin typeface="Century Gothic" panose="020B0502020202020204" pitchFamily="34" charset="0"/>
              <a:cs typeface="Arial"/>
            </a:endParaRPr>
          </a:p>
          <a:p>
            <a:pPr>
              <a:buClr>
                <a:srgbClr val="48BE7A"/>
              </a:buClr>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marL="342900" indent="-342900">
              <a:buClr>
                <a:srgbClr val="48BE7A"/>
              </a:buClr>
              <a:buAutoNum type="arabicPeriod"/>
            </a:pPr>
            <a:endParaRPr lang="es-CO" dirty="0">
              <a:solidFill>
                <a:schemeClr val="accent1"/>
              </a:solidFill>
              <a:latin typeface="Century Gothic" panose="020B0502020202020204" pitchFamily="34" charset="0"/>
              <a:cs typeface="Arial"/>
            </a:endParaRPr>
          </a:p>
          <a:p>
            <a:pPr>
              <a:buClr>
                <a:schemeClr val="accent3">
                  <a:lumMod val="75000"/>
                </a:schemeClr>
              </a:buClr>
            </a:pPr>
            <a:endParaRPr lang="es-CO" dirty="0">
              <a:solidFill>
                <a:schemeClr val="accent1"/>
              </a:solidFill>
              <a:latin typeface="Century Gothic" panose="020B0502020202020204" pitchFamily="34" charset="0"/>
            </a:endParaRPr>
          </a:p>
        </p:txBody>
      </p:sp>
      <p:sp>
        <p:nvSpPr>
          <p:cNvPr id="3" name="Rectángulo 2">
            <a:extLst>
              <a:ext uri="{FF2B5EF4-FFF2-40B4-BE49-F238E27FC236}">
                <a16:creationId xmlns:a16="http://schemas.microsoft.com/office/drawing/2014/main" id="{8E86F046-042E-5492-3FBC-4E0C89F4D940}"/>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5A2F8A99-E4A5-BAC5-C9B9-FA7BF325465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7" name="Rectángulo 6">
            <a:extLst>
              <a:ext uri="{FF2B5EF4-FFF2-40B4-BE49-F238E27FC236}">
                <a16:creationId xmlns:a16="http://schemas.microsoft.com/office/drawing/2014/main" id="{DBFD574D-E932-3F02-C63A-98F7C0E21071}"/>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213323089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42" presetClass="entr" presetSubtype="0" fill="hold" grpId="0" nodeType="withEffect">
                                  <p:stCondLst>
                                    <p:cond delay="0"/>
                                  </p:stCondLst>
                                  <p:childTnLst>
                                    <p:set>
                                      <p:cBhvr>
                                        <p:cTn id="8" dur="1" fill="hold">
                                          <p:stCondLst>
                                            <p:cond delay="0"/>
                                          </p:stCondLst>
                                        </p:cTn>
                                        <p:tgtEl>
                                          <p:spTgt spid="23"/>
                                        </p:tgtEl>
                                        <p:attrNameLst>
                                          <p:attrName>style.visibility</p:attrName>
                                        </p:attrNameLst>
                                      </p:cBhvr>
                                      <p:to>
                                        <p:strVal val="visible"/>
                                      </p:to>
                                    </p:set>
                                    <p:animEffect transition="in" filter="fade">
                                      <p:cBhvr>
                                        <p:cTn id="9" dur="1000"/>
                                        <p:tgtEl>
                                          <p:spTgt spid="23"/>
                                        </p:tgtEl>
                                      </p:cBhvr>
                                    </p:animEffect>
                                    <p:anim calcmode="lin" valueType="num">
                                      <p:cBhvr>
                                        <p:cTn id="10" dur="1000" fill="hold"/>
                                        <p:tgtEl>
                                          <p:spTgt spid="23"/>
                                        </p:tgtEl>
                                        <p:attrNameLst>
                                          <p:attrName>ppt_x</p:attrName>
                                        </p:attrNameLst>
                                      </p:cBhvr>
                                      <p:tavLst>
                                        <p:tav tm="0">
                                          <p:val>
                                            <p:strVal val="#ppt_x"/>
                                          </p:val>
                                        </p:tav>
                                        <p:tav tm="100000">
                                          <p:val>
                                            <p:strVal val="#ppt_x"/>
                                          </p:val>
                                        </p:tav>
                                      </p:tavLst>
                                    </p:anim>
                                    <p:anim calcmode="lin" valueType="num">
                                      <p:cBhvr>
                                        <p:cTn id="11" dur="1000" fill="hold"/>
                                        <p:tgtEl>
                                          <p:spTgt spid="2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En resumen</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28</a:t>
            </a:fld>
            <a:endParaRPr lang="en-US" sz="2000" b="1">
              <a:latin typeface="Century Gothic" panose="020B0502020202020204" pitchFamily="34" charset="0"/>
            </a:endParaRPr>
          </a:p>
        </p:txBody>
      </p:sp>
      <p:sp>
        <p:nvSpPr>
          <p:cNvPr id="21" name="Rectangle 20"/>
          <p:cNvSpPr>
            <a:spLocks/>
          </p:cNvSpPr>
          <p:nvPr/>
        </p:nvSpPr>
        <p:spPr bwMode="auto">
          <a:xfrm>
            <a:off x="1792989" y="6208000"/>
            <a:ext cx="2635337"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sz="1600">
                <a:solidFill>
                  <a:schemeClr val="accent1"/>
                </a:solidFill>
                <a:latin typeface="Century Gothic" panose="020B0502020202020204" pitchFamily="34" charset="0"/>
              </a:rPr>
              <a:t>Costo de obtener recursos</a:t>
            </a:r>
          </a:p>
        </p:txBody>
      </p:sp>
      <p:sp>
        <p:nvSpPr>
          <p:cNvPr id="22" name="Rectangle 21"/>
          <p:cNvSpPr>
            <a:spLocks/>
          </p:cNvSpPr>
          <p:nvPr/>
        </p:nvSpPr>
        <p:spPr bwMode="auto">
          <a:xfrm>
            <a:off x="5274002" y="6198151"/>
            <a:ext cx="1922001"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sz="1600">
                <a:solidFill>
                  <a:schemeClr val="accent1"/>
                </a:solidFill>
                <a:latin typeface="Century Gothic" panose="020B0502020202020204" pitchFamily="34" charset="0"/>
              </a:rPr>
              <a:t>Tasa de Captación</a:t>
            </a:r>
          </a:p>
        </p:txBody>
      </p:sp>
      <p:sp>
        <p:nvSpPr>
          <p:cNvPr id="19" name="Rounded Rectangle 18"/>
          <p:cNvSpPr/>
          <p:nvPr/>
        </p:nvSpPr>
        <p:spPr>
          <a:xfrm>
            <a:off x="2428028" y="5596769"/>
            <a:ext cx="1365261" cy="533744"/>
          </a:xfrm>
          <a:prstGeom prst="roundRect">
            <a:avLst/>
          </a:prstGeom>
          <a:solidFill>
            <a:schemeClr val="accent6">
              <a:lumMod val="75000"/>
            </a:schemeClr>
          </a:solidFill>
          <a:ln>
            <a:solidFill>
              <a:schemeClr val="accent6">
                <a:lumMod val="50000"/>
              </a:schemeClr>
            </a:solid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WACC</a:t>
            </a:r>
          </a:p>
        </p:txBody>
      </p:sp>
      <p:sp>
        <p:nvSpPr>
          <p:cNvPr id="24" name="Rounded Rectangle 23"/>
          <p:cNvSpPr/>
          <p:nvPr/>
        </p:nvSpPr>
        <p:spPr>
          <a:xfrm>
            <a:off x="5552373" y="5596769"/>
            <a:ext cx="1365261" cy="533744"/>
          </a:xfrm>
          <a:prstGeom prst="roundRect">
            <a:avLst/>
          </a:prstGeom>
          <a:solidFill>
            <a:schemeClr val="accent1"/>
          </a:solidFill>
          <a:ln>
            <a:solidFill>
              <a:schemeClr val="accent1">
                <a:lumMod val="50000"/>
              </a:schemeClr>
            </a:solid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DTF</a:t>
            </a:r>
          </a:p>
        </p:txBody>
      </p:sp>
      <p:sp>
        <p:nvSpPr>
          <p:cNvPr id="25" name="Rounded Rectangle 24"/>
          <p:cNvSpPr/>
          <p:nvPr/>
        </p:nvSpPr>
        <p:spPr>
          <a:xfrm>
            <a:off x="8717877" y="5596769"/>
            <a:ext cx="1365261" cy="533744"/>
          </a:xfrm>
          <a:prstGeom prst="roundRect">
            <a:avLst/>
          </a:prstGeom>
          <a:solidFill>
            <a:srgbClr val="C00000"/>
          </a:solidFill>
          <a:ln>
            <a:solidFill>
              <a:schemeClr val="accent6">
                <a:lumMod val="75000"/>
              </a:schemeClr>
            </a:solidFill>
          </a:ln>
          <a:scene3d>
            <a:camera prst="obliqueTopRight"/>
            <a:lightRig rig="threePt" dir="tl"/>
          </a:scene3d>
          <a:sp3d/>
        </p:spPr>
        <p:style>
          <a:lnRef idx="1">
            <a:schemeClr val="accent1"/>
          </a:lnRef>
          <a:fillRef idx="3">
            <a:schemeClr val="accent1"/>
          </a:fillRef>
          <a:effectRef idx="2">
            <a:schemeClr val="accent1"/>
          </a:effectRef>
          <a:fontRef idx="minor">
            <a:schemeClr val="lt1"/>
          </a:fontRef>
        </p:style>
        <p:txBody>
          <a:bodyPr rtlCol="0" anchor="ctr"/>
          <a:lstStyle/>
          <a:p>
            <a:pPr algn="ctr"/>
            <a:r>
              <a:rPr lang="es-ES_tradnl">
                <a:latin typeface="Century Gothic" panose="020B0502020202020204" pitchFamily="34" charset="0"/>
              </a:rPr>
              <a:t>Inflación</a:t>
            </a:r>
          </a:p>
        </p:txBody>
      </p:sp>
      <p:sp>
        <p:nvSpPr>
          <p:cNvPr id="27" name="Rectangle 26"/>
          <p:cNvSpPr>
            <a:spLocks/>
          </p:cNvSpPr>
          <p:nvPr/>
        </p:nvSpPr>
        <p:spPr bwMode="auto">
          <a:xfrm>
            <a:off x="7565606" y="5470769"/>
            <a:ext cx="503386" cy="738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sz="4800" b="1"/>
              <a:t>&gt;</a:t>
            </a:r>
            <a:endParaRPr lang="es-ES_tradnl" b="1"/>
          </a:p>
        </p:txBody>
      </p:sp>
      <p:sp>
        <p:nvSpPr>
          <p:cNvPr id="23" name="Rectangle 22"/>
          <p:cNvSpPr>
            <a:spLocks/>
          </p:cNvSpPr>
          <p:nvPr/>
        </p:nvSpPr>
        <p:spPr bwMode="auto">
          <a:xfrm>
            <a:off x="8730204" y="6198150"/>
            <a:ext cx="1352934" cy="24622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lIns="0" tIns="0" rIns="0" bIns="0" anchor="ctr">
            <a:spAutoFit/>
          </a:bodyPr>
          <a:lstStyle/>
          <a:p>
            <a:pPr algn="ctr"/>
            <a:r>
              <a:rPr lang="es-ES_tradnl" sz="1600">
                <a:solidFill>
                  <a:schemeClr val="accent1"/>
                </a:solidFill>
                <a:latin typeface="Century Gothic" panose="020B0502020202020204" pitchFamily="34" charset="0"/>
              </a:rPr>
              <a:t>Variación IPC</a:t>
            </a:r>
          </a:p>
        </p:txBody>
      </p:sp>
      <p:sp>
        <p:nvSpPr>
          <p:cNvPr id="2" name="Rectángulo 1">
            <a:extLst>
              <a:ext uri="{FF2B5EF4-FFF2-40B4-BE49-F238E27FC236}">
                <a16:creationId xmlns:a16="http://schemas.microsoft.com/office/drawing/2014/main" id="{BFC964AF-0BEE-BD40-5A22-2A3FDE310D23}"/>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6" name="Picture 2" descr="Clientes y aliados | Centro de Evaluación | Uniandes">
            <a:extLst>
              <a:ext uri="{FF2B5EF4-FFF2-40B4-BE49-F238E27FC236}">
                <a16:creationId xmlns:a16="http://schemas.microsoft.com/office/drawing/2014/main" id="{3A6B7969-94C3-366C-60C3-F791D345487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8" name="Imagen 7">
            <a:extLst>
              <a:ext uri="{FF2B5EF4-FFF2-40B4-BE49-F238E27FC236}">
                <a16:creationId xmlns:a16="http://schemas.microsoft.com/office/drawing/2014/main" id="{262D4F8A-787B-B66F-1EFD-4ABB9CC8C6ED}"/>
              </a:ext>
            </a:extLst>
          </p:cNvPr>
          <p:cNvPicPr>
            <a:picLocks noChangeAspect="1"/>
          </p:cNvPicPr>
          <p:nvPr/>
        </p:nvPicPr>
        <p:blipFill>
          <a:blip r:embed="rId4"/>
          <a:stretch>
            <a:fillRect/>
          </a:stretch>
        </p:blipFill>
        <p:spPr>
          <a:xfrm>
            <a:off x="3822239" y="2166118"/>
            <a:ext cx="4547522" cy="2982125"/>
          </a:xfrm>
          <a:prstGeom prst="rect">
            <a:avLst/>
          </a:prstGeom>
        </p:spPr>
      </p:pic>
      <p:pic>
        <p:nvPicPr>
          <p:cNvPr id="9220" name="Picture 4" descr="VALOR DEL DINERO EN EL TIEMPO – ISATKMAS">
            <a:extLst>
              <a:ext uri="{FF2B5EF4-FFF2-40B4-BE49-F238E27FC236}">
                <a16:creationId xmlns:a16="http://schemas.microsoft.com/office/drawing/2014/main" id="{76903D95-BEBF-5653-2C22-3A7C32AD020F}"/>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t="9085" b="10238"/>
          <a:stretch/>
        </p:blipFill>
        <p:spPr bwMode="auto">
          <a:xfrm>
            <a:off x="1233616" y="2773225"/>
            <a:ext cx="2191343" cy="1767909"/>
          </a:xfrm>
          <a:prstGeom prst="rect">
            <a:avLst/>
          </a:prstGeom>
          <a:noFill/>
          <a:extLst>
            <a:ext uri="{909E8E84-426E-40DD-AFC4-6F175D3DCCD1}">
              <a14:hiddenFill xmlns:a14="http://schemas.microsoft.com/office/drawing/2010/main">
                <a:solidFill>
                  <a:srgbClr val="FFFFFF"/>
                </a:solidFill>
              </a14:hiddenFill>
            </a:ext>
          </a:extLst>
        </p:spPr>
      </p:pic>
      <p:sp>
        <p:nvSpPr>
          <p:cNvPr id="3" name="Rectangle 26">
            <a:extLst>
              <a:ext uri="{FF2B5EF4-FFF2-40B4-BE49-F238E27FC236}">
                <a16:creationId xmlns:a16="http://schemas.microsoft.com/office/drawing/2014/main" id="{9DE38D69-6E2F-6A0C-9497-1AA9D1442EB1}"/>
              </a:ext>
            </a:extLst>
          </p:cNvPr>
          <p:cNvSpPr>
            <a:spLocks/>
          </p:cNvSpPr>
          <p:nvPr/>
        </p:nvSpPr>
        <p:spPr bwMode="auto">
          <a:xfrm>
            <a:off x="4441261" y="5459486"/>
            <a:ext cx="503386" cy="73866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square" lIns="0" tIns="0" rIns="0" bIns="0" anchor="ctr">
            <a:spAutoFit/>
          </a:bodyPr>
          <a:lstStyle/>
          <a:p>
            <a:pPr algn="ctr"/>
            <a:r>
              <a:rPr lang="es-ES_tradnl" sz="4800" b="1"/>
              <a:t>&gt;</a:t>
            </a:r>
            <a:endParaRPr lang="es-ES_tradnl" b="1"/>
          </a:p>
        </p:txBody>
      </p:sp>
      <p:sp>
        <p:nvSpPr>
          <p:cNvPr id="9" name="Rectángulo 8">
            <a:extLst>
              <a:ext uri="{FF2B5EF4-FFF2-40B4-BE49-F238E27FC236}">
                <a16:creationId xmlns:a16="http://schemas.microsoft.com/office/drawing/2014/main" id="{C33B7616-B4B3-705E-0959-F8200B33E197}"/>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150043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grpId="0" nodeType="clickEffect">
                                  <p:stCondLst>
                                    <p:cond delay="0"/>
                                  </p:stCondLst>
                                  <p:childTnLst>
                                    <p:set>
                                      <p:cBhvr>
                                        <p:cTn id="6" dur="1" fill="hold">
                                          <p:stCondLst>
                                            <p:cond delay="0"/>
                                          </p:stCondLst>
                                        </p:cTn>
                                        <p:tgtEl>
                                          <p:spTgt spid="19"/>
                                        </p:tgtEl>
                                        <p:attrNameLst>
                                          <p:attrName>style.visibility</p:attrName>
                                        </p:attrNameLst>
                                      </p:cBhvr>
                                      <p:to>
                                        <p:strVal val="visible"/>
                                      </p:to>
                                    </p:set>
                                    <p:anim calcmode="lin" valueType="num">
                                      <p:cBhvr additive="base">
                                        <p:cTn id="7" dur="500" fill="hold"/>
                                        <p:tgtEl>
                                          <p:spTgt spid="19"/>
                                        </p:tgtEl>
                                        <p:attrNameLst>
                                          <p:attrName>ppt_x</p:attrName>
                                        </p:attrNameLst>
                                      </p:cBhvr>
                                      <p:tavLst>
                                        <p:tav tm="0">
                                          <p:val>
                                            <p:strVal val="#ppt_x"/>
                                          </p:val>
                                        </p:tav>
                                        <p:tav tm="100000">
                                          <p:val>
                                            <p:strVal val="#ppt_x"/>
                                          </p:val>
                                        </p:tav>
                                      </p:tavLst>
                                    </p:anim>
                                    <p:anim calcmode="lin" valueType="num">
                                      <p:cBhvr additive="base">
                                        <p:cTn id="8" dur="500" fill="hold"/>
                                        <p:tgtEl>
                                          <p:spTgt spid="19"/>
                                        </p:tgtEl>
                                        <p:attrNameLst>
                                          <p:attrName>ppt_y</p:attrName>
                                        </p:attrNameLst>
                                      </p:cBhvr>
                                      <p:tavLst>
                                        <p:tav tm="0">
                                          <p:val>
                                            <p:strVal val="1+#ppt_h/2"/>
                                          </p:val>
                                        </p:tav>
                                        <p:tav tm="100000">
                                          <p:val>
                                            <p:strVal val="#ppt_y"/>
                                          </p:val>
                                        </p:tav>
                                      </p:tavLst>
                                    </p:anim>
                                  </p:childTnLst>
                                </p:cTn>
                              </p:par>
                              <p:par>
                                <p:cTn id="9" presetID="2" presetClass="entr" presetSubtype="4" fill="hold" grpId="0" nodeType="withEffect">
                                  <p:stCondLst>
                                    <p:cond delay="0"/>
                                  </p:stCondLst>
                                  <p:childTnLst>
                                    <p:set>
                                      <p:cBhvr>
                                        <p:cTn id="10" dur="1" fill="hold">
                                          <p:stCondLst>
                                            <p:cond delay="0"/>
                                          </p:stCondLst>
                                        </p:cTn>
                                        <p:tgtEl>
                                          <p:spTgt spid="21"/>
                                        </p:tgtEl>
                                        <p:attrNameLst>
                                          <p:attrName>style.visibility</p:attrName>
                                        </p:attrNameLst>
                                      </p:cBhvr>
                                      <p:to>
                                        <p:strVal val="visible"/>
                                      </p:to>
                                    </p:set>
                                    <p:anim calcmode="lin" valueType="num">
                                      <p:cBhvr additive="base">
                                        <p:cTn id="11" dur="500" fill="hold"/>
                                        <p:tgtEl>
                                          <p:spTgt spid="21"/>
                                        </p:tgtEl>
                                        <p:attrNameLst>
                                          <p:attrName>ppt_x</p:attrName>
                                        </p:attrNameLst>
                                      </p:cBhvr>
                                      <p:tavLst>
                                        <p:tav tm="0">
                                          <p:val>
                                            <p:strVal val="#ppt_x"/>
                                          </p:val>
                                        </p:tav>
                                        <p:tav tm="100000">
                                          <p:val>
                                            <p:strVal val="#ppt_x"/>
                                          </p:val>
                                        </p:tav>
                                      </p:tavLst>
                                    </p:anim>
                                    <p:anim calcmode="lin" valueType="num">
                                      <p:cBhvr additive="base">
                                        <p:cTn id="12" dur="500" fill="hold"/>
                                        <p:tgtEl>
                                          <p:spTgt spid="21"/>
                                        </p:tgtEl>
                                        <p:attrNameLst>
                                          <p:attrName>ppt_y</p:attrName>
                                        </p:attrNameLst>
                                      </p:cBhvr>
                                      <p:tavLst>
                                        <p:tav tm="0">
                                          <p:val>
                                            <p:strVal val="1+#ppt_h/2"/>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grpId="0" nodeType="clickEffect">
                                  <p:stCondLst>
                                    <p:cond delay="0"/>
                                  </p:stCondLst>
                                  <p:childTnLst>
                                    <p:set>
                                      <p:cBhvr>
                                        <p:cTn id="16" dur="1" fill="hold">
                                          <p:stCondLst>
                                            <p:cond delay="0"/>
                                          </p:stCondLst>
                                        </p:cTn>
                                        <p:tgtEl>
                                          <p:spTgt spid="24"/>
                                        </p:tgtEl>
                                        <p:attrNameLst>
                                          <p:attrName>style.visibility</p:attrName>
                                        </p:attrNameLst>
                                      </p:cBhvr>
                                      <p:to>
                                        <p:strVal val="visible"/>
                                      </p:to>
                                    </p:set>
                                    <p:anim calcmode="lin" valueType="num">
                                      <p:cBhvr additive="base">
                                        <p:cTn id="17" dur="500" fill="hold"/>
                                        <p:tgtEl>
                                          <p:spTgt spid="24"/>
                                        </p:tgtEl>
                                        <p:attrNameLst>
                                          <p:attrName>ppt_x</p:attrName>
                                        </p:attrNameLst>
                                      </p:cBhvr>
                                      <p:tavLst>
                                        <p:tav tm="0">
                                          <p:val>
                                            <p:strVal val="#ppt_x"/>
                                          </p:val>
                                        </p:tav>
                                        <p:tav tm="100000">
                                          <p:val>
                                            <p:strVal val="#ppt_x"/>
                                          </p:val>
                                        </p:tav>
                                      </p:tavLst>
                                    </p:anim>
                                    <p:anim calcmode="lin" valueType="num">
                                      <p:cBhvr additive="base">
                                        <p:cTn id="18" dur="500" fill="hold"/>
                                        <p:tgtEl>
                                          <p:spTgt spid="24"/>
                                        </p:tgtEl>
                                        <p:attrNameLst>
                                          <p:attrName>ppt_y</p:attrName>
                                        </p:attrNameLst>
                                      </p:cBhvr>
                                      <p:tavLst>
                                        <p:tav tm="0">
                                          <p:val>
                                            <p:strVal val="1+#ppt_h/2"/>
                                          </p:val>
                                        </p:tav>
                                        <p:tav tm="100000">
                                          <p:val>
                                            <p:strVal val="#ppt_y"/>
                                          </p:val>
                                        </p:tav>
                                      </p:tavLst>
                                    </p:anim>
                                  </p:childTnLst>
                                </p:cTn>
                              </p:par>
                              <p:par>
                                <p:cTn id="19" presetID="2" presetClass="entr" presetSubtype="4"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anim calcmode="lin" valueType="num">
                                      <p:cBhvr additive="base">
                                        <p:cTn id="21" dur="500" fill="hold"/>
                                        <p:tgtEl>
                                          <p:spTgt spid="22"/>
                                        </p:tgtEl>
                                        <p:attrNameLst>
                                          <p:attrName>ppt_x</p:attrName>
                                        </p:attrNameLst>
                                      </p:cBhvr>
                                      <p:tavLst>
                                        <p:tav tm="0">
                                          <p:val>
                                            <p:strVal val="#ppt_x"/>
                                          </p:val>
                                        </p:tav>
                                        <p:tav tm="100000">
                                          <p:val>
                                            <p:strVal val="#ppt_x"/>
                                          </p:val>
                                        </p:tav>
                                      </p:tavLst>
                                    </p:anim>
                                    <p:anim calcmode="lin" valueType="num">
                                      <p:cBhvr additive="base">
                                        <p:cTn id="22" dur="500" fill="hold"/>
                                        <p:tgtEl>
                                          <p:spTgt spid="22"/>
                                        </p:tgtEl>
                                        <p:attrNameLst>
                                          <p:attrName>ppt_y</p:attrName>
                                        </p:attrNameLst>
                                      </p:cBhvr>
                                      <p:tavLst>
                                        <p:tav tm="0">
                                          <p:val>
                                            <p:strVal val="1+#ppt_h/2"/>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grpId="0" nodeType="clickEffect">
                                  <p:stCondLst>
                                    <p:cond delay="0"/>
                                  </p:stCondLst>
                                  <p:childTnLst>
                                    <p:set>
                                      <p:cBhvr>
                                        <p:cTn id="26" dur="1" fill="hold">
                                          <p:stCondLst>
                                            <p:cond delay="0"/>
                                          </p:stCondLst>
                                        </p:cTn>
                                        <p:tgtEl>
                                          <p:spTgt spid="25"/>
                                        </p:tgtEl>
                                        <p:attrNameLst>
                                          <p:attrName>style.visibility</p:attrName>
                                        </p:attrNameLst>
                                      </p:cBhvr>
                                      <p:to>
                                        <p:strVal val="visible"/>
                                      </p:to>
                                    </p:set>
                                    <p:anim calcmode="lin" valueType="num">
                                      <p:cBhvr additive="base">
                                        <p:cTn id="27" dur="500" fill="hold"/>
                                        <p:tgtEl>
                                          <p:spTgt spid="25"/>
                                        </p:tgtEl>
                                        <p:attrNameLst>
                                          <p:attrName>ppt_x</p:attrName>
                                        </p:attrNameLst>
                                      </p:cBhvr>
                                      <p:tavLst>
                                        <p:tav tm="0">
                                          <p:val>
                                            <p:strVal val="#ppt_x"/>
                                          </p:val>
                                        </p:tav>
                                        <p:tav tm="100000">
                                          <p:val>
                                            <p:strVal val="#ppt_x"/>
                                          </p:val>
                                        </p:tav>
                                      </p:tavLst>
                                    </p:anim>
                                    <p:anim calcmode="lin" valueType="num">
                                      <p:cBhvr additive="base">
                                        <p:cTn id="28" dur="500" fill="hold"/>
                                        <p:tgtEl>
                                          <p:spTgt spid="25"/>
                                        </p:tgtEl>
                                        <p:attrNameLst>
                                          <p:attrName>ppt_y</p:attrName>
                                        </p:attrNameLst>
                                      </p:cBhvr>
                                      <p:tavLst>
                                        <p:tav tm="0">
                                          <p:val>
                                            <p:strVal val="1+#ppt_h/2"/>
                                          </p:val>
                                        </p:tav>
                                        <p:tav tm="100000">
                                          <p:val>
                                            <p:strVal val="#ppt_y"/>
                                          </p:val>
                                        </p:tav>
                                      </p:tavLst>
                                    </p:anim>
                                  </p:childTnLst>
                                </p:cTn>
                              </p:par>
                              <p:par>
                                <p:cTn id="29" presetID="2" presetClass="entr" presetSubtype="4" fill="hold" grpId="0" nodeType="withEffect">
                                  <p:stCondLst>
                                    <p:cond delay="0"/>
                                  </p:stCondLst>
                                  <p:childTnLst>
                                    <p:set>
                                      <p:cBhvr>
                                        <p:cTn id="30" dur="1" fill="hold">
                                          <p:stCondLst>
                                            <p:cond delay="0"/>
                                          </p:stCondLst>
                                        </p:cTn>
                                        <p:tgtEl>
                                          <p:spTgt spid="23"/>
                                        </p:tgtEl>
                                        <p:attrNameLst>
                                          <p:attrName>style.visibility</p:attrName>
                                        </p:attrNameLst>
                                      </p:cBhvr>
                                      <p:to>
                                        <p:strVal val="visible"/>
                                      </p:to>
                                    </p:set>
                                    <p:anim calcmode="lin" valueType="num">
                                      <p:cBhvr additive="base">
                                        <p:cTn id="31" dur="500" fill="hold"/>
                                        <p:tgtEl>
                                          <p:spTgt spid="23"/>
                                        </p:tgtEl>
                                        <p:attrNameLst>
                                          <p:attrName>ppt_x</p:attrName>
                                        </p:attrNameLst>
                                      </p:cBhvr>
                                      <p:tavLst>
                                        <p:tav tm="0">
                                          <p:val>
                                            <p:strVal val="#ppt_x"/>
                                          </p:val>
                                        </p:tav>
                                        <p:tav tm="100000">
                                          <p:val>
                                            <p:strVal val="#ppt_x"/>
                                          </p:val>
                                        </p:tav>
                                      </p:tavLst>
                                    </p:anim>
                                    <p:anim calcmode="lin" valueType="num">
                                      <p:cBhvr additive="base">
                                        <p:cTn id="32" dur="500" fill="hold"/>
                                        <p:tgtEl>
                                          <p:spTgt spid="23"/>
                                        </p:tgtEl>
                                        <p:attrNameLst>
                                          <p:attrName>ppt_y</p:attrName>
                                        </p:attrNameLst>
                                      </p:cBhvr>
                                      <p:tavLst>
                                        <p:tav tm="0">
                                          <p:val>
                                            <p:strVal val="1+#ppt_h/2"/>
                                          </p:val>
                                        </p:tav>
                                        <p:tav tm="100000">
                                          <p:val>
                                            <p:strVal val="#ppt_y"/>
                                          </p:val>
                                        </p:tav>
                                      </p:tavLst>
                                    </p:anim>
                                  </p:childTnLst>
                                </p:cTn>
                              </p:par>
                            </p:childTnLst>
                          </p:cTn>
                        </p:par>
                      </p:childTnLst>
                    </p:cTn>
                  </p:par>
                  <p:par>
                    <p:cTn id="33" fill="hold">
                      <p:stCondLst>
                        <p:cond delay="indefinite"/>
                      </p:stCondLst>
                      <p:childTnLst>
                        <p:par>
                          <p:cTn id="34" fill="hold">
                            <p:stCondLst>
                              <p:cond delay="0"/>
                            </p:stCondLst>
                            <p:childTnLst>
                              <p:par>
                                <p:cTn id="35" presetID="14" presetClass="entr" presetSubtype="10" fill="hold" grpId="0"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randombar(horizontal)">
                                      <p:cBhvr>
                                        <p:cTn id="37" dur="500"/>
                                        <p:tgtEl>
                                          <p:spTgt spid="3"/>
                                        </p:tgtEl>
                                      </p:cBhvr>
                                    </p:animEffect>
                                  </p:childTnLst>
                                </p:cTn>
                              </p:par>
                              <p:par>
                                <p:cTn id="38" presetID="14" presetClass="entr" presetSubtype="10" fill="hold" grpId="0" nodeType="withEffect">
                                  <p:stCondLst>
                                    <p:cond delay="0"/>
                                  </p:stCondLst>
                                  <p:childTnLst>
                                    <p:set>
                                      <p:cBhvr>
                                        <p:cTn id="39" dur="1" fill="hold">
                                          <p:stCondLst>
                                            <p:cond delay="0"/>
                                          </p:stCondLst>
                                        </p:cTn>
                                        <p:tgtEl>
                                          <p:spTgt spid="27"/>
                                        </p:tgtEl>
                                        <p:attrNameLst>
                                          <p:attrName>style.visibility</p:attrName>
                                        </p:attrNameLst>
                                      </p:cBhvr>
                                      <p:to>
                                        <p:strVal val="visible"/>
                                      </p:to>
                                    </p:set>
                                    <p:animEffect transition="in" filter="randombar(horizontal)">
                                      <p:cBhvr>
                                        <p:cTn id="40"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p:bldP spid="22" grpId="0"/>
      <p:bldP spid="19" grpId="0" animBg="1"/>
      <p:bldP spid="24" grpId="0" animBg="1"/>
      <p:bldP spid="25" grpId="0" animBg="1"/>
      <p:bldP spid="27" grpId="0"/>
      <p:bldP spid="23" grpId="0"/>
      <p:bldP spid="3"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p:cNvSpPr>
            <a:spLocks noGrp="1"/>
          </p:cNvSpPr>
          <p:nvPr>
            <p:ph type="title"/>
          </p:nvPr>
        </p:nvSpPr>
        <p:spPr/>
        <p:txBody>
          <a:bodyPr>
            <a:normAutofit/>
          </a:bodyPr>
          <a:lstStyle/>
          <a:p>
            <a:r>
              <a:rPr lang="es-ES_tradnl">
                <a:latin typeface="Century Gothic" panose="020B0502020202020204" pitchFamily="34" charset="0"/>
              </a:rPr>
              <a:t>En resumen</a:t>
            </a:r>
          </a:p>
        </p:txBody>
      </p:sp>
      <p:sp>
        <p:nvSpPr>
          <p:cNvPr id="19" name="Content Placeholder 6"/>
          <p:cNvSpPr>
            <a:spLocks noGrp="1"/>
          </p:cNvSpPr>
          <p:nvPr>
            <p:ph idx="1"/>
          </p:nvPr>
        </p:nvSpPr>
        <p:spPr>
          <a:xfrm>
            <a:off x="1236156" y="2497614"/>
            <a:ext cx="6772965" cy="3670767"/>
          </a:xfrm>
        </p:spPr>
        <p:txBody>
          <a:bodyPr>
            <a:noAutofit/>
          </a:bodyPr>
          <a:lstStyle/>
          <a:p>
            <a:pPr marL="0" indent="0" algn="ctr">
              <a:buNone/>
            </a:pPr>
            <a:r>
              <a:rPr lang="es-ES_tradnl" dirty="0">
                <a:latin typeface="Century Gothic" panose="020B0502020202020204" pitchFamily="34" charset="0"/>
              </a:rPr>
              <a:t>Dada la </a:t>
            </a:r>
            <a:r>
              <a:rPr lang="es-ES_tradnl" b="1" dirty="0">
                <a:solidFill>
                  <a:srgbClr val="C00000"/>
                </a:solidFill>
                <a:latin typeface="Century Gothic" panose="020B0502020202020204" pitchFamily="34" charset="0"/>
              </a:rPr>
              <a:t>existencia del VDT</a:t>
            </a:r>
            <a:r>
              <a:rPr lang="es-ES_tradnl" dirty="0">
                <a:latin typeface="Century Gothic" panose="020B0502020202020204" pitchFamily="34" charset="0"/>
              </a:rPr>
              <a:t>, los agentes racionales exigirán una </a:t>
            </a:r>
            <a:r>
              <a:rPr lang="es-ES_tradnl" b="1" dirty="0">
                <a:solidFill>
                  <a:srgbClr val="C00000"/>
                </a:solidFill>
                <a:latin typeface="Century Gothic" panose="020B0502020202020204" pitchFamily="34" charset="0"/>
              </a:rPr>
              <a:t>compensación</a:t>
            </a:r>
            <a:r>
              <a:rPr lang="es-ES_tradnl" dirty="0">
                <a:latin typeface="Century Gothic" panose="020B0502020202020204" pitchFamily="34" charset="0"/>
              </a:rPr>
              <a:t> por renunciar al uso del dinero hoy y aplazar su uso para el futuro.</a:t>
            </a:r>
          </a:p>
          <a:p>
            <a:pPr marL="0" indent="0" algn="ctr">
              <a:buNone/>
            </a:pPr>
            <a:endParaRPr lang="es-ES_tradnl" dirty="0">
              <a:latin typeface="Century Gothic" panose="020B0502020202020204" pitchFamily="34" charset="0"/>
            </a:endParaRPr>
          </a:p>
          <a:p>
            <a:pPr marL="0" indent="0" algn="ctr">
              <a:buNone/>
            </a:pPr>
            <a:r>
              <a:rPr lang="es-ES_tradnl" b="1" dirty="0">
                <a:solidFill>
                  <a:srgbClr val="D7A700"/>
                </a:solidFill>
                <a:latin typeface="Century Gothic"/>
              </a:rPr>
              <a:t>El costo de oportunidad es el “costo” de renunciar o no disponer de los recursos hoy frente a disponer y/o recibirlos en el futuro.</a:t>
            </a:r>
          </a:p>
          <a:p>
            <a:pPr marL="0" indent="0" algn="ctr">
              <a:buNone/>
            </a:pPr>
            <a:endParaRPr lang="es-ES_tradnl" dirty="0">
              <a:latin typeface="Century Gothic" panose="020B0502020202020204" pitchFamily="34" charset="0"/>
            </a:endParaRPr>
          </a:p>
          <a:p>
            <a:pPr marL="0" indent="0" algn="ctr">
              <a:buNone/>
            </a:pPr>
            <a:r>
              <a:rPr lang="es-ES_tradnl" dirty="0">
                <a:latin typeface="Century Gothic" panose="020B0502020202020204" pitchFamily="34" charset="0"/>
              </a:rPr>
              <a:t>El VDT está estrechamente ligado con el concepto de </a:t>
            </a:r>
            <a:r>
              <a:rPr lang="es-ES_tradnl" b="1" dirty="0">
                <a:solidFill>
                  <a:schemeClr val="accent1"/>
                </a:solidFill>
                <a:latin typeface="Century Gothic" panose="020B0502020202020204" pitchFamily="34" charset="0"/>
              </a:rPr>
              <a:t>rendimiento/interés</a:t>
            </a:r>
            <a:r>
              <a:rPr lang="es-ES_tradnl" dirty="0">
                <a:latin typeface="Century Gothic" panose="020B0502020202020204" pitchFamily="34" charset="0"/>
              </a:rPr>
              <a:t>.</a:t>
            </a:r>
          </a:p>
        </p:txBody>
      </p:sp>
      <p:sp>
        <p:nvSpPr>
          <p:cNvPr id="11" name="Slide Number Placeholder 10"/>
          <p:cNvSpPr>
            <a:spLocks noGrp="1"/>
          </p:cNvSpPr>
          <p:nvPr>
            <p:ph type="sldNum" sz="quarter" idx="12"/>
          </p:nvPr>
        </p:nvSpPr>
        <p:spPr/>
        <p:txBody>
          <a:bodyPr/>
          <a:lstStyle/>
          <a:p>
            <a:fld id="{5E3E23BA-6E79-2442-BA73-D218A5E297C3}" type="slidenum">
              <a:rPr lang="en-US" sz="2000" b="1" smtClean="0">
                <a:latin typeface="Century Gothic" panose="020B0502020202020204" pitchFamily="34" charset="0"/>
              </a:rPr>
              <a:t>29</a:t>
            </a:fld>
            <a:endParaRPr lang="en-US" sz="2000" b="1">
              <a:latin typeface="Century Gothic" panose="020B0502020202020204" pitchFamily="34" charset="0"/>
            </a:endParaRPr>
          </a:p>
        </p:txBody>
      </p:sp>
      <p:sp>
        <p:nvSpPr>
          <p:cNvPr id="2" name="Rectángulo 1">
            <a:extLst>
              <a:ext uri="{FF2B5EF4-FFF2-40B4-BE49-F238E27FC236}">
                <a16:creationId xmlns:a16="http://schemas.microsoft.com/office/drawing/2014/main" id="{4B274C7A-EAC8-6A80-FF62-F58F7E7A8B1B}"/>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4" name="Picture 2" descr="Clientes y aliados | Centro de Evaluación | Uniandes">
            <a:extLst>
              <a:ext uri="{FF2B5EF4-FFF2-40B4-BE49-F238E27FC236}">
                <a16:creationId xmlns:a16="http://schemas.microsoft.com/office/drawing/2014/main" id="{3DD52B15-736D-EAC0-C47A-1752350E71D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sp>
        <p:nvSpPr>
          <p:cNvPr id="6" name="Rectángulo 5">
            <a:extLst>
              <a:ext uri="{FF2B5EF4-FFF2-40B4-BE49-F238E27FC236}">
                <a16:creationId xmlns:a16="http://schemas.microsoft.com/office/drawing/2014/main" id="{D23DCD1F-2BEE-50E5-5656-F4D3B26F830F}"/>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3074" name="Picture 2" descr="El valor del dinero en el tiempo - GCH ACCOUNTING FIRM.">
            <a:extLst>
              <a:ext uri="{FF2B5EF4-FFF2-40B4-BE49-F238E27FC236}">
                <a16:creationId xmlns:a16="http://schemas.microsoft.com/office/drawing/2014/main" id="{865A6021-B652-079A-2E55-AFA4C951F7C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399256" y="3131507"/>
            <a:ext cx="3059089" cy="20105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9795134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A29FED-50BC-AD9A-EF98-BB238E6F6266}"/>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E5ED9DF7-6BFF-2155-2BC0-82D65CEF7B87}"/>
              </a:ext>
            </a:extLst>
          </p:cNvPr>
          <p:cNvSpPr>
            <a:spLocks noGrp="1"/>
          </p:cNvSpPr>
          <p:nvPr>
            <p:ph type="title"/>
          </p:nvPr>
        </p:nvSpPr>
        <p:spPr/>
        <p:txBody>
          <a:bodyPr/>
          <a:lstStyle/>
          <a:p>
            <a:r>
              <a:rPr lang="es-CO">
                <a:latin typeface="Century Gothic" panose="020B0502020202020204" pitchFamily="34" charset="0"/>
              </a:rPr>
              <a:t>PREGUNTA 1 (4 MINUTOS)</a:t>
            </a:r>
          </a:p>
        </p:txBody>
      </p:sp>
      <p:sp>
        <p:nvSpPr>
          <p:cNvPr id="4" name="Marcador de número de diapositiva 3">
            <a:extLst>
              <a:ext uri="{FF2B5EF4-FFF2-40B4-BE49-F238E27FC236}">
                <a16:creationId xmlns:a16="http://schemas.microsoft.com/office/drawing/2014/main" id="{CB3E8B3D-5F88-D547-2B7A-B085CC66B404}"/>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30</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378D9015-ECD7-6285-DC41-80D20B389D75}"/>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F3AB8044-334E-DA63-2706-AF02747CAA69}"/>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2B4A512F-F0F4-742A-EF81-AEE2F33EEAE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9" name="Gráfico 8" descr="Badge Tick1 con relleno sólido">
            <a:extLst>
              <a:ext uri="{FF2B5EF4-FFF2-40B4-BE49-F238E27FC236}">
                <a16:creationId xmlns:a16="http://schemas.microsoft.com/office/drawing/2014/main" id="{357449C6-94C7-34F1-3029-88E87C827A5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97057" y="3975690"/>
            <a:ext cx="356198" cy="356198"/>
          </a:xfrm>
          <a:prstGeom prst="rect">
            <a:avLst/>
          </a:prstGeom>
        </p:spPr>
      </p:pic>
      <p:pic>
        <p:nvPicPr>
          <p:cNvPr id="11" name="Imagen 10">
            <a:extLst>
              <a:ext uri="{FF2B5EF4-FFF2-40B4-BE49-F238E27FC236}">
                <a16:creationId xmlns:a16="http://schemas.microsoft.com/office/drawing/2014/main" id="{D4797E38-C261-36AC-835D-C0A11D3F91C8}"/>
              </a:ext>
            </a:extLst>
          </p:cNvPr>
          <p:cNvPicPr>
            <a:picLocks noChangeAspect="1"/>
          </p:cNvPicPr>
          <p:nvPr/>
        </p:nvPicPr>
        <p:blipFill>
          <a:blip r:embed="rId5"/>
          <a:stretch>
            <a:fillRect/>
          </a:stretch>
        </p:blipFill>
        <p:spPr>
          <a:xfrm>
            <a:off x="782605" y="1989939"/>
            <a:ext cx="8464163" cy="4683091"/>
          </a:xfrm>
          <a:prstGeom prst="rect">
            <a:avLst/>
          </a:prstGeom>
        </p:spPr>
      </p:pic>
      <p:sp>
        <p:nvSpPr>
          <p:cNvPr id="7" name="Rectángulo 6">
            <a:extLst>
              <a:ext uri="{FF2B5EF4-FFF2-40B4-BE49-F238E27FC236}">
                <a16:creationId xmlns:a16="http://schemas.microsoft.com/office/drawing/2014/main" id="{503884CA-9BD2-B4ED-3277-3B8D44824666}"/>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 name="Picture 2" descr="Aprender a resolver problemas | PressCoaching">
            <a:extLst>
              <a:ext uri="{FF2B5EF4-FFF2-40B4-BE49-F238E27FC236}">
                <a16:creationId xmlns:a16="http://schemas.microsoft.com/office/drawing/2014/main" id="{0E7B2501-1F4C-E1DD-7FCA-BA56BCC33D66}"/>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877671" y="3429000"/>
            <a:ext cx="2633645" cy="1481204"/>
          </a:xfrm>
          <a:prstGeom prst="rect">
            <a:avLst/>
          </a:prstGeom>
          <a:noFill/>
          <a:extLst>
            <a:ext uri="{909E8E84-426E-40DD-AFC4-6F175D3DCCD1}">
              <a14:hiddenFill xmlns:a14="http://schemas.microsoft.com/office/drawing/2010/main">
                <a:solidFill>
                  <a:srgbClr val="FFFFFF"/>
                </a:solidFill>
              </a14:hiddenFill>
            </a:ext>
          </a:extLst>
        </p:spPr>
      </p:pic>
      <p:pic>
        <p:nvPicPr>
          <p:cNvPr id="3" name="Gráfico 2" descr="Badge Tick1 con relleno sólido">
            <a:extLst>
              <a:ext uri="{FF2B5EF4-FFF2-40B4-BE49-F238E27FC236}">
                <a16:creationId xmlns:a16="http://schemas.microsoft.com/office/drawing/2014/main" id="{3CD54763-4C55-9CFC-FA10-FDDA914840F1}"/>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33344" y="5477916"/>
            <a:ext cx="356198" cy="356198"/>
          </a:xfrm>
          <a:prstGeom prst="rect">
            <a:avLst/>
          </a:prstGeom>
        </p:spPr>
      </p:pic>
    </p:spTree>
    <p:custDataLst>
      <p:tags r:id="rId1"/>
    </p:custDataLst>
    <p:extLst>
      <p:ext uri="{BB962C8B-B14F-4D97-AF65-F5344CB8AC3E}">
        <p14:creationId xmlns:p14="http://schemas.microsoft.com/office/powerpoint/2010/main" val="369434477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9"/>
                                        </p:tgtEl>
                                        <p:attrNameLst>
                                          <p:attrName>style.visibility</p:attrName>
                                        </p:attrNameLst>
                                      </p:cBhvr>
                                      <p:to>
                                        <p:strVal val="visible"/>
                                      </p:to>
                                    </p:set>
                                    <p:anim calcmode="lin" valueType="num">
                                      <p:cBhvr additive="base">
                                        <p:cTn id="13" dur="500" fill="hold"/>
                                        <p:tgtEl>
                                          <p:spTgt spid="9"/>
                                        </p:tgtEl>
                                        <p:attrNameLst>
                                          <p:attrName>ppt_x</p:attrName>
                                        </p:attrNameLst>
                                      </p:cBhvr>
                                      <p:tavLst>
                                        <p:tav tm="0">
                                          <p:val>
                                            <p:strVal val="#ppt_x"/>
                                          </p:val>
                                        </p:tav>
                                        <p:tav tm="100000">
                                          <p:val>
                                            <p:strVal val="#ppt_x"/>
                                          </p:val>
                                        </p:tav>
                                      </p:tavLst>
                                    </p:anim>
                                    <p:anim calcmode="lin" valueType="num">
                                      <p:cBhvr additive="base">
                                        <p:cTn id="14" dur="500" fill="hold"/>
                                        <p:tgtEl>
                                          <p:spTgt spid="9"/>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additive="base">
                                        <p:cTn id="17" dur="500" fill="hold"/>
                                        <p:tgtEl>
                                          <p:spTgt spid="3"/>
                                        </p:tgtEl>
                                        <p:attrNameLst>
                                          <p:attrName>ppt_x</p:attrName>
                                        </p:attrNameLst>
                                      </p:cBhvr>
                                      <p:tavLst>
                                        <p:tav tm="0">
                                          <p:val>
                                            <p:strVal val="#ppt_x"/>
                                          </p:val>
                                        </p:tav>
                                        <p:tav tm="100000">
                                          <p:val>
                                            <p:strVal val="#ppt_x"/>
                                          </p:val>
                                        </p:tav>
                                      </p:tavLst>
                                    </p:anim>
                                    <p:anim calcmode="lin" valueType="num">
                                      <p:cBhvr additive="base">
                                        <p:cTn id="18" dur="500" fill="hold"/>
                                        <p:tgtEl>
                                          <p:spTgt spid="3"/>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CA3DC3A-7D0C-9E57-EB81-9253CAB69B4A}"/>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B25E257-6C98-2C2E-1021-1AAC4B28998E}"/>
              </a:ext>
            </a:extLst>
          </p:cNvPr>
          <p:cNvSpPr>
            <a:spLocks noGrp="1"/>
          </p:cNvSpPr>
          <p:nvPr>
            <p:ph type="title"/>
          </p:nvPr>
        </p:nvSpPr>
        <p:spPr/>
        <p:txBody>
          <a:bodyPr/>
          <a:lstStyle/>
          <a:p>
            <a:r>
              <a:rPr lang="es-CO">
                <a:latin typeface="Century Gothic" panose="020B0502020202020204" pitchFamily="34" charset="0"/>
              </a:rPr>
              <a:t>PREGUNTA 2 (4 MINUTOS)</a:t>
            </a:r>
          </a:p>
        </p:txBody>
      </p:sp>
      <p:sp>
        <p:nvSpPr>
          <p:cNvPr id="4" name="Marcador de número de diapositiva 3">
            <a:extLst>
              <a:ext uri="{FF2B5EF4-FFF2-40B4-BE49-F238E27FC236}">
                <a16:creationId xmlns:a16="http://schemas.microsoft.com/office/drawing/2014/main" id="{ACB43DF2-18F3-B8E8-F284-FDEAF0F9D251}"/>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31</a:t>
            </a:fld>
            <a:endParaRPr lang="en-US" sz="2000" b="1">
              <a:latin typeface="Century Gothic" panose="020B0502020202020204" pitchFamily="34" charset="0"/>
            </a:endParaRPr>
          </a:p>
        </p:txBody>
      </p:sp>
      <p:sp>
        <p:nvSpPr>
          <p:cNvPr id="5" name="TPPolling">
            <a:extLst>
              <a:ext uri="{FF2B5EF4-FFF2-40B4-BE49-F238E27FC236}">
                <a16:creationId xmlns:a16="http://schemas.microsoft.com/office/drawing/2014/main" id="{1000C5A2-BB1A-497B-CADC-FEC7AB66F63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57A07A-9FBF-4BFF-FBB1-8F5E4F114137}"/>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DF75A7BF-1550-D994-DBE8-855FA0BC9202}"/>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4" name="Imagen 13">
            <a:extLst>
              <a:ext uri="{FF2B5EF4-FFF2-40B4-BE49-F238E27FC236}">
                <a16:creationId xmlns:a16="http://schemas.microsoft.com/office/drawing/2014/main" id="{1F6D29A6-48CC-F5E0-85D6-1AB734659AE6}"/>
              </a:ext>
            </a:extLst>
          </p:cNvPr>
          <p:cNvPicPr>
            <a:picLocks noChangeAspect="1"/>
          </p:cNvPicPr>
          <p:nvPr/>
        </p:nvPicPr>
        <p:blipFill>
          <a:blip r:embed="rId4"/>
          <a:stretch>
            <a:fillRect/>
          </a:stretch>
        </p:blipFill>
        <p:spPr>
          <a:xfrm>
            <a:off x="1043973" y="1989938"/>
            <a:ext cx="8011080" cy="4586225"/>
          </a:xfrm>
          <a:prstGeom prst="rect">
            <a:avLst/>
          </a:prstGeom>
        </p:spPr>
      </p:pic>
      <p:sp>
        <p:nvSpPr>
          <p:cNvPr id="3" name="Rectángulo 2">
            <a:extLst>
              <a:ext uri="{FF2B5EF4-FFF2-40B4-BE49-F238E27FC236}">
                <a16:creationId xmlns:a16="http://schemas.microsoft.com/office/drawing/2014/main" id="{04D0573F-D853-E941-6472-6007A1359E7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pic>
        <p:nvPicPr>
          <p:cNvPr id="10" name="Picture 2" descr="Resolución de problemas. 10 consejos para evitar antes de encontrar una  solución - Cepymenews">
            <a:extLst>
              <a:ext uri="{FF2B5EF4-FFF2-40B4-BE49-F238E27FC236}">
                <a16:creationId xmlns:a16="http://schemas.microsoft.com/office/drawing/2014/main" id="{3779E3C2-61C1-CCBD-6B90-AC634B54DF12}"/>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9061478" y="3591839"/>
            <a:ext cx="2549330" cy="1355942"/>
          </a:xfrm>
          <a:prstGeom prst="rect">
            <a:avLst/>
          </a:prstGeom>
          <a:noFill/>
          <a:extLst>
            <a:ext uri="{909E8E84-426E-40DD-AFC4-6F175D3DCCD1}">
              <a14:hiddenFill xmlns:a14="http://schemas.microsoft.com/office/drawing/2010/main">
                <a:solidFill>
                  <a:srgbClr val="FFFFFF"/>
                </a:solidFill>
              </a14:hiddenFill>
            </a:ext>
          </a:extLst>
        </p:spPr>
      </p:pic>
      <p:pic>
        <p:nvPicPr>
          <p:cNvPr id="6" name="Gráfico 5" descr="Badge Tick1 con relleno sólido">
            <a:extLst>
              <a:ext uri="{FF2B5EF4-FFF2-40B4-BE49-F238E27FC236}">
                <a16:creationId xmlns:a16="http://schemas.microsoft.com/office/drawing/2014/main" id="{2079B499-C95A-2274-AB06-9201A74F8A1B}"/>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91493" y="3512686"/>
            <a:ext cx="356198" cy="356198"/>
          </a:xfrm>
          <a:prstGeom prst="rect">
            <a:avLst/>
          </a:prstGeom>
        </p:spPr>
      </p:pic>
      <p:pic>
        <p:nvPicPr>
          <p:cNvPr id="7" name="Gráfico 6" descr="Badge Tick1 con relleno sólido">
            <a:extLst>
              <a:ext uri="{FF2B5EF4-FFF2-40B4-BE49-F238E27FC236}">
                <a16:creationId xmlns:a16="http://schemas.microsoft.com/office/drawing/2014/main" id="{437718DA-FE8E-8B5F-B7FC-8BFE0F9079DD}"/>
              </a:ext>
            </a:extLst>
          </p:cNvPr>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865874" y="5799646"/>
            <a:ext cx="356198" cy="356198"/>
          </a:xfrm>
          <a:prstGeom prst="rect">
            <a:avLst/>
          </a:prstGeom>
        </p:spPr>
      </p:pic>
    </p:spTree>
    <p:custDataLst>
      <p:tags r:id="rId1"/>
    </p:custDataLst>
    <p:extLst>
      <p:ext uri="{BB962C8B-B14F-4D97-AF65-F5344CB8AC3E}">
        <p14:creationId xmlns:p14="http://schemas.microsoft.com/office/powerpoint/2010/main" val="41426385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with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xit" presetSubtype="0" fill="hold" grpId="1" nodeType="clickEffect">
                                  <p:stCondLst>
                                    <p:cond delay="0"/>
                                  </p:stCondLst>
                                  <p:childTnLst>
                                    <p:set>
                                      <p:cBhvr>
                                        <p:cTn id="10" dur="1" fill="hold">
                                          <p:stCondLst>
                                            <p:cond delay="0"/>
                                          </p:stCondLst>
                                        </p:cTn>
                                        <p:tgtEl>
                                          <p:spTgt spid="5"/>
                                        </p:tgtEl>
                                        <p:attrNameLst>
                                          <p:attrName>style.visibility</p:attrName>
                                        </p:attrNameLst>
                                      </p:cBhvr>
                                      <p:to>
                                        <p:strVal val="hidden"/>
                                      </p:to>
                                    </p:set>
                                  </p:childTnLst>
                                </p:cTn>
                              </p:par>
                              <p:par>
                                <p:cTn id="11" presetID="2" presetClass="entr" presetSubtype="4" fill="hold" nodeType="withEffect">
                                  <p:stCondLst>
                                    <p:cond delay="0"/>
                                  </p:stCondLst>
                                  <p:childTnLst>
                                    <p:set>
                                      <p:cBhvr>
                                        <p:cTn id="12" dur="1" fill="hold">
                                          <p:stCondLst>
                                            <p:cond delay="0"/>
                                          </p:stCondLst>
                                        </p:cTn>
                                        <p:tgtEl>
                                          <p:spTgt spid="6"/>
                                        </p:tgtEl>
                                        <p:attrNameLst>
                                          <p:attrName>style.visibility</p:attrName>
                                        </p:attrNameLst>
                                      </p:cBhvr>
                                      <p:to>
                                        <p:strVal val="visible"/>
                                      </p:to>
                                    </p:set>
                                    <p:anim calcmode="lin" valueType="num">
                                      <p:cBhvr additive="base">
                                        <p:cTn id="13" dur="500" fill="hold"/>
                                        <p:tgtEl>
                                          <p:spTgt spid="6"/>
                                        </p:tgtEl>
                                        <p:attrNameLst>
                                          <p:attrName>ppt_x</p:attrName>
                                        </p:attrNameLst>
                                      </p:cBhvr>
                                      <p:tavLst>
                                        <p:tav tm="0">
                                          <p:val>
                                            <p:strVal val="#ppt_x"/>
                                          </p:val>
                                        </p:tav>
                                        <p:tav tm="100000">
                                          <p:val>
                                            <p:strVal val="#ppt_x"/>
                                          </p:val>
                                        </p:tav>
                                      </p:tavLst>
                                    </p:anim>
                                    <p:anim calcmode="lin" valueType="num">
                                      <p:cBhvr additive="base">
                                        <p:cTn id="14" dur="500" fill="hold"/>
                                        <p:tgtEl>
                                          <p:spTgt spid="6"/>
                                        </p:tgtEl>
                                        <p:attrNameLst>
                                          <p:attrName>ppt_y</p:attrName>
                                        </p:attrNameLst>
                                      </p:cBhvr>
                                      <p:tavLst>
                                        <p:tav tm="0">
                                          <p:val>
                                            <p:strVal val="1+#ppt_h/2"/>
                                          </p:val>
                                        </p:tav>
                                        <p:tav tm="100000">
                                          <p:val>
                                            <p:strVal val="#ppt_y"/>
                                          </p:val>
                                        </p:tav>
                                      </p:tavLst>
                                    </p:anim>
                                  </p:childTnLst>
                                </p:cTn>
                              </p:par>
                              <p:par>
                                <p:cTn id="15" presetID="2" presetClass="entr" presetSubtype="4" fill="hold" nodeType="with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5" grpId="1" animBg="1"/>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ítulo 12">
            <a:extLst>
              <a:ext uri="{FF2B5EF4-FFF2-40B4-BE49-F238E27FC236}">
                <a16:creationId xmlns:a16="http://schemas.microsoft.com/office/drawing/2014/main" id="{6A7D1A14-36C1-49D3-93E0-4578B847CFB5}"/>
              </a:ext>
            </a:extLst>
          </p:cNvPr>
          <p:cNvSpPr>
            <a:spLocks noGrp="1"/>
          </p:cNvSpPr>
          <p:nvPr>
            <p:ph type="title"/>
          </p:nvPr>
        </p:nvSpPr>
        <p:spPr/>
        <p:txBody>
          <a:bodyPr/>
          <a:lstStyle/>
          <a:p>
            <a:r>
              <a:rPr lang="es-CO" dirty="0">
                <a:latin typeface="Century Gothic" panose="020B0502020202020204" pitchFamily="34" charset="0"/>
              </a:rPr>
              <a:t>PREGUNTA 3 (2 MINUTOS)</a:t>
            </a:r>
          </a:p>
        </p:txBody>
      </p:sp>
      <p:sp>
        <p:nvSpPr>
          <p:cNvPr id="4" name="Marcador de número de diapositiva 3"/>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32</a:t>
            </a:fld>
            <a:endParaRPr lang="en-US" sz="2000" b="1">
              <a:latin typeface="Century Gothic" panose="020B0502020202020204" pitchFamily="34" charset="0"/>
            </a:endParaRPr>
          </a:p>
        </p:txBody>
      </p:sp>
      <p:sp>
        <p:nvSpPr>
          <p:cNvPr id="5" name="TPPolling"/>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030B7CF3-F66C-FA65-D904-51F663DA3112}"/>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BE83CBE2-9562-BE43-7256-191E4065B1B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7" name="Imagen 6">
            <a:extLst>
              <a:ext uri="{FF2B5EF4-FFF2-40B4-BE49-F238E27FC236}">
                <a16:creationId xmlns:a16="http://schemas.microsoft.com/office/drawing/2014/main" id="{096AC670-2A61-88C2-6D57-41836BBDF0E8}"/>
              </a:ext>
            </a:extLst>
          </p:cNvPr>
          <p:cNvPicPr>
            <a:picLocks noChangeAspect="1"/>
          </p:cNvPicPr>
          <p:nvPr/>
        </p:nvPicPr>
        <p:blipFill>
          <a:blip r:embed="rId4"/>
          <a:stretch>
            <a:fillRect/>
          </a:stretch>
        </p:blipFill>
        <p:spPr>
          <a:xfrm>
            <a:off x="1466472" y="1989939"/>
            <a:ext cx="6783741" cy="4635225"/>
          </a:xfrm>
          <a:prstGeom prst="rect">
            <a:avLst/>
          </a:prstGeom>
        </p:spPr>
      </p:pic>
      <p:sp>
        <p:nvSpPr>
          <p:cNvPr id="10" name="CuadroTexto 9">
            <a:extLst>
              <a:ext uri="{FF2B5EF4-FFF2-40B4-BE49-F238E27FC236}">
                <a16:creationId xmlns:a16="http://schemas.microsoft.com/office/drawing/2014/main" id="{3F88A9DA-1484-85E5-0CF8-477A0C1AE1AB}"/>
              </a:ext>
            </a:extLst>
          </p:cNvPr>
          <p:cNvSpPr txBox="1"/>
          <p:nvPr/>
        </p:nvSpPr>
        <p:spPr>
          <a:xfrm>
            <a:off x="4592612" y="6167373"/>
            <a:ext cx="881261" cy="307777"/>
          </a:xfrm>
          <a:prstGeom prst="rect">
            <a:avLst/>
          </a:prstGeom>
          <a:noFill/>
        </p:spPr>
        <p:txBody>
          <a:bodyPr wrap="square" rtlCol="0">
            <a:spAutoFit/>
          </a:bodyPr>
          <a:lstStyle/>
          <a:p>
            <a:pPr algn="ctr"/>
            <a:r>
              <a:rPr lang="es-CO" sz="1400" b="1" u="sng">
                <a:solidFill>
                  <a:srgbClr val="D7A700"/>
                </a:solidFill>
                <a:latin typeface="Verdana" panose="020B0604030504040204" pitchFamily="34" charset="0"/>
                <a:ea typeface="Verdana" panose="020B0604030504040204" pitchFamily="34" charset="0"/>
                <a:cs typeface="Verdana" panose="020B0604030504040204" pitchFamily="34" charset="0"/>
              </a:rPr>
              <a:t>C</a:t>
            </a:r>
          </a:p>
        </p:txBody>
      </p:sp>
      <p:sp>
        <p:nvSpPr>
          <p:cNvPr id="3" name="Rectángulo 2">
            <a:extLst>
              <a:ext uri="{FF2B5EF4-FFF2-40B4-BE49-F238E27FC236}">
                <a16:creationId xmlns:a16="http://schemas.microsoft.com/office/drawing/2014/main" id="{B9982387-6F49-23BA-D469-6FC35FEE2358}"/>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9" name="Picture 2" descr="Imágenes de Resolucion Problemas - Descarga gratuita en Freepik">
            <a:extLst>
              <a:ext uri="{FF2B5EF4-FFF2-40B4-BE49-F238E27FC236}">
                <a16:creationId xmlns:a16="http://schemas.microsoft.com/office/drawing/2014/main" id="{A1738698-CE16-823A-60F1-2596F588249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96086" y="3276082"/>
            <a:ext cx="2640177" cy="1865963"/>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34241808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 calcmode="lin" valueType="num">
                                      <p:cBhvr additive="base">
                                        <p:cTn id="7" dur="500"/>
                                        <p:tgtEl>
                                          <p:spTgt spid="10"/>
                                        </p:tgtEl>
                                        <p:attrNameLst>
                                          <p:attrName>ppt_y</p:attrName>
                                        </p:attrNameLst>
                                      </p:cBhvr>
                                      <p:tavLst>
                                        <p:tav tm="0">
                                          <p:val>
                                            <p:strVal val="#ppt_y+#ppt_h*1.125000"/>
                                          </p:val>
                                        </p:tav>
                                        <p:tav tm="100000">
                                          <p:val>
                                            <p:strVal val="#ppt_y"/>
                                          </p:val>
                                        </p:tav>
                                      </p:tavLst>
                                    </p:anim>
                                    <p:animEffect transition="in" filter="wipe(up)">
                                      <p:cBhvr>
                                        <p:cTn id="8" dur="500"/>
                                        <p:tgtEl>
                                          <p:spTgt spid="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ECC5E2-8C61-BBCC-18BE-D2F1F8A7C28C}"/>
            </a:ext>
          </a:extLst>
        </p:cNvPr>
        <p:cNvGrpSpPr/>
        <p:nvPr/>
      </p:nvGrpSpPr>
      <p:grpSpPr>
        <a:xfrm>
          <a:off x="0" y="0"/>
          <a:ext cx="0" cy="0"/>
          <a:chOff x="0" y="0"/>
          <a:chExt cx="0" cy="0"/>
        </a:xfrm>
      </p:grpSpPr>
      <p:sp>
        <p:nvSpPr>
          <p:cNvPr id="13" name="Título 12">
            <a:extLst>
              <a:ext uri="{FF2B5EF4-FFF2-40B4-BE49-F238E27FC236}">
                <a16:creationId xmlns:a16="http://schemas.microsoft.com/office/drawing/2014/main" id="{9285384F-DB32-61CE-686B-4DBF554FD96B}"/>
              </a:ext>
            </a:extLst>
          </p:cNvPr>
          <p:cNvSpPr>
            <a:spLocks noGrp="1"/>
          </p:cNvSpPr>
          <p:nvPr>
            <p:ph type="title"/>
          </p:nvPr>
        </p:nvSpPr>
        <p:spPr/>
        <p:txBody>
          <a:bodyPr/>
          <a:lstStyle/>
          <a:p>
            <a:r>
              <a:rPr lang="es-CO" dirty="0">
                <a:latin typeface="Century Gothic" panose="020B0502020202020204" pitchFamily="34" charset="0"/>
              </a:rPr>
              <a:t>PREGUNTA 4 ( 2 minutos)</a:t>
            </a:r>
          </a:p>
        </p:txBody>
      </p:sp>
      <p:sp>
        <p:nvSpPr>
          <p:cNvPr id="4" name="Marcador de número de diapositiva 3">
            <a:extLst>
              <a:ext uri="{FF2B5EF4-FFF2-40B4-BE49-F238E27FC236}">
                <a16:creationId xmlns:a16="http://schemas.microsoft.com/office/drawing/2014/main" id="{D91C01EF-A0D5-D8BC-B7DF-DA0C73B9CF31}"/>
              </a:ext>
            </a:extLst>
          </p:cNvPr>
          <p:cNvSpPr>
            <a:spLocks noGrp="1"/>
          </p:cNvSpPr>
          <p:nvPr>
            <p:ph type="sldNum" sz="quarter" idx="12"/>
          </p:nvPr>
        </p:nvSpPr>
        <p:spPr/>
        <p:txBody>
          <a:bodyPr/>
          <a:lstStyle/>
          <a:p>
            <a:fld id="{D57F1E4F-1CFF-5643-939E-217C01CDF565}" type="slidenum">
              <a:rPr lang="en-US" sz="2000" b="1" smtClean="0">
                <a:latin typeface="Century Gothic" panose="020B0502020202020204" pitchFamily="34" charset="0"/>
              </a:rPr>
              <a:pPr/>
              <a:t>33</a:t>
            </a:fld>
            <a:endParaRPr lang="en-US" sz="2000" b="1" dirty="0">
              <a:latin typeface="Century Gothic" panose="020B0502020202020204" pitchFamily="34" charset="0"/>
            </a:endParaRPr>
          </a:p>
        </p:txBody>
      </p:sp>
      <p:sp>
        <p:nvSpPr>
          <p:cNvPr id="5" name="TPPolling">
            <a:extLst>
              <a:ext uri="{FF2B5EF4-FFF2-40B4-BE49-F238E27FC236}">
                <a16:creationId xmlns:a16="http://schemas.microsoft.com/office/drawing/2014/main" id="{07EBCE0D-47CD-176A-2547-3A7092D834F0}"/>
              </a:ext>
            </a:extLst>
          </p:cNvPr>
          <p:cNvSpPr/>
          <p:nvPr/>
        </p:nvSpPr>
        <p:spPr>
          <a:xfrm>
            <a:off x="0" y="0"/>
            <a:ext cx="12700" cy="12700"/>
          </a:xfrm>
          <a:prstGeom prst="rect">
            <a:avLst/>
          </a:prstGeom>
          <a:solidFill>
            <a:schemeClr val="accent1">
              <a:alpha val="10000"/>
            </a:schemeClr>
          </a:solidFill>
          <a:ln w="22225" cap="rnd" cmpd="sng" algn="ctr">
            <a:noFill/>
            <a:prstDash val="solid"/>
          </a:ln>
          <a:effectLst/>
          <a:extLst>
            <a:ext uri="{91240B29-F687-4F45-9708-019B960494DF}">
              <a14:hiddenLine xmlns:a14="http://schemas.microsoft.com/office/drawing/2010/main" w="22225" cap="rnd" cmpd="sng" algn="ctr">
                <a:solidFill>
                  <a:schemeClr val="accent1">
                    <a:shade val="50000"/>
                  </a:schemeClr>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s-CO"/>
          </a:p>
        </p:txBody>
      </p:sp>
      <p:sp>
        <p:nvSpPr>
          <p:cNvPr id="2" name="Rectángulo 1">
            <a:extLst>
              <a:ext uri="{FF2B5EF4-FFF2-40B4-BE49-F238E27FC236}">
                <a16:creationId xmlns:a16="http://schemas.microsoft.com/office/drawing/2014/main" id="{13266187-2813-8A27-8476-2026F5A90B11}"/>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8" name="Picture 2" descr="Clientes y aliados | Centro de Evaluación | Uniandes">
            <a:extLst>
              <a:ext uri="{FF2B5EF4-FFF2-40B4-BE49-F238E27FC236}">
                <a16:creationId xmlns:a16="http://schemas.microsoft.com/office/drawing/2014/main" id="{80857A56-50D7-1005-EDCE-4BF46E58EB9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1" name="Imagen 10">
            <a:extLst>
              <a:ext uri="{FF2B5EF4-FFF2-40B4-BE49-F238E27FC236}">
                <a16:creationId xmlns:a16="http://schemas.microsoft.com/office/drawing/2014/main" id="{E8E3724D-C926-06E5-E5B8-B574A2F2F7A2}"/>
              </a:ext>
            </a:extLst>
          </p:cNvPr>
          <p:cNvPicPr>
            <a:picLocks noChangeAspect="1"/>
          </p:cNvPicPr>
          <p:nvPr/>
        </p:nvPicPr>
        <p:blipFill>
          <a:blip r:embed="rId4"/>
          <a:stretch>
            <a:fillRect/>
          </a:stretch>
        </p:blipFill>
        <p:spPr>
          <a:xfrm>
            <a:off x="1681590" y="1946989"/>
            <a:ext cx="7113951" cy="4728985"/>
          </a:xfrm>
          <a:prstGeom prst="rect">
            <a:avLst/>
          </a:prstGeom>
        </p:spPr>
      </p:pic>
      <p:sp>
        <p:nvSpPr>
          <p:cNvPr id="12" name="CuadroTexto 11">
            <a:extLst>
              <a:ext uri="{FF2B5EF4-FFF2-40B4-BE49-F238E27FC236}">
                <a16:creationId xmlns:a16="http://schemas.microsoft.com/office/drawing/2014/main" id="{BDDFB382-3AFA-5E49-C423-FC2AD767D153}"/>
              </a:ext>
            </a:extLst>
          </p:cNvPr>
          <p:cNvSpPr txBox="1"/>
          <p:nvPr/>
        </p:nvSpPr>
        <p:spPr>
          <a:xfrm>
            <a:off x="4933499" y="6271158"/>
            <a:ext cx="881261" cy="307777"/>
          </a:xfrm>
          <a:prstGeom prst="rect">
            <a:avLst/>
          </a:prstGeom>
          <a:noFill/>
        </p:spPr>
        <p:txBody>
          <a:bodyPr wrap="square" rtlCol="0">
            <a:spAutoFit/>
          </a:bodyPr>
          <a:lstStyle/>
          <a:p>
            <a:pPr algn="ctr"/>
            <a:r>
              <a:rPr lang="es-CO" sz="1400" b="1" u="sng">
                <a:solidFill>
                  <a:srgbClr val="D7A700"/>
                </a:solidFill>
                <a:latin typeface="Verdana" panose="020B0604030504040204" pitchFamily="34" charset="0"/>
                <a:ea typeface="Verdana" panose="020B0604030504040204" pitchFamily="34" charset="0"/>
                <a:cs typeface="Verdana" panose="020B0604030504040204" pitchFamily="34" charset="0"/>
              </a:rPr>
              <a:t>5,62%</a:t>
            </a:r>
          </a:p>
        </p:txBody>
      </p:sp>
      <p:sp>
        <p:nvSpPr>
          <p:cNvPr id="3" name="Rectángulo 2">
            <a:extLst>
              <a:ext uri="{FF2B5EF4-FFF2-40B4-BE49-F238E27FC236}">
                <a16:creationId xmlns:a16="http://schemas.microsoft.com/office/drawing/2014/main" id="{6D026633-2E91-18C9-9E22-B4BD5F1C1552}"/>
              </a:ext>
            </a:extLst>
          </p:cNvPr>
          <p:cNvSpPr/>
          <p:nvPr/>
        </p:nvSpPr>
        <p:spPr>
          <a:xfrm>
            <a:off x="8399257" y="118110"/>
            <a:ext cx="3150778" cy="261610"/>
          </a:xfrm>
          <a:prstGeom prst="rect">
            <a:avLst/>
          </a:prstGeom>
        </p:spPr>
        <p:txBody>
          <a:bodyPr wrap="square">
            <a:spAutoFit/>
          </a:bodyPr>
          <a:lstStyle/>
          <a:p>
            <a:pPr algn="r"/>
            <a:r>
              <a:rPr lang="es-CO" sz="1100" b="1" dirty="0">
                <a:solidFill>
                  <a:schemeClr val="accent2">
                    <a:lumMod val="50000"/>
                  </a:schemeClr>
                </a:solidFill>
                <a:latin typeface="Century Gothic" panose="020B0502020202020204" pitchFamily="34" charset="0"/>
                <a:sym typeface="Gill Sans Light"/>
              </a:rPr>
              <a:t>Curso</a:t>
            </a:r>
            <a:r>
              <a:rPr lang="es-CO" sz="1100" dirty="0">
                <a:solidFill>
                  <a:schemeClr val="accent2">
                    <a:lumMod val="50000"/>
                  </a:schemeClr>
                </a:solidFill>
                <a:latin typeface="Century Gothic" panose="020B0502020202020204" pitchFamily="34" charset="0"/>
                <a:sym typeface="Gill Sans Light"/>
              </a:rPr>
              <a:t> Análisis de Decisiones de Inversión</a:t>
            </a:r>
            <a:endParaRPr lang="es-CO" sz="1100" dirty="0">
              <a:solidFill>
                <a:schemeClr val="accent2">
                  <a:lumMod val="50000"/>
                </a:schemeClr>
              </a:solidFill>
              <a:latin typeface="Century Gothic" panose="020B0502020202020204" pitchFamily="34" charset="0"/>
            </a:endParaRPr>
          </a:p>
        </p:txBody>
      </p:sp>
      <p:pic>
        <p:nvPicPr>
          <p:cNvPr id="7" name="Picture 2" descr="Tendencias ineficaces a la hora de resolver problemas">
            <a:extLst>
              <a:ext uri="{FF2B5EF4-FFF2-40B4-BE49-F238E27FC236}">
                <a16:creationId xmlns:a16="http://schemas.microsoft.com/office/drawing/2014/main" id="{1EEBB6AA-E223-CFD0-E14B-2E911863CFB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795540" y="3429000"/>
            <a:ext cx="2823537" cy="1713045"/>
          </a:xfrm>
          <a:prstGeom prst="rect">
            <a:avLst/>
          </a:prstGeom>
          <a:noFill/>
          <a:extLst>
            <a:ext uri="{909E8E84-426E-40DD-AFC4-6F175D3DCCD1}">
              <a14:hiddenFill xmlns:a14="http://schemas.microsoft.com/office/drawing/2010/main">
                <a:solidFill>
                  <a:srgbClr val="FFFFFF"/>
                </a:solidFill>
              </a14:hiddenFill>
            </a:ext>
          </a:extLst>
        </p:spPr>
      </p:pic>
    </p:spTree>
    <p:custDataLst>
      <p:tags r:id="rId1"/>
    </p:custDataLst>
    <p:extLst>
      <p:ext uri="{BB962C8B-B14F-4D97-AF65-F5344CB8AC3E}">
        <p14:creationId xmlns:p14="http://schemas.microsoft.com/office/powerpoint/2010/main" val="72615331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 calcmode="lin" valueType="num">
                                      <p:cBhvr additive="base">
                                        <p:cTn id="7" dur="500"/>
                                        <p:tgtEl>
                                          <p:spTgt spid="12"/>
                                        </p:tgtEl>
                                        <p:attrNameLst>
                                          <p:attrName>ppt_y</p:attrName>
                                        </p:attrNameLst>
                                      </p:cBhvr>
                                      <p:tavLst>
                                        <p:tav tm="0">
                                          <p:val>
                                            <p:strVal val="#ppt_y+#ppt_h*1.125000"/>
                                          </p:val>
                                        </p:tav>
                                        <p:tav tm="100000">
                                          <p:val>
                                            <p:strVal val="#ppt_y"/>
                                          </p:val>
                                        </p:tav>
                                      </p:tavLst>
                                    </p:anim>
                                    <p:animEffect transition="in" filter="wipe(up)">
                                      <p:cBhvr>
                                        <p:cTn id="8"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 name="Rectángulo 7">
            <a:extLst>
              <a:ext uri="{FF2B5EF4-FFF2-40B4-BE49-F238E27FC236}">
                <a16:creationId xmlns:a16="http://schemas.microsoft.com/office/drawing/2014/main" id="{47094242-8D7F-4883-8E64-A43E1E37E5FF}"/>
              </a:ext>
            </a:extLst>
          </p:cNvPr>
          <p:cNvSpPr/>
          <p:nvPr/>
        </p:nvSpPr>
        <p:spPr>
          <a:xfrm>
            <a:off x="1415434" y="118110"/>
            <a:ext cx="2781532" cy="261610"/>
          </a:xfrm>
          <a:prstGeom prst="rect">
            <a:avLst/>
          </a:prstGeom>
        </p:spPr>
        <p:txBody>
          <a:bodyPr wrap="none">
            <a:spAutoFit/>
          </a:bodyPr>
          <a:lstStyle/>
          <a:p>
            <a:pPr algn="r"/>
            <a:r>
              <a:rPr lang="es-CO" sz="1100" b="1">
                <a:solidFill>
                  <a:schemeClr val="accent2">
                    <a:lumMod val="50000"/>
                  </a:schemeClr>
                </a:solidFill>
                <a:latin typeface="Century Gothic" panose="020B0502020202020204" pitchFamily="34" charset="0"/>
                <a:sym typeface="Gill Sans Light"/>
              </a:rPr>
              <a:t>Departamento de Ingeniería Industrial</a:t>
            </a:r>
            <a:endParaRPr lang="es-CO" sz="1100" b="1">
              <a:solidFill>
                <a:schemeClr val="accent2">
                  <a:lumMod val="50000"/>
                </a:schemeClr>
              </a:solidFill>
              <a:latin typeface="Century Gothic" panose="020B0502020202020204" pitchFamily="34" charset="0"/>
            </a:endParaRPr>
          </a:p>
        </p:txBody>
      </p:sp>
      <p:pic>
        <p:nvPicPr>
          <p:cNvPr id="1026" name="Picture 2" descr="Clientes y aliados | Centro de Evaluación | Uniandes">
            <a:extLst>
              <a:ext uri="{FF2B5EF4-FFF2-40B4-BE49-F238E27FC236}">
                <a16:creationId xmlns:a16="http://schemas.microsoft.com/office/drawing/2014/main" id="{D2A00364-D957-B6CC-C8C3-335B3CE9EB2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965" y="118110"/>
            <a:ext cx="806123" cy="310063"/>
          </a:xfrm>
          <a:prstGeom prst="rect">
            <a:avLst/>
          </a:prstGeom>
          <a:noFill/>
          <a:extLst>
            <a:ext uri="{909E8E84-426E-40DD-AFC4-6F175D3DCCD1}">
              <a14:hiddenFill xmlns:a14="http://schemas.microsoft.com/office/drawing/2010/main">
                <a:solidFill>
                  <a:srgbClr val="FFFFFF"/>
                </a:solidFill>
              </a14:hiddenFill>
            </a:ext>
          </a:extLst>
        </p:spPr>
      </p:pic>
      <p:pic>
        <p:nvPicPr>
          <p:cNvPr id="12" name="Gráfico 11" descr="Open book contorno">
            <a:extLst>
              <a:ext uri="{FF2B5EF4-FFF2-40B4-BE49-F238E27FC236}">
                <a16:creationId xmlns:a16="http://schemas.microsoft.com/office/drawing/2014/main" id="{52403B49-6EB3-5618-7D88-A91409E36D0D}"/>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134957" y="3342889"/>
            <a:ext cx="2695807" cy="2695807"/>
          </a:xfrm>
          <a:prstGeom prst="rect">
            <a:avLst/>
          </a:prstGeom>
        </p:spPr>
      </p:pic>
      <p:sp>
        <p:nvSpPr>
          <p:cNvPr id="3" name="CuadroTexto 2">
            <a:extLst>
              <a:ext uri="{FF2B5EF4-FFF2-40B4-BE49-F238E27FC236}">
                <a16:creationId xmlns:a16="http://schemas.microsoft.com/office/drawing/2014/main" id="{E93428C7-865B-D9E6-B02C-06D5C006B930}"/>
              </a:ext>
            </a:extLst>
          </p:cNvPr>
          <p:cNvSpPr txBox="1"/>
          <p:nvPr/>
        </p:nvSpPr>
        <p:spPr>
          <a:xfrm>
            <a:off x="1045027" y="3342889"/>
            <a:ext cx="6349598" cy="2492990"/>
          </a:xfrm>
          <a:prstGeom prst="rect">
            <a:avLst/>
          </a:prstGeom>
          <a:noFill/>
        </p:spPr>
        <p:txBody>
          <a:bodyPr wrap="square" lIns="91440" tIns="45720" rIns="91440" bIns="45720" rtlCol="0" anchor="t">
            <a:spAutoFit/>
          </a:bodyPr>
          <a:lstStyle/>
          <a:p>
            <a:r>
              <a:rPr lang="es-CO" sz="1600" b="1" u="sng">
                <a:solidFill>
                  <a:schemeClr val="bg1"/>
                </a:solidFill>
                <a:latin typeface="Century Gothic"/>
              </a:rPr>
              <a:t>													</a:t>
            </a:r>
            <a:endParaRPr lang="es-CO" sz="2000" b="1" u="sng">
              <a:solidFill>
                <a:schemeClr val="bg1"/>
              </a:solidFill>
              <a:latin typeface="Century Gothic"/>
            </a:endParaRPr>
          </a:p>
          <a:p>
            <a:endParaRPr lang="es-CO" sz="1000" b="1">
              <a:solidFill>
                <a:schemeClr val="bg1"/>
              </a:solidFill>
              <a:latin typeface="Century Gothic" panose="020B0502020202020204" pitchFamily="34" charset="0"/>
            </a:endParaRPr>
          </a:p>
          <a:p>
            <a:r>
              <a:rPr lang="es-CO" sz="2000" b="1">
                <a:solidFill>
                  <a:schemeClr val="bg1"/>
                </a:solidFill>
                <a:latin typeface="Century Gothic"/>
              </a:rPr>
              <a:t>DEPARTAMENTO DE INGENIERÍA INDUSTRIAL</a:t>
            </a:r>
          </a:p>
          <a:p>
            <a:r>
              <a:rPr lang="es-CO" sz="2000" b="1">
                <a:solidFill>
                  <a:schemeClr val="bg1"/>
                </a:solidFill>
                <a:latin typeface="Century Gothic"/>
              </a:rPr>
              <a:t>FACULTAD DE INGENIERÍA</a:t>
            </a:r>
          </a:p>
          <a:p>
            <a:r>
              <a:rPr lang="es-CO" sz="1000" b="1" u="sng">
                <a:solidFill>
                  <a:schemeClr val="bg1"/>
                </a:solidFill>
                <a:latin typeface="Century Gothic"/>
              </a:rPr>
              <a:t>													</a:t>
            </a:r>
          </a:p>
          <a:p>
            <a:endParaRPr lang="es-CO" sz="2000" b="1">
              <a:solidFill>
                <a:schemeClr val="bg1"/>
              </a:solidFill>
              <a:latin typeface="Century Gothic" panose="020B0502020202020204" pitchFamily="34" charset="0"/>
            </a:endParaRPr>
          </a:p>
          <a:p>
            <a:r>
              <a:rPr lang="es-CO" sz="2000" b="1">
                <a:solidFill>
                  <a:schemeClr val="bg1"/>
                </a:solidFill>
                <a:latin typeface="Century Gothic"/>
              </a:rPr>
              <a:t>Curso       </a:t>
            </a:r>
            <a:r>
              <a:rPr lang="es-CO" sz="2000">
                <a:solidFill>
                  <a:schemeClr val="bg1"/>
                </a:solidFill>
                <a:latin typeface="Century Gothic"/>
              </a:rPr>
              <a:t>ANÁLISIS DE DECISIONES DE INVERSIÓN</a:t>
            </a:r>
          </a:p>
          <a:p>
            <a:r>
              <a:rPr lang="es-CO" sz="2000" b="1">
                <a:solidFill>
                  <a:schemeClr val="bg1"/>
                </a:solidFill>
                <a:latin typeface="Century Gothic"/>
              </a:rPr>
              <a:t>Correo     </a:t>
            </a:r>
            <a:r>
              <a:rPr lang="es-CO" sz="2000">
                <a:solidFill>
                  <a:schemeClr val="bg1"/>
                </a:solidFill>
                <a:latin typeface="Century Gothic"/>
              </a:rPr>
              <a:t>cursoanadec@uniandes.edu.co</a:t>
            </a:r>
          </a:p>
          <a:p>
            <a:endParaRPr lang="es-CO" sz="2000" b="1">
              <a:solidFill>
                <a:schemeClr val="bg1"/>
              </a:solidFill>
              <a:latin typeface="Century Gothic" panose="020B0502020202020204" pitchFamily="34" charset="0"/>
            </a:endParaRPr>
          </a:p>
        </p:txBody>
      </p:sp>
      <p:sp>
        <p:nvSpPr>
          <p:cNvPr id="7" name="Título 1">
            <a:extLst>
              <a:ext uri="{FF2B5EF4-FFF2-40B4-BE49-F238E27FC236}">
                <a16:creationId xmlns:a16="http://schemas.microsoft.com/office/drawing/2014/main" id="{7BFE544F-055A-4114-663D-A892D79654A3}"/>
              </a:ext>
            </a:extLst>
          </p:cNvPr>
          <p:cNvSpPr>
            <a:spLocks noGrp="1"/>
          </p:cNvSpPr>
          <p:nvPr>
            <p:ph type="ctrTitle"/>
          </p:nvPr>
        </p:nvSpPr>
        <p:spPr>
          <a:xfrm>
            <a:off x="470868" y="1814732"/>
            <a:ext cx="10359896" cy="826833"/>
          </a:xfrm>
        </p:spPr>
        <p:txBody>
          <a:bodyPr>
            <a:noAutofit/>
          </a:bodyPr>
          <a:lstStyle/>
          <a:p>
            <a:pPr algn="just"/>
            <a:r>
              <a:rPr lang="es-CO" sz="4000">
                <a:latin typeface="Century Gothic"/>
              </a:rPr>
              <a:t>COSTO DE OPORTUNIDAD Y VALOR DEL DINERO EN EL TIEMPO (</a:t>
            </a:r>
            <a:r>
              <a:rPr lang="es-CO" sz="4000">
                <a:solidFill>
                  <a:srgbClr val="D7A700"/>
                </a:solidFill>
                <a:latin typeface="Century Gothic"/>
              </a:rPr>
              <a:t>parte ii</a:t>
            </a:r>
            <a:r>
              <a:rPr lang="es-CO" sz="4000">
                <a:latin typeface="Century Gothic"/>
              </a:rPr>
              <a:t>)</a:t>
            </a:r>
            <a:endParaRPr lang="es-ES"/>
          </a:p>
        </p:txBody>
      </p:sp>
      <p:sp>
        <p:nvSpPr>
          <p:cNvPr id="10" name="Rectángulo 9">
            <a:extLst>
              <a:ext uri="{FF2B5EF4-FFF2-40B4-BE49-F238E27FC236}">
                <a16:creationId xmlns:a16="http://schemas.microsoft.com/office/drawing/2014/main" id="{8457244A-6BC1-B70D-330A-D9472E6232E4}"/>
              </a:ext>
            </a:extLst>
          </p:cNvPr>
          <p:cNvSpPr/>
          <p:nvPr/>
        </p:nvSpPr>
        <p:spPr>
          <a:xfrm>
            <a:off x="8399257" y="118110"/>
            <a:ext cx="3150778" cy="261610"/>
          </a:xfrm>
          <a:prstGeom prst="rect">
            <a:avLst/>
          </a:prstGeom>
        </p:spPr>
        <p:txBody>
          <a:bodyPr wrap="square">
            <a:spAutoFit/>
          </a:bodyPr>
          <a:lstStyle/>
          <a:p>
            <a:pPr algn="r"/>
            <a:r>
              <a:rPr lang="es-CO" sz="1100" b="1">
                <a:solidFill>
                  <a:schemeClr val="accent2">
                    <a:lumMod val="50000"/>
                  </a:schemeClr>
                </a:solidFill>
                <a:latin typeface="Century Gothic" panose="020B0502020202020204" pitchFamily="34" charset="0"/>
                <a:sym typeface="Gill Sans Light"/>
              </a:rPr>
              <a:t>Curso</a:t>
            </a:r>
            <a:r>
              <a:rPr lang="es-CO" sz="1100">
                <a:solidFill>
                  <a:schemeClr val="accent2">
                    <a:lumMod val="50000"/>
                  </a:schemeClr>
                </a:solidFill>
                <a:latin typeface="Century Gothic" panose="020B0502020202020204" pitchFamily="34" charset="0"/>
                <a:sym typeface="Gill Sans Light"/>
              </a:rPr>
              <a:t> Análisis de Decisiones de Inversión</a:t>
            </a:r>
            <a:endParaRPr lang="es-CO" sz="1100">
              <a:solidFill>
                <a:schemeClr val="accent2">
                  <a:lumMod val="50000"/>
                </a:schemeClr>
              </a:solidFill>
              <a:latin typeface="Century Gothic" panose="020B0502020202020204" pitchFamily="34" charset="0"/>
            </a:endParaRPr>
          </a:p>
        </p:txBody>
      </p:sp>
    </p:spTree>
    <p:extLst>
      <p:ext uri="{BB962C8B-B14F-4D97-AF65-F5344CB8AC3E}">
        <p14:creationId xmlns:p14="http://schemas.microsoft.com/office/powerpoint/2010/main" val="3927211803"/>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2.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3.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ags/tag4.xml><?xml version="1.0" encoding="utf-8"?>
<p:tagLst xmlns:a="http://schemas.openxmlformats.org/drawingml/2006/main" xmlns:r="http://schemas.openxmlformats.org/officeDocument/2006/relationships" xmlns:p="http://schemas.openxmlformats.org/presentationml/2006/main">
  <p:tag name="TYPE" val="MultiChoiceSlide"/>
  <p:tag name="TPQUESTIONXML" val="﻿&lt;?xml version=&quot;1.0&quot; encoding=&quot;utf-8&quot;?&gt;&#10;&lt;questionlist&gt;&#10;    &lt;properties&gt;&#10;        &lt;guid&gt;00DB61842C4A49588F884F36EB350D15&lt;/guid&gt;&#10;        &lt;description /&gt;&#10;        &lt;date&gt;9/17/2019 7:34:04 AM&lt;/date&gt;&#10;    &lt;/properties&gt;&#10;    &lt;questionlisttemplate&gt;&#10;        &lt;correctvalue&gt;1&lt;/correctvalue&gt;&#10;        &lt;incorrectvalue&gt;0&lt;/incorrectvalue&gt;&#10;        &lt;questiontype&gt;1&lt;/questiontype&gt;&#10;        &lt;numberofchoices&gt;4&lt;/numberofchoices&gt;&#10;        &lt;bulletstyle&gt;2&lt;/bulletstyle&gt;&#10;        &lt;questionfont&gt;Verdana&lt;/questionfont&gt;&#10;        &lt;questionfontsize&gt;12&lt;/questionfontsize&gt;&#10;        &lt;answerfont&gt;Verdana&lt;/answerfont&gt;&#10;        &lt;answerfontsize&gt;12&lt;/answerfontsize&gt;&#10;        &lt;showresults&gt;True&lt;/showresults&gt;&#10;        &lt;countdowntime&gt;30&lt;/countdowntime&gt;&#10;        &lt;responsegrid&gt;0&lt;/responsegrid&gt;&#10;    &lt;/questionlisttemplate&gt;&#10;    &lt;questions&gt;&#10;        &lt;multichoice&gt;&#10;            &lt;guid&gt;D7989E0D681043FC872CE4F734D867AC&lt;/guid&gt;&#10;            &lt;repollguid&gt;DADB7F7619194DD19F63603C8A075503&lt;/repollguid&gt;&#10;            &lt;sourceid&gt;3D5B2B823E66496FA6672198E0F7C0C6&lt;/sourceid&gt;&#10;            &lt;questiontext /&gt;&#10;            &lt;showresults&gt;True&lt;/showresults&gt;&#10;            &lt;responsegrid&gt;0&lt;/responsegrid&gt;&#10;            &lt;countdowntimer&gt;False&lt;/countdowntimer&gt;&#10;            &lt;countdowntime&gt;30&lt;/countdowntime&gt;&#10;            &lt;correctvalue&gt;1&lt;/correctvalue&gt;&#10;            &lt;incorrectvalue&gt;0&lt;/incorrectvalue&gt;&#10;            &lt;responselimit&gt;1&lt;/responselimit&gt;&#10;            &lt;bulletstyle&gt;2&lt;/bulletstyle&gt;&#10;            &lt;correctanswerindicator&gt;True&lt;/correctanswerindicator&gt;&#10;            &lt;answers&gt;&#10;                &lt;answer&gt;&#10;                    &lt;guid&gt;565E6AD6819B42AFB2FBCE1DE76F1518&lt;/guid&gt;&#10;                    &lt;answertext&gt;Es mejor pedir prestado a la tasa Z% NA/AV y prestar su dinero a una tasa Z% NA/SV.&lt;/answertext&gt;&#10;                    &lt;valuetype&gt;1&lt;/valuetype&gt;&#10;                &lt;/answer&gt;&#10;                &lt;answer&gt;&#10;                    &lt;guid&gt;AE5F44FFEECD48C6BF4A1ECC70F8D32A&lt;/guid&gt;&#10;                    &lt;answertext&gt;Es mejor pedir prestado a la tasa Z% NA/SV y prestar su dinero a una tasa Z% NA/AV.&lt;/answertext&gt;&#10;                    &lt;valuetype&gt;-1&lt;/valuetype&gt;&#10;                &lt;/answer&gt;&#10;                &lt;answer&gt;&#10;                    &lt;guid&gt;6ABBB5D2BB5C4AA8A02D35C2894A8A37&lt;/guid&gt;&#10;                    &lt;answertext&gt;Es indiferente pedir prestado a la tasa Z% NA/VA y a la tasa Z% NA/SV.&lt;/answertext&gt;&#10;                    &lt;valuetype&gt;-1&lt;/valuetype&gt;&#10;                &lt;/answer&gt;&#10;                &lt;answer&gt;&#10;                    &lt;guid&gt;8E79C8DBA60B4073842974E417BFC1F6&lt;/guid&gt;&#10;                    &lt;answertext&gt;Es indiferente prestar su dinero a la tasa Z% NA/VA y a la tasa Z% NA/SV.&lt;/answertext&gt;&#10;                    &lt;valuetype&gt;-1&lt;/valuetype&gt;&#10;                &lt;/answer&gt;&#10;                &lt;answer&gt;&#10;                    &lt;guid&gt;72DBA996631B4FF39A580805F5F52AEC&lt;/guid&gt;&#10;                    &lt;answertext&gt;Para poder realizar una conclusión se necesita más información.&lt;/answertext&gt;&#10;                    &lt;valuetype&gt;-1&lt;/valuetype&gt;&#10;                &lt;/answer&gt;&#10;            &lt;/answers&gt;&#10;            &lt;metadata&gt;&#10;                &lt;entry&gt;&#10;                    &lt;key&gt;AUTOFORMATCHART&lt;/key&gt;&#10;                    &lt;value&gt;True&lt;/value&gt;&#10;                &lt;/entry&gt;&#10;                &lt;entry&gt;&#10;                    &lt;key&gt;AUTOOPENPOLL&lt;/key&gt;&#10;                    &lt;value&gt;True&lt;/value&gt;&#10;                &lt;/entry&gt;&#10;                &lt;entry&gt;&#10;                    &lt;key&gt;LIVECHARTING&lt;/key&gt;&#10;                    &lt;value&gt;False&lt;/value&gt;&#10;                &lt;/entry&gt;&#10;            &lt;/metadata&gt;&#10;        &lt;/multichoice&gt;&#10;    &lt;/questions&gt;&#10;&lt;/questionlist&gt;"/>
  <p:tag name="LIVECHARTING" val="False"/>
  <p:tag name="AUTOOPENPOLL" val="True"/>
  <p:tag name="AUTOFORMATCHART" val="True"/>
  <p:tag name="RESULTS" val="[;crlf;]67[;]67[;]67[;]False[;]63[;][;crlf;]1,05970149253731[;]1[;]0,236932953229665[;]0,0561372243261305[;crlf;]63[;]1[;]Es mejor pedir prestado a la tasa Z% NA/AV y prestar su dinero a una tasa Z% NA/SV.1[;]Es mejor pedir prestado a la tasa Z% NA/AV y prestar su dinero a una tasa Z% NA/SV.[;][;crlf;]4[;]-1[;]Es mejor pedir prestado a la tasa Z% NA/SV y prestar su dinero a una tasa Z% NA/AV.2[;]Es mejor pedir prestado a la tasa Z% NA/SV y prestar su dinero a una tasa Z% NA/AV.[;][;crlf;]0[;]-1[;]Es indiferente pedir prestado a la tasa Z% NA/VA y a la tasa Z% NA/SV.3[;]Es indiferente pedir prestado a la tasa Z% NA/VA y a la tasa Z% NA/SV.[;][;crlf;]0[;]-1[;]Es indiferente prestar su dinero a la tasa Z% NA/VA y a la tasa Z% NA/SV.4[;]Es indiferente prestar su dinero a la tasa Z% NA/VA y a la tasa Z% NA/SV.[;][;crlf;]0[;]-1[;]Para poder realizar una conclusión se necesita más información.5[;]Para poder realizar una conclusión se necesita más información.[;]"/>
  <p:tag name="HASRESULTS" val="True"/>
</p:tagLst>
</file>

<file path=ppt/theme/theme1.xml><?xml version="1.0" encoding="utf-8"?>
<a:theme xmlns:a="http://schemas.openxmlformats.org/drawingml/2006/main" name="Dividendo">
  <a:themeElements>
    <a:clrScheme name="Dividendo">
      <a:dk1>
        <a:sysClr val="windowText" lastClr="000000"/>
      </a:dk1>
      <a:lt1>
        <a:sysClr val="window" lastClr="FFFFFF"/>
      </a:lt1>
      <a:dk2>
        <a:srgbClr val="3D3D3D"/>
      </a:dk2>
      <a:lt2>
        <a:srgbClr val="EBEBEB"/>
      </a:lt2>
      <a:accent1>
        <a:srgbClr val="366658"/>
      </a:accent1>
      <a:accent2>
        <a:srgbClr val="8CB64A"/>
      </a:accent2>
      <a:accent3>
        <a:srgbClr val="88D5A9"/>
      </a:accent3>
      <a:accent4>
        <a:srgbClr val="969FA7"/>
      </a:accent4>
      <a:accent5>
        <a:srgbClr val="E8A844"/>
      </a:accent5>
      <a:accent6>
        <a:srgbClr val="A1561F"/>
      </a:accent6>
      <a:hlink>
        <a:srgbClr val="828282"/>
      </a:hlink>
      <a:folHlink>
        <a:srgbClr val="A5A5A5"/>
      </a:folHlink>
    </a:clrScheme>
    <a:fontScheme name="Dividendo">
      <a:maj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ill Sans MT" panose="020B0502020104020203"/>
        <a:ea typeface=""/>
        <a:cs typeface=""/>
        <a:font script="Grek" typeface="Corbel"/>
        <a:font script="Cyrl" typeface="Corbel"/>
        <a:font script="Jpan" typeface="HGｺﾞｼｯｸE"/>
        <a:font script="Hang" typeface="휴먼매직체"/>
        <a:font script="Hans" typeface="华文中宋"/>
        <a:font script="Hant" typeface="微軟正黑體"/>
        <a:font script="Arab" typeface="Majalla U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Dividendo">
      <a:fillStyleLst>
        <a:solidFill>
          <a:schemeClr val="phClr"/>
        </a:solidFill>
        <a:gradFill rotWithShape="1">
          <a:gsLst>
            <a:gs pos="0">
              <a:schemeClr val="phClr">
                <a:tint val="68000"/>
                <a:alpha val="90000"/>
                <a:lumMod val="100000"/>
              </a:schemeClr>
            </a:gs>
            <a:gs pos="100000">
              <a:schemeClr val="phClr">
                <a:tint val="90000"/>
                <a:lumMod val="95000"/>
              </a:schemeClr>
            </a:gs>
          </a:gsLst>
          <a:lin ang="5400000" scaled="1"/>
        </a:gradFill>
        <a:gradFill rotWithShape="1">
          <a:gsLst>
            <a:gs pos="0">
              <a:schemeClr val="phClr">
                <a:tint val="98000"/>
                <a:lumMod val="110000"/>
              </a:schemeClr>
            </a:gs>
            <a:gs pos="84000">
              <a:schemeClr val="phClr">
                <a:shade val="90000"/>
                <a:lumMod val="88000"/>
              </a:schemeClr>
            </a:gs>
          </a:gsLst>
          <a:lin ang="5400000" scaled="0"/>
        </a:gradFill>
      </a:fillStyleLst>
      <a:lnStyleLst>
        <a:ln w="12700" cap="rnd" cmpd="sng" algn="ctr">
          <a:solidFill>
            <a:schemeClr val="phClr">
              <a:lumMod val="90000"/>
            </a:schemeClr>
          </a:solidFill>
          <a:prstDash val="solid"/>
        </a:ln>
        <a:ln w="22225" cap="rnd" cmpd="sng" algn="ctr">
          <a:solidFill>
            <a:schemeClr val="phClr"/>
          </a:solidFill>
          <a:prstDash val="solid"/>
        </a:ln>
        <a:ln w="25400" cap="rnd" cmpd="sng" algn="ctr">
          <a:solidFill>
            <a:schemeClr val="phClr"/>
          </a:solidFill>
          <a:prstDash val="solid"/>
        </a:ln>
      </a:lnStyleLst>
      <a:effectStyleLst>
        <a:effectStyle>
          <a:effectLst/>
        </a:effectStyle>
        <a:effectStyle>
          <a:effectLst>
            <a:outerShdw blurRad="38100" dist="25400" dir="5400000" rotWithShape="0">
              <a:srgbClr val="000000">
                <a:alpha val="55000"/>
              </a:srgbClr>
            </a:outerShdw>
          </a:effectLst>
        </a:effectStyle>
        <a:effectStyle>
          <a:effectLst>
            <a:outerShdw blurRad="88900" dist="38100" dir="5040000" rotWithShape="0">
              <a:srgbClr val="000000">
                <a:alpha val="60000"/>
              </a:srgbClr>
            </a:outerShdw>
          </a:effectLst>
          <a:scene3d>
            <a:camera prst="orthographicFront">
              <a:rot lat="0" lon="0" rev="0"/>
            </a:camera>
            <a:lightRig rig="threePt" dir="tl">
              <a:rot lat="0" lon="0" rev="1200000"/>
            </a:lightRig>
          </a:scene3d>
          <a:sp3d>
            <a:bevelT w="38100" h="50800"/>
          </a:sp3d>
        </a:effectStyle>
      </a:effectStyleLst>
      <a:bgFillStyleLst>
        <a:solidFill>
          <a:schemeClr val="phClr"/>
        </a:solidFill>
        <a:gradFill rotWithShape="1">
          <a:gsLst>
            <a:gs pos="0">
              <a:schemeClr val="phClr">
                <a:tint val="90000"/>
                <a:lumMod val="110000"/>
              </a:schemeClr>
            </a:gs>
            <a:gs pos="88000">
              <a:schemeClr val="phClr">
                <a:shade val="94000"/>
                <a:satMod val="110000"/>
                <a:lumMod val="88000"/>
              </a:schemeClr>
            </a:gs>
          </a:gsLst>
          <a:lin ang="5400000" scaled="0"/>
        </a:gradFill>
        <a:gradFill rotWithShape="1">
          <a:gsLst>
            <a:gs pos="0">
              <a:schemeClr val="phClr">
                <a:tint val="90000"/>
                <a:lumMod val="110000"/>
              </a:schemeClr>
            </a:gs>
            <a:gs pos="100000">
              <a:schemeClr val="phClr">
                <a:shade val="98000"/>
                <a:satMod val="110000"/>
                <a:lumMod val="86000"/>
              </a:schemeClr>
            </a:gs>
          </a:gsLst>
          <a:path path="circle">
            <a:fillToRect l="50000" t="50000" r="100000" b="100000"/>
          </a:path>
        </a:gradFill>
      </a:bgFillStyleLst>
    </a:fmtScheme>
  </a:themeElements>
  <a:objectDefaults/>
  <a:extraClrSchemeLst/>
  <a:extLst>
    <a:ext uri="{05A4C25C-085E-4340-85A3-A5531E510DB2}">
      <thm15:themeFamily xmlns:thm15="http://schemas.microsoft.com/office/thememl/2012/main" name="Dividend" id="{9697A71B-4AB7-4A1A-BD5B-BB2D22835B57}" vid="{4BEC0EAF-CF86-4D49-B83B-56CC62D3CFF1}"/>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Dividend</Template>
  <TotalTime>44</TotalTime>
  <Words>2528</Words>
  <Application>Microsoft Macintosh PowerPoint</Application>
  <PresentationFormat>Widescreen</PresentationFormat>
  <Paragraphs>395</Paragraphs>
  <Slides>34</Slides>
  <Notes>23</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34</vt:i4>
      </vt:variant>
    </vt:vector>
  </HeadingPairs>
  <TitlesOfParts>
    <vt:vector size="43" baseType="lpstr">
      <vt:lpstr>Arial</vt:lpstr>
      <vt:lpstr>Calibri</vt:lpstr>
      <vt:lpstr>Century Gothic</vt:lpstr>
      <vt:lpstr>DejaVu Sans</vt:lpstr>
      <vt:lpstr>Gill Sans MT</vt:lpstr>
      <vt:lpstr>Verdana</vt:lpstr>
      <vt:lpstr>Wingdings</vt:lpstr>
      <vt:lpstr>Wingdings 2</vt:lpstr>
      <vt:lpstr>Dividendo</vt:lpstr>
      <vt:lpstr>COSTO DE OPORTUNIDAD Y VALOR DEL DINERO EN EL TIEMPO (parte ii)</vt:lpstr>
      <vt:lpstr>AGENDA PROPUESTA</vt:lpstr>
      <vt:lpstr>AGENDA PROPUESTA</vt:lpstr>
      <vt:lpstr>VALOR DEL DINERO EN EL TIEMPO (VDT)</vt:lpstr>
      <vt:lpstr>VALOR DEL DINERO EN EL TIEMPO (VDT)</vt:lpstr>
      <vt:lpstr>AGENDA PROPUESTA</vt:lpstr>
      <vt:lpstr>¿CUÁLES SON LOS AGENTES ECONÓMICOS?</vt:lpstr>
      <vt:lpstr>AGENDA PROPUESTA</vt:lpstr>
      <vt:lpstr>COSTO DE OPORTUNIDAD SEGÚN UN CONSUMIDOR</vt:lpstr>
      <vt:lpstr>COSTO DE OPORTUNIDAD SEGÚN UN CONSUMIDOR</vt:lpstr>
      <vt:lpstr>COSTO DE OPORTUNIDAD SEGÚN UN CONSUMIDOR</vt:lpstr>
      <vt:lpstr>COSTO DE OPORTUNIDAD SEGÚN UN CONSUMIDOR</vt:lpstr>
      <vt:lpstr>COSTO DE OPORTUNIDAD SEGÚN UN CONSUMIDOR</vt:lpstr>
      <vt:lpstr>COSTO DE OPORTUNIDAD SEGÚN UN CONSUMIDOR</vt:lpstr>
      <vt:lpstr>SOBRE LA INFLACIÓN</vt:lpstr>
      <vt:lpstr>SOBRE LA INFLACIÓN</vt:lpstr>
      <vt:lpstr>SOBRE LA INFLACIÓN</vt:lpstr>
      <vt:lpstr>AGENDA PROPUESTA</vt:lpstr>
      <vt:lpstr>COSTO DE OPORTUNIDAD SEGÚN UN AHORRADOR</vt:lpstr>
      <vt:lpstr>COSTO DE OPORTUNIDAD SEGÚN UN AHORRADOR</vt:lpstr>
      <vt:lpstr>Cdt y tes</vt:lpstr>
      <vt:lpstr>COSTO DE OPORTUNIDAD SEGÚN UN AHORRADOR</vt:lpstr>
      <vt:lpstr>AGENDA PROPUESTA</vt:lpstr>
      <vt:lpstr>COSTO DE OPORTUNIDAD SEGÚN UN INVERSIONISTA</vt:lpstr>
      <vt:lpstr>COSTO DE OPORTUNIDAD SEGÚN UN INVERSIONISTA</vt:lpstr>
      <vt:lpstr>COSTO DE OPORTUNIDAD SEGÚN UN INVERSIONISTA</vt:lpstr>
      <vt:lpstr>AGENDA PROPUESTA</vt:lpstr>
      <vt:lpstr>En resumen</vt:lpstr>
      <vt:lpstr>En resumen</vt:lpstr>
      <vt:lpstr>PREGUNTA 1 (4 MINUTOS)</vt:lpstr>
      <vt:lpstr>PREGUNTA 2 (4 MINUTOS)</vt:lpstr>
      <vt:lpstr>PREGUNTA 3 (2 MINUTOS)</vt:lpstr>
      <vt:lpstr>PREGUNTA 4 ( 2 minutos)</vt:lpstr>
      <vt:lpstr>COSTO DE OPORTUNIDAD Y VALOR DEL DINERO EN EL TIEMPO (parte ii)</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DESDE UNA ÓPTICA ECONOMÉTRICA DE LA PREVISIBILIDAD DE LAS VARIACIONES DEL TRÁFICO DEL CORREDOR BOGOTÁ – PUERTO GAITÁN TENIENDO EN CUENTA EL COMPORTAMIENTO HISTÓRICO DEL TRÁFICO Y DEL PRECIO DEL PETRÓLEO WTI</dc:title>
  <dc:creator>Sebastian Joseph Sanchez Oyola</dc:creator>
  <cp:lastModifiedBy>Brigitte Castañeda</cp:lastModifiedBy>
  <cp:revision>12</cp:revision>
  <dcterms:created xsi:type="dcterms:W3CDTF">2019-06-20T04:25:04Z</dcterms:created>
  <dcterms:modified xsi:type="dcterms:W3CDTF">2026-08-11T15:29:24Z</dcterms:modified>
</cp:coreProperties>
</file>