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46"/>
  </p:notesMasterIdLst>
  <p:handoutMasterIdLst>
    <p:handoutMasterId r:id="rId47"/>
  </p:handoutMasterIdLst>
  <p:sldIdLst>
    <p:sldId id="398" r:id="rId2"/>
    <p:sldId id="437" r:id="rId3"/>
    <p:sldId id="354" r:id="rId4"/>
    <p:sldId id="587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407" r:id="rId17"/>
    <p:sldId id="408" r:id="rId18"/>
    <p:sldId id="322" r:id="rId19"/>
    <p:sldId id="401" r:id="rId20"/>
    <p:sldId id="325" r:id="rId21"/>
    <p:sldId id="326" r:id="rId22"/>
    <p:sldId id="355" r:id="rId23"/>
    <p:sldId id="327" r:id="rId24"/>
    <p:sldId id="424" r:id="rId25"/>
    <p:sldId id="582" r:id="rId26"/>
    <p:sldId id="426" r:id="rId27"/>
    <p:sldId id="427" r:id="rId28"/>
    <p:sldId id="591" r:id="rId29"/>
    <p:sldId id="418" r:id="rId30"/>
    <p:sldId id="419" r:id="rId31"/>
    <p:sldId id="420" r:id="rId32"/>
    <p:sldId id="421" r:id="rId33"/>
    <p:sldId id="422" r:id="rId34"/>
    <p:sldId id="583" r:id="rId35"/>
    <p:sldId id="596" r:id="rId36"/>
    <p:sldId id="337" r:id="rId37"/>
    <p:sldId id="380" r:id="rId38"/>
    <p:sldId id="382" r:id="rId39"/>
    <p:sldId id="383" r:id="rId40"/>
    <p:sldId id="384" r:id="rId41"/>
    <p:sldId id="400" r:id="rId42"/>
    <p:sldId id="592" r:id="rId43"/>
    <p:sldId id="593" r:id="rId44"/>
    <p:sldId id="5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48BE7A"/>
    <a:srgbClr val="002F90"/>
    <a:srgbClr val="6666FF"/>
    <a:srgbClr val="FF6600"/>
    <a:srgbClr val="93FFFF"/>
    <a:srgbClr val="FFF4E6"/>
    <a:srgbClr val="DFFFFF"/>
    <a:srgbClr val="88D5A9"/>
    <a:srgbClr val="E8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28F62-19DF-F84A-A830-87F7C7B2AD2F}" v="24" dt="2026-02-17T02:14:26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/>
    <p:restoredTop sz="94719"/>
  </p:normalViewPr>
  <p:slideViewPr>
    <p:cSldViewPr snapToGrid="0">
      <p:cViewPr varScale="1">
        <p:scale>
          <a:sx n="147" d="100"/>
          <a:sy n="147" d="100"/>
        </p:scale>
        <p:origin x="10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31328F62-19DF-F84A-A830-87F7C7B2AD2F}"/>
    <pc:docChg chg="undo custSel addSld delSld modSld">
      <pc:chgData name="Brigitte Castañeda Rodriguez" userId="5c201908-82f6-498c-9281-7eaa96fb17b4" providerId="ADAL" clId="{31328F62-19DF-F84A-A830-87F7C7B2AD2F}" dt="2026-02-17T02:14:49.917" v="92" actId="20577"/>
      <pc:docMkLst>
        <pc:docMk/>
      </pc:docMkLst>
      <pc:sldChg chg="addSp modSp mod">
        <pc:chgData name="Brigitte Castañeda Rodriguez" userId="5c201908-82f6-498c-9281-7eaa96fb17b4" providerId="ADAL" clId="{31328F62-19DF-F84A-A830-87F7C7B2AD2F}" dt="2026-02-17T01:21:01.254" v="8" actId="14100"/>
        <pc:sldMkLst>
          <pc:docMk/>
          <pc:sldMk cId="1575738082" sldId="321"/>
        </pc:sldMkLst>
        <pc:spChg chg="add mod">
          <ac:chgData name="Brigitte Castañeda Rodriguez" userId="5c201908-82f6-498c-9281-7eaa96fb17b4" providerId="ADAL" clId="{31328F62-19DF-F84A-A830-87F7C7B2AD2F}" dt="2026-02-17T01:21:01.254" v="8" actId="14100"/>
          <ac:spMkLst>
            <pc:docMk/>
            <pc:sldMk cId="1575738082" sldId="321"/>
            <ac:spMk id="4" creationId="{33BFDB6D-443C-69D6-4BD6-FCC9129EC38C}"/>
          </ac:spMkLst>
        </pc:spChg>
      </pc:sldChg>
      <pc:sldChg chg="addSp modSp mod">
        <pc:chgData name="Brigitte Castañeda Rodriguez" userId="5c201908-82f6-498c-9281-7eaa96fb17b4" providerId="ADAL" clId="{31328F62-19DF-F84A-A830-87F7C7B2AD2F}" dt="2026-02-17T01:21:43.492" v="19" actId="114"/>
        <pc:sldMkLst>
          <pc:docMk/>
          <pc:sldMk cId="4149029755" sldId="322"/>
        </pc:sldMkLst>
        <pc:spChg chg="add mod">
          <ac:chgData name="Brigitte Castañeda Rodriguez" userId="5c201908-82f6-498c-9281-7eaa96fb17b4" providerId="ADAL" clId="{31328F62-19DF-F84A-A830-87F7C7B2AD2F}" dt="2026-02-17T01:21:30.108" v="18" actId="1036"/>
          <ac:spMkLst>
            <pc:docMk/>
            <pc:sldMk cId="4149029755" sldId="322"/>
            <ac:spMk id="2" creationId="{8A41AFCB-6B90-BD04-C9E6-14CD920F411A}"/>
          </ac:spMkLst>
        </pc:spChg>
        <pc:spChg chg="mod">
          <ac:chgData name="Brigitte Castañeda Rodriguez" userId="5c201908-82f6-498c-9281-7eaa96fb17b4" providerId="ADAL" clId="{31328F62-19DF-F84A-A830-87F7C7B2AD2F}" dt="2026-02-17T01:21:43.492" v="19" actId="114"/>
          <ac:spMkLst>
            <pc:docMk/>
            <pc:sldMk cId="4149029755" sldId="322"/>
            <ac:spMk id="6" creationId="{9D37F510-9865-6C62-D497-A37FE049461A}"/>
          </ac:spMkLst>
        </pc:spChg>
        <pc:spChg chg="mod">
          <ac:chgData name="Brigitte Castañeda Rodriguez" userId="5c201908-82f6-498c-9281-7eaa96fb17b4" providerId="ADAL" clId="{31328F62-19DF-F84A-A830-87F7C7B2AD2F}" dt="2026-02-17T01:21:21.579" v="10" actId="403"/>
          <ac:spMkLst>
            <pc:docMk/>
            <pc:sldMk cId="4149029755" sldId="322"/>
            <ac:spMk id="15" creationId="{4968C3D4-72F7-B646-EFF8-BF9760A0B977}"/>
          </ac:spMkLst>
        </pc:spChg>
      </pc:sldChg>
      <pc:sldChg chg="modSp mod">
        <pc:chgData name="Brigitte Castañeda Rodriguez" userId="5c201908-82f6-498c-9281-7eaa96fb17b4" providerId="ADAL" clId="{31328F62-19DF-F84A-A830-87F7C7B2AD2F}" dt="2026-02-17T01:57:00.977" v="61"/>
        <pc:sldMkLst>
          <pc:docMk/>
          <pc:sldMk cId="1237486251" sldId="337"/>
        </pc:sldMkLst>
        <pc:spChg chg="mod">
          <ac:chgData name="Brigitte Castañeda Rodriguez" userId="5c201908-82f6-498c-9281-7eaa96fb17b4" providerId="ADAL" clId="{31328F62-19DF-F84A-A830-87F7C7B2AD2F}" dt="2026-02-17T01:57:00.977" v="61"/>
          <ac:spMkLst>
            <pc:docMk/>
            <pc:sldMk cId="1237486251" sldId="337"/>
            <ac:spMk id="3" creationId="{00000000-0000-0000-0000-000000000000}"/>
          </ac:spMkLst>
        </pc:spChg>
      </pc:sldChg>
      <pc:sldChg chg="addSp modSp mod">
        <pc:chgData name="Brigitte Castañeda Rodriguez" userId="5c201908-82f6-498c-9281-7eaa96fb17b4" providerId="ADAL" clId="{31328F62-19DF-F84A-A830-87F7C7B2AD2F}" dt="2026-02-17T01:29:20.502" v="25" actId="14100"/>
        <pc:sldMkLst>
          <pc:docMk/>
          <pc:sldMk cId="3187654006" sldId="401"/>
        </pc:sldMkLst>
        <pc:spChg chg="add mod">
          <ac:chgData name="Brigitte Castañeda Rodriguez" userId="5c201908-82f6-498c-9281-7eaa96fb17b4" providerId="ADAL" clId="{31328F62-19DF-F84A-A830-87F7C7B2AD2F}" dt="2026-02-17T01:29:12.963" v="22" actId="14100"/>
          <ac:spMkLst>
            <pc:docMk/>
            <pc:sldMk cId="3187654006" sldId="401"/>
            <ac:spMk id="2" creationId="{62923E3C-4C05-04A2-B90C-68ECDFF81316}"/>
          </ac:spMkLst>
        </pc:spChg>
        <pc:spChg chg="add mod">
          <ac:chgData name="Brigitte Castañeda Rodriguez" userId="5c201908-82f6-498c-9281-7eaa96fb17b4" providerId="ADAL" clId="{31328F62-19DF-F84A-A830-87F7C7B2AD2F}" dt="2026-02-17T01:29:20.502" v="25" actId="14100"/>
          <ac:spMkLst>
            <pc:docMk/>
            <pc:sldMk cId="3187654006" sldId="401"/>
            <ac:spMk id="4" creationId="{C655A5A3-AF83-81B5-615F-476A44075C65}"/>
          </ac:spMkLst>
        </pc:spChg>
      </pc:sldChg>
      <pc:sldChg chg="modSp mod">
        <pc:chgData name="Brigitte Castañeda Rodriguez" userId="5c201908-82f6-498c-9281-7eaa96fb17b4" providerId="ADAL" clId="{31328F62-19DF-F84A-A830-87F7C7B2AD2F}" dt="2026-02-17T01:52:37.577" v="49"/>
        <pc:sldMkLst>
          <pc:docMk/>
          <pc:sldMk cId="2935240965" sldId="420"/>
        </pc:sldMkLst>
        <pc:spChg chg="mod">
          <ac:chgData name="Brigitte Castañeda Rodriguez" userId="5c201908-82f6-498c-9281-7eaa96fb17b4" providerId="ADAL" clId="{31328F62-19DF-F84A-A830-87F7C7B2AD2F}" dt="2026-02-17T01:52:37.577" v="49"/>
          <ac:spMkLst>
            <pc:docMk/>
            <pc:sldMk cId="2935240965" sldId="420"/>
            <ac:spMk id="23" creationId="{A867B502-4F79-5DC0-BEDB-E071DFDE4C7E}"/>
          </ac:spMkLst>
        </pc:spChg>
      </pc:sldChg>
      <pc:sldChg chg="addSp modSp mod modAnim">
        <pc:chgData name="Brigitte Castañeda Rodriguez" userId="5c201908-82f6-498c-9281-7eaa96fb17b4" providerId="ADAL" clId="{31328F62-19DF-F84A-A830-87F7C7B2AD2F}" dt="2026-02-17T01:51:21.980" v="45" actId="207"/>
        <pc:sldMkLst>
          <pc:docMk/>
          <pc:sldMk cId="3702409694" sldId="427"/>
        </pc:sldMkLst>
        <pc:spChg chg="add mod">
          <ac:chgData name="Brigitte Castañeda Rodriguez" userId="5c201908-82f6-498c-9281-7eaa96fb17b4" providerId="ADAL" clId="{31328F62-19DF-F84A-A830-87F7C7B2AD2F}" dt="2026-02-17T01:51:21.980" v="45" actId="207"/>
          <ac:spMkLst>
            <pc:docMk/>
            <pc:sldMk cId="3702409694" sldId="427"/>
            <ac:spMk id="4" creationId="{30F8BAC6-DFF6-8A8E-2077-C618C58A0316}"/>
          </ac:spMkLst>
        </pc:spChg>
      </pc:sldChg>
      <pc:sldChg chg="addSp delSp modSp add mod modNotesTx">
        <pc:chgData name="Brigitte Castañeda Rodriguez" userId="5c201908-82f6-498c-9281-7eaa96fb17b4" providerId="ADAL" clId="{31328F62-19DF-F84A-A830-87F7C7B2AD2F}" dt="2026-02-17T02:14:49.917" v="92" actId="20577"/>
        <pc:sldMkLst>
          <pc:docMk/>
          <pc:sldMk cId="2844688977" sldId="437"/>
        </pc:sldMkLst>
        <pc:spChg chg="mod">
          <ac:chgData name="Brigitte Castañeda Rodriguez" userId="5c201908-82f6-498c-9281-7eaa96fb17b4" providerId="ADAL" clId="{31328F62-19DF-F84A-A830-87F7C7B2AD2F}" dt="2026-02-17T02:10:56.251" v="83" actId="20577"/>
          <ac:spMkLst>
            <pc:docMk/>
            <pc:sldMk cId="2844688977" sldId="437"/>
            <ac:spMk id="2" creationId="{ACB1228D-B948-FB24-3A64-844AD2CF2D55}"/>
          </ac:spMkLst>
        </pc:spChg>
        <pc:spChg chg="mod">
          <ac:chgData name="Brigitte Castañeda Rodriguez" userId="5c201908-82f6-498c-9281-7eaa96fb17b4" providerId="ADAL" clId="{31328F62-19DF-F84A-A830-87F7C7B2AD2F}" dt="2026-02-17T02:11:31.560" v="84"/>
          <ac:spMkLst>
            <pc:docMk/>
            <pc:sldMk cId="2844688977" sldId="437"/>
            <ac:spMk id="6" creationId="{4BF23E7D-F246-AF44-47DA-73EE4AABDFFA}"/>
          </ac:spMkLst>
        </pc:spChg>
        <pc:spChg chg="add mod">
          <ac:chgData name="Brigitte Castañeda Rodriguez" userId="5c201908-82f6-498c-9281-7eaa96fb17b4" providerId="ADAL" clId="{31328F62-19DF-F84A-A830-87F7C7B2AD2F}" dt="2026-02-17T02:14:23.920" v="85" actId="478"/>
          <ac:spMkLst>
            <pc:docMk/>
            <pc:sldMk cId="2844688977" sldId="437"/>
            <ac:spMk id="7" creationId="{53309A71-196A-A1A8-C399-5295D78DBCA8}"/>
          </ac:spMkLst>
        </pc:spChg>
        <pc:picChg chg="del">
          <ac:chgData name="Brigitte Castañeda Rodriguez" userId="5c201908-82f6-498c-9281-7eaa96fb17b4" providerId="ADAL" clId="{31328F62-19DF-F84A-A830-87F7C7B2AD2F}" dt="2026-02-17T02:14:23.920" v="85" actId="478"/>
          <ac:picMkLst>
            <pc:docMk/>
            <pc:sldMk cId="2844688977" sldId="437"/>
            <ac:picMk id="5" creationId="{25907938-31EA-98EC-9FB8-B7FCBD8F1792}"/>
          </ac:picMkLst>
        </pc:picChg>
        <pc:picChg chg="add mod">
          <ac:chgData name="Brigitte Castañeda Rodriguez" userId="5c201908-82f6-498c-9281-7eaa96fb17b4" providerId="ADAL" clId="{31328F62-19DF-F84A-A830-87F7C7B2AD2F}" dt="2026-02-17T02:14:31.773" v="89" actId="1076"/>
          <ac:picMkLst>
            <pc:docMk/>
            <pc:sldMk cId="2844688977" sldId="437"/>
            <ac:picMk id="8" creationId="{579F65BA-ECCE-5D63-247C-9A073F25882E}"/>
          </ac:picMkLst>
        </pc:picChg>
      </pc:sldChg>
      <pc:sldChg chg="addSp modSp mod modAnim">
        <pc:chgData name="Brigitte Castañeda Rodriguez" userId="5c201908-82f6-498c-9281-7eaa96fb17b4" providerId="ADAL" clId="{31328F62-19DF-F84A-A830-87F7C7B2AD2F}" dt="2026-02-17T01:50:59.227" v="38" actId="207"/>
        <pc:sldMkLst>
          <pc:docMk/>
          <pc:sldMk cId="3020122887" sldId="582"/>
        </pc:sldMkLst>
        <pc:spChg chg="mod">
          <ac:chgData name="Brigitte Castañeda Rodriguez" userId="5c201908-82f6-498c-9281-7eaa96fb17b4" providerId="ADAL" clId="{31328F62-19DF-F84A-A830-87F7C7B2AD2F}" dt="2026-02-17T01:50:46.813" v="35" actId="20577"/>
          <ac:spMkLst>
            <pc:docMk/>
            <pc:sldMk cId="3020122887" sldId="582"/>
            <ac:spMk id="2" creationId="{25378F34-8FC6-2BA5-C025-A1622F1202BE}"/>
          </ac:spMkLst>
        </pc:spChg>
        <pc:spChg chg="add mod">
          <ac:chgData name="Brigitte Castañeda Rodriguez" userId="5c201908-82f6-498c-9281-7eaa96fb17b4" providerId="ADAL" clId="{31328F62-19DF-F84A-A830-87F7C7B2AD2F}" dt="2026-02-17T01:50:59.227" v="38" actId="207"/>
          <ac:spMkLst>
            <pc:docMk/>
            <pc:sldMk cId="3020122887" sldId="582"/>
            <ac:spMk id="4" creationId="{6E94C2CE-284F-1419-4964-C3E0622D20A2}"/>
          </ac:spMkLst>
        </pc:spChg>
      </pc:sldChg>
      <pc:sldChg chg="new del">
        <pc:chgData name="Brigitte Castañeda Rodriguez" userId="5c201908-82f6-498c-9281-7eaa96fb17b4" providerId="ADAL" clId="{31328F62-19DF-F84A-A830-87F7C7B2AD2F}" dt="2026-02-17T01:53:45.397" v="51" actId="680"/>
        <pc:sldMkLst>
          <pc:docMk/>
          <pc:sldMk cId="865113407" sldId="59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Hoja1!$B$1:$V$1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Hoja1!$B$2:$V$2</c:f>
              <c:numCache>
                <c:formatCode>General</c:formatCode>
                <c:ptCount val="21"/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210</c:v>
                </c:pt>
                <c:pt idx="6">
                  <c:v>220</c:v>
                </c:pt>
                <c:pt idx="7">
                  <c:v>230</c:v>
                </c:pt>
                <c:pt idx="8">
                  <c:v>240</c:v>
                </c:pt>
                <c:pt idx="9">
                  <c:v>250</c:v>
                </c:pt>
                <c:pt idx="10">
                  <c:v>260</c:v>
                </c:pt>
                <c:pt idx="11">
                  <c:v>255</c:v>
                </c:pt>
                <c:pt idx="12">
                  <c:v>250</c:v>
                </c:pt>
                <c:pt idx="13">
                  <c:v>245</c:v>
                </c:pt>
                <c:pt idx="14">
                  <c:v>240</c:v>
                </c:pt>
                <c:pt idx="15">
                  <c:v>235</c:v>
                </c:pt>
                <c:pt idx="16" formatCode="0.0">
                  <c:v>242.05</c:v>
                </c:pt>
                <c:pt idx="17" formatCode="0.0">
                  <c:v>249.31150000000002</c:v>
                </c:pt>
                <c:pt idx="18" formatCode="0.0">
                  <c:v>256.79084500000005</c:v>
                </c:pt>
                <c:pt idx="19" formatCode="0.0">
                  <c:v>264.49457035000006</c:v>
                </c:pt>
                <c:pt idx="20" formatCode="0.0">
                  <c:v>272.42940746050004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AD-6C47-9F46-B58FB8D89E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773301904"/>
        <c:axId val="-773301360"/>
      </c:barChart>
      <c:catAx>
        <c:axId val="-77330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773301360"/>
        <c:crosses val="autoZero"/>
        <c:auto val="1"/>
        <c:lblAlgn val="ctr"/>
        <c:lblOffset val="100"/>
        <c:noMultiLvlLbl val="0"/>
      </c:catAx>
      <c:valAx>
        <c:axId val="-773301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773301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/>
          </a:solidFill>
          <a:latin typeface="Century Gothic" panose="020B0502020202020204" pitchFamily="34" charset="0"/>
        </a:defRPr>
      </a:pPr>
      <a:endParaRPr lang="en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9CFD-8B48-AD17-CB8BE998DD0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9CFD-8B48-AD17-CB8BE998DD0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9CFD-8B48-AD17-CB8BE998DD0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713-4210-B267-4C9B3DC2E9A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713-4210-B267-4C9B3DC2E9A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713-4210-B267-4C9B3DC2E9A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713-4210-B267-4C9B3DC2E9AF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713-4210-B267-4C9B3DC2E9AF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713-4210-B267-4C9B3DC2E9AF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713-4210-B267-4C9B3DC2E9AF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713-4210-B267-4C9B3DC2E9AF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713-4210-B267-4C9B3DC2E9AF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713-4210-B267-4C9B3DC2E9AF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713-4210-B267-4C9B3DC2E9AF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713-4210-B267-4C9B3DC2E9AF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9CFD-8B48-AD17-CB8BE998DD08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9CFD-8B48-AD17-CB8BE998DD08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CFD-8B48-AD17-CB8BE998DD08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9CFD-8B48-AD17-CB8BE998DD08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CFD-8B48-AD17-CB8BE998DD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en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Hoja1!$B$1:$V$1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Hoja1!$B$2:$V$2</c:f>
              <c:numCache>
                <c:formatCode>General</c:formatCode>
                <c:ptCount val="21"/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210</c:v>
                </c:pt>
                <c:pt idx="6">
                  <c:v>220</c:v>
                </c:pt>
                <c:pt idx="7">
                  <c:v>230</c:v>
                </c:pt>
                <c:pt idx="8">
                  <c:v>240</c:v>
                </c:pt>
                <c:pt idx="9">
                  <c:v>250</c:v>
                </c:pt>
                <c:pt idx="10">
                  <c:v>260</c:v>
                </c:pt>
                <c:pt idx="11">
                  <c:v>255</c:v>
                </c:pt>
                <c:pt idx="12">
                  <c:v>250</c:v>
                </c:pt>
                <c:pt idx="13">
                  <c:v>245</c:v>
                </c:pt>
                <c:pt idx="14">
                  <c:v>240</c:v>
                </c:pt>
                <c:pt idx="15">
                  <c:v>235</c:v>
                </c:pt>
                <c:pt idx="16" formatCode="0.0">
                  <c:v>242.05</c:v>
                </c:pt>
                <c:pt idx="17" formatCode="0.0">
                  <c:v>249.31150000000002</c:v>
                </c:pt>
                <c:pt idx="18" formatCode="0.0">
                  <c:v>256.79084500000005</c:v>
                </c:pt>
                <c:pt idx="19" formatCode="0.0">
                  <c:v>264.49457035000006</c:v>
                </c:pt>
                <c:pt idx="20" formatCode="0.0">
                  <c:v>272.42940746050004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713-4210-B267-4C9B3DC2E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5863088"/>
        <c:axId val="-575865264"/>
      </c:barChart>
      <c:catAx>
        <c:axId val="-57586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575865264"/>
        <c:crosses val="autoZero"/>
        <c:auto val="1"/>
        <c:lblAlgn val="ctr"/>
        <c:lblOffset val="100"/>
        <c:noMultiLvlLbl val="0"/>
      </c:catAx>
      <c:valAx>
        <c:axId val="-575865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575863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/>
          </a:solidFill>
          <a:latin typeface="Century Gothic" panose="020B0502020202020204" pitchFamily="34" charset="0"/>
        </a:defRPr>
      </a:pPr>
      <a:endParaRPr lang="en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70-1247-9A83-51FEF086959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70-1247-9A83-51FEF086959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solidFill>
                  <a:schemeClr val="accent6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70-1247-9A83-51FEF086959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70-1247-9A83-51FEF086959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70-1247-9A83-51FEF086959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B70-1247-9A83-51FEF086959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B70-1247-9A83-51FEF086959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B70-1247-9A83-51FEF086959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B70-1247-9A83-51FEF0869592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EB70-1247-9A83-51FEF0869592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B70-1247-9A83-51FEF0869592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B70-1247-9A83-51FEF0869592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EB70-1247-9A83-51FEF0869592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EB70-1247-9A83-51FEF0869592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5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EB70-1247-9A83-51FEF0869592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EB70-1247-9A83-51FEF0869592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EB70-1247-9A83-51FEF0869592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EB70-1247-9A83-51FEF0869592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EB70-1247-9A83-51FEF0869592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EB70-1247-9A83-51FEF086959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accent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en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Hoja1!$B$1:$V$1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Hoja1!$B$2:$V$2</c:f>
              <c:numCache>
                <c:formatCode>General</c:formatCode>
                <c:ptCount val="21"/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  <c:pt idx="5">
                  <c:v>210</c:v>
                </c:pt>
                <c:pt idx="6">
                  <c:v>220</c:v>
                </c:pt>
                <c:pt idx="7">
                  <c:v>230</c:v>
                </c:pt>
                <c:pt idx="8">
                  <c:v>240</c:v>
                </c:pt>
                <c:pt idx="9">
                  <c:v>250</c:v>
                </c:pt>
                <c:pt idx="10">
                  <c:v>260</c:v>
                </c:pt>
                <c:pt idx="11">
                  <c:v>255</c:v>
                </c:pt>
                <c:pt idx="12">
                  <c:v>250</c:v>
                </c:pt>
                <c:pt idx="13">
                  <c:v>245</c:v>
                </c:pt>
                <c:pt idx="14">
                  <c:v>240</c:v>
                </c:pt>
                <c:pt idx="15">
                  <c:v>235</c:v>
                </c:pt>
                <c:pt idx="16" formatCode="0.0">
                  <c:v>242.05</c:v>
                </c:pt>
                <c:pt idx="17" formatCode="0.0">
                  <c:v>249.31150000000002</c:v>
                </c:pt>
                <c:pt idx="18" formatCode="0.0">
                  <c:v>256.79084500000005</c:v>
                </c:pt>
                <c:pt idx="19" formatCode="0.0">
                  <c:v>264.49457035000006</c:v>
                </c:pt>
                <c:pt idx="20" formatCode="0.0">
                  <c:v>272.42940746050004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EB70-1247-9A83-51FEF08695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575863088"/>
        <c:axId val="-575865264"/>
      </c:barChart>
      <c:catAx>
        <c:axId val="-57586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575865264"/>
        <c:crosses val="autoZero"/>
        <c:auto val="1"/>
        <c:lblAlgn val="ctr"/>
        <c:lblOffset val="100"/>
        <c:noMultiLvlLbl val="0"/>
      </c:catAx>
      <c:valAx>
        <c:axId val="-575865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en-CO"/>
          </a:p>
        </c:txPr>
        <c:crossAx val="-575863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/>
          </a:solidFill>
          <a:latin typeface="Century Gothic" panose="020B0502020202020204" pitchFamily="34" charset="0"/>
        </a:defRPr>
      </a:pPr>
      <a:endParaRPr lang="en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16/02/26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16/02/26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2708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docs.google.com</a:t>
            </a:r>
            <a:r>
              <a:rPr lang="es-ES_tradnl" dirty="0"/>
              <a:t>/</a:t>
            </a:r>
            <a:r>
              <a:rPr lang="es-ES_tradnl" dirty="0" err="1"/>
              <a:t>spreadsheets</a:t>
            </a:r>
            <a:r>
              <a:rPr lang="es-ES_tradnl" dirty="0"/>
              <a:t>/d/1B465VMJC3aQyovJ58wA1vTbQRuscmWDZmCORWNJvhxM/</a:t>
            </a:r>
            <a:r>
              <a:rPr lang="es-ES_tradnl" dirty="0" err="1"/>
              <a:t>edit?usp</a:t>
            </a:r>
            <a:r>
              <a:rPr lang="es-ES_tradnl" dirty="0"/>
              <a:t>=</a:t>
            </a:r>
            <a:r>
              <a:rPr lang="es-ES_tradnl" dirty="0" err="1"/>
              <a:t>sharing</a:t>
            </a:r>
            <a:r>
              <a:rPr lang="es-ES_tradnl"/>
              <a:t>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3296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4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95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37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23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8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2C4E94-3DB4-C84A-925E-628A397D8B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805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38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09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25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29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12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6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B9899-16BB-9EFB-4ED9-E2688F44A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433883-593A-C565-50F6-095A3C17B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77CDB7-1CE9-AD02-8851-AD36342DC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040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4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50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9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1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8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1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3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6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662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chart" Target="../charts/char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 dirty="0"/>
              <a:t>Relaciones de equivalencia (</a:t>
            </a:r>
            <a:r>
              <a:rPr lang="es-CO" sz="4000" dirty="0">
                <a:solidFill>
                  <a:srgbClr val="D7A700"/>
                </a:solidFill>
              </a:rPr>
              <a:t>PARTE III</a:t>
            </a:r>
            <a:r>
              <a:rPr lang="es-CO" sz="4000" dirty="0"/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3AD51E0-45F2-4944-F542-877DA066F08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A5762F-1C2D-FD38-E811-7AC845A3858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</a:rPr>
              <a:t>													</a:t>
            </a:r>
            <a:endParaRPr lang="es-CO" sz="2000" b="1" u="sng">
              <a:solidFill>
                <a:schemeClr val="bg1"/>
              </a:solidFill>
            </a:endParaRPr>
          </a:p>
          <a:p>
            <a:endParaRPr lang="es-CO" sz="1000" b="1">
              <a:solidFill>
                <a:schemeClr val="bg1"/>
              </a:solidFill>
            </a:endParaRPr>
          </a:p>
          <a:p>
            <a:r>
              <a:rPr lang="es-CO" sz="2000" b="1">
                <a:solidFill>
                  <a:schemeClr val="bg1"/>
                </a:solidFill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</a:endParaRPr>
          </a:p>
          <a:p>
            <a:r>
              <a:rPr lang="es-CO" sz="2000" b="1">
                <a:solidFill>
                  <a:schemeClr val="bg1"/>
                </a:solidFill>
              </a:rPr>
              <a:t>Curso       </a:t>
            </a:r>
            <a:r>
              <a:rPr lang="es-CO" sz="2000">
                <a:solidFill>
                  <a:schemeClr val="bg1"/>
                </a:solidFill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</a:rPr>
              <a:t>Correo     </a:t>
            </a:r>
            <a:r>
              <a:rPr lang="es-CO" sz="2000">
                <a:solidFill>
                  <a:schemeClr val="bg1"/>
                </a:solidFill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228D-B948-FB24-3A64-844AD2CF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Hojas de Fórmulas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7A21C-B76F-2166-6F67-58DF57A8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23E7D-F246-AF44-47DA-73EE4AABDFFA}"/>
              </a:ext>
            </a:extLst>
          </p:cNvPr>
          <p:cNvSpPr txBox="1"/>
          <p:nvPr/>
        </p:nvSpPr>
        <p:spPr>
          <a:xfrm>
            <a:off x="1054916" y="3244334"/>
            <a:ext cx="44535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dirty="0">
                <a:solidFill>
                  <a:srgbClr val="FF0000"/>
                </a:solidFill>
              </a:rPr>
              <a:t>https://</a:t>
            </a:r>
            <a:r>
              <a:rPr lang="es-ES_tradnl" sz="3200" dirty="0" err="1">
                <a:solidFill>
                  <a:srgbClr val="FF0000"/>
                </a:solidFill>
              </a:rPr>
              <a:t>shorturl.at</a:t>
            </a:r>
            <a:r>
              <a:rPr lang="es-ES_tradnl" sz="3200" dirty="0">
                <a:solidFill>
                  <a:srgbClr val="FF0000"/>
                </a:solidFill>
              </a:rPr>
              <a:t>/Xlcv6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309A71-196A-A1A8-C399-5295D78DB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9F65BA-ECCE-5D63-247C-9A073F258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157" y="1808234"/>
            <a:ext cx="4780799" cy="474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/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</a:t>
            </a:fld>
            <a:endParaRPr lang="en-US" sz="2000" b="1">
              <a:latin typeface="+mj-lt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3173020" y="2503099"/>
            <a:ext cx="8540907" cy="34163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accent1"/>
                </a:solidFill>
                <a:cs typeface="Arial"/>
              </a:rPr>
              <a:t>Gradiente Geométrico.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accent1"/>
                </a:solidFill>
                <a:cs typeface="Arial"/>
              </a:rPr>
              <a:t>Relaciones de equivalencia con varios costos de oportunidad.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accent1"/>
                </a:solidFill>
                <a:cs typeface="Arial"/>
              </a:rPr>
              <a:t>Ejercicios de práctica.</a:t>
            </a: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cs typeface="Arial"/>
            </a:endParaRPr>
          </a:p>
          <a:p>
            <a:pPr>
              <a:buClr>
                <a:srgbClr val="48BE7A"/>
              </a:buClr>
            </a:pPr>
            <a:endParaRPr lang="es-CO" sz="2400" dirty="0">
              <a:solidFill>
                <a:schemeClr val="accent1"/>
              </a:solidFill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7CCA6F4-3C8A-C61E-D855-42886A5457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0D7F-3D55-BDD5-89F3-61B3B3E9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6E083-A24B-9A05-C155-870D25BD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Gill Sans MT (Títulos)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AB0372-BD8A-77D7-9882-3938D5DE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B5797BEC-7335-8CC7-43CA-9CE73C677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D74099E4-7EB1-3D50-1B0A-93F23731BEAF}"/>
              </a:ext>
            </a:extLst>
          </p:cNvPr>
          <p:cNvSpPr/>
          <p:nvPr/>
        </p:nvSpPr>
        <p:spPr>
          <a:xfrm>
            <a:off x="3173020" y="2503099"/>
            <a:ext cx="8540907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accent1"/>
                </a:solidFill>
                <a:latin typeface="Gill Sans MT (Cuerpo)"/>
                <a:cs typeface="Arial"/>
              </a:rPr>
              <a:t>Gradiente Geométrico.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Relaciones de equivalencia con varios costos de oportunidad.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Ejercicios de práctica.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2C1A45-FA8A-4D92-4CAB-376267379EA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477F7378-6FFB-F3DF-A704-CA2913A57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4A8CA2C-DF31-6A51-D370-42984E069A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02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0420" y="1864810"/>
            <a:ext cx="11029615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dirty="0">
                <a:solidFill>
                  <a:srgbClr val="800000"/>
                </a:solidFill>
              </a:rPr>
              <a:t>¿Que sucede ahora, si tenemos unos flujos anuales que crecen a una tasa determinada?</a:t>
            </a:r>
          </a:p>
          <a:p>
            <a:pPr algn="just"/>
            <a:endParaRPr lang="es-ES" sz="2400" dirty="0"/>
          </a:p>
          <a:p>
            <a:pPr marL="0" indent="0" algn="just">
              <a:buNone/>
            </a:pPr>
            <a:r>
              <a:rPr lang="es-ES" sz="2400" dirty="0"/>
              <a:t>Otro caso particular, es aquel donde el flujo de cada año crece a una tasa constante (“g”). A diferencia del crecimiento anterior, éste no son montos fijos (G) sino crece proporcionalmente a una tasa ”g”.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4B220F-E8C3-D4E4-49E3-3F6BD540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>
                <a:latin typeface="Gill Sans MT (Títulos)"/>
              </a:rPr>
              <a:t>Gradientes geométricos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651DDB5-A369-D6AD-3498-A2D18D00F03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BB50836-380C-C830-C905-3C32D5602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3A8320B-5968-9994-B8D2-2ED78886D59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DE9CC23-2BD6-3EEA-257D-AC7162C9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5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953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contenido 2"/>
          <p:cNvSpPr>
            <a:spLocks noGrp="1"/>
          </p:cNvSpPr>
          <p:nvPr>
            <p:ph idx="1"/>
          </p:nvPr>
        </p:nvSpPr>
        <p:spPr>
          <a:xfrm>
            <a:off x="581192" y="1996123"/>
            <a:ext cx="7610476" cy="673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Veámoslo gráficamente </a:t>
            </a:r>
          </a:p>
        </p:txBody>
      </p:sp>
      <p:cxnSp>
        <p:nvCxnSpPr>
          <p:cNvPr id="5" name="Straight Connector 6"/>
          <p:cNvCxnSpPr/>
          <p:nvPr/>
        </p:nvCxnSpPr>
        <p:spPr>
          <a:xfrm>
            <a:off x="3059049" y="4616361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/>
          <p:nvPr/>
        </p:nvCxnSpPr>
        <p:spPr>
          <a:xfrm flipV="1">
            <a:off x="3978973" y="4205190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1"/>
          <p:cNvCxnSpPr/>
          <p:nvPr/>
        </p:nvCxnSpPr>
        <p:spPr>
          <a:xfrm flipV="1">
            <a:off x="5052402" y="4076914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2"/>
          <p:cNvCxnSpPr/>
          <p:nvPr/>
        </p:nvCxnSpPr>
        <p:spPr>
          <a:xfrm flipV="1">
            <a:off x="6111876" y="3961453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3"/>
          <p:cNvCxnSpPr/>
          <p:nvPr/>
        </p:nvCxnSpPr>
        <p:spPr>
          <a:xfrm flipV="1">
            <a:off x="7117738" y="3794693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4"/>
          <p:cNvCxnSpPr/>
          <p:nvPr/>
        </p:nvCxnSpPr>
        <p:spPr>
          <a:xfrm flipV="1">
            <a:off x="8191167" y="3448345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5"/>
          <p:cNvCxnSpPr/>
          <p:nvPr/>
        </p:nvCxnSpPr>
        <p:spPr>
          <a:xfrm flipV="1">
            <a:off x="9250641" y="3093945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35"/>
          <p:cNvSpPr>
            <a:spLocks/>
          </p:cNvSpPr>
          <p:nvPr/>
        </p:nvSpPr>
        <p:spPr bwMode="auto">
          <a:xfrm>
            <a:off x="2994928" y="4598412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5" name="Rectangle 36"/>
          <p:cNvSpPr>
            <a:spLocks/>
          </p:cNvSpPr>
          <p:nvPr/>
        </p:nvSpPr>
        <p:spPr bwMode="auto">
          <a:xfrm>
            <a:off x="3808213" y="457358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6" name="Rectangle 37"/>
          <p:cNvSpPr>
            <a:spLocks/>
          </p:cNvSpPr>
          <p:nvPr/>
        </p:nvSpPr>
        <p:spPr bwMode="auto">
          <a:xfrm>
            <a:off x="4896701" y="457358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7" name="Rectangle 38"/>
          <p:cNvSpPr>
            <a:spLocks/>
          </p:cNvSpPr>
          <p:nvPr/>
        </p:nvSpPr>
        <p:spPr bwMode="auto">
          <a:xfrm>
            <a:off x="5956175" y="458754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8" name="Rectangle 39"/>
          <p:cNvSpPr>
            <a:spLocks/>
          </p:cNvSpPr>
          <p:nvPr/>
        </p:nvSpPr>
        <p:spPr bwMode="auto">
          <a:xfrm>
            <a:off x="6962037" y="46039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9" name="Rectangle 40"/>
          <p:cNvSpPr>
            <a:spLocks/>
          </p:cNvSpPr>
          <p:nvPr/>
        </p:nvSpPr>
        <p:spPr bwMode="auto">
          <a:xfrm>
            <a:off x="8035466" y="457358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20" name="Rectangle 41"/>
          <p:cNvSpPr>
            <a:spLocks/>
          </p:cNvSpPr>
          <p:nvPr/>
        </p:nvSpPr>
        <p:spPr bwMode="auto">
          <a:xfrm>
            <a:off x="9094940" y="457358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6</a:t>
            </a:r>
          </a:p>
        </p:txBody>
      </p:sp>
      <p:sp>
        <p:nvSpPr>
          <p:cNvPr id="61" name="Rectangle 35"/>
          <p:cNvSpPr>
            <a:spLocks/>
          </p:cNvSpPr>
          <p:nvPr/>
        </p:nvSpPr>
        <p:spPr bwMode="auto">
          <a:xfrm>
            <a:off x="3865970" y="3900964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endParaRPr lang="en-US" sz="2000"/>
          </a:p>
        </p:txBody>
      </p:sp>
      <p:sp>
        <p:nvSpPr>
          <p:cNvPr id="62" name="Rectangle 35"/>
          <p:cNvSpPr>
            <a:spLocks/>
          </p:cNvSpPr>
          <p:nvPr/>
        </p:nvSpPr>
        <p:spPr bwMode="auto">
          <a:xfrm>
            <a:off x="4955196" y="3781494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2</a:t>
            </a:r>
            <a:endParaRPr lang="en-US" sz="2000"/>
          </a:p>
        </p:txBody>
      </p:sp>
      <p:sp>
        <p:nvSpPr>
          <p:cNvPr id="63" name="Rectangle 35"/>
          <p:cNvSpPr>
            <a:spLocks/>
          </p:cNvSpPr>
          <p:nvPr/>
        </p:nvSpPr>
        <p:spPr bwMode="auto">
          <a:xfrm>
            <a:off x="6011703" y="3658383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3</a:t>
            </a:r>
            <a:endParaRPr lang="en-US" sz="2000"/>
          </a:p>
        </p:txBody>
      </p:sp>
      <p:sp>
        <p:nvSpPr>
          <p:cNvPr id="64" name="Rectangle 35"/>
          <p:cNvSpPr>
            <a:spLocks/>
          </p:cNvSpPr>
          <p:nvPr/>
        </p:nvSpPr>
        <p:spPr bwMode="auto">
          <a:xfrm>
            <a:off x="7014599" y="3520192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4</a:t>
            </a:r>
            <a:endParaRPr lang="en-US" sz="2000"/>
          </a:p>
        </p:txBody>
      </p:sp>
      <p:sp>
        <p:nvSpPr>
          <p:cNvPr id="65" name="Rectangle 35"/>
          <p:cNvSpPr>
            <a:spLocks/>
          </p:cNvSpPr>
          <p:nvPr/>
        </p:nvSpPr>
        <p:spPr bwMode="auto">
          <a:xfrm>
            <a:off x="8097430" y="3173835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5</a:t>
            </a:r>
            <a:endParaRPr lang="en-US" sz="2000"/>
          </a:p>
        </p:txBody>
      </p:sp>
      <p:sp>
        <p:nvSpPr>
          <p:cNvPr id="66" name="Rectangle 35"/>
          <p:cNvSpPr>
            <a:spLocks/>
          </p:cNvSpPr>
          <p:nvPr/>
        </p:nvSpPr>
        <p:spPr bwMode="auto">
          <a:xfrm>
            <a:off x="9142616" y="2837810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6</a:t>
            </a:r>
            <a:endParaRPr lang="en-US" sz="200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15E16F-24DE-395F-A6E8-4C6C9828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>
                <a:latin typeface="Gill Sans MT (Títulos)"/>
              </a:rPr>
              <a:t>Gradientes geométricos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5D2A743-E094-E96F-F39F-9B848936A8C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2" name="Picture 2" descr="Clientes y aliados | Centro de Evaluación | Uniandes">
            <a:extLst>
              <a:ext uri="{FF2B5EF4-FFF2-40B4-BE49-F238E27FC236}">
                <a16:creationId xmlns:a16="http://schemas.microsoft.com/office/drawing/2014/main" id="{7BD77969-3913-70D0-AC9F-24E9EE36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72DD64AC-0BBE-E156-461A-04087118E01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2B333DFE-1E7F-5366-8EBE-54B7AAD2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4597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6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701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/>
        </p:nvCxnSpPr>
        <p:spPr>
          <a:xfrm>
            <a:off x="2612733" y="4887729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/>
          <p:nvPr/>
        </p:nvCxnSpPr>
        <p:spPr>
          <a:xfrm flipV="1">
            <a:off x="3532657" y="4476558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1"/>
          <p:cNvCxnSpPr/>
          <p:nvPr/>
        </p:nvCxnSpPr>
        <p:spPr>
          <a:xfrm flipV="1">
            <a:off x="4606086" y="4348282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2"/>
          <p:cNvCxnSpPr/>
          <p:nvPr/>
        </p:nvCxnSpPr>
        <p:spPr>
          <a:xfrm flipV="1">
            <a:off x="5665560" y="4232821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3"/>
          <p:cNvCxnSpPr/>
          <p:nvPr/>
        </p:nvCxnSpPr>
        <p:spPr>
          <a:xfrm flipV="1">
            <a:off x="6671422" y="4066061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4"/>
          <p:cNvCxnSpPr/>
          <p:nvPr/>
        </p:nvCxnSpPr>
        <p:spPr>
          <a:xfrm flipV="1">
            <a:off x="7744851" y="3719713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5"/>
          <p:cNvCxnSpPr/>
          <p:nvPr/>
        </p:nvCxnSpPr>
        <p:spPr>
          <a:xfrm flipV="1">
            <a:off x="8804325" y="3365313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35"/>
          <p:cNvSpPr>
            <a:spLocks/>
          </p:cNvSpPr>
          <p:nvPr/>
        </p:nvSpPr>
        <p:spPr bwMode="auto">
          <a:xfrm>
            <a:off x="2548612" y="486978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5" name="Rectangle 36"/>
          <p:cNvSpPr>
            <a:spLocks/>
          </p:cNvSpPr>
          <p:nvPr/>
        </p:nvSpPr>
        <p:spPr bwMode="auto">
          <a:xfrm>
            <a:off x="3361897" y="484495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6" name="Rectangle 37"/>
          <p:cNvSpPr>
            <a:spLocks/>
          </p:cNvSpPr>
          <p:nvPr/>
        </p:nvSpPr>
        <p:spPr bwMode="auto">
          <a:xfrm>
            <a:off x="4450385" y="484495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7" name="Rectangle 38"/>
          <p:cNvSpPr>
            <a:spLocks/>
          </p:cNvSpPr>
          <p:nvPr/>
        </p:nvSpPr>
        <p:spPr bwMode="auto">
          <a:xfrm>
            <a:off x="5509859" y="485890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8" name="Rectangle 39"/>
          <p:cNvSpPr>
            <a:spLocks/>
          </p:cNvSpPr>
          <p:nvPr/>
        </p:nvSpPr>
        <p:spPr bwMode="auto">
          <a:xfrm>
            <a:off x="6515721" y="487536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9" name="Rectangle 40"/>
          <p:cNvSpPr>
            <a:spLocks/>
          </p:cNvSpPr>
          <p:nvPr/>
        </p:nvSpPr>
        <p:spPr bwMode="auto">
          <a:xfrm>
            <a:off x="7589150" y="484495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20" name="Rectangle 41"/>
          <p:cNvSpPr>
            <a:spLocks/>
          </p:cNvSpPr>
          <p:nvPr/>
        </p:nvSpPr>
        <p:spPr bwMode="auto">
          <a:xfrm>
            <a:off x="8648624" y="484495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6</a:t>
            </a:r>
          </a:p>
        </p:txBody>
      </p:sp>
      <p:sp>
        <p:nvSpPr>
          <p:cNvPr id="61" name="Rectangle 35"/>
          <p:cNvSpPr>
            <a:spLocks/>
          </p:cNvSpPr>
          <p:nvPr/>
        </p:nvSpPr>
        <p:spPr bwMode="auto">
          <a:xfrm>
            <a:off x="3419654" y="4172332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endParaRPr lang="en-US" sz="2000"/>
          </a:p>
        </p:txBody>
      </p:sp>
      <p:sp>
        <p:nvSpPr>
          <p:cNvPr id="62" name="Rectangle 35"/>
          <p:cNvSpPr>
            <a:spLocks/>
          </p:cNvSpPr>
          <p:nvPr/>
        </p:nvSpPr>
        <p:spPr bwMode="auto">
          <a:xfrm>
            <a:off x="4232364" y="4052862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</a:p>
        </p:txBody>
      </p:sp>
      <p:sp>
        <p:nvSpPr>
          <p:cNvPr id="53" name="Rectangle 35"/>
          <p:cNvSpPr>
            <a:spLocks/>
          </p:cNvSpPr>
          <p:nvPr/>
        </p:nvSpPr>
        <p:spPr bwMode="auto">
          <a:xfrm>
            <a:off x="5250382" y="3959041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2</a:t>
            </a:r>
            <a:r>
              <a:rPr lang="en-US" sz="2000"/>
              <a:t>(1+g)</a:t>
            </a:r>
          </a:p>
        </p:txBody>
      </p:sp>
      <p:sp>
        <p:nvSpPr>
          <p:cNvPr id="54" name="Rectangle 35"/>
          <p:cNvSpPr>
            <a:spLocks/>
          </p:cNvSpPr>
          <p:nvPr/>
        </p:nvSpPr>
        <p:spPr bwMode="auto">
          <a:xfrm>
            <a:off x="6281902" y="3768157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3</a:t>
            </a:r>
            <a:r>
              <a:rPr lang="en-US" sz="2000"/>
              <a:t>(1+g)</a:t>
            </a:r>
          </a:p>
        </p:txBody>
      </p:sp>
      <p:sp>
        <p:nvSpPr>
          <p:cNvPr id="55" name="Rectangle 35"/>
          <p:cNvSpPr>
            <a:spLocks/>
          </p:cNvSpPr>
          <p:nvPr/>
        </p:nvSpPr>
        <p:spPr bwMode="auto">
          <a:xfrm>
            <a:off x="7382742" y="3442715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4</a:t>
            </a:r>
            <a:r>
              <a:rPr lang="en-US" sz="2000"/>
              <a:t>(1+g)</a:t>
            </a:r>
          </a:p>
        </p:txBody>
      </p:sp>
      <p:sp>
        <p:nvSpPr>
          <p:cNvPr id="56" name="Rectangle 35"/>
          <p:cNvSpPr>
            <a:spLocks/>
          </p:cNvSpPr>
          <p:nvPr/>
        </p:nvSpPr>
        <p:spPr bwMode="auto">
          <a:xfrm>
            <a:off x="8389147" y="3081042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5</a:t>
            </a:r>
            <a:r>
              <a:rPr lang="en-US" sz="2000"/>
              <a:t>(1+g)</a:t>
            </a:r>
          </a:p>
        </p:txBody>
      </p:sp>
      <p:sp>
        <p:nvSpPr>
          <p:cNvPr id="6" name="Abrir llave 5"/>
          <p:cNvSpPr/>
          <p:nvPr/>
        </p:nvSpPr>
        <p:spPr>
          <a:xfrm rot="5400000">
            <a:off x="4562735" y="3670895"/>
            <a:ext cx="163676" cy="6889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58" name="Rectangle 35"/>
          <p:cNvSpPr>
            <a:spLocks/>
          </p:cNvSpPr>
          <p:nvPr/>
        </p:nvSpPr>
        <p:spPr bwMode="auto">
          <a:xfrm>
            <a:off x="4517267" y="3648680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2</a:t>
            </a:r>
            <a:endParaRPr lang="en-US" sz="2000"/>
          </a:p>
        </p:txBody>
      </p:sp>
      <p:sp>
        <p:nvSpPr>
          <p:cNvPr id="59" name="Abrir llave 58"/>
          <p:cNvSpPr/>
          <p:nvPr/>
        </p:nvSpPr>
        <p:spPr>
          <a:xfrm rot="5400000">
            <a:off x="5563740" y="3576229"/>
            <a:ext cx="163676" cy="6889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68" name="Rectangle 35"/>
          <p:cNvSpPr>
            <a:spLocks/>
          </p:cNvSpPr>
          <p:nvPr/>
        </p:nvSpPr>
        <p:spPr bwMode="auto">
          <a:xfrm>
            <a:off x="5518272" y="3554014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3</a:t>
            </a:r>
            <a:endParaRPr lang="en-US" sz="2000"/>
          </a:p>
        </p:txBody>
      </p:sp>
      <p:sp>
        <p:nvSpPr>
          <p:cNvPr id="69" name="Abrir llave 68"/>
          <p:cNvSpPr/>
          <p:nvPr/>
        </p:nvSpPr>
        <p:spPr>
          <a:xfrm rot="5400000">
            <a:off x="6628743" y="3403171"/>
            <a:ext cx="163676" cy="6889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70" name="Rectangle 35"/>
          <p:cNvSpPr>
            <a:spLocks/>
          </p:cNvSpPr>
          <p:nvPr/>
        </p:nvSpPr>
        <p:spPr bwMode="auto">
          <a:xfrm>
            <a:off x="6583275" y="3380956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4</a:t>
            </a:r>
            <a:endParaRPr lang="en-US" sz="2000"/>
          </a:p>
        </p:txBody>
      </p:sp>
      <p:sp>
        <p:nvSpPr>
          <p:cNvPr id="71" name="Abrir llave 70"/>
          <p:cNvSpPr/>
          <p:nvPr/>
        </p:nvSpPr>
        <p:spPr>
          <a:xfrm rot="5400000">
            <a:off x="7702797" y="3072859"/>
            <a:ext cx="163676" cy="6889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72" name="Rectangle 35"/>
          <p:cNvSpPr>
            <a:spLocks/>
          </p:cNvSpPr>
          <p:nvPr/>
        </p:nvSpPr>
        <p:spPr bwMode="auto">
          <a:xfrm>
            <a:off x="7657329" y="3050644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5</a:t>
            </a:r>
            <a:endParaRPr lang="en-US" sz="2000"/>
          </a:p>
        </p:txBody>
      </p:sp>
      <p:sp>
        <p:nvSpPr>
          <p:cNvPr id="73" name="Abrir llave 72"/>
          <p:cNvSpPr/>
          <p:nvPr/>
        </p:nvSpPr>
        <p:spPr>
          <a:xfrm rot="5400000">
            <a:off x="8710331" y="2728884"/>
            <a:ext cx="163676" cy="6889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  <p:sp>
        <p:nvSpPr>
          <p:cNvPr id="74" name="Rectangle 35"/>
          <p:cNvSpPr>
            <a:spLocks/>
          </p:cNvSpPr>
          <p:nvPr/>
        </p:nvSpPr>
        <p:spPr bwMode="auto">
          <a:xfrm>
            <a:off x="8664863" y="2706669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6</a:t>
            </a:r>
            <a:endParaRPr lang="en-US" sz="200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0AAE8EA-C9CB-E5B6-6A60-23CA6414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>
                <a:latin typeface="Gill Sans MT (Títulos)"/>
              </a:rPr>
              <a:t>Gradientes geométricos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94EB39C-AE27-9289-D27C-4F72ABBA6C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4" name="Picture 2" descr="Clientes y aliados | Centro de Evaluación | Uniandes">
            <a:extLst>
              <a:ext uri="{FF2B5EF4-FFF2-40B4-BE49-F238E27FC236}">
                <a16:creationId xmlns:a16="http://schemas.microsoft.com/office/drawing/2014/main" id="{B74B4CA2-3E1C-F695-865E-00BA8587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E6F37FC2-5FD1-9335-3985-6D522866C7F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AE19B2EC-5C4E-A205-B36F-4240217B3B6C}"/>
              </a:ext>
            </a:extLst>
          </p:cNvPr>
          <p:cNvSpPr txBox="1">
            <a:spLocks/>
          </p:cNvSpPr>
          <p:nvPr/>
        </p:nvSpPr>
        <p:spPr>
          <a:xfrm>
            <a:off x="581192" y="1996123"/>
            <a:ext cx="7610476" cy="673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400" dirty="0"/>
              <a:t>Veámoslo gráficamente 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3AAB76C0-F1E7-50E6-5DF1-31E626CE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7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404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8" grpId="0"/>
      <p:bldP spid="59" grpId="0" animBg="1"/>
      <p:bldP spid="68" grpId="0"/>
      <p:bldP spid="69" grpId="0" animBg="1"/>
      <p:bldP spid="70" grpId="0"/>
      <p:bldP spid="71" grpId="0" animBg="1"/>
      <p:bldP spid="72" grpId="0"/>
      <p:bldP spid="73" grpId="0" animBg="1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/>
        </p:nvCxnSpPr>
        <p:spPr>
          <a:xfrm>
            <a:off x="2580076" y="4907824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/>
          <p:nvPr/>
        </p:nvCxnSpPr>
        <p:spPr>
          <a:xfrm flipV="1">
            <a:off x="3500000" y="4496653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1"/>
          <p:cNvCxnSpPr/>
          <p:nvPr/>
        </p:nvCxnSpPr>
        <p:spPr>
          <a:xfrm flipV="1">
            <a:off x="4573429" y="4368377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2"/>
          <p:cNvCxnSpPr/>
          <p:nvPr/>
        </p:nvCxnSpPr>
        <p:spPr>
          <a:xfrm flipV="1">
            <a:off x="5632903" y="4252916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3"/>
          <p:cNvCxnSpPr/>
          <p:nvPr/>
        </p:nvCxnSpPr>
        <p:spPr>
          <a:xfrm flipV="1">
            <a:off x="6638765" y="4086156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4"/>
          <p:cNvCxnSpPr/>
          <p:nvPr/>
        </p:nvCxnSpPr>
        <p:spPr>
          <a:xfrm flipV="1">
            <a:off x="7712194" y="3739808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5"/>
          <p:cNvCxnSpPr/>
          <p:nvPr/>
        </p:nvCxnSpPr>
        <p:spPr>
          <a:xfrm flipV="1">
            <a:off x="8771668" y="3385408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35"/>
          <p:cNvSpPr>
            <a:spLocks/>
          </p:cNvSpPr>
          <p:nvPr/>
        </p:nvSpPr>
        <p:spPr bwMode="auto">
          <a:xfrm>
            <a:off x="2515955" y="488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5" name="Rectangle 36"/>
          <p:cNvSpPr>
            <a:spLocks/>
          </p:cNvSpPr>
          <p:nvPr/>
        </p:nvSpPr>
        <p:spPr bwMode="auto">
          <a:xfrm>
            <a:off x="3329240" y="48650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6" name="Rectangle 37"/>
          <p:cNvSpPr>
            <a:spLocks/>
          </p:cNvSpPr>
          <p:nvPr/>
        </p:nvSpPr>
        <p:spPr bwMode="auto">
          <a:xfrm>
            <a:off x="4417728" y="48650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7" name="Rectangle 38"/>
          <p:cNvSpPr>
            <a:spLocks/>
          </p:cNvSpPr>
          <p:nvPr/>
        </p:nvSpPr>
        <p:spPr bwMode="auto">
          <a:xfrm>
            <a:off x="5477202" y="487900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8" name="Rectangle 39"/>
          <p:cNvSpPr>
            <a:spLocks/>
          </p:cNvSpPr>
          <p:nvPr/>
        </p:nvSpPr>
        <p:spPr bwMode="auto">
          <a:xfrm>
            <a:off x="6483064" y="489546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9" name="Rectangle 40"/>
          <p:cNvSpPr>
            <a:spLocks/>
          </p:cNvSpPr>
          <p:nvPr/>
        </p:nvSpPr>
        <p:spPr bwMode="auto">
          <a:xfrm>
            <a:off x="7556493" y="48650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20" name="Rectangle 41"/>
          <p:cNvSpPr>
            <a:spLocks/>
          </p:cNvSpPr>
          <p:nvPr/>
        </p:nvSpPr>
        <p:spPr bwMode="auto">
          <a:xfrm>
            <a:off x="8615967" y="48650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6</a:t>
            </a:r>
          </a:p>
        </p:txBody>
      </p:sp>
      <p:sp>
        <p:nvSpPr>
          <p:cNvPr id="61" name="Rectangle 35"/>
          <p:cNvSpPr>
            <a:spLocks/>
          </p:cNvSpPr>
          <p:nvPr/>
        </p:nvSpPr>
        <p:spPr bwMode="auto">
          <a:xfrm>
            <a:off x="3386997" y="4192427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endParaRPr lang="en-US" sz="2000"/>
          </a:p>
        </p:txBody>
      </p:sp>
      <p:sp>
        <p:nvSpPr>
          <p:cNvPr id="62" name="Rectangle 35"/>
          <p:cNvSpPr>
            <a:spLocks/>
          </p:cNvSpPr>
          <p:nvPr/>
        </p:nvSpPr>
        <p:spPr bwMode="auto">
          <a:xfrm>
            <a:off x="4199707" y="4072957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</a:p>
        </p:txBody>
      </p:sp>
      <p:sp>
        <p:nvSpPr>
          <p:cNvPr id="53" name="Rectangle 35"/>
          <p:cNvSpPr>
            <a:spLocks/>
          </p:cNvSpPr>
          <p:nvPr/>
        </p:nvSpPr>
        <p:spPr bwMode="auto">
          <a:xfrm>
            <a:off x="5175246" y="3979136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2</a:t>
            </a:r>
            <a:endParaRPr lang="en-US" sz="2000"/>
          </a:p>
        </p:txBody>
      </p:sp>
      <p:sp>
        <p:nvSpPr>
          <p:cNvPr id="57" name="Rectangle 35"/>
          <p:cNvSpPr>
            <a:spLocks/>
          </p:cNvSpPr>
          <p:nvPr/>
        </p:nvSpPr>
        <p:spPr bwMode="auto">
          <a:xfrm>
            <a:off x="6171500" y="3783501"/>
            <a:ext cx="9858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 )</a:t>
            </a:r>
            <a:r>
              <a:rPr lang="en-US" sz="2000" baseline="30000"/>
              <a:t>3</a:t>
            </a:r>
            <a:endParaRPr lang="en-US" sz="2000"/>
          </a:p>
        </p:txBody>
      </p:sp>
      <p:sp>
        <p:nvSpPr>
          <p:cNvPr id="58" name="Rectangle 35"/>
          <p:cNvSpPr>
            <a:spLocks/>
          </p:cNvSpPr>
          <p:nvPr/>
        </p:nvSpPr>
        <p:spPr bwMode="auto">
          <a:xfrm>
            <a:off x="7254537" y="3462810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4</a:t>
            </a:r>
            <a:endParaRPr lang="en-US" sz="2000"/>
          </a:p>
        </p:txBody>
      </p:sp>
      <p:sp>
        <p:nvSpPr>
          <p:cNvPr id="59" name="Rectangle 35"/>
          <p:cNvSpPr>
            <a:spLocks/>
          </p:cNvSpPr>
          <p:nvPr/>
        </p:nvSpPr>
        <p:spPr bwMode="auto">
          <a:xfrm>
            <a:off x="8354251" y="3095582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5</a:t>
            </a:r>
            <a:endParaRPr lang="en-US" sz="200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DC3B21E-DBB7-CC15-88BA-8EEA51A2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BAD4DD2-886B-B9ED-F360-2B706A9950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" descr="Clientes y aliados | Centro de Evaluación | Uniandes">
            <a:extLst>
              <a:ext uri="{FF2B5EF4-FFF2-40B4-BE49-F238E27FC236}">
                <a16:creationId xmlns:a16="http://schemas.microsoft.com/office/drawing/2014/main" id="{61DD832F-D096-2206-2747-6EDD96448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C5D917B7-B1B0-288A-77DD-9E39111CDC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1BD06E-613C-B211-CADE-99C09EB5D8D7}"/>
              </a:ext>
            </a:extLst>
          </p:cNvPr>
          <p:cNvSpPr txBox="1">
            <a:spLocks/>
          </p:cNvSpPr>
          <p:nvPr/>
        </p:nvSpPr>
        <p:spPr>
          <a:xfrm>
            <a:off x="581192" y="1996123"/>
            <a:ext cx="7610476" cy="673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sz="2400"/>
              <a:t>Veámoslo gráficamente 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6FEE988-8F3C-F587-6EF3-FC42B721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8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68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68972"/>
            <a:ext cx="11029615" cy="333414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s-ES" sz="2400" dirty="0"/>
              <a:t>El anterior crecimiento de los flujos (1+g) se conoce como </a:t>
            </a:r>
            <a:r>
              <a:rPr lang="es-ES" sz="2400" b="1" dirty="0"/>
              <a:t>crecimiento geométrico.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sz="2400" dirty="0"/>
              <a:t>Esta es una de las relaciones de equivalencia de mayor uso en el campo de las finanzas, pues tiene su aplicación en el campo de la valoración de activos.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sz="2400" dirty="0"/>
              <a:t>Es posible encontrar una equivalencia para series finitas e infinitas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ES" sz="2400" dirty="0"/>
              <a:t>El caso de series infinitas, es conocido en el dominio financiero como el </a:t>
            </a:r>
            <a:r>
              <a:rPr lang="es-ES" sz="2400" b="1" dirty="0"/>
              <a:t>“Modelo de Gordon-Shapiro”.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719A52-5763-89BB-90FE-F2A54351ADA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FBD4F39-955A-FEBE-6D0E-4F8A8A613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E268576-6336-6F85-EED6-87D5C2653DA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BCD1D5-BB39-CC2F-17DC-FC91574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2" name="Marcador de número de diapositiva 3">
            <a:extLst>
              <a:ext uri="{FF2B5EF4-FFF2-40B4-BE49-F238E27FC236}">
                <a16:creationId xmlns:a16="http://schemas.microsoft.com/office/drawing/2014/main" id="{A21ACACF-A450-2512-74CA-5C5A4E42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9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66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019546"/>
            <a:ext cx="11029616" cy="5564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/>
              <a:t>En general se tiene:</a:t>
            </a:r>
          </a:p>
        </p:txBody>
      </p:sp>
      <p:cxnSp>
        <p:nvCxnSpPr>
          <p:cNvPr id="53" name="Straight Connector 6"/>
          <p:cNvCxnSpPr/>
          <p:nvPr/>
        </p:nvCxnSpPr>
        <p:spPr>
          <a:xfrm>
            <a:off x="2917968" y="3793704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9"/>
          <p:cNvCxnSpPr/>
          <p:nvPr/>
        </p:nvCxnSpPr>
        <p:spPr>
          <a:xfrm flipV="1">
            <a:off x="3837892" y="3382533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11"/>
          <p:cNvCxnSpPr/>
          <p:nvPr/>
        </p:nvCxnSpPr>
        <p:spPr>
          <a:xfrm flipV="1">
            <a:off x="4911321" y="3254257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12"/>
          <p:cNvCxnSpPr/>
          <p:nvPr/>
        </p:nvCxnSpPr>
        <p:spPr>
          <a:xfrm flipV="1">
            <a:off x="5970795" y="3138796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13"/>
          <p:cNvCxnSpPr/>
          <p:nvPr/>
        </p:nvCxnSpPr>
        <p:spPr>
          <a:xfrm flipV="1">
            <a:off x="6976657" y="2972036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14"/>
          <p:cNvCxnSpPr/>
          <p:nvPr/>
        </p:nvCxnSpPr>
        <p:spPr>
          <a:xfrm flipV="1">
            <a:off x="8050086" y="2625688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15"/>
          <p:cNvCxnSpPr/>
          <p:nvPr/>
        </p:nvCxnSpPr>
        <p:spPr>
          <a:xfrm flipV="1">
            <a:off x="9109560" y="2271288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35"/>
          <p:cNvSpPr>
            <a:spLocks/>
          </p:cNvSpPr>
          <p:nvPr/>
        </p:nvSpPr>
        <p:spPr bwMode="auto">
          <a:xfrm>
            <a:off x="2853847" y="377575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70" name="Rectangle 36"/>
          <p:cNvSpPr>
            <a:spLocks/>
          </p:cNvSpPr>
          <p:nvPr/>
        </p:nvSpPr>
        <p:spPr bwMode="auto">
          <a:xfrm>
            <a:off x="3667132" y="37509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71" name="Rectangle 37"/>
          <p:cNvSpPr>
            <a:spLocks/>
          </p:cNvSpPr>
          <p:nvPr/>
        </p:nvSpPr>
        <p:spPr bwMode="auto">
          <a:xfrm>
            <a:off x="4755620" y="37509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72" name="Rectangle 38"/>
          <p:cNvSpPr>
            <a:spLocks/>
          </p:cNvSpPr>
          <p:nvPr/>
        </p:nvSpPr>
        <p:spPr bwMode="auto">
          <a:xfrm>
            <a:off x="5815094" y="3764883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73" name="Rectangle 39"/>
          <p:cNvSpPr>
            <a:spLocks/>
          </p:cNvSpPr>
          <p:nvPr/>
        </p:nvSpPr>
        <p:spPr bwMode="auto">
          <a:xfrm>
            <a:off x="6820956" y="3781340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74" name="Rectangle 40"/>
          <p:cNvSpPr>
            <a:spLocks/>
          </p:cNvSpPr>
          <p:nvPr/>
        </p:nvSpPr>
        <p:spPr bwMode="auto">
          <a:xfrm>
            <a:off x="7894385" y="37509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75" name="Rectangle 41"/>
          <p:cNvSpPr>
            <a:spLocks/>
          </p:cNvSpPr>
          <p:nvPr/>
        </p:nvSpPr>
        <p:spPr bwMode="auto">
          <a:xfrm>
            <a:off x="8953859" y="375092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n</a:t>
            </a:r>
          </a:p>
        </p:txBody>
      </p:sp>
      <p:sp>
        <p:nvSpPr>
          <p:cNvPr id="77" name="Rectangle 35"/>
          <p:cNvSpPr>
            <a:spLocks/>
          </p:cNvSpPr>
          <p:nvPr/>
        </p:nvSpPr>
        <p:spPr bwMode="auto">
          <a:xfrm>
            <a:off x="3724889" y="3078307"/>
            <a:ext cx="2773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endParaRPr lang="en-US" sz="2000"/>
          </a:p>
        </p:txBody>
      </p:sp>
      <p:sp>
        <p:nvSpPr>
          <p:cNvPr id="78" name="Rectangle 35"/>
          <p:cNvSpPr>
            <a:spLocks/>
          </p:cNvSpPr>
          <p:nvPr/>
        </p:nvSpPr>
        <p:spPr bwMode="auto">
          <a:xfrm>
            <a:off x="4537599" y="2958837"/>
            <a:ext cx="830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</a:p>
        </p:txBody>
      </p:sp>
      <p:sp>
        <p:nvSpPr>
          <p:cNvPr id="79" name="Rectangle 35"/>
          <p:cNvSpPr>
            <a:spLocks/>
          </p:cNvSpPr>
          <p:nvPr/>
        </p:nvSpPr>
        <p:spPr bwMode="auto">
          <a:xfrm>
            <a:off x="5513138" y="2865016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2</a:t>
            </a:r>
            <a:endParaRPr lang="en-US" sz="2000"/>
          </a:p>
        </p:txBody>
      </p:sp>
      <p:sp>
        <p:nvSpPr>
          <p:cNvPr id="80" name="Rectangle 35"/>
          <p:cNvSpPr>
            <a:spLocks/>
          </p:cNvSpPr>
          <p:nvPr/>
        </p:nvSpPr>
        <p:spPr bwMode="auto">
          <a:xfrm>
            <a:off x="6544658" y="2669381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3</a:t>
            </a:r>
            <a:endParaRPr lang="en-US" sz="2000"/>
          </a:p>
        </p:txBody>
      </p:sp>
      <p:sp>
        <p:nvSpPr>
          <p:cNvPr id="81" name="Rectangle 35"/>
          <p:cNvSpPr>
            <a:spLocks/>
          </p:cNvSpPr>
          <p:nvPr/>
        </p:nvSpPr>
        <p:spPr bwMode="auto">
          <a:xfrm>
            <a:off x="7592429" y="2348690"/>
            <a:ext cx="9153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4</a:t>
            </a:r>
            <a:endParaRPr lang="en-US" sz="2000"/>
          </a:p>
        </p:txBody>
      </p:sp>
      <p:sp>
        <p:nvSpPr>
          <p:cNvPr id="82" name="Rectangle 35"/>
          <p:cNvSpPr>
            <a:spLocks/>
          </p:cNvSpPr>
          <p:nvPr/>
        </p:nvSpPr>
        <p:spPr bwMode="auto">
          <a:xfrm>
            <a:off x="8622413" y="1801870"/>
            <a:ext cx="10547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D</a:t>
            </a:r>
            <a:r>
              <a:rPr lang="en-US" sz="2000" baseline="-25000"/>
              <a:t>1</a:t>
            </a:r>
            <a:r>
              <a:rPr lang="en-US" sz="2000"/>
              <a:t>(1+g)</a:t>
            </a:r>
            <a:r>
              <a:rPr lang="en-US" sz="2000" baseline="30000"/>
              <a:t>n-1</a:t>
            </a:r>
            <a:endParaRPr lang="en-US" sz="2000"/>
          </a:p>
        </p:txBody>
      </p:sp>
      <p:sp>
        <p:nvSpPr>
          <p:cNvPr id="6" name="CuadroTexto 5"/>
          <p:cNvSpPr txBox="1"/>
          <p:nvPr/>
        </p:nvSpPr>
        <p:spPr>
          <a:xfrm>
            <a:off x="8357728" y="3235835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cxnSp>
        <p:nvCxnSpPr>
          <p:cNvPr id="83" name="Straight Connector 6"/>
          <p:cNvCxnSpPr/>
          <p:nvPr/>
        </p:nvCxnSpPr>
        <p:spPr>
          <a:xfrm>
            <a:off x="2892499" y="6246136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3"/>
          <p:cNvCxnSpPr/>
          <p:nvPr/>
        </p:nvCxnSpPr>
        <p:spPr>
          <a:xfrm flipV="1">
            <a:off x="2899787" y="5637258"/>
            <a:ext cx="0" cy="610834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35"/>
          <p:cNvSpPr>
            <a:spLocks/>
          </p:cNvSpPr>
          <p:nvPr/>
        </p:nvSpPr>
        <p:spPr bwMode="auto">
          <a:xfrm>
            <a:off x="2892523" y="6202531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0" name="Rectangle 36"/>
          <p:cNvSpPr>
            <a:spLocks/>
          </p:cNvSpPr>
          <p:nvPr/>
        </p:nvSpPr>
        <p:spPr bwMode="auto">
          <a:xfrm>
            <a:off x="3641663" y="620335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91" name="Rectangle 37"/>
          <p:cNvSpPr>
            <a:spLocks/>
          </p:cNvSpPr>
          <p:nvPr/>
        </p:nvSpPr>
        <p:spPr bwMode="auto">
          <a:xfrm>
            <a:off x="4730151" y="620335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92" name="Rectangle 38"/>
          <p:cNvSpPr>
            <a:spLocks/>
          </p:cNvSpPr>
          <p:nvPr/>
        </p:nvSpPr>
        <p:spPr bwMode="auto">
          <a:xfrm>
            <a:off x="5789625" y="621731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93" name="Rectangle 39"/>
          <p:cNvSpPr>
            <a:spLocks/>
          </p:cNvSpPr>
          <p:nvPr/>
        </p:nvSpPr>
        <p:spPr bwMode="auto">
          <a:xfrm>
            <a:off x="6795487" y="623377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94" name="Rectangle 40"/>
          <p:cNvSpPr>
            <a:spLocks/>
          </p:cNvSpPr>
          <p:nvPr/>
        </p:nvSpPr>
        <p:spPr bwMode="auto">
          <a:xfrm>
            <a:off x="7868916" y="620335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95" name="Rectangle 41"/>
          <p:cNvSpPr>
            <a:spLocks/>
          </p:cNvSpPr>
          <p:nvPr/>
        </p:nvSpPr>
        <p:spPr bwMode="auto">
          <a:xfrm>
            <a:off x="8928390" y="620335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n</a:t>
            </a:r>
          </a:p>
        </p:txBody>
      </p:sp>
      <p:sp>
        <p:nvSpPr>
          <p:cNvPr id="96" name="Rectangle 35"/>
          <p:cNvSpPr>
            <a:spLocks/>
          </p:cNvSpPr>
          <p:nvPr/>
        </p:nvSpPr>
        <p:spPr bwMode="auto">
          <a:xfrm>
            <a:off x="2761480" y="5308826"/>
            <a:ext cx="2869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VP</a:t>
            </a:r>
          </a:p>
        </p:txBody>
      </p:sp>
      <p:sp>
        <p:nvSpPr>
          <p:cNvPr id="101" name="Flecha curvada hacia abajo 100"/>
          <p:cNvSpPr/>
          <p:nvPr/>
        </p:nvSpPr>
        <p:spPr>
          <a:xfrm rot="5400000">
            <a:off x="9301415" y="4068793"/>
            <a:ext cx="2410830" cy="103831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8286496" y="6125784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32A096C-A212-B9F5-0760-FD74689334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ABB7FEE-44DF-2A21-82CB-5D5DD5A8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CC8C73C-ECFC-3CDB-8E2D-EB0C90ACD46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6D2448-ECFB-D7C3-BFF6-E4C56F320243}"/>
              </a:ext>
            </a:extLst>
          </p:cNvPr>
          <p:cNvSpPr txBox="1"/>
          <p:nvPr/>
        </p:nvSpPr>
        <p:spPr>
          <a:xfrm>
            <a:off x="543853" y="4290816"/>
            <a:ext cx="110296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400"/>
              <a:t>Se quiere encontrar el Valor Presente (VP) de una </a:t>
            </a:r>
            <a:r>
              <a:rPr lang="es-ES" sz="2400" b="1">
                <a:solidFill>
                  <a:srgbClr val="800000"/>
                </a:solidFill>
              </a:rPr>
              <a:t>serie infinita </a:t>
            </a:r>
            <a:r>
              <a:rPr lang="es-ES" sz="2400"/>
              <a:t>con crecimiento geométrico constante (g)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11C5C1-FE5B-0C77-1860-CA5C970D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id="{6B21D1D4-384F-DF99-5731-28A0AA9A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10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873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101" grpId="0" animBg="1"/>
      <p:bldP spid="1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038391"/>
            <a:ext cx="11029616" cy="182849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2400"/>
              <a:t>La serie es un gradiente geométrico, debido a la presencia de una razón de crecimiento porcentual constante “g”.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/>
              <a:t>Según esto, veamos a qué corresponde cada uno de los flujos D</a:t>
            </a:r>
            <a:r>
              <a:rPr lang="es-ES" sz="2400" baseline="-25000"/>
              <a:t>j</a:t>
            </a:r>
            <a:r>
              <a:rPr lang="es-ES" sz="2400"/>
              <a:t>.</a:t>
            </a:r>
          </a:p>
        </p:txBody>
      </p:sp>
      <p:sp>
        <p:nvSpPr>
          <p:cNvPr id="6" name="Rectangle 35"/>
          <p:cNvSpPr>
            <a:spLocks/>
          </p:cNvSpPr>
          <p:nvPr/>
        </p:nvSpPr>
        <p:spPr bwMode="auto">
          <a:xfrm>
            <a:off x="5164730" y="4119422"/>
            <a:ext cx="8928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2000"/>
              <a:t>D</a:t>
            </a:r>
            <a:r>
              <a:rPr lang="en-US" sz="2000" baseline="-25000"/>
              <a:t>1 </a:t>
            </a:r>
            <a:r>
              <a:rPr lang="en-US" sz="2000"/>
              <a:t>=  D</a:t>
            </a:r>
            <a:r>
              <a:rPr lang="en-US" sz="2000" baseline="-25000"/>
              <a:t>1</a:t>
            </a:r>
            <a:endParaRPr lang="en-US" sz="2000"/>
          </a:p>
        </p:txBody>
      </p:sp>
      <p:sp>
        <p:nvSpPr>
          <p:cNvPr id="7" name="Rectangle 35"/>
          <p:cNvSpPr>
            <a:spLocks/>
          </p:cNvSpPr>
          <p:nvPr/>
        </p:nvSpPr>
        <p:spPr bwMode="auto">
          <a:xfrm>
            <a:off x="5164729" y="4472584"/>
            <a:ext cx="14459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2000"/>
              <a:t>D</a:t>
            </a:r>
            <a:r>
              <a:rPr lang="en-US" sz="2000" baseline="-25000"/>
              <a:t>2 </a:t>
            </a:r>
            <a:r>
              <a:rPr lang="en-US" sz="2000"/>
              <a:t>= D</a:t>
            </a:r>
            <a:r>
              <a:rPr lang="en-US" sz="2000" baseline="-25000"/>
              <a:t>1</a:t>
            </a:r>
            <a:r>
              <a:rPr lang="en-US" sz="2000"/>
              <a:t> (1+g)</a:t>
            </a:r>
          </a:p>
        </p:txBody>
      </p:sp>
      <p:sp>
        <p:nvSpPr>
          <p:cNvPr id="9" name="Rectangle 35"/>
          <p:cNvSpPr>
            <a:spLocks/>
          </p:cNvSpPr>
          <p:nvPr/>
        </p:nvSpPr>
        <p:spPr bwMode="auto">
          <a:xfrm>
            <a:off x="5164729" y="4871205"/>
            <a:ext cx="32345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en-US" sz="2000"/>
              <a:t>D</a:t>
            </a:r>
            <a:r>
              <a:rPr lang="en-US" sz="2000" baseline="-25000"/>
              <a:t>3 </a:t>
            </a:r>
            <a:r>
              <a:rPr lang="en-US" sz="2000"/>
              <a:t>=  D</a:t>
            </a:r>
            <a:r>
              <a:rPr lang="en-US" sz="2000" baseline="-25000"/>
              <a:t>2</a:t>
            </a:r>
            <a:r>
              <a:rPr lang="en-US" sz="2000"/>
              <a:t> (1+g) = D</a:t>
            </a:r>
            <a:r>
              <a:rPr lang="en-US" sz="2000" baseline="-25000"/>
              <a:t>1</a:t>
            </a:r>
            <a:r>
              <a:rPr lang="en-US" sz="2000"/>
              <a:t> (1+g)</a:t>
            </a:r>
            <a:r>
              <a:rPr lang="en-US" sz="2000" baseline="30000"/>
              <a:t>2</a:t>
            </a:r>
            <a:endParaRPr lang="en-US" sz="2000"/>
          </a:p>
        </p:txBody>
      </p:sp>
      <p:sp>
        <p:nvSpPr>
          <p:cNvPr id="10" name="Rectangle 35"/>
          <p:cNvSpPr>
            <a:spLocks/>
          </p:cNvSpPr>
          <p:nvPr/>
        </p:nvSpPr>
        <p:spPr bwMode="auto">
          <a:xfrm>
            <a:off x="5164729" y="5802248"/>
            <a:ext cx="32345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en-US" sz="2000" err="1"/>
              <a:t>D</a:t>
            </a:r>
            <a:r>
              <a:rPr lang="en-US" sz="2000" baseline="-25000" err="1"/>
              <a:t>j</a:t>
            </a:r>
            <a:r>
              <a:rPr lang="en-US" sz="2000" baseline="-25000"/>
              <a:t> </a:t>
            </a:r>
            <a:r>
              <a:rPr lang="en-US" sz="2000"/>
              <a:t>=  D</a:t>
            </a:r>
            <a:r>
              <a:rPr lang="en-US" sz="2000" baseline="-25000"/>
              <a:t>1</a:t>
            </a:r>
            <a:r>
              <a:rPr lang="en-US" sz="2000"/>
              <a:t> (1+g)</a:t>
            </a:r>
            <a:r>
              <a:rPr lang="en-US" sz="2000" baseline="30000"/>
              <a:t>j-1</a:t>
            </a:r>
            <a:endParaRPr lang="en-US" sz="2000"/>
          </a:p>
        </p:txBody>
      </p:sp>
      <p:sp>
        <p:nvSpPr>
          <p:cNvPr id="11" name="Rectangle 35"/>
          <p:cNvSpPr>
            <a:spLocks/>
          </p:cNvSpPr>
          <p:nvPr/>
        </p:nvSpPr>
        <p:spPr bwMode="auto">
          <a:xfrm>
            <a:off x="5012888" y="5287663"/>
            <a:ext cx="1576141" cy="4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50000"/>
              </a:lnSpc>
            </a:pPr>
            <a:r>
              <a:rPr lang="en-US" sz="2000"/>
              <a:t>.</a:t>
            </a:r>
          </a:p>
          <a:p>
            <a:pPr algn="ctr">
              <a:lnSpc>
                <a:spcPct val="50000"/>
              </a:lnSpc>
            </a:pPr>
            <a:r>
              <a:rPr lang="en-US" sz="2000"/>
              <a:t>.</a:t>
            </a:r>
          </a:p>
          <a:p>
            <a:pPr algn="ctr">
              <a:lnSpc>
                <a:spcPct val="50000"/>
              </a:lnSpc>
            </a:pPr>
            <a:r>
              <a:rPr lang="en-US" sz="2000"/>
              <a:t>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9C9066-AA64-F99E-06B3-130FA3C475C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Picture 2" descr="Clientes y aliados | Centro de Evaluación | Uniandes">
            <a:extLst>
              <a:ext uri="{FF2B5EF4-FFF2-40B4-BE49-F238E27FC236}">
                <a16:creationId xmlns:a16="http://schemas.microsoft.com/office/drawing/2014/main" id="{507B5A12-736B-5AAC-B6B7-E8B0A32C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CEB818D-3A6B-E37D-C386-009FA9424A9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C83C05-D450-2F9A-7F7E-40AC04BD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2" name="Marcador de número de diapositiva 3">
            <a:extLst>
              <a:ext uri="{FF2B5EF4-FFF2-40B4-BE49-F238E27FC236}">
                <a16:creationId xmlns:a16="http://schemas.microsoft.com/office/drawing/2014/main" id="{D25EB841-2D75-FD59-7964-A9D000AA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11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124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1933308"/>
            <a:ext cx="11029611" cy="16928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/>
              <a:t>La única forma de calcular el valor presente de esta serie es trayendo uno a uno cada término a VP y sumarlos entre sí. Es necesario recurrir a la convergencia de series para realizar esta tarea, pues no hay que olvidar que esta serie es infinita. 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040436" y="5303466"/>
            <a:ext cx="6191592" cy="12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9"/>
          <p:cNvCxnSpPr/>
          <p:nvPr/>
        </p:nvCxnSpPr>
        <p:spPr>
          <a:xfrm flipV="1">
            <a:off x="3960360" y="4870523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1"/>
          <p:cNvCxnSpPr/>
          <p:nvPr/>
        </p:nvCxnSpPr>
        <p:spPr>
          <a:xfrm flipV="1">
            <a:off x="5033789" y="4742247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2"/>
          <p:cNvCxnSpPr/>
          <p:nvPr/>
        </p:nvCxnSpPr>
        <p:spPr>
          <a:xfrm flipV="1">
            <a:off x="6093263" y="4626786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3"/>
          <p:cNvCxnSpPr/>
          <p:nvPr/>
        </p:nvCxnSpPr>
        <p:spPr>
          <a:xfrm flipV="1">
            <a:off x="7099125" y="4460026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4"/>
          <p:cNvCxnSpPr/>
          <p:nvPr/>
        </p:nvCxnSpPr>
        <p:spPr>
          <a:xfrm flipV="1">
            <a:off x="8172554" y="4113678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/>
          <p:cNvCxnSpPr/>
          <p:nvPr/>
        </p:nvCxnSpPr>
        <p:spPr>
          <a:xfrm flipV="1">
            <a:off x="9232028" y="3759278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36"/>
          <p:cNvSpPr>
            <a:spLocks/>
          </p:cNvSpPr>
          <p:nvPr/>
        </p:nvSpPr>
        <p:spPr bwMode="auto">
          <a:xfrm>
            <a:off x="3789600" y="530423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6" name="Rectangle 37"/>
          <p:cNvSpPr>
            <a:spLocks/>
          </p:cNvSpPr>
          <p:nvPr/>
        </p:nvSpPr>
        <p:spPr bwMode="auto">
          <a:xfrm>
            <a:off x="4878088" y="530423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7" name="Rectangle 38"/>
          <p:cNvSpPr>
            <a:spLocks/>
          </p:cNvSpPr>
          <p:nvPr/>
        </p:nvSpPr>
        <p:spPr bwMode="auto">
          <a:xfrm>
            <a:off x="5937562" y="5318189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8" name="Rectangle 39"/>
          <p:cNvSpPr>
            <a:spLocks/>
          </p:cNvSpPr>
          <p:nvPr/>
        </p:nvSpPr>
        <p:spPr bwMode="auto">
          <a:xfrm>
            <a:off x="6943424" y="5334646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9" name="Rectangle 40"/>
          <p:cNvSpPr>
            <a:spLocks/>
          </p:cNvSpPr>
          <p:nvPr/>
        </p:nvSpPr>
        <p:spPr bwMode="auto">
          <a:xfrm>
            <a:off x="8016853" y="530423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20" name="Rectangle 41"/>
          <p:cNvSpPr>
            <a:spLocks/>
          </p:cNvSpPr>
          <p:nvPr/>
        </p:nvSpPr>
        <p:spPr bwMode="auto">
          <a:xfrm>
            <a:off x="9076327" y="530423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n</a:t>
            </a:r>
          </a:p>
        </p:txBody>
      </p:sp>
      <p:cxnSp>
        <p:nvCxnSpPr>
          <p:cNvPr id="28" name="Conector curvado 27"/>
          <p:cNvCxnSpPr/>
          <p:nvPr/>
        </p:nvCxnSpPr>
        <p:spPr>
          <a:xfrm rot="10800000" flipV="1">
            <a:off x="3040436" y="3759278"/>
            <a:ext cx="6191592" cy="1535244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curvado 43"/>
          <p:cNvCxnSpPr/>
          <p:nvPr/>
        </p:nvCxnSpPr>
        <p:spPr>
          <a:xfrm rot="10800000" flipV="1">
            <a:off x="3040436" y="4113678"/>
            <a:ext cx="5132118" cy="1180844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curvado 46"/>
          <p:cNvCxnSpPr/>
          <p:nvPr/>
        </p:nvCxnSpPr>
        <p:spPr>
          <a:xfrm rot="10800000" flipV="1">
            <a:off x="3040438" y="4460024"/>
            <a:ext cx="4058691" cy="834498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curvado 49"/>
          <p:cNvCxnSpPr/>
          <p:nvPr/>
        </p:nvCxnSpPr>
        <p:spPr>
          <a:xfrm rot="10800000" flipV="1">
            <a:off x="3040438" y="4626784"/>
            <a:ext cx="3052829" cy="667738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curvado 52"/>
          <p:cNvCxnSpPr/>
          <p:nvPr/>
        </p:nvCxnSpPr>
        <p:spPr>
          <a:xfrm rot="10800000" flipV="1">
            <a:off x="3040438" y="4779184"/>
            <a:ext cx="1993355" cy="515338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curvado 55"/>
          <p:cNvCxnSpPr/>
          <p:nvPr/>
        </p:nvCxnSpPr>
        <p:spPr>
          <a:xfrm rot="10800000" flipV="1">
            <a:off x="3040436" y="4870522"/>
            <a:ext cx="919924" cy="424000"/>
          </a:xfrm>
          <a:prstGeom prst="curvedConnector2">
            <a:avLst/>
          </a:prstGeom>
          <a:ln w="6350" cmpd="sng">
            <a:solidFill>
              <a:srgbClr val="7F7F7F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13"/>
          <p:cNvCxnSpPr/>
          <p:nvPr/>
        </p:nvCxnSpPr>
        <p:spPr>
          <a:xfrm flipV="1">
            <a:off x="3030578" y="4626785"/>
            <a:ext cx="0" cy="66773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35"/>
          <p:cNvSpPr>
            <a:spLocks/>
          </p:cNvSpPr>
          <p:nvPr/>
        </p:nvSpPr>
        <p:spPr bwMode="auto">
          <a:xfrm>
            <a:off x="2877185" y="4221681"/>
            <a:ext cx="2869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VP</a:t>
            </a:r>
          </a:p>
        </p:txBody>
      </p:sp>
      <p:sp>
        <p:nvSpPr>
          <p:cNvPr id="62" name="Rectangle 35"/>
          <p:cNvSpPr>
            <a:spLocks/>
          </p:cNvSpPr>
          <p:nvPr/>
        </p:nvSpPr>
        <p:spPr bwMode="auto">
          <a:xfrm>
            <a:off x="3042455" y="5315831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63" name="CuadroTexto 62"/>
          <p:cNvSpPr txBox="1"/>
          <p:nvPr/>
        </p:nvSpPr>
        <p:spPr>
          <a:xfrm>
            <a:off x="8516659" y="5238141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40DA805-4130-1D1E-8696-30EA626ACE4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2" name="Picture 2" descr="Clientes y aliados | Centro de Evaluación | Uniandes">
            <a:extLst>
              <a:ext uri="{FF2B5EF4-FFF2-40B4-BE49-F238E27FC236}">
                <a16:creationId xmlns:a16="http://schemas.microsoft.com/office/drawing/2014/main" id="{8F97084D-A900-83E3-DEA5-B7D5909F8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32AF02A-D24C-5BA0-07E4-4F7A6953070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F03066-8F7A-1A5B-7BFB-7B227E04E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24" name="Marcador de número de diapositiva 3">
            <a:extLst>
              <a:ext uri="{FF2B5EF4-FFF2-40B4-BE49-F238E27FC236}">
                <a16:creationId xmlns:a16="http://schemas.microsoft.com/office/drawing/2014/main" id="{715CFBD7-71EE-D0ED-386F-BA0D2A89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12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313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1838451"/>
            <a:ext cx="11029615" cy="7228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/>
              <a:t>Por lo tanto, la suma de todos los componentes de la serie es: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6E6360-8708-3F38-711A-1487ACF94C3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Picture 2" descr="Clientes y aliados | Centro de Evaluación | Uniandes">
            <a:extLst>
              <a:ext uri="{FF2B5EF4-FFF2-40B4-BE49-F238E27FC236}">
                <a16:creationId xmlns:a16="http://schemas.microsoft.com/office/drawing/2014/main" id="{C1008732-D098-CCEE-4249-272DB4F5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4565EFEB-1880-8FBC-845C-886E84DF39E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694D5BE-6D9D-EC3F-A923-8E17D2F8DBFE}"/>
                  </a:ext>
                </a:extLst>
              </p:cNvPr>
              <p:cNvSpPr txBox="1"/>
              <p:nvPr/>
            </p:nvSpPr>
            <p:spPr>
              <a:xfrm>
                <a:off x="581192" y="5246602"/>
                <a:ext cx="110296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2400" dirty="0"/>
                  <a:t>Realizando un cambio de variable donde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s-ES" sz="2400" dirty="0"/>
                  <a:t> tenemos: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694D5BE-6D9D-EC3F-A923-8E17D2F8D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246602"/>
                <a:ext cx="11029616" cy="461665"/>
              </a:xfrm>
              <a:prstGeom prst="rect">
                <a:avLst/>
              </a:prstGeom>
              <a:blipFill>
                <a:blip r:embed="rId3"/>
                <a:stretch>
                  <a:fillRect l="-805" t="-10811" b="-297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4740D6A7-470C-8247-36AA-9599DEB7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6" name="Marcador de número de diapositiva 3">
            <a:extLst>
              <a:ext uri="{FF2B5EF4-FFF2-40B4-BE49-F238E27FC236}">
                <a16:creationId xmlns:a16="http://schemas.microsoft.com/office/drawing/2014/main" id="{747DE42C-B62F-F4AB-FB27-D416A281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13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23CF6F4-3695-A8CB-F563-1857B7A22B8E}"/>
                  </a:ext>
                </a:extLst>
              </p:cNvPr>
              <p:cNvSpPr txBox="1"/>
              <p:nvPr/>
            </p:nvSpPr>
            <p:spPr>
              <a:xfrm>
                <a:off x="5201781" y="2431774"/>
                <a:ext cx="1788438" cy="78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23CF6F4-3695-A8CB-F563-1857B7A22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781" y="2431774"/>
                <a:ext cx="1788438" cy="786626"/>
              </a:xfrm>
              <a:prstGeom prst="rect">
                <a:avLst/>
              </a:prstGeom>
              <a:blipFill>
                <a:blip r:embed="rId4"/>
                <a:stretch>
                  <a:fillRect l="-14789" t="-112698" b="-16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38D91BA-F414-40DA-22E3-C22182586D4C}"/>
                  </a:ext>
                </a:extLst>
              </p:cNvPr>
              <p:cNvSpPr txBox="1"/>
              <p:nvPr/>
            </p:nvSpPr>
            <p:spPr>
              <a:xfrm>
                <a:off x="4949276" y="3350845"/>
                <a:ext cx="2293448" cy="78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38D91BA-F414-40DA-22E3-C2218258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276" y="3350845"/>
                <a:ext cx="2293448" cy="786626"/>
              </a:xfrm>
              <a:prstGeom prst="rect">
                <a:avLst/>
              </a:prstGeom>
              <a:blipFill>
                <a:blip r:embed="rId5"/>
                <a:stretch>
                  <a:fillRect l="-1648" t="-116129" b="-1709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BBEB333-C73B-9A32-636A-7DA1260B463A}"/>
                  </a:ext>
                </a:extLst>
              </p:cNvPr>
              <p:cNvSpPr txBox="1"/>
              <p:nvPr/>
            </p:nvSpPr>
            <p:spPr>
              <a:xfrm>
                <a:off x="4734987" y="4269916"/>
                <a:ext cx="2722027" cy="7866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DBBEB333-C73B-9A32-636A-7DA1260B4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987" y="4269916"/>
                <a:ext cx="2722027" cy="786626"/>
              </a:xfrm>
              <a:prstGeom prst="rect">
                <a:avLst/>
              </a:prstGeom>
              <a:blipFill>
                <a:blip r:embed="rId6"/>
                <a:stretch>
                  <a:fillRect l="-926" t="-116129" b="-1709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B78D56E-0692-DB78-7750-C02641FAA758}"/>
                  </a:ext>
                </a:extLst>
              </p:cNvPr>
              <p:cNvSpPr txBox="1"/>
              <p:nvPr/>
            </p:nvSpPr>
            <p:spPr>
              <a:xfrm>
                <a:off x="4854090" y="5705287"/>
                <a:ext cx="2483820" cy="753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MX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s-MX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B78D56E-0692-DB78-7750-C02641FA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090" y="5705287"/>
                <a:ext cx="2483820" cy="753796"/>
              </a:xfrm>
              <a:prstGeom prst="rect">
                <a:avLst/>
              </a:prstGeom>
              <a:blipFill>
                <a:blip r:embed="rId7"/>
                <a:stretch>
                  <a:fillRect l="-1531" t="-118333" b="-18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6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15647"/>
                <a:ext cx="11029616" cy="7206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" sz="2400" dirty="0"/>
                  <a:t>Sabemos adicionalmente que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E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</m:s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nary>
                  </m:oMath>
                </a14:m>
                <a:r>
                  <a:rPr lang="es-ES" sz="2400" dirty="0"/>
                  <a:t>  para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s-ES" sz="2400" dirty="0"/>
                  <a:t>, luego: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15647"/>
                <a:ext cx="11029616" cy="720616"/>
              </a:xfrm>
              <a:blipFill>
                <a:blip r:embed="rId2"/>
                <a:stretch>
                  <a:fillRect l="-805" t="-64912" b="-1087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 derecha 7"/>
          <p:cNvSpPr/>
          <p:nvPr/>
        </p:nvSpPr>
        <p:spPr>
          <a:xfrm>
            <a:off x="6095999" y="5206165"/>
            <a:ext cx="449759" cy="5378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/>
          <p:cNvSpPr/>
          <p:nvPr/>
        </p:nvSpPr>
        <p:spPr>
          <a:xfrm>
            <a:off x="7019416" y="5162603"/>
            <a:ext cx="16896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/>
              <a:t>Modelo de </a:t>
            </a:r>
          </a:p>
          <a:p>
            <a:pPr algn="ctr"/>
            <a:r>
              <a:rPr lang="es-ES"/>
              <a:t>Gordon </a:t>
            </a:r>
            <a:r>
              <a:rPr lang="es-ES" err="1"/>
              <a:t>Shapiro</a:t>
            </a:r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581192" y="6053052"/>
            <a:ext cx="11029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800000"/>
                </a:solidFill>
              </a:rPr>
              <a:t>Recordemos que D</a:t>
            </a:r>
            <a:r>
              <a:rPr lang="es-ES" baseline="-25000" dirty="0">
                <a:solidFill>
                  <a:srgbClr val="800000"/>
                </a:solidFill>
              </a:rPr>
              <a:t>1</a:t>
            </a:r>
            <a:r>
              <a:rPr lang="es-ES" dirty="0">
                <a:solidFill>
                  <a:srgbClr val="800000"/>
                </a:solidFill>
              </a:rPr>
              <a:t> es el flujo de efectivo en el año 1, </a:t>
            </a:r>
            <a:r>
              <a:rPr lang="es-ES" i="1" dirty="0">
                <a:solidFill>
                  <a:srgbClr val="800000"/>
                </a:solidFill>
              </a:rPr>
              <a:t>i</a:t>
            </a:r>
            <a:r>
              <a:rPr lang="es-ES" dirty="0">
                <a:solidFill>
                  <a:srgbClr val="800000"/>
                </a:solidFill>
              </a:rPr>
              <a:t> es la tasa de descuento y g es la tasa de crecimiento constante.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517D0EE-8F43-EFAF-DF72-E1C6F911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Gradientes geométricos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AD5075-D3A4-70A1-E427-72E92E9349D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C43EFE67-BF17-7AC8-CF12-A06A48DEA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E22EB19-AA73-BE56-BF7F-665AB5E321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F9212F1-97AB-D17F-8E9D-AF9E6BE6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14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60DA08A-C4AF-D834-F361-52DCABFA1194}"/>
                  </a:ext>
                </a:extLst>
              </p:cNvPr>
              <p:cNvSpPr txBox="1"/>
              <p:nvPr/>
            </p:nvSpPr>
            <p:spPr>
              <a:xfrm>
                <a:off x="4168550" y="2675204"/>
                <a:ext cx="3854901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num>
                                    <m:den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d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s-MX" i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60DA08A-C4AF-D834-F361-52DCABFA1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550" y="2675204"/>
                <a:ext cx="3854901" cy="880369"/>
              </a:xfrm>
              <a:prstGeom prst="rect">
                <a:avLst/>
              </a:prstGeom>
              <a:blipFill>
                <a:blip r:embed="rId4"/>
                <a:stretch>
                  <a:fillRect l="-658" t="-2857" r="-98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5AADA43-64D1-D584-C89C-618BE7B7BB8E}"/>
                  </a:ext>
                </a:extLst>
              </p:cNvPr>
              <p:cNvSpPr txBox="1"/>
              <p:nvPr/>
            </p:nvSpPr>
            <p:spPr>
              <a:xfrm>
                <a:off x="5072130" y="4049775"/>
                <a:ext cx="2047740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MX" i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85AADA43-64D1-D584-C89C-618BE7B7B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130" y="4049775"/>
                <a:ext cx="2047740" cy="616387"/>
              </a:xfrm>
              <a:prstGeom prst="rect">
                <a:avLst/>
              </a:prstGeom>
              <a:blipFill>
                <a:blip r:embed="rId5"/>
                <a:stretch>
                  <a:fillRect l="-617" t="-4000" b="-8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CBA4E14-EB0D-0EBD-FDC9-3E9B70FC0A84}"/>
                  </a:ext>
                </a:extLst>
              </p:cNvPr>
              <p:cNvSpPr txBox="1"/>
              <p:nvPr/>
            </p:nvSpPr>
            <p:spPr>
              <a:xfrm>
                <a:off x="4424260" y="5160364"/>
                <a:ext cx="1295739" cy="567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MX" i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CBA4E14-EB0D-0EBD-FDC9-3E9B70FC0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60" y="5160364"/>
                <a:ext cx="1295739" cy="567720"/>
              </a:xfrm>
              <a:prstGeom prst="rect">
                <a:avLst/>
              </a:prstGeom>
              <a:blipFill>
                <a:blip r:embed="rId6"/>
                <a:stretch>
                  <a:fillRect l="-2913" t="-2174" r="-5825" b="-152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93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038392"/>
            <a:ext cx="11029615" cy="4908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800"/>
              <a:t>Según nuestra notación</a:t>
            </a:r>
          </a:p>
        </p:txBody>
      </p:sp>
      <p:pic>
        <p:nvPicPr>
          <p:cNvPr id="7" name="Imagen 6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49" y="3473895"/>
            <a:ext cx="3162300" cy="4064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D12B2E2-B104-C5D9-A7DC-AA3AA74E54B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A4104206-43F2-122E-9AA2-5E3B7A9C1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81F3183-4C67-DCCE-22DC-D41DB0CB679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A54FC67-3F1C-C7EF-96A5-C361EAE10236}"/>
                  </a:ext>
                </a:extLst>
              </p:cNvPr>
              <p:cNvSpPr txBox="1"/>
              <p:nvPr/>
            </p:nvSpPr>
            <p:spPr>
              <a:xfrm>
                <a:off x="5066294" y="4563143"/>
                <a:ext cx="2059410" cy="1008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s-CO" sz="320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A54FC67-3F1C-C7EF-96A5-C361EAE10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294" y="4563143"/>
                <a:ext cx="2059410" cy="1008353"/>
              </a:xfrm>
              <a:prstGeom prst="rect">
                <a:avLst/>
              </a:prstGeom>
              <a:blipFill>
                <a:blip r:embed="rId4"/>
                <a:stretch>
                  <a:fillRect l="-3049" t="-1250" r="-3049" b="-1375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F3395C3C-F413-7A2F-55E0-51437364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729C4089-8F42-51A7-0A03-0B71FDD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15</a:t>
            </a:fld>
            <a:endParaRPr lang="en-US" sz="2000" b="1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FDB6D-443C-69D6-4BD6-FCC9129EC38C}"/>
              </a:ext>
            </a:extLst>
          </p:cNvPr>
          <p:cNvSpPr/>
          <p:nvPr/>
        </p:nvSpPr>
        <p:spPr>
          <a:xfrm>
            <a:off x="4892966" y="4491231"/>
            <a:ext cx="2613823" cy="11780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5738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307570" y="3657621"/>
                <a:ext cx="7576859" cy="118454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s-ES" sz="2400" dirty="0"/>
                  <a:t>Hacemos un cambio de variable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ES" sz="2400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7570" y="3657621"/>
                <a:ext cx="7576859" cy="11845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A1B8563-7911-4F33-9EAD-8FB63676182E}"/>
              </a:ext>
            </a:extLst>
          </p:cNvPr>
          <p:cNvSpPr txBox="1">
            <a:spLocks/>
          </p:cNvSpPr>
          <p:nvPr/>
        </p:nvSpPr>
        <p:spPr>
          <a:xfrm>
            <a:off x="520419" y="1820724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>
                <a:solidFill>
                  <a:schemeClr val="tx1"/>
                </a:solidFill>
              </a:rPr>
              <a:t>Ahora para una serie </a:t>
            </a:r>
            <a:r>
              <a:rPr lang="es-ES" sz="2400" b="1" dirty="0">
                <a:solidFill>
                  <a:schemeClr val="tx1"/>
                </a:solidFill>
              </a:rPr>
              <a:t>finita</a:t>
            </a:r>
            <a:r>
              <a:rPr lang="es-ES" sz="2400" dirty="0">
                <a:solidFill>
                  <a:schemeClr val="tx1"/>
                </a:solidFill>
              </a:rPr>
              <a:t> partimos de la siguiente expresión (encontrada anteriormente) de VP:</a:t>
            </a:r>
            <a:endParaRPr lang="es-ES" sz="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39E236-3A49-4633-81C4-E89F60D634E7}"/>
                  </a:ext>
                </a:extLst>
              </p:cNvPr>
              <p:cNvSpPr txBox="1"/>
              <p:nvPr/>
            </p:nvSpPr>
            <p:spPr>
              <a:xfrm>
                <a:off x="2905760" y="4842170"/>
                <a:ext cx="6380480" cy="1142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=1+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s-E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s-CO" sz="24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39E236-3A49-4633-81C4-E89F60D63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4842170"/>
                <a:ext cx="6380480" cy="1142429"/>
              </a:xfrm>
              <a:prstGeom prst="rect">
                <a:avLst/>
              </a:prstGeom>
              <a:blipFill>
                <a:blip r:embed="rId3"/>
                <a:stretch>
                  <a:fillRect l="-32143" t="-103297" r="-15079" b="-15274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52BC48-A507-423D-A1A8-2D5F89E7C0AE}"/>
                  </a:ext>
                </a:extLst>
              </p:cNvPr>
              <p:cNvSpPr txBox="1"/>
              <p:nvPr/>
            </p:nvSpPr>
            <p:spPr>
              <a:xfrm>
                <a:off x="3198707" y="5956137"/>
                <a:ext cx="57945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400" i="1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E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𝑆𝑎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s-E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b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52BC48-A507-423D-A1A8-2D5F89E7C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07" y="5956137"/>
                <a:ext cx="5794586" cy="461665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DD3E7EF1-72DD-98A1-105C-5F12BCBB46E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EB7280A-274C-B8AF-CC64-303A1B3EE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7A114E6-C520-C546-D619-324B50C3E3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6B73522-53BF-5897-5EB2-00724D38565F}"/>
                  </a:ext>
                </a:extLst>
              </p:cNvPr>
              <p:cNvSpPr txBox="1"/>
              <p:nvPr/>
            </p:nvSpPr>
            <p:spPr>
              <a:xfrm>
                <a:off x="2307570" y="2711786"/>
                <a:ext cx="7576859" cy="1142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𝑉𝑝</m:t>
                      </m:r>
                      <m:r>
                        <a:rPr lang="es-CO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nary>
                      <m:f>
                        <m:fPr>
                          <m:ctrl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num>
                                    <m:den>
                                      <m:r>
                                        <a:rPr lang="es-CO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CO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6B73522-53BF-5897-5EB2-00724D385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570" y="2711786"/>
                <a:ext cx="7576859" cy="1142364"/>
              </a:xfrm>
              <a:prstGeom prst="rect">
                <a:avLst/>
              </a:prstGeom>
              <a:blipFill>
                <a:blip r:embed="rId6"/>
                <a:stretch>
                  <a:fillRect t="-102198" b="-1527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2C80FD9-DFDB-6812-7B31-B514B721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id="{A7922339-F626-2D8C-0D5A-98505376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16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6780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A1B8563-7911-4F33-9EAD-8FB63676182E}"/>
              </a:ext>
            </a:extLst>
          </p:cNvPr>
          <p:cNvSpPr txBox="1">
            <a:spLocks/>
          </p:cNvSpPr>
          <p:nvPr/>
        </p:nvSpPr>
        <p:spPr>
          <a:xfrm>
            <a:off x="581190" y="3577193"/>
            <a:ext cx="11029616" cy="596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>
                <a:solidFill>
                  <a:schemeClr val="tx1"/>
                </a:solidFill>
              </a:rPr>
              <a:t>Reemplazando en nuestra formula de VP tendríamos:</a:t>
            </a:r>
          </a:p>
          <a:p>
            <a:pPr marL="0" indent="0">
              <a:buNone/>
            </a:pPr>
            <a:endParaRPr lang="es-E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" sz="6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B5366D-CBA9-4785-A710-4246F64311F5}"/>
                  </a:ext>
                </a:extLst>
              </p:cNvPr>
              <p:cNvSpPr txBox="1"/>
              <p:nvPr/>
            </p:nvSpPr>
            <p:spPr>
              <a:xfrm>
                <a:off x="2290762" y="4636628"/>
                <a:ext cx="7610476" cy="1307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1− </m:t>
                          </m:r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num>
                                    <m:den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num>
                                    <m:den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s-MX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den>
                      </m:f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0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1− </m:t>
                                  </m:r>
                                  <m:d>
                                    <m:dPr>
                                      <m:ctrlP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O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sz="20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CO" sz="20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num>
                                        <m:den>
                                          <m:r>
                                            <a:rPr lang="es-CO" sz="20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MX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B5366D-CBA9-4785-A710-4246F6431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62" y="4636628"/>
                <a:ext cx="7610476" cy="1307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D2DEA4DD-7E23-2AD7-16CB-0F083BA2233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7DE708B7-FBA3-6875-2622-7CFE452A7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27A787E-6238-E3A9-FD87-637CB0CBE0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Marcador de contenido 2">
                <a:extLst>
                  <a:ext uri="{FF2B5EF4-FFF2-40B4-BE49-F238E27FC236}">
                    <a16:creationId xmlns:a16="http://schemas.microsoft.com/office/drawing/2014/main" id="{684D6A26-A47C-430E-A965-7E03DC650B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91" y="2037899"/>
                <a:ext cx="11029615" cy="4974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ts val="2000"/>
                  </a:spcBef>
                  <a:buClr>
                    <a:schemeClr val="accent1"/>
                  </a:buClr>
                  <a:buFont typeface="Wingdings 2" pitchFamily="18" charset="2"/>
                  <a:buChar char="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36550" algn="l" defTabSz="914400" rtl="0" eaLnBrk="1" latinLnBrk="0" hangingPunct="1">
                  <a:spcBef>
                    <a:spcPts val="600"/>
                  </a:spcBef>
                  <a:buClr>
                    <a:schemeClr val="accent1">
                      <a:lumMod val="50000"/>
                    </a:schemeClr>
                  </a:buClr>
                  <a:buFont typeface="Wingdings 2" pitchFamily="18" charset="2"/>
                  <a:buChar char="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035050" indent="-349250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Wingdings 2" pitchFamily="18" charset="2"/>
                  <a:buChar char="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36550" algn="l" defTabSz="914400" rtl="0" eaLnBrk="1" latinLnBrk="0" hangingPunct="1">
                  <a:spcBef>
                    <a:spcPts val="600"/>
                  </a:spcBef>
                  <a:buClr>
                    <a:schemeClr val="accent1">
                      <a:lumMod val="50000"/>
                    </a:schemeClr>
                  </a:buClr>
                  <a:buFont typeface="Wingdings 2" pitchFamily="18" charset="2"/>
                  <a:buChar char="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720850" indent="-349250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Wingdings 2" pitchFamily="18" charset="2"/>
                  <a:buChar char="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055813" indent="-344488" algn="l" defTabSz="9144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Font typeface="Wingdings 2" pitchFamily="18" charset="2"/>
                  <a:buChar char=""/>
                  <a:defRPr lang="en-US" sz="18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398713" indent="-344488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 2" pitchFamily="18" charset="2"/>
                  <a:buChar char=""/>
                  <a:defRPr lang="en-US" sz="18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4488" algn="l" defTabSz="9144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Font typeface="Wingdings 2" pitchFamily="18" charset="2"/>
                  <a:buChar char=""/>
                  <a:defRPr lang="en-US" sz="1800" kern="12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087688" indent="-344488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 2" pitchFamily="18" charset="2"/>
                  <a:buChar char=""/>
                  <a:defRPr lang="en-US" sz="1800" kern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2400">
                    <a:solidFill>
                      <a:schemeClr val="tx1"/>
                    </a:solidFill>
                  </a:rPr>
                  <a:t>Si hacemos </a:t>
                </a:r>
                <a14:m>
                  <m:oMath xmlns:m="http://schemas.openxmlformats.org/officeDocument/2006/math">
                    <m:r>
                      <a:rPr lang="es-E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s-E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Marcador de contenido 2">
                <a:extLst>
                  <a:ext uri="{FF2B5EF4-FFF2-40B4-BE49-F238E27FC236}">
                    <a16:creationId xmlns:a16="http://schemas.microsoft.com/office/drawing/2014/main" id="{684D6A26-A47C-430E-A965-7E03DC650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037899"/>
                <a:ext cx="11029615" cy="497445"/>
              </a:xfrm>
              <a:prstGeom prst="rect">
                <a:avLst/>
              </a:prstGeom>
              <a:blipFill>
                <a:blip r:embed="rId4"/>
                <a:stretch>
                  <a:fillRect l="-805" t="-10000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BDB68-0A37-46EC-BCF1-C22DCD6340F8}"/>
                  </a:ext>
                </a:extLst>
              </p:cNvPr>
              <p:cNvSpPr txBox="1"/>
              <p:nvPr/>
            </p:nvSpPr>
            <p:spPr>
              <a:xfrm>
                <a:off x="3198705" y="2625575"/>
                <a:ext cx="5794586" cy="803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𝑎𝑆</m:t>
                      </m:r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CO" sz="240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BDB68-0A37-46EC-BCF1-C22DCD63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05" y="2625575"/>
                <a:ext cx="5794586" cy="803425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B54B892B-0A5C-0820-F82B-19EB8A04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A04B18EA-D8D6-B035-9598-8A797D58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17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678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1744845"/>
            <a:ext cx="11029615" cy="1013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Ahora, veamos el caso de una </a:t>
            </a:r>
            <a:r>
              <a:rPr lang="es-ES" sz="2400" b="1" dirty="0">
                <a:solidFill>
                  <a:srgbClr val="800000"/>
                </a:solidFill>
              </a:rPr>
              <a:t>serie finita </a:t>
            </a:r>
            <a:r>
              <a:rPr lang="es-ES" sz="2400" dirty="0"/>
              <a:t>con crecimiento geométrico constante (g), si se quiere encontrar su equivalente en VP, se tiene: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33B7B9-0D56-2D3F-F852-E4AA12DBEE3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4ACCB2B-373F-BAD4-164B-53022DAA6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954A8877-C114-4070-7456-1BB6C984C9D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7F510-9865-6C62-D497-A37FE049461A}"/>
              </a:ext>
            </a:extLst>
          </p:cNvPr>
          <p:cNvSpPr txBox="1"/>
          <p:nvPr/>
        </p:nvSpPr>
        <p:spPr>
          <a:xfrm>
            <a:off x="581192" y="4477975"/>
            <a:ext cx="109688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2400" dirty="0"/>
              <a:t>Puede observarse que cuando </a:t>
            </a:r>
            <a:r>
              <a:rPr lang="es-ES" sz="2400" i="1" dirty="0"/>
              <a:t>n</a:t>
            </a:r>
            <a:r>
              <a:rPr lang="es-ES" sz="2400" dirty="0"/>
              <a:t> tiende a infinito, la expresión anterior converge al </a:t>
            </a:r>
            <a:r>
              <a:rPr lang="es-ES" sz="2400" i="1" dirty="0"/>
              <a:t>Modelo de Gordon-Shapiro</a:t>
            </a:r>
            <a:r>
              <a:rPr lang="es-ES" sz="2400" dirty="0"/>
              <a:t>. Por otra parte, si no hubiese crecimiento (o sea g=0,) dicha expresión converge al valor presente de una serie uniforme.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EE727D-0485-5560-7CE1-B388302F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id="{6FDAC553-2058-C69B-C1CB-4BE4A7F9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18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968C3D4-72F7-B646-EFF8-BF9760A0B977}"/>
                  </a:ext>
                </a:extLst>
              </p:cNvPr>
              <p:cNvSpPr txBox="1"/>
              <p:nvPr/>
            </p:nvSpPr>
            <p:spPr>
              <a:xfrm>
                <a:off x="3997234" y="3036837"/>
                <a:ext cx="3533005" cy="1056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MX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MX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MX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num>
                                        <m:den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MX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MX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MX" sz="2400" i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968C3D4-72F7-B646-EFF8-BF9760A0B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234" y="3036837"/>
                <a:ext cx="3533005" cy="1056636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A41AFCB-6B90-BD04-C9E6-14CD920F411A}"/>
              </a:ext>
            </a:extLst>
          </p:cNvPr>
          <p:cNvSpPr/>
          <p:nvPr/>
        </p:nvSpPr>
        <p:spPr>
          <a:xfrm>
            <a:off x="3953695" y="2952207"/>
            <a:ext cx="3620090" cy="1265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9029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 txBox="1">
            <a:spLocks/>
          </p:cNvSpPr>
          <p:nvPr/>
        </p:nvSpPr>
        <p:spPr>
          <a:xfrm>
            <a:off x="6140026" y="2514634"/>
            <a:ext cx="6051974" cy="768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lvl="1" indent="0">
              <a:buNone/>
            </a:pPr>
            <a:r>
              <a:rPr lang="es-ES" sz="2400" dirty="0"/>
              <a:t>Valor presente de una serie geométrica a perpetuidad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031005" y="4027654"/>
                <a:ext cx="4033989" cy="1715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s-CO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O" sz="200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es-CO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CO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s-CO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CO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es-CO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CO" sz="2000">
                                                        <a:latin typeface="Cambria Math" panose="02040503050406030204" pitchFamily="18" charset="0"/>
                                                      </a:rPr>
                                                      <m:t>1+</m:t>
                                                    </m:r>
                                                    <m:r>
                                                      <a:rPr lang="es-CO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CO" sz="20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s-CO" sz="20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CO" sz="200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CO" sz="200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s-CO"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CO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s-CO" sz="200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s-CO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CO" sz="200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CO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005" y="4027654"/>
                <a:ext cx="4033989" cy="1715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B6594D91-CEEA-8FD3-7495-766D38E8CF0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Picture 2" descr="Clientes y aliados | Centro de Evaluación | Uniandes">
            <a:extLst>
              <a:ext uri="{FF2B5EF4-FFF2-40B4-BE49-F238E27FC236}">
                <a16:creationId xmlns:a16="http://schemas.microsoft.com/office/drawing/2014/main" id="{05DA7488-2D84-81B4-8654-D3E6E3A49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1562C7C-97AC-7F1D-2E42-0DAE0F2A93D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2283432" y="2537767"/>
                <a:ext cx="1529137" cy="722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CO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CO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s-CO" sz="2000"/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432" y="2537767"/>
                <a:ext cx="1529137" cy="722505"/>
              </a:xfrm>
              <a:prstGeom prst="rect">
                <a:avLst/>
              </a:prstGeom>
              <a:blipFill>
                <a:blip r:embed="rId4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13E283C-9128-B592-6E97-7EFEF42F53F4}"/>
              </a:ext>
            </a:extLst>
          </p:cNvPr>
          <p:cNvSpPr txBox="1"/>
          <p:nvPr/>
        </p:nvSpPr>
        <p:spPr>
          <a:xfrm>
            <a:off x="1" y="18960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9250" lvl="1" indent="0" algn="just">
              <a:buNone/>
            </a:pPr>
            <a:r>
              <a:rPr lang="es-E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En resumen: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189A658-72AD-A848-3C11-33627032E944}"/>
              </a:ext>
            </a:extLst>
          </p:cNvPr>
          <p:cNvSpPr txBox="1">
            <a:spLocks/>
          </p:cNvSpPr>
          <p:nvPr/>
        </p:nvSpPr>
        <p:spPr>
          <a:xfrm>
            <a:off x="6106886" y="4500307"/>
            <a:ext cx="6051974" cy="768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lvl="1" indent="0">
              <a:buNone/>
            </a:pPr>
            <a:r>
              <a:rPr lang="es-ES" sz="2400" dirty="0"/>
              <a:t>Valor presente de una serie geométrica finita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242427-EB11-C9FB-40D6-6ACE8954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A1699EA3-3D03-6FA1-E483-A5E3B108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19</a:t>
            </a:fld>
            <a:endParaRPr lang="en-US" sz="2000" b="1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23E3C-4C05-04A2-B90C-68ECDFF81316}"/>
              </a:ext>
            </a:extLst>
          </p:cNvPr>
          <p:cNvSpPr/>
          <p:nvPr/>
        </p:nvSpPr>
        <p:spPr>
          <a:xfrm>
            <a:off x="1045026" y="4027654"/>
            <a:ext cx="4019968" cy="1715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5A5A3-AF83-81B5-615F-476A44075C65}"/>
              </a:ext>
            </a:extLst>
          </p:cNvPr>
          <p:cNvSpPr/>
          <p:nvPr/>
        </p:nvSpPr>
        <p:spPr>
          <a:xfrm>
            <a:off x="2283432" y="2537768"/>
            <a:ext cx="1529137" cy="768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765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1789561"/>
            <a:ext cx="11029615" cy="36707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/>
              <a:t>Ejemplo 1:</a:t>
            </a:r>
          </a:p>
          <a:p>
            <a:pPr marL="0" indent="0" algn="just">
              <a:buNone/>
            </a:pPr>
            <a:r>
              <a:rPr lang="es-ES" sz="2400"/>
              <a:t>Su nueva idea de negocio espera competir fuertemente con las arepas del SD. Usted estima generar unos ingresos de 15 millones de pesos en el primer año. A partir del segundo año las ventas incrementan anualmente en un 5%. </a:t>
            </a:r>
          </a:p>
          <a:p>
            <a:pPr marL="0" indent="0" algn="just">
              <a:buNone/>
            </a:pPr>
            <a:endParaRPr lang="es-ES" sz="2400"/>
          </a:p>
          <a:p>
            <a:pPr marL="0" indent="0" algn="just">
              <a:buNone/>
            </a:pPr>
            <a:r>
              <a:rPr lang="es-ES" sz="2400"/>
              <a:t>Su costo de financiarse vía Deuda y </a:t>
            </a:r>
            <a:r>
              <a:rPr lang="es-ES" sz="2400" err="1"/>
              <a:t>Equity</a:t>
            </a:r>
            <a:r>
              <a:rPr lang="es-ES" sz="2400"/>
              <a:t> es del 12% efectivo anual.</a:t>
            </a:r>
          </a:p>
          <a:p>
            <a:pPr marL="0" indent="0" algn="just">
              <a:buNone/>
            </a:pPr>
            <a:r>
              <a:rPr lang="es-ES" sz="2400"/>
              <a:t>¿Cuál es el mínimo valor al cual usted estaría dispuesto a vender su idea de negocio? (Valor Presente)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813E4E9-8FDA-4C90-4C2A-5E65645F59E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8BD5B24-BC30-058F-915A-874952CF0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29F5DE8-C16E-5D6D-BCF1-0B2B4B3E8ED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E310B1-9AE0-4EF5-5CD9-9D18F2FE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BF0B1EF2-DD3B-5C84-8DE9-46AD57C2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20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3861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82522" y="5415045"/>
            <a:ext cx="7610476" cy="4729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/>
              <a:t>Costo de oportunidad = WACC=12% EA</a:t>
            </a:r>
          </a:p>
        </p:txBody>
      </p:sp>
      <p:cxnSp>
        <p:nvCxnSpPr>
          <p:cNvPr id="5" name="Straight Connector 6"/>
          <p:cNvCxnSpPr/>
          <p:nvPr/>
        </p:nvCxnSpPr>
        <p:spPr>
          <a:xfrm>
            <a:off x="3024260" y="4316745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9"/>
          <p:cNvCxnSpPr/>
          <p:nvPr/>
        </p:nvCxnSpPr>
        <p:spPr>
          <a:xfrm flipV="1">
            <a:off x="3944184" y="3905574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1"/>
          <p:cNvCxnSpPr/>
          <p:nvPr/>
        </p:nvCxnSpPr>
        <p:spPr>
          <a:xfrm flipV="1">
            <a:off x="5017613" y="3777298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 flipV="1">
            <a:off x="6077087" y="3661837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/>
          <p:cNvCxnSpPr/>
          <p:nvPr/>
        </p:nvCxnSpPr>
        <p:spPr>
          <a:xfrm flipV="1">
            <a:off x="7082949" y="3495077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4"/>
          <p:cNvCxnSpPr/>
          <p:nvPr/>
        </p:nvCxnSpPr>
        <p:spPr>
          <a:xfrm flipV="1">
            <a:off x="8156378" y="3148729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5"/>
          <p:cNvCxnSpPr/>
          <p:nvPr/>
        </p:nvCxnSpPr>
        <p:spPr>
          <a:xfrm flipV="1">
            <a:off x="9215852" y="2794329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5"/>
          <p:cNvSpPr>
            <a:spLocks/>
          </p:cNvSpPr>
          <p:nvPr/>
        </p:nvSpPr>
        <p:spPr bwMode="auto">
          <a:xfrm>
            <a:off x="2960139" y="4353226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3" name="Rectangle 36"/>
          <p:cNvSpPr>
            <a:spLocks/>
          </p:cNvSpPr>
          <p:nvPr/>
        </p:nvSpPr>
        <p:spPr bwMode="auto">
          <a:xfrm>
            <a:off x="3773424" y="43283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4" name="Rectangle 37"/>
          <p:cNvSpPr>
            <a:spLocks/>
          </p:cNvSpPr>
          <p:nvPr/>
        </p:nvSpPr>
        <p:spPr bwMode="auto">
          <a:xfrm>
            <a:off x="4861912" y="43283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5" name="Rectangle 38"/>
          <p:cNvSpPr>
            <a:spLocks/>
          </p:cNvSpPr>
          <p:nvPr/>
        </p:nvSpPr>
        <p:spPr bwMode="auto">
          <a:xfrm>
            <a:off x="5921386" y="434235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6" name="Rectangle 39"/>
          <p:cNvSpPr>
            <a:spLocks/>
          </p:cNvSpPr>
          <p:nvPr/>
        </p:nvSpPr>
        <p:spPr bwMode="auto">
          <a:xfrm>
            <a:off x="6927248" y="435881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7" name="Rectangle 40"/>
          <p:cNvSpPr>
            <a:spLocks/>
          </p:cNvSpPr>
          <p:nvPr/>
        </p:nvSpPr>
        <p:spPr bwMode="auto">
          <a:xfrm>
            <a:off x="8000677" y="43283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41"/>
          <p:cNvSpPr>
            <a:spLocks/>
          </p:cNvSpPr>
          <p:nvPr/>
        </p:nvSpPr>
        <p:spPr bwMode="auto">
          <a:xfrm>
            <a:off x="9060151" y="432839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n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3841602" y="3601348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4558132" y="3481878"/>
            <a:ext cx="10018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</a:p>
        </p:txBody>
      </p:sp>
      <p:sp>
        <p:nvSpPr>
          <p:cNvPr id="21" name="Rectangle 35"/>
          <p:cNvSpPr>
            <a:spLocks/>
          </p:cNvSpPr>
          <p:nvPr/>
        </p:nvSpPr>
        <p:spPr bwMode="auto">
          <a:xfrm>
            <a:off x="5533670" y="3388057"/>
            <a:ext cx="10868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  <a:r>
              <a:rPr lang="en-US" sz="2000" baseline="30000"/>
              <a:t>2</a:t>
            </a:r>
            <a:endParaRPr lang="en-US" sz="2000"/>
          </a:p>
        </p:txBody>
      </p:sp>
      <p:sp>
        <p:nvSpPr>
          <p:cNvPr id="22" name="Rectangle 35"/>
          <p:cNvSpPr>
            <a:spLocks/>
          </p:cNvSpPr>
          <p:nvPr/>
        </p:nvSpPr>
        <p:spPr bwMode="auto">
          <a:xfrm>
            <a:off x="6565190" y="3192422"/>
            <a:ext cx="10868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  <a:r>
              <a:rPr lang="en-US" sz="2000" baseline="30000"/>
              <a:t>3</a:t>
            </a:r>
            <a:endParaRPr lang="en-US" sz="2000"/>
          </a:p>
        </p:txBody>
      </p:sp>
      <p:sp>
        <p:nvSpPr>
          <p:cNvPr id="23" name="Rectangle 35"/>
          <p:cNvSpPr>
            <a:spLocks/>
          </p:cNvSpPr>
          <p:nvPr/>
        </p:nvSpPr>
        <p:spPr bwMode="auto">
          <a:xfrm>
            <a:off x="7612961" y="2871731"/>
            <a:ext cx="10868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  <a:r>
              <a:rPr lang="en-US" sz="2000" baseline="30000"/>
              <a:t>4</a:t>
            </a:r>
            <a:endParaRPr lang="en-US" sz="2000"/>
          </a:p>
        </p:txBody>
      </p:sp>
      <p:sp>
        <p:nvSpPr>
          <p:cNvPr id="24" name="Rectangle 35"/>
          <p:cNvSpPr>
            <a:spLocks/>
          </p:cNvSpPr>
          <p:nvPr/>
        </p:nvSpPr>
        <p:spPr bwMode="auto">
          <a:xfrm>
            <a:off x="8642944" y="2324911"/>
            <a:ext cx="12262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  <a:r>
              <a:rPr lang="en-US" sz="2000" baseline="30000"/>
              <a:t>n-1</a:t>
            </a:r>
            <a:endParaRPr lang="en-US" sz="2000"/>
          </a:p>
        </p:txBody>
      </p:sp>
      <p:sp>
        <p:nvSpPr>
          <p:cNvPr id="25" name="CuadroTexto 24"/>
          <p:cNvSpPr txBox="1"/>
          <p:nvPr/>
        </p:nvSpPr>
        <p:spPr>
          <a:xfrm>
            <a:off x="8464020" y="3758876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E06B97-6CFA-89B8-142E-EC7CDAEE883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Picture 2" descr="Clientes y aliados | Centro de Evaluación | Uniandes">
            <a:extLst>
              <a:ext uri="{FF2B5EF4-FFF2-40B4-BE49-F238E27FC236}">
                <a16:creationId xmlns:a16="http://schemas.microsoft.com/office/drawing/2014/main" id="{0A5DDB51-CC6C-A36F-ECF2-AD9E4EEC3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3AA5F921-943D-92D7-8AA0-348317D9CC1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E9AF4EB-FDAD-6FFF-FC8C-BC94B932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32" name="Marcador de número de diapositiva 3">
            <a:extLst>
              <a:ext uri="{FF2B5EF4-FFF2-40B4-BE49-F238E27FC236}">
                <a16:creationId xmlns:a16="http://schemas.microsoft.com/office/drawing/2014/main" id="{9062DBCD-2AB3-2267-5BE8-55CDEFA9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21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206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/>
        </p:nvCxnSpPr>
        <p:spPr>
          <a:xfrm>
            <a:off x="3033201" y="4320931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9"/>
          <p:cNvCxnSpPr/>
          <p:nvPr/>
        </p:nvCxnSpPr>
        <p:spPr>
          <a:xfrm flipV="1">
            <a:off x="3953125" y="3909760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1"/>
          <p:cNvCxnSpPr/>
          <p:nvPr/>
        </p:nvCxnSpPr>
        <p:spPr>
          <a:xfrm flipV="1">
            <a:off x="5026554" y="3781484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 flipV="1">
            <a:off x="6086028" y="3666023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/>
          <p:cNvCxnSpPr/>
          <p:nvPr/>
        </p:nvCxnSpPr>
        <p:spPr>
          <a:xfrm flipV="1">
            <a:off x="7091890" y="3499263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4"/>
          <p:cNvCxnSpPr/>
          <p:nvPr/>
        </p:nvCxnSpPr>
        <p:spPr>
          <a:xfrm flipV="1">
            <a:off x="8165319" y="3152915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5"/>
          <p:cNvCxnSpPr/>
          <p:nvPr/>
        </p:nvCxnSpPr>
        <p:spPr>
          <a:xfrm flipV="1">
            <a:off x="9224793" y="2798515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5"/>
          <p:cNvSpPr>
            <a:spLocks/>
          </p:cNvSpPr>
          <p:nvPr/>
        </p:nvSpPr>
        <p:spPr bwMode="auto">
          <a:xfrm>
            <a:off x="2969080" y="433564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3" name="Rectangle 36"/>
          <p:cNvSpPr>
            <a:spLocks/>
          </p:cNvSpPr>
          <p:nvPr/>
        </p:nvSpPr>
        <p:spPr bwMode="auto">
          <a:xfrm>
            <a:off x="3782365" y="431081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4" name="Rectangle 37"/>
          <p:cNvSpPr>
            <a:spLocks/>
          </p:cNvSpPr>
          <p:nvPr/>
        </p:nvSpPr>
        <p:spPr bwMode="auto">
          <a:xfrm>
            <a:off x="4870853" y="431081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5" name="Rectangle 38"/>
          <p:cNvSpPr>
            <a:spLocks/>
          </p:cNvSpPr>
          <p:nvPr/>
        </p:nvSpPr>
        <p:spPr bwMode="auto">
          <a:xfrm>
            <a:off x="5930327" y="432476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6" name="Rectangle 39"/>
          <p:cNvSpPr>
            <a:spLocks/>
          </p:cNvSpPr>
          <p:nvPr/>
        </p:nvSpPr>
        <p:spPr bwMode="auto">
          <a:xfrm>
            <a:off x="6936189" y="434122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7" name="Rectangle 40"/>
          <p:cNvSpPr>
            <a:spLocks/>
          </p:cNvSpPr>
          <p:nvPr/>
        </p:nvSpPr>
        <p:spPr bwMode="auto">
          <a:xfrm>
            <a:off x="8009618" y="431081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41"/>
          <p:cNvSpPr>
            <a:spLocks/>
          </p:cNvSpPr>
          <p:nvPr/>
        </p:nvSpPr>
        <p:spPr bwMode="auto">
          <a:xfrm>
            <a:off x="9069092" y="431081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n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3850543" y="3605534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4783479" y="3486064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15,75</a:t>
            </a:r>
          </a:p>
        </p:txBody>
      </p:sp>
      <p:sp>
        <p:nvSpPr>
          <p:cNvPr id="21" name="Rectangle 35"/>
          <p:cNvSpPr>
            <a:spLocks/>
          </p:cNvSpPr>
          <p:nvPr/>
        </p:nvSpPr>
        <p:spPr bwMode="auto">
          <a:xfrm>
            <a:off x="5801497" y="3392243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16,54</a:t>
            </a:r>
          </a:p>
        </p:txBody>
      </p:sp>
      <p:sp>
        <p:nvSpPr>
          <p:cNvPr id="22" name="Rectangle 35"/>
          <p:cNvSpPr>
            <a:spLocks/>
          </p:cNvSpPr>
          <p:nvPr/>
        </p:nvSpPr>
        <p:spPr bwMode="auto">
          <a:xfrm>
            <a:off x="6833017" y="3196608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17,36</a:t>
            </a:r>
          </a:p>
        </p:txBody>
      </p:sp>
      <p:sp>
        <p:nvSpPr>
          <p:cNvPr id="23" name="Rectangle 35"/>
          <p:cNvSpPr>
            <a:spLocks/>
          </p:cNvSpPr>
          <p:nvPr/>
        </p:nvSpPr>
        <p:spPr bwMode="auto">
          <a:xfrm>
            <a:off x="7880788" y="2875917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18,23</a:t>
            </a:r>
          </a:p>
        </p:txBody>
      </p:sp>
      <p:sp>
        <p:nvSpPr>
          <p:cNvPr id="24" name="Rectangle 35"/>
          <p:cNvSpPr>
            <a:spLocks/>
          </p:cNvSpPr>
          <p:nvPr/>
        </p:nvSpPr>
        <p:spPr bwMode="auto">
          <a:xfrm>
            <a:off x="8651885" y="2329097"/>
            <a:ext cx="12262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15(1+5%)</a:t>
            </a:r>
            <a:r>
              <a:rPr lang="en-US" sz="2000" baseline="30000"/>
              <a:t>n-1</a:t>
            </a:r>
            <a:endParaRPr lang="en-US" sz="2000"/>
          </a:p>
        </p:txBody>
      </p:sp>
      <p:sp>
        <p:nvSpPr>
          <p:cNvPr id="25" name="CuadroTexto 24"/>
          <p:cNvSpPr txBox="1"/>
          <p:nvPr/>
        </p:nvSpPr>
        <p:spPr>
          <a:xfrm>
            <a:off x="8472961" y="3763062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8C6746A-4237-ED65-C310-9686FBD572E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1" name="Picture 2" descr="Clientes y aliados | Centro de Evaluación | Uniandes">
            <a:extLst>
              <a:ext uri="{FF2B5EF4-FFF2-40B4-BE49-F238E27FC236}">
                <a16:creationId xmlns:a16="http://schemas.microsoft.com/office/drawing/2014/main" id="{97EB0FE2-ED93-8ED8-64B1-EFCB519C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792D1D49-DFF7-9301-8F1C-8B60DD2A160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CFBE151B-A7EF-A0AB-2D4F-20149DCB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522" y="5415045"/>
            <a:ext cx="7610476" cy="4729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/>
              <a:t>Costo de oportunidad = WACC=12% EA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6DA8763-79AB-1DB4-51B3-FF8CA6840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30" name="Marcador de número de diapositiva 3">
            <a:extLst>
              <a:ext uri="{FF2B5EF4-FFF2-40B4-BE49-F238E27FC236}">
                <a16:creationId xmlns:a16="http://schemas.microsoft.com/office/drawing/2014/main" id="{C905B659-BB2F-78FB-CDF0-847837BC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22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5482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1796310"/>
            <a:ext cx="11029616" cy="730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/>
              <a:t>Traemos todo al presente para comparar los flujos de inversión e ingresos.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4644163" y="4141995"/>
            <a:ext cx="2903675" cy="879844"/>
            <a:chOff x="2542901" y="4401622"/>
            <a:chExt cx="2903675" cy="879844"/>
          </a:xfrm>
        </p:grpSpPr>
        <p:pic>
          <p:nvPicPr>
            <p:cNvPr id="11" name="Imagen 6" descr="latex-image-1.pd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9474"/>
            <a:stretch/>
          </p:blipFill>
          <p:spPr>
            <a:xfrm>
              <a:off x="2542901" y="4405166"/>
              <a:ext cx="828949" cy="876300"/>
            </a:xfrm>
            <a:prstGeom prst="rect">
              <a:avLst/>
            </a:prstGeom>
          </p:spPr>
        </p:pic>
        <p:pic>
          <p:nvPicPr>
            <p:cNvPr id="13" name="Imagen 6" descr="latex-image-1.pd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628"/>
            <a:stretch/>
          </p:blipFill>
          <p:spPr>
            <a:xfrm>
              <a:off x="3371850" y="4401622"/>
              <a:ext cx="2074726" cy="876300"/>
            </a:xfrm>
            <a:prstGeom prst="rect">
              <a:avLst/>
            </a:prstGeom>
          </p:spPr>
        </p:pic>
      </p:grpSp>
      <p:grpSp>
        <p:nvGrpSpPr>
          <p:cNvPr id="7" name="Grupo 6"/>
          <p:cNvGrpSpPr/>
          <p:nvPr/>
        </p:nvGrpSpPr>
        <p:grpSpPr>
          <a:xfrm>
            <a:off x="5135901" y="5617020"/>
            <a:ext cx="1920198" cy="412831"/>
            <a:chOff x="2968746" y="5559343"/>
            <a:chExt cx="1920198" cy="412831"/>
          </a:xfrm>
        </p:grpSpPr>
        <p:pic>
          <p:nvPicPr>
            <p:cNvPr id="10" name="Imagen 8" descr="latex-image-1.pdf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293" b="-8354"/>
            <a:stretch/>
          </p:blipFill>
          <p:spPr>
            <a:xfrm>
              <a:off x="2968746" y="5559343"/>
              <a:ext cx="803154" cy="412831"/>
            </a:xfrm>
            <a:prstGeom prst="rect">
              <a:avLst/>
            </a:prstGeom>
          </p:spPr>
        </p:pic>
        <p:pic>
          <p:nvPicPr>
            <p:cNvPr id="14" name="Imagen 8" descr="latex-image-1.pdf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944" t="-1" b="1895"/>
            <a:stretch/>
          </p:blipFill>
          <p:spPr>
            <a:xfrm>
              <a:off x="3700000" y="5585235"/>
              <a:ext cx="1188944" cy="373781"/>
            </a:xfrm>
            <a:prstGeom prst="rect">
              <a:avLst/>
            </a:prstGeom>
          </p:spPr>
        </p:pic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1854232C-3B51-03FB-FCAC-A7D68BE6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Gradientes geométricos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5548264-7791-1366-66E2-D26D21A410D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9" name="Picture 2" descr="Clientes y aliados | Centro de Evaluación | Uniandes">
            <a:extLst>
              <a:ext uri="{FF2B5EF4-FFF2-40B4-BE49-F238E27FC236}">
                <a16:creationId xmlns:a16="http://schemas.microsoft.com/office/drawing/2014/main" id="{B910BB77-2E8E-5A1A-F083-EE99BD28A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9047101F-6272-6920-C20F-B31A0883D3D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5A34C97-3E51-63CF-AEC0-2BFC82E4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23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D7FAACA-825B-664E-1FAD-57E0FA9A600B}"/>
                  </a:ext>
                </a:extLst>
              </p:cNvPr>
              <p:cNvSpPr txBox="1"/>
              <p:nvPr/>
            </p:nvSpPr>
            <p:spPr>
              <a:xfrm>
                <a:off x="5018045" y="2859311"/>
                <a:ext cx="2155911" cy="946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s-MX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3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MX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s-MX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MX" sz="3000" i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D7FAACA-825B-664E-1FAD-57E0FA9A6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045" y="2859311"/>
                <a:ext cx="2155911" cy="9462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78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0420" y="2567473"/>
            <a:ext cx="11029615" cy="27708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/>
              <a:t>Ejemplo 2:</a:t>
            </a:r>
          </a:p>
          <a:p>
            <a:pPr marL="0" indent="0" algn="just">
              <a:buNone/>
            </a:pPr>
            <a:r>
              <a:rPr lang="es-ES" sz="2400"/>
              <a:t>Usted planea estudiar en la universidad de los Cerros donde el primer semestre tiene un costo de alrededor de $22 MM. Usted estima que cada semestre subirá un 3% su costo respecto al valor del semestre anterior. Su costo de oportunidad es del 4% EA. Si planea estar 8 semestres ¿Cuál sería el valor actual de su carrera?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3F1AEB-F0E9-CA58-F834-9F3D9275487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0486285-3DAA-E6D9-2767-F4AD2C6F0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EBFFBB4-6721-AFC0-DCA9-F6B122C8D10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48607-9052-FA95-9B79-D6765A42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D0DBE565-0E35-7257-878B-0F837B7A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24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9928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/>
        </p:nvCxnSpPr>
        <p:spPr>
          <a:xfrm>
            <a:off x="2695744" y="3749193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9"/>
          <p:cNvCxnSpPr/>
          <p:nvPr/>
        </p:nvCxnSpPr>
        <p:spPr>
          <a:xfrm flipV="1">
            <a:off x="3615668" y="3338022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1"/>
          <p:cNvCxnSpPr/>
          <p:nvPr/>
        </p:nvCxnSpPr>
        <p:spPr>
          <a:xfrm flipV="1">
            <a:off x="4689097" y="3209746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 flipV="1">
            <a:off x="5748571" y="3094285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/>
          <p:cNvCxnSpPr/>
          <p:nvPr/>
        </p:nvCxnSpPr>
        <p:spPr>
          <a:xfrm flipV="1">
            <a:off x="6754433" y="2927525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4"/>
          <p:cNvCxnSpPr/>
          <p:nvPr/>
        </p:nvCxnSpPr>
        <p:spPr>
          <a:xfrm flipV="1">
            <a:off x="7827862" y="2581177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5"/>
          <p:cNvCxnSpPr/>
          <p:nvPr/>
        </p:nvCxnSpPr>
        <p:spPr>
          <a:xfrm flipV="1">
            <a:off x="8887336" y="2226777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5"/>
          <p:cNvSpPr>
            <a:spLocks/>
          </p:cNvSpPr>
          <p:nvPr/>
        </p:nvSpPr>
        <p:spPr bwMode="auto">
          <a:xfrm>
            <a:off x="2631623" y="3796557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3" name="Rectangle 36"/>
          <p:cNvSpPr>
            <a:spLocks/>
          </p:cNvSpPr>
          <p:nvPr/>
        </p:nvSpPr>
        <p:spPr bwMode="auto">
          <a:xfrm>
            <a:off x="3444908" y="377172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4" name="Rectangle 37"/>
          <p:cNvSpPr>
            <a:spLocks/>
          </p:cNvSpPr>
          <p:nvPr/>
        </p:nvSpPr>
        <p:spPr bwMode="auto">
          <a:xfrm>
            <a:off x="4533396" y="377172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5" name="Rectangle 38"/>
          <p:cNvSpPr>
            <a:spLocks/>
          </p:cNvSpPr>
          <p:nvPr/>
        </p:nvSpPr>
        <p:spPr bwMode="auto">
          <a:xfrm>
            <a:off x="5592870" y="37856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6" name="Rectangle 39"/>
          <p:cNvSpPr>
            <a:spLocks/>
          </p:cNvSpPr>
          <p:nvPr/>
        </p:nvSpPr>
        <p:spPr bwMode="auto">
          <a:xfrm>
            <a:off x="6598732" y="380214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7" name="Rectangle 40"/>
          <p:cNvSpPr>
            <a:spLocks/>
          </p:cNvSpPr>
          <p:nvPr/>
        </p:nvSpPr>
        <p:spPr bwMode="auto">
          <a:xfrm>
            <a:off x="7672161" y="377172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41"/>
          <p:cNvSpPr>
            <a:spLocks/>
          </p:cNvSpPr>
          <p:nvPr/>
        </p:nvSpPr>
        <p:spPr bwMode="auto">
          <a:xfrm>
            <a:off x="8731635" y="377172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8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3513086" y="3033796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22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8135504" y="3191324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28" name="Rectangle 35">
            <a:extLst>
              <a:ext uri="{FF2B5EF4-FFF2-40B4-BE49-F238E27FC236}">
                <a16:creationId xmlns:a16="http://schemas.microsoft.com/office/drawing/2014/main" id="{7D6B825C-7D55-5F06-AD5C-2524ECAC6A76}"/>
              </a:ext>
            </a:extLst>
          </p:cNvPr>
          <p:cNvSpPr>
            <a:spLocks/>
          </p:cNvSpPr>
          <p:nvPr/>
        </p:nvSpPr>
        <p:spPr bwMode="auto">
          <a:xfrm>
            <a:off x="8600480" y="1959161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 dirty="0"/>
              <a:t>27,06</a:t>
            </a:r>
          </a:p>
        </p:txBody>
      </p:sp>
      <p:sp>
        <p:nvSpPr>
          <p:cNvPr id="29" name="Rectangle 35">
            <a:extLst>
              <a:ext uri="{FF2B5EF4-FFF2-40B4-BE49-F238E27FC236}">
                <a16:creationId xmlns:a16="http://schemas.microsoft.com/office/drawing/2014/main" id="{1C919B3D-5EF6-4841-3E24-C3C111E4384C}"/>
              </a:ext>
            </a:extLst>
          </p:cNvPr>
          <p:cNvSpPr>
            <a:spLocks/>
          </p:cNvSpPr>
          <p:nvPr/>
        </p:nvSpPr>
        <p:spPr bwMode="auto">
          <a:xfrm>
            <a:off x="5650204" y="2150352"/>
            <a:ext cx="5594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g=3%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6A42110-4835-1882-C13F-6A53112E773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" descr="Clientes y aliados | Centro de Evaluación | Uniandes">
            <a:extLst>
              <a:ext uri="{FF2B5EF4-FFF2-40B4-BE49-F238E27FC236}">
                <a16:creationId xmlns:a16="http://schemas.microsoft.com/office/drawing/2014/main" id="{7427AC1B-7FA0-0318-3059-94CBC801E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5CD176D6-83E1-3EC2-FC03-A1B341E5D45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5378F34-8FC6-2BA5-C025-A1622F1202BE}"/>
                  </a:ext>
                </a:extLst>
              </p:cNvPr>
              <p:cNvSpPr txBox="1"/>
              <p:nvPr/>
            </p:nvSpPr>
            <p:spPr>
              <a:xfrm>
                <a:off x="4825620" y="5971178"/>
                <a:ext cx="25407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=$178,74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𝑀𝑀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5378F34-8FC6-2BA5-C025-A1622F120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620" y="5971178"/>
                <a:ext cx="2540760" cy="369332"/>
              </a:xfrm>
              <a:prstGeom prst="rect">
                <a:avLst/>
              </a:prstGeom>
              <a:blipFill>
                <a:blip r:embed="rId3"/>
                <a:stretch>
                  <a:fillRect l="-2500" t="-6667" r="-2000" b="-3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5BAE45C-44AB-C18F-BAF8-A1578D4EDC4A}"/>
                  </a:ext>
                </a:extLst>
              </p:cNvPr>
              <p:cNvSpPr txBox="1"/>
              <p:nvPr/>
            </p:nvSpPr>
            <p:spPr>
              <a:xfrm>
                <a:off x="4481944" y="4479848"/>
                <a:ext cx="3240374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O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sz="2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num>
                                        <m:den>
                                          <m:r>
                                            <a:rPr lang="es-CO" sz="2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5BAE45C-44AB-C18F-BAF8-A1578D4E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44" y="4479848"/>
                <a:ext cx="3240374" cy="1173847"/>
              </a:xfrm>
              <a:prstGeom prst="rect">
                <a:avLst/>
              </a:prstGeom>
              <a:blipFill>
                <a:blip r:embed="rId4"/>
                <a:stretch>
                  <a:fillRect l="-11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19EFED52-D53E-DDFB-8607-7C2579D4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30" name="Marcador de número de diapositiva 3">
            <a:extLst>
              <a:ext uri="{FF2B5EF4-FFF2-40B4-BE49-F238E27FC236}">
                <a16:creationId xmlns:a16="http://schemas.microsoft.com/office/drawing/2014/main" id="{BF19DD2B-0222-4E56-A5C4-B9C27605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25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1">
                <a:extLst>
                  <a:ext uri="{FF2B5EF4-FFF2-40B4-BE49-F238E27FC236}">
                    <a16:creationId xmlns:a16="http://schemas.microsoft.com/office/drawing/2014/main" id="{6E94C2CE-284F-1419-4964-C3E0622D20A2}"/>
                  </a:ext>
                </a:extLst>
              </p:cNvPr>
              <p:cNvSpPr txBox="1"/>
              <p:nvPr/>
            </p:nvSpPr>
            <p:spPr>
              <a:xfrm>
                <a:off x="7987996" y="5971178"/>
                <a:ext cx="25407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=$163,64 </m:t>
                      </m:r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𝑀𝑀</m:t>
                      </m:r>
                    </m:oMath>
                  </m:oMathPara>
                </a14:m>
                <a:endParaRPr lang="es-CO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CuadroTexto 1">
                <a:extLst>
                  <a:ext uri="{FF2B5EF4-FFF2-40B4-BE49-F238E27FC236}">
                    <a16:creationId xmlns:a16="http://schemas.microsoft.com/office/drawing/2014/main" id="{6E94C2CE-284F-1419-4964-C3E0622D2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996" y="5971178"/>
                <a:ext cx="2540760" cy="369332"/>
              </a:xfrm>
              <a:prstGeom prst="rect">
                <a:avLst/>
              </a:prstGeom>
              <a:blipFill>
                <a:blip r:embed="rId5"/>
                <a:stretch>
                  <a:fillRect l="-1990" t="-6667" r="-1990" b="-3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12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5" grpId="0"/>
      <p:bldP spid="28" grpId="0"/>
      <p:bldP spid="29" grpId="0"/>
      <p:bldP spid="2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1" y="2201863"/>
            <a:ext cx="11029615" cy="36707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b="1"/>
              <a:t>Ejemplo 3:</a:t>
            </a:r>
          </a:p>
          <a:p>
            <a:pPr marL="0" indent="0" algn="just">
              <a:buNone/>
            </a:pPr>
            <a:r>
              <a:rPr lang="es-ES" sz="2400"/>
              <a:t>Usted planea estudiar en la universidad de los Cerros donde el primer semestre tiene un costo de alrededor de $22 MM. La universidad viene implementando una política de austeridad por lo que usted estima que cada semestre bajara un 2% su costo respecto al valor del semestre anterior. Su costo de oportunidad es del 4% EA. Si planea estar 8 semestres ¿Cuál sería el valor actual de su carrera?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4445691-B30E-CE06-B22C-4F21F2EADC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94F8FE9-8B71-E536-06E3-657680EFF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3588CC2-D529-5A2F-ABD5-68D0A16AEED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45393B-196D-09AA-8FFB-E337C2DF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DEA10B7B-3BEC-10BE-35D3-5ACE7BB1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26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5986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/>
        </p:nvCxnSpPr>
        <p:spPr>
          <a:xfrm>
            <a:off x="2535202" y="3738961"/>
            <a:ext cx="619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9"/>
          <p:cNvCxnSpPr/>
          <p:nvPr/>
        </p:nvCxnSpPr>
        <p:spPr>
          <a:xfrm flipV="1">
            <a:off x="8716059" y="3314961"/>
            <a:ext cx="0" cy="42400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1"/>
          <p:cNvCxnSpPr/>
          <p:nvPr/>
        </p:nvCxnSpPr>
        <p:spPr>
          <a:xfrm flipV="1">
            <a:off x="7680149" y="3205098"/>
            <a:ext cx="0" cy="55227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 flipV="1">
            <a:off x="6606720" y="3073181"/>
            <a:ext cx="0" cy="66773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/>
          <p:cNvCxnSpPr/>
          <p:nvPr/>
        </p:nvCxnSpPr>
        <p:spPr>
          <a:xfrm flipV="1">
            <a:off x="5600858" y="2906421"/>
            <a:ext cx="0" cy="83449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4"/>
          <p:cNvCxnSpPr/>
          <p:nvPr/>
        </p:nvCxnSpPr>
        <p:spPr>
          <a:xfrm flipV="1">
            <a:off x="4541384" y="2546116"/>
            <a:ext cx="0" cy="11808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5"/>
          <p:cNvCxnSpPr/>
          <p:nvPr/>
        </p:nvCxnSpPr>
        <p:spPr>
          <a:xfrm flipV="1">
            <a:off x="3451078" y="2205673"/>
            <a:ext cx="0" cy="1535244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35"/>
          <p:cNvSpPr>
            <a:spLocks/>
          </p:cNvSpPr>
          <p:nvPr/>
        </p:nvSpPr>
        <p:spPr bwMode="auto">
          <a:xfrm>
            <a:off x="2471081" y="3764556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13" name="Rectangle 36"/>
          <p:cNvSpPr>
            <a:spLocks/>
          </p:cNvSpPr>
          <p:nvPr/>
        </p:nvSpPr>
        <p:spPr bwMode="auto">
          <a:xfrm>
            <a:off x="3284366" y="373972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4" name="Rectangle 37"/>
          <p:cNvSpPr>
            <a:spLocks/>
          </p:cNvSpPr>
          <p:nvPr/>
        </p:nvSpPr>
        <p:spPr bwMode="auto">
          <a:xfrm>
            <a:off x="4372854" y="373972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5" name="Rectangle 38"/>
          <p:cNvSpPr>
            <a:spLocks/>
          </p:cNvSpPr>
          <p:nvPr/>
        </p:nvSpPr>
        <p:spPr bwMode="auto">
          <a:xfrm>
            <a:off x="5432328" y="3753684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6" name="Rectangle 39"/>
          <p:cNvSpPr>
            <a:spLocks/>
          </p:cNvSpPr>
          <p:nvPr/>
        </p:nvSpPr>
        <p:spPr bwMode="auto">
          <a:xfrm>
            <a:off x="6438190" y="3770141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7" name="Rectangle 40"/>
          <p:cNvSpPr>
            <a:spLocks/>
          </p:cNvSpPr>
          <p:nvPr/>
        </p:nvSpPr>
        <p:spPr bwMode="auto">
          <a:xfrm>
            <a:off x="7511619" y="373972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41"/>
          <p:cNvSpPr>
            <a:spLocks/>
          </p:cNvSpPr>
          <p:nvPr/>
        </p:nvSpPr>
        <p:spPr bwMode="auto">
          <a:xfrm>
            <a:off x="8571093" y="3739727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8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3322837" y="1876149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22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7974962" y="3181092"/>
            <a:ext cx="129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/>
              <a:t>…</a:t>
            </a:r>
          </a:p>
        </p:txBody>
      </p:sp>
      <p:sp>
        <p:nvSpPr>
          <p:cNvPr id="28" name="Rectangle 35">
            <a:extLst>
              <a:ext uri="{FF2B5EF4-FFF2-40B4-BE49-F238E27FC236}">
                <a16:creationId xmlns:a16="http://schemas.microsoft.com/office/drawing/2014/main" id="{7D6B825C-7D55-5F06-AD5C-2524ECAC6A76}"/>
              </a:ext>
            </a:extLst>
          </p:cNvPr>
          <p:cNvSpPr>
            <a:spLocks/>
          </p:cNvSpPr>
          <p:nvPr/>
        </p:nvSpPr>
        <p:spPr bwMode="auto">
          <a:xfrm>
            <a:off x="8471957" y="2993961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 dirty="0"/>
              <a:t>19,10</a:t>
            </a:r>
          </a:p>
        </p:txBody>
      </p:sp>
      <p:sp>
        <p:nvSpPr>
          <p:cNvPr id="29" name="Rectangle 35">
            <a:extLst>
              <a:ext uri="{FF2B5EF4-FFF2-40B4-BE49-F238E27FC236}">
                <a16:creationId xmlns:a16="http://schemas.microsoft.com/office/drawing/2014/main" id="{1C919B3D-5EF6-4841-3E24-C3C111E4384C}"/>
              </a:ext>
            </a:extLst>
          </p:cNvPr>
          <p:cNvSpPr>
            <a:spLocks/>
          </p:cNvSpPr>
          <p:nvPr/>
        </p:nvSpPr>
        <p:spPr bwMode="auto">
          <a:xfrm>
            <a:off x="5447984" y="2140120"/>
            <a:ext cx="6428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g=-2%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D80C86-3CA8-F99B-D7F6-D55CBFAA256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4" name="Picture 2" descr="Clientes y aliados | Centro de Evaluación | Uniandes">
            <a:extLst>
              <a:ext uri="{FF2B5EF4-FFF2-40B4-BE49-F238E27FC236}">
                <a16:creationId xmlns:a16="http://schemas.microsoft.com/office/drawing/2014/main" id="{60344D92-45B4-D4ED-4E2D-43073EF6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4154E4A3-09C4-ED55-C165-2467EDBA4F6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8265CD5-76D6-3CE5-05F9-DEC109D8556C}"/>
                  </a:ext>
                </a:extLst>
              </p:cNvPr>
              <p:cNvSpPr txBox="1"/>
              <p:nvPr/>
            </p:nvSpPr>
            <p:spPr>
              <a:xfrm>
                <a:off x="4825620" y="5971178"/>
                <a:ext cx="25407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=$150,76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𝑀𝑀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8265CD5-76D6-3CE5-05F9-DEC109D85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620" y="5971178"/>
                <a:ext cx="2540759" cy="369332"/>
              </a:xfrm>
              <a:prstGeom prst="rect">
                <a:avLst/>
              </a:prstGeom>
              <a:blipFill>
                <a:blip r:embed="rId3"/>
                <a:stretch>
                  <a:fillRect l="-2500" t="-6667" r="-2000" b="-3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9C0CC8-53A7-C6FD-2C62-AB54FA04C503}"/>
                  </a:ext>
                </a:extLst>
              </p:cNvPr>
              <p:cNvSpPr txBox="1"/>
              <p:nvPr/>
            </p:nvSpPr>
            <p:spPr>
              <a:xfrm>
                <a:off x="4481944" y="4479848"/>
                <a:ext cx="3240374" cy="1173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CO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sz="2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num>
                                        <m:den>
                                          <m:r>
                                            <a:rPr lang="es-CO" sz="2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es-CO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sz="240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59C0CC8-53A7-C6FD-2C62-AB54FA04C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44" y="4479848"/>
                <a:ext cx="3240374" cy="1173847"/>
              </a:xfrm>
              <a:prstGeom prst="rect">
                <a:avLst/>
              </a:prstGeom>
              <a:blipFill>
                <a:blip r:embed="rId4"/>
                <a:stretch>
                  <a:fillRect l="-11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B38F7E19-2BB8-205E-4AA6-B0161BB2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Gill Sans MT (Títulos)"/>
              </a:rPr>
              <a:t>Gradientes geométricos</a:t>
            </a:r>
          </a:p>
        </p:txBody>
      </p:sp>
      <p:sp>
        <p:nvSpPr>
          <p:cNvPr id="30" name="Marcador de número de diapositiva 3">
            <a:extLst>
              <a:ext uri="{FF2B5EF4-FFF2-40B4-BE49-F238E27FC236}">
                <a16:creationId xmlns:a16="http://schemas.microsoft.com/office/drawing/2014/main" id="{3A682F3D-A4BC-C45E-E393-5C51BB65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27</a:t>
            </a:fld>
            <a:endParaRPr lang="en-US" sz="2000" b="1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1">
                <a:extLst>
                  <a:ext uri="{FF2B5EF4-FFF2-40B4-BE49-F238E27FC236}">
                    <a16:creationId xmlns:a16="http://schemas.microsoft.com/office/drawing/2014/main" id="{30F8BAC6-DFF6-8A8E-2077-C618C58A0316}"/>
                  </a:ext>
                </a:extLst>
              </p:cNvPr>
              <p:cNvSpPr txBox="1"/>
              <p:nvPr/>
            </p:nvSpPr>
            <p:spPr>
              <a:xfrm>
                <a:off x="8017541" y="5951930"/>
                <a:ext cx="25407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=$138,73 </m:t>
                      </m:r>
                      <m:r>
                        <a:rPr lang="es-E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𝑀𝑀</m:t>
                      </m:r>
                    </m:oMath>
                  </m:oMathPara>
                </a14:m>
                <a:endParaRPr lang="es-CO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CuadroTexto 1">
                <a:extLst>
                  <a:ext uri="{FF2B5EF4-FFF2-40B4-BE49-F238E27FC236}">
                    <a16:creationId xmlns:a16="http://schemas.microsoft.com/office/drawing/2014/main" id="{30F8BAC6-DFF6-8A8E-2077-C618C58A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41" y="5951930"/>
                <a:ext cx="2540760" cy="369332"/>
              </a:xfrm>
              <a:prstGeom prst="rect">
                <a:avLst/>
              </a:prstGeom>
              <a:blipFill>
                <a:blip r:embed="rId5"/>
                <a:stretch>
                  <a:fillRect l="-1990" t="-6667" r="-1493" b="-40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40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5" grpId="0"/>
      <p:bldP spid="28" grpId="0"/>
      <p:bldP spid="29" grpId="0"/>
      <p:bldP spid="2" grpId="0"/>
      <p:bldP spid="3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CFBA-7FE5-DFC9-664C-38F33492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DFCF3-7376-FED7-BCE2-C354D1B9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Gill Sans MT (Títulos)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6BEA8F-2109-A770-262A-316FC436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28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1ABF538B-270D-AF52-6573-66AAD0DAC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2F414BA8-0C2F-1CAB-7DAE-3A0D04FD072C}"/>
              </a:ext>
            </a:extLst>
          </p:cNvPr>
          <p:cNvSpPr/>
          <p:nvPr/>
        </p:nvSpPr>
        <p:spPr>
          <a:xfrm>
            <a:off x="3173020" y="2503099"/>
            <a:ext cx="8540907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Gradiente Geométrico.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accent1"/>
                </a:solidFill>
                <a:latin typeface="Gill Sans MT (Cuerpo)"/>
                <a:cs typeface="Arial"/>
              </a:rPr>
              <a:t>Relaciones de equivalencia con varios costos de oportunidad.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Ejercicios de práctica.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920281-139B-4475-A843-AECCCB5A39A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19E066CB-7F22-22B4-19ED-4D927B2B4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AFC5A8D-CF5E-EB2E-B904-4BFB12B5E4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35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641964" y="1837672"/>
            <a:ext cx="10968843" cy="9225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/>
              <a:t>Imagínese unos flujos como los qué se muestran a continuación. Pero con un costo de oportunidad diferente del periodo 1 al 3 y otro en los periodos 4 y 5</a:t>
            </a:r>
          </a:p>
        </p:txBody>
      </p:sp>
      <p:cxnSp>
        <p:nvCxnSpPr>
          <p:cNvPr id="6" name="Straight Connector 6"/>
          <p:cNvCxnSpPr/>
          <p:nvPr/>
        </p:nvCxnSpPr>
        <p:spPr>
          <a:xfrm flipV="1">
            <a:off x="3032770" y="5097543"/>
            <a:ext cx="6372951" cy="12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>
            <a:cxnSpLocks/>
          </p:cNvCxnSpPr>
          <p:nvPr/>
        </p:nvCxnSpPr>
        <p:spPr>
          <a:xfrm flipV="1">
            <a:off x="8118134" y="4793137"/>
            <a:ext cx="0" cy="295941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35"/>
          <p:cNvSpPr>
            <a:spLocks/>
          </p:cNvSpPr>
          <p:nvPr/>
        </p:nvSpPr>
        <p:spPr bwMode="auto">
          <a:xfrm>
            <a:off x="2968648" y="5104824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" name="Rectangle 36"/>
          <p:cNvSpPr>
            <a:spLocks/>
          </p:cNvSpPr>
          <p:nvPr/>
        </p:nvSpPr>
        <p:spPr bwMode="auto">
          <a:xfrm>
            <a:off x="3781933" y="507999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Rectangle 37"/>
          <p:cNvSpPr>
            <a:spLocks/>
          </p:cNvSpPr>
          <p:nvPr/>
        </p:nvSpPr>
        <p:spPr bwMode="auto">
          <a:xfrm>
            <a:off x="4870421" y="507999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1" name="Rectangle 38"/>
          <p:cNvSpPr>
            <a:spLocks/>
          </p:cNvSpPr>
          <p:nvPr/>
        </p:nvSpPr>
        <p:spPr bwMode="auto">
          <a:xfrm>
            <a:off x="5929895" y="509395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2" name="Rectangle 39"/>
          <p:cNvSpPr>
            <a:spLocks/>
          </p:cNvSpPr>
          <p:nvPr/>
        </p:nvSpPr>
        <p:spPr bwMode="auto">
          <a:xfrm>
            <a:off x="6935757" y="5110409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3" name="Rectangle 40"/>
          <p:cNvSpPr>
            <a:spLocks/>
          </p:cNvSpPr>
          <p:nvPr/>
        </p:nvSpPr>
        <p:spPr bwMode="auto">
          <a:xfrm>
            <a:off x="8009186" y="507999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5" name="Rectangle 35"/>
          <p:cNvSpPr>
            <a:spLocks/>
          </p:cNvSpPr>
          <p:nvPr/>
        </p:nvSpPr>
        <p:spPr bwMode="auto">
          <a:xfrm>
            <a:off x="8060428" y="4493151"/>
            <a:ext cx="1138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7" name="Rectangle 35"/>
          <p:cNvSpPr>
            <a:spLocks/>
          </p:cNvSpPr>
          <p:nvPr/>
        </p:nvSpPr>
        <p:spPr bwMode="auto">
          <a:xfrm>
            <a:off x="6948635" y="421021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10</a:t>
            </a:r>
          </a:p>
        </p:txBody>
      </p:sp>
      <p:sp>
        <p:nvSpPr>
          <p:cNvPr id="18" name="Rectangle 35"/>
          <p:cNvSpPr>
            <a:spLocks/>
          </p:cNvSpPr>
          <p:nvPr/>
        </p:nvSpPr>
        <p:spPr bwMode="auto">
          <a:xfrm>
            <a:off x="5967131" y="392897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4904336" y="3667846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20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3818639" y="3022938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25</a:t>
            </a:r>
          </a:p>
        </p:txBody>
      </p:sp>
      <p:cxnSp>
        <p:nvCxnSpPr>
          <p:cNvPr id="21" name="Straight Arrow Connector 9"/>
          <p:cNvCxnSpPr/>
          <p:nvPr/>
        </p:nvCxnSpPr>
        <p:spPr>
          <a:xfrm flipV="1">
            <a:off x="7062997" y="4608927"/>
            <a:ext cx="0" cy="49785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9"/>
          <p:cNvCxnSpPr/>
          <p:nvPr/>
        </p:nvCxnSpPr>
        <p:spPr>
          <a:xfrm flipV="1">
            <a:off x="5031075" y="4022845"/>
            <a:ext cx="0" cy="108669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/>
          <p:cNvCxnSpPr/>
          <p:nvPr/>
        </p:nvCxnSpPr>
        <p:spPr>
          <a:xfrm flipV="1">
            <a:off x="6095371" y="4250426"/>
            <a:ext cx="0" cy="827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9"/>
          <p:cNvCxnSpPr/>
          <p:nvPr/>
        </p:nvCxnSpPr>
        <p:spPr>
          <a:xfrm flipV="1">
            <a:off x="3946879" y="3445468"/>
            <a:ext cx="0" cy="167000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71009633-4C17-1DAF-1FB8-EDAD253E2DDE}"/>
              </a:ext>
            </a:extLst>
          </p:cNvPr>
          <p:cNvSpPr/>
          <p:nvPr/>
        </p:nvSpPr>
        <p:spPr>
          <a:xfrm rot="16200000">
            <a:off x="4879143" y="4497348"/>
            <a:ext cx="288632" cy="23714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5387356-A9DC-6482-438B-73F02B437AC1}"/>
              </a:ext>
            </a:extLst>
          </p:cNvPr>
          <p:cNvSpPr/>
          <p:nvPr/>
        </p:nvSpPr>
        <p:spPr>
          <a:xfrm rot="16200000">
            <a:off x="7549575" y="5022342"/>
            <a:ext cx="246220" cy="13471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F72702-765B-85C6-FBC4-819F2A849BDB}"/>
              </a:ext>
            </a:extLst>
          </p:cNvPr>
          <p:cNvSpPr txBox="1">
            <a:spLocks/>
          </p:cNvSpPr>
          <p:nvPr/>
        </p:nvSpPr>
        <p:spPr>
          <a:xfrm>
            <a:off x="4460303" y="5898094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10%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974454A-7C7C-2F88-A8DA-A9C97CA71849}"/>
              </a:ext>
            </a:extLst>
          </p:cNvPr>
          <p:cNvSpPr txBox="1">
            <a:spLocks/>
          </p:cNvSpPr>
          <p:nvPr/>
        </p:nvSpPr>
        <p:spPr>
          <a:xfrm>
            <a:off x="7037012" y="5867931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5%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463620F-EC1F-7D89-BE0A-CC7F43CA736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" descr="Clientes y aliados | Centro de Evaluación | Uniandes">
            <a:extLst>
              <a:ext uri="{FF2B5EF4-FFF2-40B4-BE49-F238E27FC236}">
                <a16:creationId xmlns:a16="http://schemas.microsoft.com/office/drawing/2014/main" id="{D64BF077-89AC-7AF8-55AE-D2EF90F8B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4B63CEA3-D378-37A0-149D-F9B52DA5A0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D069220C-653D-10EB-5984-D2B5DB7D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1CA2C6B-9F93-0AF0-77A7-62705868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29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5575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867B502-4F79-5DC0-BEDB-E071DFDE4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1700" y="5528297"/>
            <a:ext cx="7610476" cy="9225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/>
              <a:t>¿Como se halla el VP (t=0) de estos flujos?</a:t>
            </a:r>
          </a:p>
        </p:txBody>
      </p:sp>
      <p:cxnSp>
        <p:nvCxnSpPr>
          <p:cNvPr id="6" name="Straight Connector 6"/>
          <p:cNvCxnSpPr/>
          <p:nvPr/>
        </p:nvCxnSpPr>
        <p:spPr>
          <a:xfrm flipV="1">
            <a:off x="2800464" y="4182733"/>
            <a:ext cx="6372951" cy="12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>
            <a:cxnSpLocks/>
          </p:cNvCxnSpPr>
          <p:nvPr/>
        </p:nvCxnSpPr>
        <p:spPr>
          <a:xfrm flipV="1">
            <a:off x="7885828" y="3878327"/>
            <a:ext cx="0" cy="295941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35"/>
          <p:cNvSpPr>
            <a:spLocks/>
          </p:cNvSpPr>
          <p:nvPr/>
        </p:nvSpPr>
        <p:spPr bwMode="auto">
          <a:xfrm>
            <a:off x="2736342" y="4190014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" name="Rectangle 36"/>
          <p:cNvSpPr>
            <a:spLocks/>
          </p:cNvSpPr>
          <p:nvPr/>
        </p:nvSpPr>
        <p:spPr bwMode="auto">
          <a:xfrm>
            <a:off x="3549627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Rectangle 37"/>
          <p:cNvSpPr>
            <a:spLocks/>
          </p:cNvSpPr>
          <p:nvPr/>
        </p:nvSpPr>
        <p:spPr bwMode="auto">
          <a:xfrm>
            <a:off x="4638115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1" name="Rectangle 38"/>
          <p:cNvSpPr>
            <a:spLocks/>
          </p:cNvSpPr>
          <p:nvPr/>
        </p:nvSpPr>
        <p:spPr bwMode="auto">
          <a:xfrm>
            <a:off x="5697589" y="417914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2" name="Rectangle 39"/>
          <p:cNvSpPr>
            <a:spLocks/>
          </p:cNvSpPr>
          <p:nvPr/>
        </p:nvSpPr>
        <p:spPr bwMode="auto">
          <a:xfrm>
            <a:off x="6703451" y="4195599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3" name="Rectangle 40"/>
          <p:cNvSpPr>
            <a:spLocks/>
          </p:cNvSpPr>
          <p:nvPr/>
        </p:nvSpPr>
        <p:spPr bwMode="auto">
          <a:xfrm>
            <a:off x="7776880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5" name="Rectangle 35"/>
          <p:cNvSpPr>
            <a:spLocks/>
          </p:cNvSpPr>
          <p:nvPr/>
        </p:nvSpPr>
        <p:spPr bwMode="auto">
          <a:xfrm>
            <a:off x="7828122" y="3578341"/>
            <a:ext cx="1138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7" name="Rectangle 35"/>
          <p:cNvSpPr>
            <a:spLocks/>
          </p:cNvSpPr>
          <p:nvPr/>
        </p:nvSpPr>
        <p:spPr bwMode="auto">
          <a:xfrm>
            <a:off x="6716329" y="329540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10</a:t>
            </a:r>
          </a:p>
        </p:txBody>
      </p:sp>
      <p:sp>
        <p:nvSpPr>
          <p:cNvPr id="18" name="Rectangle 35"/>
          <p:cNvSpPr>
            <a:spLocks/>
          </p:cNvSpPr>
          <p:nvPr/>
        </p:nvSpPr>
        <p:spPr bwMode="auto">
          <a:xfrm>
            <a:off x="5734825" y="301416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4672030" y="2753036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20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3586333" y="2108128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25</a:t>
            </a:r>
          </a:p>
        </p:txBody>
      </p:sp>
      <p:cxnSp>
        <p:nvCxnSpPr>
          <p:cNvPr id="21" name="Straight Arrow Connector 9"/>
          <p:cNvCxnSpPr/>
          <p:nvPr/>
        </p:nvCxnSpPr>
        <p:spPr>
          <a:xfrm flipV="1">
            <a:off x="6830691" y="3694117"/>
            <a:ext cx="0" cy="49785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9"/>
          <p:cNvCxnSpPr/>
          <p:nvPr/>
        </p:nvCxnSpPr>
        <p:spPr>
          <a:xfrm flipV="1">
            <a:off x="4798769" y="3108035"/>
            <a:ext cx="0" cy="108669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/>
          <p:cNvCxnSpPr/>
          <p:nvPr/>
        </p:nvCxnSpPr>
        <p:spPr>
          <a:xfrm flipV="1">
            <a:off x="5863065" y="3335616"/>
            <a:ext cx="0" cy="827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9"/>
          <p:cNvCxnSpPr/>
          <p:nvPr/>
        </p:nvCxnSpPr>
        <p:spPr>
          <a:xfrm flipV="1">
            <a:off x="3714573" y="2530658"/>
            <a:ext cx="0" cy="167000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71009633-4C17-1DAF-1FB8-EDAD253E2DDE}"/>
              </a:ext>
            </a:extLst>
          </p:cNvPr>
          <p:cNvSpPr/>
          <p:nvPr/>
        </p:nvSpPr>
        <p:spPr>
          <a:xfrm rot="16200000">
            <a:off x="4646837" y="3582538"/>
            <a:ext cx="288632" cy="23714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5387356-A9DC-6482-438B-73F02B437AC1}"/>
              </a:ext>
            </a:extLst>
          </p:cNvPr>
          <p:cNvSpPr/>
          <p:nvPr/>
        </p:nvSpPr>
        <p:spPr>
          <a:xfrm rot="16200000">
            <a:off x="7317269" y="4107532"/>
            <a:ext cx="246220" cy="13471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F72702-765B-85C6-FBC4-819F2A849BDB}"/>
              </a:ext>
            </a:extLst>
          </p:cNvPr>
          <p:cNvSpPr txBox="1">
            <a:spLocks/>
          </p:cNvSpPr>
          <p:nvPr/>
        </p:nvSpPr>
        <p:spPr>
          <a:xfrm>
            <a:off x="4227997" y="4983284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10%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974454A-7C7C-2F88-A8DA-A9C97CA71849}"/>
              </a:ext>
            </a:extLst>
          </p:cNvPr>
          <p:cNvSpPr txBox="1">
            <a:spLocks/>
          </p:cNvSpPr>
          <p:nvPr/>
        </p:nvSpPr>
        <p:spPr>
          <a:xfrm>
            <a:off x="6804706" y="4953121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5%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B958E5E-0B7B-1800-8F99-A4173733AB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5" name="Picture 2" descr="Clientes y aliados | Centro de Evaluación | Uniandes">
            <a:extLst>
              <a:ext uri="{FF2B5EF4-FFF2-40B4-BE49-F238E27FC236}">
                <a16:creationId xmlns:a16="http://schemas.microsoft.com/office/drawing/2014/main" id="{A152346A-75FB-E69B-353A-F292DC2F9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7E0587F7-10E4-2248-B6D0-25A9E477776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9AB66699-C348-A27F-8D98-2615CB83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77E161D6-F769-212D-6B49-3C7A7029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30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3900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867B502-4F79-5DC0-BEDB-E071DFDE4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5528297"/>
            <a:ext cx="10908070" cy="9225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dirty="0"/>
              <a:t>Se llevan los flujos cobijados por la última tasa al periodo anterior, desde el cual comienza dicha tasa. En este caso al periodo 3.</a:t>
            </a:r>
          </a:p>
        </p:txBody>
      </p:sp>
      <p:cxnSp>
        <p:nvCxnSpPr>
          <p:cNvPr id="6" name="Straight Connector 6"/>
          <p:cNvCxnSpPr/>
          <p:nvPr/>
        </p:nvCxnSpPr>
        <p:spPr>
          <a:xfrm flipV="1">
            <a:off x="2800464" y="4182733"/>
            <a:ext cx="6372951" cy="12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9"/>
          <p:cNvCxnSpPr>
            <a:cxnSpLocks/>
          </p:cNvCxnSpPr>
          <p:nvPr/>
        </p:nvCxnSpPr>
        <p:spPr>
          <a:xfrm flipV="1">
            <a:off x="7885828" y="3878327"/>
            <a:ext cx="0" cy="295941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35"/>
          <p:cNvSpPr>
            <a:spLocks/>
          </p:cNvSpPr>
          <p:nvPr/>
        </p:nvSpPr>
        <p:spPr bwMode="auto">
          <a:xfrm>
            <a:off x="2736342" y="4190014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" name="Rectangle 36"/>
          <p:cNvSpPr>
            <a:spLocks/>
          </p:cNvSpPr>
          <p:nvPr/>
        </p:nvSpPr>
        <p:spPr bwMode="auto">
          <a:xfrm>
            <a:off x="3549627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Rectangle 37"/>
          <p:cNvSpPr>
            <a:spLocks/>
          </p:cNvSpPr>
          <p:nvPr/>
        </p:nvSpPr>
        <p:spPr bwMode="auto">
          <a:xfrm>
            <a:off x="4638115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1" name="Rectangle 38"/>
          <p:cNvSpPr>
            <a:spLocks/>
          </p:cNvSpPr>
          <p:nvPr/>
        </p:nvSpPr>
        <p:spPr bwMode="auto">
          <a:xfrm>
            <a:off x="5697589" y="417914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2" name="Rectangle 39"/>
          <p:cNvSpPr>
            <a:spLocks/>
          </p:cNvSpPr>
          <p:nvPr/>
        </p:nvSpPr>
        <p:spPr bwMode="auto">
          <a:xfrm>
            <a:off x="6703451" y="4195599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3" name="Rectangle 40"/>
          <p:cNvSpPr>
            <a:spLocks/>
          </p:cNvSpPr>
          <p:nvPr/>
        </p:nvSpPr>
        <p:spPr bwMode="auto">
          <a:xfrm>
            <a:off x="7776880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5" name="Rectangle 35"/>
          <p:cNvSpPr>
            <a:spLocks/>
          </p:cNvSpPr>
          <p:nvPr/>
        </p:nvSpPr>
        <p:spPr bwMode="auto">
          <a:xfrm>
            <a:off x="7828122" y="3578341"/>
            <a:ext cx="1138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7" name="Rectangle 35"/>
          <p:cNvSpPr>
            <a:spLocks/>
          </p:cNvSpPr>
          <p:nvPr/>
        </p:nvSpPr>
        <p:spPr bwMode="auto">
          <a:xfrm>
            <a:off x="6716329" y="329540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10</a:t>
            </a:r>
          </a:p>
        </p:txBody>
      </p:sp>
      <p:sp>
        <p:nvSpPr>
          <p:cNvPr id="18" name="Rectangle 35"/>
          <p:cNvSpPr>
            <a:spLocks/>
          </p:cNvSpPr>
          <p:nvPr/>
        </p:nvSpPr>
        <p:spPr bwMode="auto">
          <a:xfrm>
            <a:off x="5734825" y="3014162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4672030" y="2753036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20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3586333" y="2108128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25</a:t>
            </a:r>
          </a:p>
        </p:txBody>
      </p:sp>
      <p:cxnSp>
        <p:nvCxnSpPr>
          <p:cNvPr id="21" name="Straight Arrow Connector 9"/>
          <p:cNvCxnSpPr/>
          <p:nvPr/>
        </p:nvCxnSpPr>
        <p:spPr>
          <a:xfrm flipV="1">
            <a:off x="6830691" y="3694117"/>
            <a:ext cx="0" cy="49785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9"/>
          <p:cNvCxnSpPr/>
          <p:nvPr/>
        </p:nvCxnSpPr>
        <p:spPr>
          <a:xfrm flipV="1">
            <a:off x="4798769" y="3108035"/>
            <a:ext cx="0" cy="108669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/>
          <p:cNvCxnSpPr/>
          <p:nvPr/>
        </p:nvCxnSpPr>
        <p:spPr>
          <a:xfrm flipV="1">
            <a:off x="5863065" y="3335616"/>
            <a:ext cx="0" cy="827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9"/>
          <p:cNvCxnSpPr/>
          <p:nvPr/>
        </p:nvCxnSpPr>
        <p:spPr>
          <a:xfrm flipV="1">
            <a:off x="3714573" y="2530658"/>
            <a:ext cx="0" cy="167000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71009633-4C17-1DAF-1FB8-EDAD253E2DDE}"/>
              </a:ext>
            </a:extLst>
          </p:cNvPr>
          <p:cNvSpPr/>
          <p:nvPr/>
        </p:nvSpPr>
        <p:spPr>
          <a:xfrm rot="16200000">
            <a:off x="4646837" y="3582538"/>
            <a:ext cx="288632" cy="23714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5387356-A9DC-6482-438B-73F02B437AC1}"/>
              </a:ext>
            </a:extLst>
          </p:cNvPr>
          <p:cNvSpPr/>
          <p:nvPr/>
        </p:nvSpPr>
        <p:spPr>
          <a:xfrm rot="16200000">
            <a:off x="7317269" y="4107532"/>
            <a:ext cx="246220" cy="13471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F72702-765B-85C6-FBC4-819F2A849BDB}"/>
              </a:ext>
            </a:extLst>
          </p:cNvPr>
          <p:cNvSpPr txBox="1">
            <a:spLocks/>
          </p:cNvSpPr>
          <p:nvPr/>
        </p:nvSpPr>
        <p:spPr>
          <a:xfrm>
            <a:off x="4227997" y="4983284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10%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974454A-7C7C-2F88-A8DA-A9C97CA71849}"/>
              </a:ext>
            </a:extLst>
          </p:cNvPr>
          <p:cNvSpPr txBox="1">
            <a:spLocks/>
          </p:cNvSpPr>
          <p:nvPr/>
        </p:nvSpPr>
        <p:spPr>
          <a:xfrm>
            <a:off x="6804706" y="4953121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5%</a:t>
            </a:r>
          </a:p>
        </p:txBody>
      </p:sp>
      <p:cxnSp>
        <p:nvCxnSpPr>
          <p:cNvPr id="14" name="Conector: curvado 13">
            <a:extLst>
              <a:ext uri="{FF2B5EF4-FFF2-40B4-BE49-F238E27FC236}">
                <a16:creationId xmlns:a16="http://schemas.microsoft.com/office/drawing/2014/main" id="{017A6E2E-B9CB-2E77-FA0B-94AEB5B95D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6213198" y="2664030"/>
            <a:ext cx="281240" cy="981504"/>
          </a:xfrm>
          <a:prstGeom prst="curvedConnector3">
            <a:avLst>
              <a:gd name="adj1" fmla="val 1812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curvado 24">
            <a:extLst>
              <a:ext uri="{FF2B5EF4-FFF2-40B4-BE49-F238E27FC236}">
                <a16:creationId xmlns:a16="http://schemas.microsoft.com/office/drawing/2014/main" id="{29429857-2FFA-3DF4-13E5-A4F72FA75C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91959" y="2285270"/>
            <a:ext cx="564179" cy="2021963"/>
          </a:xfrm>
          <a:prstGeom prst="curvedConnector3">
            <a:avLst>
              <a:gd name="adj1" fmla="val 1405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A9BBE12-EE3D-CD63-F1A0-FA5594C6639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Picture 2" descr="Clientes y aliados | Centro de Evaluación | Uniandes">
            <a:extLst>
              <a:ext uri="{FF2B5EF4-FFF2-40B4-BE49-F238E27FC236}">
                <a16:creationId xmlns:a16="http://schemas.microsoft.com/office/drawing/2014/main" id="{EADEFFF4-0154-579F-F0E9-D2F21B065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2CC18C6F-4681-BFBB-C097-DEC2D890128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69238F9-A4ED-7A55-0B06-3F683425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 dirty="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31E5A924-DE9B-BBD5-8035-02A7C4E1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31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35240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/>
        </p:nvCxnSpPr>
        <p:spPr>
          <a:xfrm flipV="1">
            <a:off x="2800464" y="4182733"/>
            <a:ext cx="6372951" cy="12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35"/>
          <p:cNvSpPr>
            <a:spLocks/>
          </p:cNvSpPr>
          <p:nvPr/>
        </p:nvSpPr>
        <p:spPr bwMode="auto">
          <a:xfrm>
            <a:off x="2736342" y="4190014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" name="Rectangle 36"/>
          <p:cNvSpPr>
            <a:spLocks/>
          </p:cNvSpPr>
          <p:nvPr/>
        </p:nvSpPr>
        <p:spPr bwMode="auto">
          <a:xfrm>
            <a:off x="3549627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Rectangle 37"/>
          <p:cNvSpPr>
            <a:spLocks/>
          </p:cNvSpPr>
          <p:nvPr/>
        </p:nvSpPr>
        <p:spPr bwMode="auto">
          <a:xfrm>
            <a:off x="4638115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1" name="Rectangle 38"/>
          <p:cNvSpPr>
            <a:spLocks/>
          </p:cNvSpPr>
          <p:nvPr/>
        </p:nvSpPr>
        <p:spPr bwMode="auto">
          <a:xfrm>
            <a:off x="5697589" y="417914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2" name="Rectangle 39"/>
          <p:cNvSpPr>
            <a:spLocks/>
          </p:cNvSpPr>
          <p:nvPr/>
        </p:nvSpPr>
        <p:spPr bwMode="auto">
          <a:xfrm>
            <a:off x="6703451" y="4195599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3" name="Rectangle 40"/>
          <p:cNvSpPr>
            <a:spLocks/>
          </p:cNvSpPr>
          <p:nvPr/>
        </p:nvSpPr>
        <p:spPr bwMode="auto">
          <a:xfrm>
            <a:off x="7776880" y="416518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35"/>
          <p:cNvSpPr>
            <a:spLocks/>
          </p:cNvSpPr>
          <p:nvPr/>
        </p:nvSpPr>
        <p:spPr bwMode="auto">
          <a:xfrm>
            <a:off x="5931957" y="3327867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4672030" y="2753036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20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3586333" y="2108128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25</a:t>
            </a:r>
          </a:p>
        </p:txBody>
      </p:sp>
      <p:cxnSp>
        <p:nvCxnSpPr>
          <p:cNvPr id="27" name="Straight Arrow Connector 9"/>
          <p:cNvCxnSpPr/>
          <p:nvPr/>
        </p:nvCxnSpPr>
        <p:spPr>
          <a:xfrm flipV="1">
            <a:off x="4798769" y="3108035"/>
            <a:ext cx="0" cy="108669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/>
          <p:cNvCxnSpPr/>
          <p:nvPr/>
        </p:nvCxnSpPr>
        <p:spPr>
          <a:xfrm flipV="1">
            <a:off x="5863065" y="3335616"/>
            <a:ext cx="0" cy="827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9"/>
          <p:cNvCxnSpPr/>
          <p:nvPr/>
        </p:nvCxnSpPr>
        <p:spPr>
          <a:xfrm flipV="1">
            <a:off x="3714573" y="2530658"/>
            <a:ext cx="0" cy="167000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71009633-4C17-1DAF-1FB8-EDAD253E2DDE}"/>
              </a:ext>
            </a:extLst>
          </p:cNvPr>
          <p:cNvSpPr/>
          <p:nvPr/>
        </p:nvSpPr>
        <p:spPr>
          <a:xfrm rot="16200000">
            <a:off x="4646837" y="3582538"/>
            <a:ext cx="288632" cy="23714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5387356-A9DC-6482-438B-73F02B437AC1}"/>
              </a:ext>
            </a:extLst>
          </p:cNvPr>
          <p:cNvSpPr/>
          <p:nvPr/>
        </p:nvSpPr>
        <p:spPr>
          <a:xfrm rot="16200000">
            <a:off x="7317269" y="4107532"/>
            <a:ext cx="246220" cy="13471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F72702-765B-85C6-FBC4-819F2A849BDB}"/>
              </a:ext>
            </a:extLst>
          </p:cNvPr>
          <p:cNvSpPr txBox="1">
            <a:spLocks/>
          </p:cNvSpPr>
          <p:nvPr/>
        </p:nvSpPr>
        <p:spPr>
          <a:xfrm>
            <a:off x="4227997" y="4983284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10%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974454A-7C7C-2F88-A8DA-A9C97CA71849}"/>
              </a:ext>
            </a:extLst>
          </p:cNvPr>
          <p:cNvSpPr txBox="1">
            <a:spLocks/>
          </p:cNvSpPr>
          <p:nvPr/>
        </p:nvSpPr>
        <p:spPr>
          <a:xfrm>
            <a:off x="6804706" y="4953121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5%</a:t>
            </a:r>
          </a:p>
        </p:txBody>
      </p:sp>
      <p:cxnSp>
        <p:nvCxnSpPr>
          <p:cNvPr id="5" name="Straight Arrow Connector 9">
            <a:extLst>
              <a:ext uri="{FF2B5EF4-FFF2-40B4-BE49-F238E27FC236}">
                <a16:creationId xmlns:a16="http://schemas.microsoft.com/office/drawing/2014/main" id="{D6FF764B-10AA-9BBA-C577-5CFECDBD29BC}"/>
              </a:ext>
            </a:extLst>
          </p:cNvPr>
          <p:cNvCxnSpPr>
            <a:cxnSpLocks/>
          </p:cNvCxnSpPr>
          <p:nvPr/>
        </p:nvCxnSpPr>
        <p:spPr>
          <a:xfrm flipV="1">
            <a:off x="5863065" y="2704290"/>
            <a:ext cx="0" cy="654355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35">
            <a:extLst>
              <a:ext uri="{FF2B5EF4-FFF2-40B4-BE49-F238E27FC236}">
                <a16:creationId xmlns:a16="http://schemas.microsoft.com/office/drawing/2014/main" id="{957F0500-2EEA-1A16-53CB-D0AD79865DF7}"/>
              </a:ext>
            </a:extLst>
          </p:cNvPr>
          <p:cNvSpPr>
            <a:spLocks/>
          </p:cNvSpPr>
          <p:nvPr/>
        </p:nvSpPr>
        <p:spPr bwMode="auto">
          <a:xfrm>
            <a:off x="5894756" y="2653878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14,06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9CA165BD-7C4C-EA01-FAC4-218CE098C121}"/>
                  </a:ext>
                </a:extLst>
              </p:cNvPr>
              <p:cNvSpPr txBox="1"/>
              <p:nvPr/>
            </p:nvSpPr>
            <p:spPr>
              <a:xfrm>
                <a:off x="3212948" y="5670967"/>
                <a:ext cx="5300234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i="1">
                          <a:latin typeface="Cambria Math" panose="02040503050406030204" pitchFamily="18" charset="0"/>
                        </a:rPr>
                        <m:t>𝐷𝑜𝑛𝑑𝑒</m:t>
                      </m:r>
                      <m:r>
                        <a:rPr lang="es-CO" sz="2400" i="1">
                          <a:latin typeface="Cambria Math" panose="02040503050406030204" pitchFamily="18" charset="0"/>
                        </a:rPr>
                        <m:t> 14,06=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1+5%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s-CO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400" i="1">
                                      <a:latin typeface="Cambria Math" panose="02040503050406030204" pitchFamily="18" charset="0"/>
                                    </a:rPr>
                                    <m:t>1+5%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240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9CA165BD-7C4C-EA01-FAC4-218CE098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948" y="5670967"/>
                <a:ext cx="5300234" cy="753604"/>
              </a:xfrm>
              <a:prstGeom prst="rect">
                <a:avLst/>
              </a:prstGeom>
              <a:blipFill>
                <a:blip r:embed="rId3"/>
                <a:stretch>
                  <a:fillRect l="-716" t="-3333" b="-8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3EDD8FB6-1623-6718-423D-290D854A59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Picture 2" descr="Clientes y aliados | Centro de Evaluación | Uniandes">
            <a:extLst>
              <a:ext uri="{FF2B5EF4-FFF2-40B4-BE49-F238E27FC236}">
                <a16:creationId xmlns:a16="http://schemas.microsoft.com/office/drawing/2014/main" id="{11CE1390-6569-5744-2B23-50D1D2C9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1FF1244A-192B-ECD3-4948-C9E83757199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5F60B4CF-81C7-2116-9F6A-CDA8901D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 dirty="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581AB93-0DA4-60FF-5C17-A55512EF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32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8233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F73C8FE-C3B8-6BC1-318C-054ED5319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010268"/>
            <a:ext cx="11029615" cy="7234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400"/>
              <a:t>Posteriormente obtener el valor presente de los flujos con normalidad usando la primera tasa. En este caso 10%</a:t>
            </a:r>
          </a:p>
        </p:txBody>
      </p:sp>
      <p:cxnSp>
        <p:nvCxnSpPr>
          <p:cNvPr id="6" name="Straight Connector 6"/>
          <p:cNvCxnSpPr/>
          <p:nvPr/>
        </p:nvCxnSpPr>
        <p:spPr>
          <a:xfrm flipV="1">
            <a:off x="3047638" y="3826896"/>
            <a:ext cx="6372951" cy="120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35"/>
          <p:cNvSpPr>
            <a:spLocks/>
          </p:cNvSpPr>
          <p:nvPr/>
        </p:nvSpPr>
        <p:spPr bwMode="auto">
          <a:xfrm>
            <a:off x="2983516" y="3834177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0</a:t>
            </a:r>
          </a:p>
        </p:txBody>
      </p:sp>
      <p:sp>
        <p:nvSpPr>
          <p:cNvPr id="9" name="Rectangle 36"/>
          <p:cNvSpPr>
            <a:spLocks/>
          </p:cNvSpPr>
          <p:nvPr/>
        </p:nvSpPr>
        <p:spPr bwMode="auto">
          <a:xfrm>
            <a:off x="3796801" y="380934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1</a:t>
            </a:r>
          </a:p>
        </p:txBody>
      </p:sp>
      <p:sp>
        <p:nvSpPr>
          <p:cNvPr id="10" name="Rectangle 37"/>
          <p:cNvSpPr>
            <a:spLocks/>
          </p:cNvSpPr>
          <p:nvPr/>
        </p:nvSpPr>
        <p:spPr bwMode="auto">
          <a:xfrm>
            <a:off x="4885289" y="380934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2</a:t>
            </a:r>
          </a:p>
        </p:txBody>
      </p:sp>
      <p:sp>
        <p:nvSpPr>
          <p:cNvPr id="11" name="Rectangle 38"/>
          <p:cNvSpPr>
            <a:spLocks/>
          </p:cNvSpPr>
          <p:nvPr/>
        </p:nvSpPr>
        <p:spPr bwMode="auto">
          <a:xfrm>
            <a:off x="5944763" y="3823305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3</a:t>
            </a:r>
          </a:p>
        </p:txBody>
      </p:sp>
      <p:sp>
        <p:nvSpPr>
          <p:cNvPr id="12" name="Rectangle 39"/>
          <p:cNvSpPr>
            <a:spLocks/>
          </p:cNvSpPr>
          <p:nvPr/>
        </p:nvSpPr>
        <p:spPr bwMode="auto">
          <a:xfrm>
            <a:off x="6950625" y="3839762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4</a:t>
            </a:r>
          </a:p>
        </p:txBody>
      </p:sp>
      <p:sp>
        <p:nvSpPr>
          <p:cNvPr id="13" name="Rectangle 40"/>
          <p:cNvSpPr>
            <a:spLocks/>
          </p:cNvSpPr>
          <p:nvPr/>
        </p:nvSpPr>
        <p:spPr bwMode="auto">
          <a:xfrm>
            <a:off x="8024054" y="3809348"/>
            <a:ext cx="3370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/>
              <a:t>5</a:t>
            </a:r>
          </a:p>
        </p:txBody>
      </p:sp>
      <p:sp>
        <p:nvSpPr>
          <p:cNvPr id="18" name="Rectangle 35"/>
          <p:cNvSpPr>
            <a:spLocks/>
          </p:cNvSpPr>
          <p:nvPr/>
        </p:nvSpPr>
        <p:spPr bwMode="auto">
          <a:xfrm>
            <a:off x="6179131" y="2972030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15</a:t>
            </a:r>
          </a:p>
        </p:txBody>
      </p:sp>
      <p:sp>
        <p:nvSpPr>
          <p:cNvPr id="19" name="Rectangle 35"/>
          <p:cNvSpPr>
            <a:spLocks/>
          </p:cNvSpPr>
          <p:nvPr/>
        </p:nvSpPr>
        <p:spPr bwMode="auto">
          <a:xfrm>
            <a:off x="4919204" y="2397199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20</a:t>
            </a:r>
          </a:p>
        </p:txBody>
      </p:sp>
      <p:sp>
        <p:nvSpPr>
          <p:cNvPr id="20" name="Rectangle 35"/>
          <p:cNvSpPr>
            <a:spLocks/>
          </p:cNvSpPr>
          <p:nvPr/>
        </p:nvSpPr>
        <p:spPr bwMode="auto">
          <a:xfrm>
            <a:off x="3833507" y="1861151"/>
            <a:ext cx="25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25</a:t>
            </a:r>
          </a:p>
        </p:txBody>
      </p:sp>
      <p:cxnSp>
        <p:nvCxnSpPr>
          <p:cNvPr id="27" name="Straight Arrow Connector 9"/>
          <p:cNvCxnSpPr/>
          <p:nvPr/>
        </p:nvCxnSpPr>
        <p:spPr>
          <a:xfrm flipV="1">
            <a:off x="5045943" y="2752198"/>
            <a:ext cx="0" cy="1086699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9"/>
          <p:cNvCxnSpPr/>
          <p:nvPr/>
        </p:nvCxnSpPr>
        <p:spPr>
          <a:xfrm flipV="1">
            <a:off x="6110239" y="2979779"/>
            <a:ext cx="0" cy="827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9"/>
          <p:cNvCxnSpPr/>
          <p:nvPr/>
        </p:nvCxnSpPr>
        <p:spPr>
          <a:xfrm flipV="1">
            <a:off x="3961747" y="2174821"/>
            <a:ext cx="0" cy="167000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brir llave 2">
            <a:extLst>
              <a:ext uri="{FF2B5EF4-FFF2-40B4-BE49-F238E27FC236}">
                <a16:creationId xmlns:a16="http://schemas.microsoft.com/office/drawing/2014/main" id="{71009633-4C17-1DAF-1FB8-EDAD253E2DDE}"/>
              </a:ext>
            </a:extLst>
          </p:cNvPr>
          <p:cNvSpPr/>
          <p:nvPr/>
        </p:nvSpPr>
        <p:spPr>
          <a:xfrm rot="16200000">
            <a:off x="4894011" y="3139613"/>
            <a:ext cx="288632" cy="23714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5387356-A9DC-6482-438B-73F02B437AC1}"/>
              </a:ext>
            </a:extLst>
          </p:cNvPr>
          <p:cNvSpPr/>
          <p:nvPr/>
        </p:nvSpPr>
        <p:spPr>
          <a:xfrm rot="16200000">
            <a:off x="7564443" y="3664607"/>
            <a:ext cx="246220" cy="13471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F72702-765B-85C6-FBC4-819F2A849BDB}"/>
              </a:ext>
            </a:extLst>
          </p:cNvPr>
          <p:cNvSpPr txBox="1">
            <a:spLocks/>
          </p:cNvSpPr>
          <p:nvPr/>
        </p:nvSpPr>
        <p:spPr>
          <a:xfrm>
            <a:off x="4475171" y="4540359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10%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974454A-7C7C-2F88-A8DA-A9C97CA71849}"/>
              </a:ext>
            </a:extLst>
          </p:cNvPr>
          <p:cNvSpPr txBox="1">
            <a:spLocks/>
          </p:cNvSpPr>
          <p:nvPr/>
        </p:nvSpPr>
        <p:spPr>
          <a:xfrm>
            <a:off x="7051880" y="4510196"/>
            <a:ext cx="2162244" cy="365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/>
              <a:t>CO= 5%</a:t>
            </a:r>
          </a:p>
        </p:txBody>
      </p:sp>
      <p:cxnSp>
        <p:nvCxnSpPr>
          <p:cNvPr id="5" name="Straight Arrow Connector 9">
            <a:extLst>
              <a:ext uri="{FF2B5EF4-FFF2-40B4-BE49-F238E27FC236}">
                <a16:creationId xmlns:a16="http://schemas.microsoft.com/office/drawing/2014/main" id="{D6FF764B-10AA-9BBA-C577-5CFECDBD29BC}"/>
              </a:ext>
            </a:extLst>
          </p:cNvPr>
          <p:cNvCxnSpPr>
            <a:cxnSpLocks/>
          </p:cNvCxnSpPr>
          <p:nvPr/>
        </p:nvCxnSpPr>
        <p:spPr>
          <a:xfrm flipV="1">
            <a:off x="6110239" y="2348453"/>
            <a:ext cx="0" cy="654355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35">
            <a:extLst>
              <a:ext uri="{FF2B5EF4-FFF2-40B4-BE49-F238E27FC236}">
                <a16:creationId xmlns:a16="http://schemas.microsoft.com/office/drawing/2014/main" id="{957F0500-2EEA-1A16-53CB-D0AD79865DF7}"/>
              </a:ext>
            </a:extLst>
          </p:cNvPr>
          <p:cNvSpPr>
            <a:spLocks/>
          </p:cNvSpPr>
          <p:nvPr/>
        </p:nvSpPr>
        <p:spPr bwMode="auto">
          <a:xfrm>
            <a:off x="6141930" y="2298041"/>
            <a:ext cx="5690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000"/>
              <a:t>14,06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187CCA-E991-E578-3815-9DD9807E21D8}"/>
                  </a:ext>
                </a:extLst>
              </p:cNvPr>
              <p:cNvSpPr txBox="1"/>
              <p:nvPr/>
            </p:nvSpPr>
            <p:spPr>
              <a:xfrm>
                <a:off x="3329926" y="5923360"/>
                <a:ext cx="6179833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 smtClean="0">
                          <a:latin typeface="Cambria Math" panose="02040503050406030204" pitchFamily="18" charset="0"/>
                        </a:rPr>
                        <m:t>𝑉𝑃</m:t>
                      </m:r>
                      <m:r>
                        <a:rPr lang="es-CO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1+10%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s-CO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1+10%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29,06</m:t>
                          </m:r>
                        </m:num>
                        <m:den>
                          <m:sSup>
                            <m:sSupPr>
                              <m:ctrlPr>
                                <a:rPr lang="es-CO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2000" i="1">
                                      <a:latin typeface="Cambria Math" panose="02040503050406030204" pitchFamily="18" charset="0"/>
                                    </a:rPr>
                                    <m:t>1+10%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s-CO" sz="2000" i="1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2000" i="1">
                          <a:latin typeface="Cambria Math" panose="02040503050406030204" pitchFamily="18" charset="0"/>
                        </a:rPr>
                        <m:t>,0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CO" sz="200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187CCA-E991-E578-3815-9DD9807E2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926" y="5923360"/>
                <a:ext cx="6179833" cy="627992"/>
              </a:xfrm>
              <a:prstGeom prst="rect">
                <a:avLst/>
              </a:prstGeom>
              <a:blipFill>
                <a:blip r:embed="rId3"/>
                <a:stretch>
                  <a:fillRect l="-411" t="-2000" r="-411" b="-1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2F1B55EF-4692-1EAE-E21D-C9442E7573E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DA947BA4-62BA-D6E9-FD8D-C52C6CDCD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AE7688BE-D674-C166-A730-2F4BB0BB6E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0F639CBB-77C2-4037-B7D1-35199182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CDC697EB-26B5-4FF0-ADF5-8AEEC45D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33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13374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AF73C8FE-C3B8-6BC1-318C-054ED5319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75750"/>
            <a:ext cx="10968843" cy="22612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/>
              <a:t>Al igual que como vimos con las relaciones de VP y VF si hay </a:t>
            </a:r>
            <a:r>
              <a:rPr lang="es-ES" sz="2400"/>
              <a:t>más</a:t>
            </a:r>
            <a:r>
              <a:rPr lang="es-ES" sz="2400" dirty="0"/>
              <a:t> de un costo de oportunidad en una serie de flujos ya sean uniformes o gradientes aritméticos/geométricos nos tocaría dividir las expresiones matemáticas para hallar el VP o VF de dichas series de flujos.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1AFB4A-C230-59A4-56B8-7CCE5338A75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C85EFE01-2E93-45CC-6055-0047B55C9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E85F4CD-668C-D852-5FA8-007BECE9A79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DEA933B-08BD-BDFD-8315-DA033D73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Autofit/>
          </a:bodyPr>
          <a:lstStyle/>
          <a:p>
            <a:r>
              <a:rPr lang="es-ES" sz="3200" dirty="0">
                <a:latin typeface="Gill Sans MT (Títulos)"/>
              </a:rPr>
              <a:t>Relaciones de equivalencia con varios costos de oportunidad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6000F41-3C83-FE9E-2CD0-212C4645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+mj-lt"/>
              </a:rPr>
              <a:pPr/>
              <a:t>34</a:t>
            </a:fld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0266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5CD8-76DB-CFA0-637E-66272CF7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8E2F0-E005-930B-4E25-4A33C3D6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Gill Sans MT (Títulos)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F587E7-2A9B-E814-1F16-A5F10B2B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35</a:t>
            </a:fld>
            <a:endParaRPr lang="en-US" sz="2000" b="1">
              <a:latin typeface="Century Gothic" panose="020B0502020202020204" pitchFamily="34" charset="0"/>
            </a:endParaRP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374B4B6-D97E-7A6F-A82A-6E4D23627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448088" y="29036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4A813F3E-B25D-BFE4-0B3E-A11C300818AE}"/>
              </a:ext>
            </a:extLst>
          </p:cNvPr>
          <p:cNvSpPr/>
          <p:nvPr/>
        </p:nvSpPr>
        <p:spPr>
          <a:xfrm>
            <a:off x="3173020" y="2503099"/>
            <a:ext cx="8540907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Gradiente Geométrico.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bg2">
                    <a:lumMod val="90000"/>
                  </a:schemeClr>
                </a:solidFill>
                <a:latin typeface="Gill Sans MT (Cuerpo)"/>
                <a:cs typeface="Arial"/>
              </a:rPr>
              <a:t>Relaciones de equivalencia con varios costos de oportunidad.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2400" dirty="0">
                <a:solidFill>
                  <a:schemeClr val="accent1"/>
                </a:solidFill>
                <a:latin typeface="Gill Sans MT (Cuerpo)"/>
                <a:cs typeface="Arial"/>
              </a:rPr>
              <a:t>Ejercicios de práctica.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accent1"/>
              </a:solidFill>
              <a:latin typeface="Gill Sans MT (Cuerpo)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sz="2400" dirty="0">
              <a:solidFill>
                <a:schemeClr val="bg2">
                  <a:lumMod val="90000"/>
                </a:schemeClr>
              </a:solidFill>
              <a:latin typeface="Gill Sans MT (Cuerpo)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5337A3-9309-1CEE-1DD7-CF35D5FB52F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2598DC2-318E-9F8C-D5A9-D772D6E88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13DFB88-F5A4-598A-89B1-5F2427C679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6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Gill Sans MT (Títulos)"/>
              </a:rPr>
              <a:t>COMBINACIONES DE Relaciones de Equivalencia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48809" y="2460396"/>
            <a:ext cx="6819068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tx1"/>
                </a:solidFill>
                <a:latin typeface="Century Gothic" panose="020B0502020202020204" pitchFamily="34" charset="0"/>
              </a:rPr>
              <a:t>Las fórmulas presentadas hasta aquí pueden utilizarse en combinación. </a:t>
            </a:r>
          </a:p>
          <a:p>
            <a:pPr marL="0" indent="0" algn="ctr">
              <a:buNone/>
            </a:pPr>
            <a:endParaRPr lang="es-ES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chemeClr val="tx1"/>
                </a:solidFill>
                <a:latin typeface="Century Gothic" panose="020B0502020202020204" pitchFamily="34" charset="0"/>
              </a:rPr>
              <a:t>En otras palabras, </a:t>
            </a:r>
            <a:r>
              <a:rPr lang="es-ES" b="1" dirty="0">
                <a:solidFill>
                  <a:schemeClr val="tx1"/>
                </a:solidFill>
                <a:latin typeface="Century Gothic" panose="020B0502020202020204" pitchFamily="34" charset="0"/>
              </a:rPr>
              <a:t>pueden encontrarse operaciones y/o contratos financieros que requieran el uso combinado de una o más de nuestras fórmulas básicas</a:t>
            </a:r>
            <a:r>
              <a:rPr lang="es-ES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pPr algn="ctr"/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CEE28E7-A3C0-E01B-F33C-78A97C1C8B9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197FCB-7011-42D3-CA67-CD6C65848000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06656817-87D3-C51D-D5C0-B3DE2CF69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141EB29-5942-2D6A-63C9-F1A07C858E9D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BE10F80-A326-8402-5A99-1D6E96FB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252" y="2912420"/>
            <a:ext cx="2724539" cy="214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86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 </a:t>
            </a:r>
            <a:r>
              <a:rPr lang="es-ES">
                <a:latin typeface="Century Gothic" panose="020B0502020202020204" pitchFamily="34" charset="0"/>
              </a:rPr>
              <a:t>COMBINACIONES DE </a:t>
            </a:r>
            <a:r>
              <a:rPr lang="es-ES_tradnl">
                <a:latin typeface="Century Gothic" panose="020B0502020202020204" pitchFamily="34" charset="0"/>
              </a:rPr>
              <a:t>Relaciones de Equivalencia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071" y="2537019"/>
            <a:ext cx="5021260" cy="5140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600">
                <a:latin typeface="Century Gothic" panose="020B0502020202020204" pitchFamily="34" charset="0"/>
              </a:rPr>
              <a:t>Si su costo de oportunidad es 8% E.A.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900" smtClean="0"/>
              <a:t>37</a:t>
            </a:fld>
            <a:endParaRPr lang="en-US" sz="1900"/>
          </a:p>
        </p:txBody>
      </p:sp>
      <p:grpSp>
        <p:nvGrpSpPr>
          <p:cNvPr id="6" name="Grupo 5"/>
          <p:cNvGrpSpPr/>
          <p:nvPr/>
        </p:nvGrpSpPr>
        <p:grpSpPr>
          <a:xfrm>
            <a:off x="1852200" y="3382677"/>
            <a:ext cx="5391476" cy="1265666"/>
            <a:chOff x="1491343" y="4202329"/>
            <a:chExt cx="7048165" cy="2099227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 bwMode="auto">
            <a:xfrm flipH="1">
              <a:off x="1491343" y="4229942"/>
              <a:ext cx="131729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12" name="Rectangle 11"/>
            <p:cNvSpPr>
              <a:spLocks/>
            </p:cNvSpPr>
            <p:nvPr/>
          </p:nvSpPr>
          <p:spPr bwMode="auto">
            <a:xfrm>
              <a:off x="192407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15" name="Rectangle 14"/>
            <p:cNvSpPr>
              <a:spLocks/>
            </p:cNvSpPr>
            <p:nvPr/>
          </p:nvSpPr>
          <p:spPr bwMode="auto">
            <a:xfrm>
              <a:off x="248469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 bwMode="auto">
            <a:xfrm>
              <a:off x="304854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 bwMode="auto">
            <a:xfrm>
              <a:off x="3655075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18" name="Rectangle 17"/>
            <p:cNvSpPr>
              <a:spLocks/>
            </p:cNvSpPr>
            <p:nvPr/>
          </p:nvSpPr>
          <p:spPr bwMode="auto">
            <a:xfrm>
              <a:off x="4258181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19" name="Rectangle 18"/>
            <p:cNvSpPr>
              <a:spLocks/>
            </p:cNvSpPr>
            <p:nvPr/>
          </p:nvSpPr>
          <p:spPr bwMode="auto">
            <a:xfrm>
              <a:off x="4777031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5383554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 bwMode="auto">
            <a:xfrm>
              <a:off x="5938227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 bwMode="auto">
            <a:xfrm>
              <a:off x="6532383" y="4229941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31" name="Rectangle 30"/>
            <p:cNvSpPr>
              <a:spLocks/>
            </p:cNvSpPr>
            <p:nvPr/>
          </p:nvSpPr>
          <p:spPr bwMode="auto">
            <a:xfrm>
              <a:off x="715360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32" name="Rectangle 31"/>
            <p:cNvSpPr>
              <a:spLocks/>
            </p:cNvSpPr>
            <p:nvPr/>
          </p:nvSpPr>
          <p:spPr bwMode="auto">
            <a:xfrm>
              <a:off x="7656863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34" name="Rectangle 33"/>
            <p:cNvSpPr>
              <a:spLocks/>
            </p:cNvSpPr>
            <p:nvPr/>
          </p:nvSpPr>
          <p:spPr bwMode="auto">
            <a:xfrm>
              <a:off x="8202448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>
              <a:spLocks/>
            </p:cNvSpPr>
            <p:nvPr/>
          </p:nvSpPr>
          <p:spPr bwMode="auto">
            <a:xfrm>
              <a:off x="1924079" y="4829047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>
              <a:spLocks/>
            </p:cNvSpPr>
            <p:nvPr/>
          </p:nvSpPr>
          <p:spPr bwMode="auto">
            <a:xfrm>
              <a:off x="6106757" y="485833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>
              <a:spLocks/>
            </p:cNvSpPr>
            <p:nvPr/>
          </p:nvSpPr>
          <p:spPr bwMode="auto">
            <a:xfrm>
              <a:off x="4017079" y="589317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70" name="Rectángulo 69">
            <a:extLst>
              <a:ext uri="{FF2B5EF4-FFF2-40B4-BE49-F238E27FC236}">
                <a16:creationId xmlns:a16="http://schemas.microsoft.com/office/drawing/2014/main" id="{537F7C29-9EBA-467A-8CB0-240580B76081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77AF2E-23BF-2AAB-1EEC-2E577F34D42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D25033-284C-7EC3-C7D6-DFBAACAD886E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1E8F9325-4E7E-8BA6-C92F-27D20372A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1FFE96A-F079-244B-FB47-9DAACAFFDB20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07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Gill Sans MT (Títulos)"/>
              </a:rPr>
              <a:t>COMBINACIONES DE </a:t>
            </a:r>
            <a:r>
              <a:rPr lang="es-ES_tradnl" sz="3200" dirty="0">
                <a:latin typeface="Gill Sans MT (Títulos)"/>
              </a:rPr>
              <a:t>Relaciones de Equivalencia </a:t>
            </a:r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C6E48BC5-AF4F-4E30-9860-9F03F9BDA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71" y="2537019"/>
            <a:ext cx="5021260" cy="5140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600">
                <a:latin typeface="Century Gothic" panose="020B0502020202020204" pitchFamily="34" charset="0"/>
              </a:rPr>
              <a:t>Si su costo de oportunidad es 8% E.A.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6" name="CuadroTexto 5"/>
          <p:cNvSpPr txBox="1"/>
          <p:nvPr/>
        </p:nvSpPr>
        <p:spPr>
          <a:xfrm>
            <a:off x="1791343" y="4463677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rgbClr val="D7A700"/>
                </a:solidFill>
                <a:latin typeface="Century Gothic" panose="020B0502020202020204" pitchFamily="34" charset="0"/>
              </a:rPr>
              <a:t>OPCIÓN 1)</a:t>
            </a:r>
          </a:p>
        </p:txBody>
      </p:sp>
      <p:grpSp>
        <p:nvGrpSpPr>
          <p:cNvPr id="80" name="Grupo 79"/>
          <p:cNvGrpSpPr/>
          <p:nvPr/>
        </p:nvGrpSpPr>
        <p:grpSpPr>
          <a:xfrm>
            <a:off x="2409443" y="5423715"/>
            <a:ext cx="3535405" cy="1057717"/>
            <a:chOff x="1491343" y="4227696"/>
            <a:chExt cx="7048165" cy="2048490"/>
          </a:xfrm>
        </p:grpSpPr>
        <p:cxnSp>
          <p:nvCxnSpPr>
            <p:cNvPr id="81" name="Straight Connector 12"/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23"/>
            <p:cNvSpPr>
              <a:spLocks/>
            </p:cNvSpPr>
            <p:nvPr/>
          </p:nvSpPr>
          <p:spPr bwMode="auto">
            <a:xfrm flipH="1">
              <a:off x="1491343" y="4255308"/>
              <a:ext cx="13172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83" name="Rectangle 11"/>
            <p:cNvSpPr>
              <a:spLocks/>
            </p:cNvSpPr>
            <p:nvPr/>
          </p:nvSpPr>
          <p:spPr bwMode="auto">
            <a:xfrm>
              <a:off x="1924077" y="4246819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84" name="Rectangle 14"/>
            <p:cNvSpPr>
              <a:spLocks/>
            </p:cNvSpPr>
            <p:nvPr/>
          </p:nvSpPr>
          <p:spPr bwMode="auto">
            <a:xfrm>
              <a:off x="248469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85" name="Rectangle 15"/>
            <p:cNvSpPr>
              <a:spLocks/>
            </p:cNvSpPr>
            <p:nvPr/>
          </p:nvSpPr>
          <p:spPr bwMode="auto">
            <a:xfrm>
              <a:off x="3048550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86" name="Rectangle 16"/>
            <p:cNvSpPr>
              <a:spLocks/>
            </p:cNvSpPr>
            <p:nvPr/>
          </p:nvSpPr>
          <p:spPr bwMode="auto">
            <a:xfrm>
              <a:off x="3655073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87" name="Rectangle 17"/>
            <p:cNvSpPr>
              <a:spLocks/>
            </p:cNvSpPr>
            <p:nvPr/>
          </p:nvSpPr>
          <p:spPr bwMode="auto">
            <a:xfrm>
              <a:off x="4258181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88" name="Rectangle 18"/>
            <p:cNvSpPr>
              <a:spLocks/>
            </p:cNvSpPr>
            <p:nvPr/>
          </p:nvSpPr>
          <p:spPr bwMode="auto">
            <a:xfrm>
              <a:off x="4777032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89" name="Rectangle 19"/>
            <p:cNvSpPr>
              <a:spLocks/>
            </p:cNvSpPr>
            <p:nvPr/>
          </p:nvSpPr>
          <p:spPr bwMode="auto">
            <a:xfrm>
              <a:off x="538355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90" name="Rectangle 28"/>
            <p:cNvSpPr>
              <a:spLocks/>
            </p:cNvSpPr>
            <p:nvPr/>
          </p:nvSpPr>
          <p:spPr bwMode="auto">
            <a:xfrm>
              <a:off x="593822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91" name="Rectangle 29"/>
            <p:cNvSpPr>
              <a:spLocks/>
            </p:cNvSpPr>
            <p:nvPr/>
          </p:nvSpPr>
          <p:spPr bwMode="auto">
            <a:xfrm>
              <a:off x="6532383" y="4255308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92" name="Rectangle 30"/>
            <p:cNvSpPr>
              <a:spLocks/>
            </p:cNvSpPr>
            <p:nvPr/>
          </p:nvSpPr>
          <p:spPr bwMode="auto">
            <a:xfrm>
              <a:off x="715360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93" name="Rectangle 31"/>
            <p:cNvSpPr>
              <a:spLocks/>
            </p:cNvSpPr>
            <p:nvPr/>
          </p:nvSpPr>
          <p:spPr bwMode="auto">
            <a:xfrm>
              <a:off x="7656864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94" name="Rectangle 33"/>
            <p:cNvSpPr>
              <a:spLocks/>
            </p:cNvSpPr>
            <p:nvPr/>
          </p:nvSpPr>
          <p:spPr bwMode="auto">
            <a:xfrm>
              <a:off x="8202449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95" name="Straight Arrow Connector 34"/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35"/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36"/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37"/>
            <p:cNvSpPr>
              <a:spLocks/>
            </p:cNvSpPr>
            <p:nvPr/>
          </p:nvSpPr>
          <p:spPr bwMode="auto">
            <a:xfrm>
              <a:off x="1924077" y="4854415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99" name="Straight Arrow Connector 24"/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25"/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32"/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38"/>
            <p:cNvSpPr>
              <a:spLocks/>
            </p:cNvSpPr>
            <p:nvPr/>
          </p:nvSpPr>
          <p:spPr bwMode="auto">
            <a:xfrm>
              <a:off x="6106756" y="4883704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03" name="Straight Arrow Connector 39"/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>
              <a:solidFill>
                <a:srgbClr val="244A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40"/>
            <p:cNvSpPr>
              <a:spLocks/>
            </p:cNvSpPr>
            <p:nvPr/>
          </p:nvSpPr>
          <p:spPr bwMode="auto">
            <a:xfrm>
              <a:off x="4017078" y="5918542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7" name="Cerrar llave 6"/>
          <p:cNvSpPr/>
          <p:nvPr/>
        </p:nvSpPr>
        <p:spPr>
          <a:xfrm rot="5400000">
            <a:off x="3036223" y="5653249"/>
            <a:ext cx="308649" cy="10904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cxnSp>
        <p:nvCxnSpPr>
          <p:cNvPr id="11" name="Conector curvado 10"/>
          <p:cNvCxnSpPr>
            <a:stCxn id="7" idx="1"/>
            <a:endCxn id="82" idx="3"/>
          </p:cNvCxnSpPr>
          <p:nvPr/>
        </p:nvCxnSpPr>
        <p:spPr>
          <a:xfrm rot="16200000" flipV="1">
            <a:off x="2388747" y="5550999"/>
            <a:ext cx="822494" cy="781104"/>
          </a:xfrm>
          <a:prstGeom prst="curvedConnector4">
            <a:avLst>
              <a:gd name="adj1" fmla="val 1861"/>
              <a:gd name="adj2" fmla="val 1292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curvado 12"/>
          <p:cNvCxnSpPr>
            <a:stCxn id="104" idx="2"/>
            <a:endCxn id="82" idx="0"/>
          </p:cNvCxnSpPr>
          <p:nvPr/>
        </p:nvCxnSpPr>
        <p:spPr>
          <a:xfrm rot="5400000" flipH="1">
            <a:off x="2774348" y="5106105"/>
            <a:ext cx="1043460" cy="1707195"/>
          </a:xfrm>
          <a:prstGeom prst="curvedConnector5">
            <a:avLst>
              <a:gd name="adj1" fmla="val 509"/>
              <a:gd name="adj2" fmla="val 130158"/>
              <a:gd name="adj3" fmla="val 994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errar llave 104"/>
          <p:cNvSpPr/>
          <p:nvPr/>
        </p:nvSpPr>
        <p:spPr>
          <a:xfrm rot="5400000">
            <a:off x="5030929" y="5653249"/>
            <a:ext cx="308649" cy="10904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cxnSp>
        <p:nvCxnSpPr>
          <p:cNvPr id="16" name="Conector curvado 15"/>
          <p:cNvCxnSpPr>
            <a:stCxn id="105" idx="1"/>
            <a:endCxn id="82" idx="0"/>
          </p:cNvCxnSpPr>
          <p:nvPr/>
        </p:nvCxnSpPr>
        <p:spPr>
          <a:xfrm rot="16200000" flipV="1">
            <a:off x="3356454" y="4523999"/>
            <a:ext cx="914827" cy="2742772"/>
          </a:xfrm>
          <a:prstGeom prst="curvedConnector3">
            <a:avLst>
              <a:gd name="adj1" fmla="val 1598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5553659" y="4620794"/>
                <a:ext cx="6228057" cy="764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VP</m:t>
                      </m:r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=−400−400</m:t>
                      </m:r>
                      <m:d>
                        <m:d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1+8%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8%</m:t>
                              </m:r>
                              <m:sSup>
                                <m:sSup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1+8%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</m:num>
                        <m:den>
                          <m:sSup>
                            <m:sSup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1+8%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d>
                            <m:d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CO" sz="1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sz="1400" i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1+8%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8%</m:t>
                                  </m:r>
                                  <m:sSup>
                                    <m:sSup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CO" sz="1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sz="1400" i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1+8%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1+8%</m:t>
                                  </m:r>
                                </m:e>
                              </m:d>
                            </m:e>
                            <m: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1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659" y="4620794"/>
                <a:ext cx="6228057" cy="764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curvado 21"/>
          <p:cNvCxnSpPr>
            <a:stCxn id="82" idx="0"/>
            <a:endCxn id="94" idx="0"/>
          </p:cNvCxnSpPr>
          <p:nvPr/>
        </p:nvCxnSpPr>
        <p:spPr>
          <a:xfrm rot="5400000" flipH="1" flipV="1">
            <a:off x="4144269" y="3721927"/>
            <a:ext cx="14257" cy="3417832"/>
          </a:xfrm>
          <a:prstGeom prst="curvedConnector3">
            <a:avLst>
              <a:gd name="adj1" fmla="val 1703423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/>
              <p:cNvSpPr/>
              <p:nvPr/>
            </p:nvSpPr>
            <p:spPr>
              <a:xfrm>
                <a:off x="7680938" y="5608381"/>
                <a:ext cx="22131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s-E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VP</m:t>
                      </m:r>
                      <m:sSup>
                        <m:sSupPr>
                          <m:ctrlPr>
                            <a:rPr lang="es-CO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1+8%</m:t>
                              </m:r>
                            </m:e>
                          </m:d>
                        </m:e>
                        <m:sup>
                          <m:r>
                            <a:rPr lang="es-CO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s-CO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38" y="5608381"/>
                <a:ext cx="22131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7821130" y="6112100"/>
                <a:ext cx="20024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𝟗𝟏𝟓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es-CO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130" y="6112100"/>
                <a:ext cx="20024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ectángulo 135">
            <a:extLst>
              <a:ext uri="{FF2B5EF4-FFF2-40B4-BE49-F238E27FC236}">
                <a16:creationId xmlns:a16="http://schemas.microsoft.com/office/drawing/2014/main" id="{864E3335-16B3-4DC5-A85A-0F82B129CFDD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7A3D9C11-932D-4340-891F-1C338F6264DC}"/>
              </a:ext>
            </a:extLst>
          </p:cNvPr>
          <p:cNvSpPr txBox="1"/>
          <p:nvPr/>
        </p:nvSpPr>
        <p:spPr>
          <a:xfrm>
            <a:off x="7981884" y="2820355"/>
            <a:ext cx="2793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Suponiendo que los flujos son anuales, ¿A cuánto equivaldrían esta serie de pagos en el año 12?</a:t>
            </a:r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E4FC648E-209E-4E29-8DC9-E9CF6A406B25}"/>
              </a:ext>
            </a:extLst>
          </p:cNvPr>
          <p:cNvGrpSpPr/>
          <p:nvPr/>
        </p:nvGrpSpPr>
        <p:grpSpPr>
          <a:xfrm>
            <a:off x="1852200" y="3382677"/>
            <a:ext cx="5391476" cy="1265666"/>
            <a:chOff x="1491343" y="4202329"/>
            <a:chExt cx="7048165" cy="2099227"/>
          </a:xfrm>
        </p:grpSpPr>
        <p:cxnSp>
          <p:nvCxnSpPr>
            <p:cNvPr id="72" name="Straight Connector 12">
              <a:extLst>
                <a:ext uri="{FF2B5EF4-FFF2-40B4-BE49-F238E27FC236}">
                  <a16:creationId xmlns:a16="http://schemas.microsoft.com/office/drawing/2014/main" id="{1055F289-C8BB-43EA-BF22-3325968C6DDB}"/>
                </a:ext>
              </a:extLst>
            </p:cNvPr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23">
              <a:extLst>
                <a:ext uri="{FF2B5EF4-FFF2-40B4-BE49-F238E27FC236}">
                  <a16:creationId xmlns:a16="http://schemas.microsoft.com/office/drawing/2014/main" id="{ADDD6AB7-D160-4DF1-A2ED-8865138BAF2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91343" y="4229942"/>
              <a:ext cx="131729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74" name="Rectangle 11">
              <a:extLst>
                <a:ext uri="{FF2B5EF4-FFF2-40B4-BE49-F238E27FC236}">
                  <a16:creationId xmlns:a16="http://schemas.microsoft.com/office/drawing/2014/main" id="{E16E93A2-AF5B-45C2-A438-6D3BFD9FE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75" name="Rectangle 14">
              <a:extLst>
                <a:ext uri="{FF2B5EF4-FFF2-40B4-BE49-F238E27FC236}">
                  <a16:creationId xmlns:a16="http://schemas.microsoft.com/office/drawing/2014/main" id="{D0790B5B-587E-4614-A7DA-AC55E4660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69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76" name="Rectangle 15">
              <a:extLst>
                <a:ext uri="{FF2B5EF4-FFF2-40B4-BE49-F238E27FC236}">
                  <a16:creationId xmlns:a16="http://schemas.microsoft.com/office/drawing/2014/main" id="{5DD9676E-29C2-4D24-8429-80236D08A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54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77" name="Rectangle 16">
              <a:extLst>
                <a:ext uri="{FF2B5EF4-FFF2-40B4-BE49-F238E27FC236}">
                  <a16:creationId xmlns:a16="http://schemas.microsoft.com/office/drawing/2014/main" id="{228D7B25-CBCA-42BF-8D4A-61C79942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5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78" name="Rectangle 17">
              <a:extLst>
                <a:ext uri="{FF2B5EF4-FFF2-40B4-BE49-F238E27FC236}">
                  <a16:creationId xmlns:a16="http://schemas.microsoft.com/office/drawing/2014/main" id="{134DDA7D-9F08-4885-99D6-BF956B19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181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79" name="Rectangle 18">
              <a:extLst>
                <a:ext uri="{FF2B5EF4-FFF2-40B4-BE49-F238E27FC236}">
                  <a16:creationId xmlns:a16="http://schemas.microsoft.com/office/drawing/2014/main" id="{EA180BF5-455D-42D0-92D6-E128EEEB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031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131" name="Rectangle 19">
              <a:extLst>
                <a:ext uri="{FF2B5EF4-FFF2-40B4-BE49-F238E27FC236}">
                  <a16:creationId xmlns:a16="http://schemas.microsoft.com/office/drawing/2014/main" id="{D2C4D7FF-E07A-4F1D-AF56-3C0778753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554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132" name="Rectangle 28">
              <a:extLst>
                <a:ext uri="{FF2B5EF4-FFF2-40B4-BE49-F238E27FC236}">
                  <a16:creationId xmlns:a16="http://schemas.microsoft.com/office/drawing/2014/main" id="{FBECF070-77D6-4376-804B-01C277B46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227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133" name="Rectangle 29">
              <a:extLst>
                <a:ext uri="{FF2B5EF4-FFF2-40B4-BE49-F238E27FC236}">
                  <a16:creationId xmlns:a16="http://schemas.microsoft.com/office/drawing/2014/main" id="{217A638D-DA7B-49C5-8C9A-17DE149A3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383" y="4229941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134" name="Rectangle 30">
              <a:extLst>
                <a:ext uri="{FF2B5EF4-FFF2-40B4-BE49-F238E27FC236}">
                  <a16:creationId xmlns:a16="http://schemas.microsoft.com/office/drawing/2014/main" id="{237206ED-D871-440E-A7AF-C59CD3902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60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135" name="Rectangle 31">
              <a:extLst>
                <a:ext uri="{FF2B5EF4-FFF2-40B4-BE49-F238E27FC236}">
                  <a16:creationId xmlns:a16="http://schemas.microsoft.com/office/drawing/2014/main" id="{0378A3C9-59F0-4081-B1D3-C22628A94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6863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138" name="Rectangle 33">
              <a:extLst>
                <a:ext uri="{FF2B5EF4-FFF2-40B4-BE49-F238E27FC236}">
                  <a16:creationId xmlns:a16="http://schemas.microsoft.com/office/drawing/2014/main" id="{92B74ADD-D064-48B6-B05F-57AD502D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2448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144" name="Straight Arrow Connector 34">
              <a:extLst>
                <a:ext uri="{FF2B5EF4-FFF2-40B4-BE49-F238E27FC236}">
                  <a16:creationId xmlns:a16="http://schemas.microsoft.com/office/drawing/2014/main" id="{51F89A5B-E9E9-4AED-A4AB-C4C2429B328B}"/>
                </a:ext>
              </a:extLst>
            </p:cNvPr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35">
              <a:extLst>
                <a:ext uri="{FF2B5EF4-FFF2-40B4-BE49-F238E27FC236}">
                  <a16:creationId xmlns:a16="http://schemas.microsoft.com/office/drawing/2014/main" id="{A54AC4A6-5B87-4FBF-B588-59CE703B8D26}"/>
                </a:ext>
              </a:extLst>
            </p:cNvPr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36">
              <a:extLst>
                <a:ext uri="{FF2B5EF4-FFF2-40B4-BE49-F238E27FC236}">
                  <a16:creationId xmlns:a16="http://schemas.microsoft.com/office/drawing/2014/main" id="{84266F93-339F-4F56-BEA8-932FFEAAC844}"/>
                </a:ext>
              </a:extLst>
            </p:cNvPr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 37">
              <a:extLst>
                <a:ext uri="{FF2B5EF4-FFF2-40B4-BE49-F238E27FC236}">
                  <a16:creationId xmlns:a16="http://schemas.microsoft.com/office/drawing/2014/main" id="{8E7B5A30-2E9E-4132-A501-135AC2F16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829047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48" name="Straight Arrow Connector 24">
              <a:extLst>
                <a:ext uri="{FF2B5EF4-FFF2-40B4-BE49-F238E27FC236}">
                  <a16:creationId xmlns:a16="http://schemas.microsoft.com/office/drawing/2014/main" id="{8ED710DA-0601-4D80-A28C-D2EC3CCE3DDF}"/>
                </a:ext>
              </a:extLst>
            </p:cNvPr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25">
              <a:extLst>
                <a:ext uri="{FF2B5EF4-FFF2-40B4-BE49-F238E27FC236}">
                  <a16:creationId xmlns:a16="http://schemas.microsoft.com/office/drawing/2014/main" id="{EE605F8D-0C43-40F2-868F-00BA7DDDC65B}"/>
                </a:ext>
              </a:extLst>
            </p:cNvPr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32">
              <a:extLst>
                <a:ext uri="{FF2B5EF4-FFF2-40B4-BE49-F238E27FC236}">
                  <a16:creationId xmlns:a16="http://schemas.microsoft.com/office/drawing/2014/main" id="{5B74514A-F507-4BAB-B0AA-389CB511AB9B}"/>
                </a:ext>
              </a:extLst>
            </p:cNvPr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38">
              <a:extLst>
                <a:ext uri="{FF2B5EF4-FFF2-40B4-BE49-F238E27FC236}">
                  <a16:creationId xmlns:a16="http://schemas.microsoft.com/office/drawing/2014/main" id="{82B178FE-FC37-4727-B36C-1153B6ADD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6757" y="485833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52" name="Straight Arrow Connector 39">
              <a:extLst>
                <a:ext uri="{FF2B5EF4-FFF2-40B4-BE49-F238E27FC236}">
                  <a16:creationId xmlns:a16="http://schemas.microsoft.com/office/drawing/2014/main" id="{E1003F3C-7E12-4CC2-8F96-88CFB4A58894}"/>
                </a:ext>
              </a:extLst>
            </p:cNvPr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40">
              <a:extLst>
                <a:ext uri="{FF2B5EF4-FFF2-40B4-BE49-F238E27FC236}">
                  <a16:creationId xmlns:a16="http://schemas.microsoft.com/office/drawing/2014/main" id="{2372E846-6D84-4917-A187-74CF6B4FF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079" y="589317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6DB8B954-C08D-F198-83EC-44C5AF92E2E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E64666B-4A32-228F-2897-1FF18E497E50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37C2CE63-D6D7-4882-8E8B-4BDEC069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896F378-F8AE-FB6B-AD49-2A454F1E3A7A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0F3518-77ED-8BD8-9432-FC708E3AFCB3}"/>
              </a:ext>
            </a:extLst>
          </p:cNvPr>
          <p:cNvSpPr txBox="1"/>
          <p:nvPr/>
        </p:nvSpPr>
        <p:spPr>
          <a:xfrm>
            <a:off x="7265371" y="3429000"/>
            <a:ext cx="1357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>
                <a:solidFill>
                  <a:srgbClr val="D7A700"/>
                </a:solidFill>
                <a:latin typeface="Century Gothic" panose="020B0502020202020204" pitchFamily="34" charset="0"/>
              </a:rPr>
              <a:t>Años</a:t>
            </a:r>
            <a:endParaRPr lang="es-CO" sz="1400" b="1">
              <a:solidFill>
                <a:srgbClr val="D7A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59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5" grpId="0" animBg="1"/>
      <p:bldP spid="19" grpId="0"/>
      <p:bldP spid="23" grpId="0"/>
      <p:bldP spid="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Gill Sans MT (Títulos)"/>
              </a:rPr>
              <a:t>COMBINACIONES DE </a:t>
            </a:r>
            <a:r>
              <a:rPr lang="es-ES_tradnl" sz="3200">
                <a:latin typeface="Gill Sans MT (Títulos)"/>
              </a:rPr>
              <a:t>Relaciones de Equivalencia </a:t>
            </a:r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45BF9B57-D11D-4E23-9FE7-675345943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71" y="2537019"/>
            <a:ext cx="5021260" cy="5140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600">
                <a:latin typeface="Century Gothic" panose="020B0502020202020204" pitchFamily="34" charset="0"/>
              </a:rPr>
              <a:t>Si su costo de oportunidad es 8% E.A.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6" name="CuadroTexto 5"/>
          <p:cNvSpPr txBox="1"/>
          <p:nvPr/>
        </p:nvSpPr>
        <p:spPr>
          <a:xfrm>
            <a:off x="1699835" y="4524545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rgbClr val="D7A700"/>
                </a:solidFill>
                <a:latin typeface="Century Gothic" panose="020B0502020202020204" pitchFamily="34" charset="0"/>
              </a:rPr>
              <a:t>OPCIÓN 2)</a:t>
            </a:r>
          </a:p>
        </p:txBody>
      </p:sp>
      <p:grpSp>
        <p:nvGrpSpPr>
          <p:cNvPr id="80" name="Grupo 79"/>
          <p:cNvGrpSpPr/>
          <p:nvPr/>
        </p:nvGrpSpPr>
        <p:grpSpPr>
          <a:xfrm>
            <a:off x="2409443" y="5423715"/>
            <a:ext cx="3535405" cy="1057717"/>
            <a:chOff x="1491343" y="4227696"/>
            <a:chExt cx="7048165" cy="2048490"/>
          </a:xfrm>
        </p:grpSpPr>
        <p:cxnSp>
          <p:nvCxnSpPr>
            <p:cNvPr id="81" name="Straight Connector 12"/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23"/>
            <p:cNvSpPr>
              <a:spLocks/>
            </p:cNvSpPr>
            <p:nvPr/>
          </p:nvSpPr>
          <p:spPr bwMode="auto">
            <a:xfrm flipH="1">
              <a:off x="1491343" y="4255308"/>
              <a:ext cx="13172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83" name="Rectangle 11"/>
            <p:cNvSpPr>
              <a:spLocks/>
            </p:cNvSpPr>
            <p:nvPr/>
          </p:nvSpPr>
          <p:spPr bwMode="auto">
            <a:xfrm>
              <a:off x="1924077" y="4246819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84" name="Rectangle 14"/>
            <p:cNvSpPr>
              <a:spLocks/>
            </p:cNvSpPr>
            <p:nvPr/>
          </p:nvSpPr>
          <p:spPr bwMode="auto">
            <a:xfrm>
              <a:off x="248469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85" name="Rectangle 15"/>
            <p:cNvSpPr>
              <a:spLocks/>
            </p:cNvSpPr>
            <p:nvPr/>
          </p:nvSpPr>
          <p:spPr bwMode="auto">
            <a:xfrm>
              <a:off x="3048550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86" name="Rectangle 16"/>
            <p:cNvSpPr>
              <a:spLocks/>
            </p:cNvSpPr>
            <p:nvPr/>
          </p:nvSpPr>
          <p:spPr bwMode="auto">
            <a:xfrm>
              <a:off x="3655073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87" name="Rectangle 17"/>
            <p:cNvSpPr>
              <a:spLocks/>
            </p:cNvSpPr>
            <p:nvPr/>
          </p:nvSpPr>
          <p:spPr bwMode="auto">
            <a:xfrm>
              <a:off x="4258181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88" name="Rectangle 18"/>
            <p:cNvSpPr>
              <a:spLocks/>
            </p:cNvSpPr>
            <p:nvPr/>
          </p:nvSpPr>
          <p:spPr bwMode="auto">
            <a:xfrm>
              <a:off x="4777032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89" name="Rectangle 19"/>
            <p:cNvSpPr>
              <a:spLocks/>
            </p:cNvSpPr>
            <p:nvPr/>
          </p:nvSpPr>
          <p:spPr bwMode="auto">
            <a:xfrm>
              <a:off x="538355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90" name="Rectangle 28"/>
            <p:cNvSpPr>
              <a:spLocks/>
            </p:cNvSpPr>
            <p:nvPr/>
          </p:nvSpPr>
          <p:spPr bwMode="auto">
            <a:xfrm>
              <a:off x="593822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91" name="Rectangle 29"/>
            <p:cNvSpPr>
              <a:spLocks/>
            </p:cNvSpPr>
            <p:nvPr/>
          </p:nvSpPr>
          <p:spPr bwMode="auto">
            <a:xfrm>
              <a:off x="6532383" y="4255308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92" name="Rectangle 30"/>
            <p:cNvSpPr>
              <a:spLocks/>
            </p:cNvSpPr>
            <p:nvPr/>
          </p:nvSpPr>
          <p:spPr bwMode="auto">
            <a:xfrm>
              <a:off x="715360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93" name="Rectangle 31"/>
            <p:cNvSpPr>
              <a:spLocks/>
            </p:cNvSpPr>
            <p:nvPr/>
          </p:nvSpPr>
          <p:spPr bwMode="auto">
            <a:xfrm>
              <a:off x="7656864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94" name="Rectangle 33"/>
            <p:cNvSpPr>
              <a:spLocks/>
            </p:cNvSpPr>
            <p:nvPr/>
          </p:nvSpPr>
          <p:spPr bwMode="auto">
            <a:xfrm>
              <a:off x="8202449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95" name="Straight Arrow Connector 34"/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35"/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36"/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37"/>
            <p:cNvSpPr>
              <a:spLocks/>
            </p:cNvSpPr>
            <p:nvPr/>
          </p:nvSpPr>
          <p:spPr bwMode="auto">
            <a:xfrm>
              <a:off x="1924077" y="4854415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99" name="Straight Arrow Connector 24"/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25"/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32"/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38"/>
            <p:cNvSpPr>
              <a:spLocks/>
            </p:cNvSpPr>
            <p:nvPr/>
          </p:nvSpPr>
          <p:spPr bwMode="auto">
            <a:xfrm>
              <a:off x="6106756" y="4883704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03" name="Straight Arrow Connector 39"/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>
              <a:solidFill>
                <a:srgbClr val="244A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40"/>
            <p:cNvSpPr>
              <a:spLocks/>
            </p:cNvSpPr>
            <p:nvPr/>
          </p:nvSpPr>
          <p:spPr bwMode="auto">
            <a:xfrm>
              <a:off x="4017078" y="5918542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7" name="Cerrar llave 6"/>
          <p:cNvSpPr/>
          <p:nvPr/>
        </p:nvSpPr>
        <p:spPr>
          <a:xfrm rot="5400000">
            <a:off x="3036223" y="5653249"/>
            <a:ext cx="308649" cy="10904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105" name="Cerrar llave 104"/>
          <p:cNvSpPr/>
          <p:nvPr/>
        </p:nvSpPr>
        <p:spPr>
          <a:xfrm rot="5400000">
            <a:off x="5030929" y="5653249"/>
            <a:ext cx="308649" cy="10904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7754246" y="5458594"/>
                <a:ext cx="20024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𝟗𝟏𝟓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es-CO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246" y="5458594"/>
                <a:ext cx="20024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5227838" y="4789047"/>
                <a:ext cx="6542402" cy="580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s-ES" sz="14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=−400</m:t>
                      </m:r>
                      <m:d>
                        <m:d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1+8%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8%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1+8%</m:t>
                              </m:r>
                            </m:e>
                          </m:d>
                        </m:e>
                        <m:sup>
                          <m:r>
                            <a:rPr lang="es-CO" sz="1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−600</m:t>
                      </m:r>
                      <m:sSup>
                        <m:sSup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1+8%</m:t>
                              </m:r>
                            </m:e>
                          </m:d>
                        </m:e>
                        <m:sup>
                          <m:r>
                            <a:rPr lang="es-CO" sz="1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−400</m:t>
                      </m:r>
                      <m:d>
                        <m:d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1+8%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8%</m:t>
                              </m:r>
                            </m:den>
                          </m:f>
                        </m:e>
                      </m:d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1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838" y="4789047"/>
                <a:ext cx="6542402" cy="5806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curvado 8"/>
          <p:cNvCxnSpPr>
            <a:stCxn id="7" idx="1"/>
            <a:endCxn id="94" idx="3"/>
          </p:cNvCxnSpPr>
          <p:nvPr/>
        </p:nvCxnSpPr>
        <p:spPr>
          <a:xfrm rot="5400000" flipH="1" flipV="1">
            <a:off x="4149322" y="4557274"/>
            <a:ext cx="836751" cy="2754301"/>
          </a:xfrm>
          <a:prstGeom prst="curvedConnector4">
            <a:avLst>
              <a:gd name="adj1" fmla="val 2681"/>
              <a:gd name="adj2" fmla="val 1083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curvado 13"/>
          <p:cNvCxnSpPr>
            <a:stCxn id="104" idx="0"/>
            <a:endCxn id="94" idx="3"/>
          </p:cNvCxnSpPr>
          <p:nvPr/>
        </p:nvCxnSpPr>
        <p:spPr>
          <a:xfrm rot="5400000" flipH="1" flipV="1">
            <a:off x="4656902" y="5008820"/>
            <a:ext cx="780718" cy="1795172"/>
          </a:xfrm>
          <a:prstGeom prst="curvedConnector4">
            <a:avLst>
              <a:gd name="adj1" fmla="val 44087"/>
              <a:gd name="adj2" fmla="val 11273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curvado 17"/>
          <p:cNvCxnSpPr>
            <a:stCxn id="105" idx="1"/>
            <a:endCxn id="94" idx="3"/>
          </p:cNvCxnSpPr>
          <p:nvPr/>
        </p:nvCxnSpPr>
        <p:spPr>
          <a:xfrm rot="5400000" flipH="1" flipV="1">
            <a:off x="5146675" y="5554627"/>
            <a:ext cx="836751" cy="759595"/>
          </a:xfrm>
          <a:prstGeom prst="curvedConnector4">
            <a:avLst>
              <a:gd name="adj1" fmla="val 2681"/>
              <a:gd name="adj2" fmla="val 1300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40D25D1E-34C8-4381-9735-E5135A433CBE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7576D094-F102-4C6B-9E9D-334718EE56FA}"/>
              </a:ext>
            </a:extLst>
          </p:cNvPr>
          <p:cNvSpPr txBox="1"/>
          <p:nvPr/>
        </p:nvSpPr>
        <p:spPr>
          <a:xfrm>
            <a:off x="7981884" y="2820355"/>
            <a:ext cx="2793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Suponiendo que los flujos son anuales, ¿A cuánto equivaldrían esta serie de pagos en el año 12?</a:t>
            </a: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1F724887-85F1-4856-BFE6-F36A3702DFEA}"/>
              </a:ext>
            </a:extLst>
          </p:cNvPr>
          <p:cNvGrpSpPr/>
          <p:nvPr/>
        </p:nvGrpSpPr>
        <p:grpSpPr>
          <a:xfrm>
            <a:off x="1852200" y="3382677"/>
            <a:ext cx="5391476" cy="1265666"/>
            <a:chOff x="1491343" y="4202329"/>
            <a:chExt cx="7048165" cy="2099227"/>
          </a:xfrm>
        </p:grpSpPr>
        <p:cxnSp>
          <p:nvCxnSpPr>
            <p:cNvPr id="70" name="Straight Connector 12">
              <a:extLst>
                <a:ext uri="{FF2B5EF4-FFF2-40B4-BE49-F238E27FC236}">
                  <a16:creationId xmlns:a16="http://schemas.microsoft.com/office/drawing/2014/main" id="{310A21C3-F14D-451F-8FF8-AC66B80D0F5E}"/>
                </a:ext>
              </a:extLst>
            </p:cNvPr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23">
              <a:extLst>
                <a:ext uri="{FF2B5EF4-FFF2-40B4-BE49-F238E27FC236}">
                  <a16:creationId xmlns:a16="http://schemas.microsoft.com/office/drawing/2014/main" id="{C018306E-979C-4A20-BDFC-5D7290852D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91343" y="4229942"/>
              <a:ext cx="131729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72" name="Rectangle 11">
              <a:extLst>
                <a:ext uri="{FF2B5EF4-FFF2-40B4-BE49-F238E27FC236}">
                  <a16:creationId xmlns:a16="http://schemas.microsoft.com/office/drawing/2014/main" id="{63FAAF92-7EF0-4D58-BB4C-91E07938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73" name="Rectangle 14">
              <a:extLst>
                <a:ext uri="{FF2B5EF4-FFF2-40B4-BE49-F238E27FC236}">
                  <a16:creationId xmlns:a16="http://schemas.microsoft.com/office/drawing/2014/main" id="{5A8B1400-73B3-40BD-9C78-54E484CBC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69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74" name="Rectangle 15">
              <a:extLst>
                <a:ext uri="{FF2B5EF4-FFF2-40B4-BE49-F238E27FC236}">
                  <a16:creationId xmlns:a16="http://schemas.microsoft.com/office/drawing/2014/main" id="{131726E5-0970-4690-94EA-B74AD8DCB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54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75" name="Rectangle 16">
              <a:extLst>
                <a:ext uri="{FF2B5EF4-FFF2-40B4-BE49-F238E27FC236}">
                  <a16:creationId xmlns:a16="http://schemas.microsoft.com/office/drawing/2014/main" id="{D7AA8BF1-8F65-4554-9719-5D3346BAC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5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76" name="Rectangle 17">
              <a:extLst>
                <a:ext uri="{FF2B5EF4-FFF2-40B4-BE49-F238E27FC236}">
                  <a16:creationId xmlns:a16="http://schemas.microsoft.com/office/drawing/2014/main" id="{FC572DE7-A7ED-4EC4-B284-7ED5D2AB8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181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77" name="Rectangle 18">
              <a:extLst>
                <a:ext uri="{FF2B5EF4-FFF2-40B4-BE49-F238E27FC236}">
                  <a16:creationId xmlns:a16="http://schemas.microsoft.com/office/drawing/2014/main" id="{463C17C2-7EF2-4775-941D-83E2539E9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031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78" name="Rectangle 19">
              <a:extLst>
                <a:ext uri="{FF2B5EF4-FFF2-40B4-BE49-F238E27FC236}">
                  <a16:creationId xmlns:a16="http://schemas.microsoft.com/office/drawing/2014/main" id="{1059780C-9936-4036-8BA1-1A880917B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554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79" name="Rectangle 28">
              <a:extLst>
                <a:ext uri="{FF2B5EF4-FFF2-40B4-BE49-F238E27FC236}">
                  <a16:creationId xmlns:a16="http://schemas.microsoft.com/office/drawing/2014/main" id="{8F955316-0807-4D95-8AD4-766FDC2F6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227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131" name="Rectangle 29">
              <a:extLst>
                <a:ext uri="{FF2B5EF4-FFF2-40B4-BE49-F238E27FC236}">
                  <a16:creationId xmlns:a16="http://schemas.microsoft.com/office/drawing/2014/main" id="{4B21EA1E-0C9D-4E4E-86C0-A7A84FAA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383" y="4229941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139" name="Rectangle 30">
              <a:extLst>
                <a:ext uri="{FF2B5EF4-FFF2-40B4-BE49-F238E27FC236}">
                  <a16:creationId xmlns:a16="http://schemas.microsoft.com/office/drawing/2014/main" id="{B5F301FD-9AD2-41D4-A04E-2C614BC58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60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140" name="Rectangle 31">
              <a:extLst>
                <a:ext uri="{FF2B5EF4-FFF2-40B4-BE49-F238E27FC236}">
                  <a16:creationId xmlns:a16="http://schemas.microsoft.com/office/drawing/2014/main" id="{E8CC8002-BA09-4EE4-9EED-CE3B7C034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6863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141" name="Rectangle 33">
              <a:extLst>
                <a:ext uri="{FF2B5EF4-FFF2-40B4-BE49-F238E27FC236}">
                  <a16:creationId xmlns:a16="http://schemas.microsoft.com/office/drawing/2014/main" id="{ECBDC3BB-49AA-4FA6-9B42-760A4B565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2448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142" name="Straight Arrow Connector 34">
              <a:extLst>
                <a:ext uri="{FF2B5EF4-FFF2-40B4-BE49-F238E27FC236}">
                  <a16:creationId xmlns:a16="http://schemas.microsoft.com/office/drawing/2014/main" id="{32663DCE-38AC-468F-96CE-60A17335AB77}"/>
                </a:ext>
              </a:extLst>
            </p:cNvPr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35">
              <a:extLst>
                <a:ext uri="{FF2B5EF4-FFF2-40B4-BE49-F238E27FC236}">
                  <a16:creationId xmlns:a16="http://schemas.microsoft.com/office/drawing/2014/main" id="{D39CB411-D8B6-4573-986B-318A8CF517F7}"/>
                </a:ext>
              </a:extLst>
            </p:cNvPr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36">
              <a:extLst>
                <a:ext uri="{FF2B5EF4-FFF2-40B4-BE49-F238E27FC236}">
                  <a16:creationId xmlns:a16="http://schemas.microsoft.com/office/drawing/2014/main" id="{90AB6DAB-2EE3-4BD7-B3B6-7B46F403D669}"/>
                </a:ext>
              </a:extLst>
            </p:cNvPr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37">
              <a:extLst>
                <a:ext uri="{FF2B5EF4-FFF2-40B4-BE49-F238E27FC236}">
                  <a16:creationId xmlns:a16="http://schemas.microsoft.com/office/drawing/2014/main" id="{DE526D39-3A32-4C21-837E-560A4B64E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829047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46" name="Straight Arrow Connector 24">
              <a:extLst>
                <a:ext uri="{FF2B5EF4-FFF2-40B4-BE49-F238E27FC236}">
                  <a16:creationId xmlns:a16="http://schemas.microsoft.com/office/drawing/2014/main" id="{6D1EFC33-F161-447D-87F0-A40329E7223F}"/>
                </a:ext>
              </a:extLst>
            </p:cNvPr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25">
              <a:extLst>
                <a:ext uri="{FF2B5EF4-FFF2-40B4-BE49-F238E27FC236}">
                  <a16:creationId xmlns:a16="http://schemas.microsoft.com/office/drawing/2014/main" id="{A2D58D3E-E81A-4AD8-9F73-7A20690B6221}"/>
                </a:ext>
              </a:extLst>
            </p:cNvPr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32">
              <a:extLst>
                <a:ext uri="{FF2B5EF4-FFF2-40B4-BE49-F238E27FC236}">
                  <a16:creationId xmlns:a16="http://schemas.microsoft.com/office/drawing/2014/main" id="{628874FD-3A52-4257-BC8D-027016921727}"/>
                </a:ext>
              </a:extLst>
            </p:cNvPr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Rectangle 38">
              <a:extLst>
                <a:ext uri="{FF2B5EF4-FFF2-40B4-BE49-F238E27FC236}">
                  <a16:creationId xmlns:a16="http://schemas.microsoft.com/office/drawing/2014/main" id="{FF2790A1-DD28-4208-A73B-214EB290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6757" y="485833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50" name="Straight Arrow Connector 39">
              <a:extLst>
                <a:ext uri="{FF2B5EF4-FFF2-40B4-BE49-F238E27FC236}">
                  <a16:creationId xmlns:a16="http://schemas.microsoft.com/office/drawing/2014/main" id="{D071856B-5466-49E3-ACB0-28EC8E87A7D8}"/>
                </a:ext>
              </a:extLst>
            </p:cNvPr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CF70543A-B090-49D3-9F0A-86ABE5C2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079" y="589317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D0F5D95D-FFE5-FD17-ADCE-3E11964825C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CB8C84-BCC1-10EB-0B94-04913F14BFDC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FEC1869-248E-474D-A38F-5F1D8F9D8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313E75A-F710-98E9-6F6A-F710E68D37FD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B48C9E4-EDA9-C37E-C203-9BB3446FBCE7}"/>
              </a:ext>
            </a:extLst>
          </p:cNvPr>
          <p:cNvSpPr txBox="1"/>
          <p:nvPr/>
        </p:nvSpPr>
        <p:spPr>
          <a:xfrm>
            <a:off x="7265371" y="3429000"/>
            <a:ext cx="1357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>
                <a:solidFill>
                  <a:srgbClr val="D7A700"/>
                </a:solidFill>
                <a:latin typeface="Century Gothic" panose="020B0502020202020204" pitchFamily="34" charset="0"/>
              </a:rPr>
              <a:t>Años</a:t>
            </a:r>
            <a:endParaRPr lang="es-CO" sz="1400" b="1">
              <a:solidFill>
                <a:srgbClr val="D7A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5" grpId="0" animBg="1"/>
      <p:bldP spid="2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Gill Sans MT (Títulos)"/>
              </a:rPr>
              <a:t>COMBINACIONES DE </a:t>
            </a:r>
            <a:r>
              <a:rPr lang="es-ES_tradnl" sz="3200" dirty="0">
                <a:latin typeface="Gill Sans MT (Títulos)"/>
              </a:rPr>
              <a:t>Relaciones de Equivalencia </a:t>
            </a:r>
          </a:p>
        </p:txBody>
      </p:sp>
      <p:sp>
        <p:nvSpPr>
          <p:cNvPr id="132" name="Content Placeholder 2">
            <a:extLst>
              <a:ext uri="{FF2B5EF4-FFF2-40B4-BE49-F238E27FC236}">
                <a16:creationId xmlns:a16="http://schemas.microsoft.com/office/drawing/2014/main" id="{860A7C5B-B0F1-4916-BBEC-6FFFD00C3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71" y="2537019"/>
            <a:ext cx="5021260" cy="5140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600">
                <a:latin typeface="Century Gothic" panose="020B0502020202020204" pitchFamily="34" charset="0"/>
              </a:rPr>
              <a:t>Si su costo de oportunidad es 8% E.A.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6" name="CuadroTexto 5"/>
          <p:cNvSpPr txBox="1"/>
          <p:nvPr/>
        </p:nvSpPr>
        <p:spPr>
          <a:xfrm>
            <a:off x="1848888" y="4551928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rgbClr val="D7A700"/>
                </a:solidFill>
                <a:latin typeface="Century Gothic" panose="020B0502020202020204" pitchFamily="34" charset="0"/>
              </a:rPr>
              <a:t>OPCIÓN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7740140" y="5705860"/>
                <a:ext cx="20024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𝟗𝟏𝟓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es-CO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140" y="5705860"/>
                <a:ext cx="20024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Grupo 105"/>
          <p:cNvGrpSpPr/>
          <p:nvPr/>
        </p:nvGrpSpPr>
        <p:grpSpPr>
          <a:xfrm>
            <a:off x="2560595" y="5247280"/>
            <a:ext cx="3535405" cy="1057717"/>
            <a:chOff x="1491343" y="4227696"/>
            <a:chExt cx="7048165" cy="2048490"/>
          </a:xfrm>
        </p:grpSpPr>
        <p:cxnSp>
          <p:nvCxnSpPr>
            <p:cNvPr id="107" name="Straight Connector 12"/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23"/>
            <p:cNvSpPr>
              <a:spLocks/>
            </p:cNvSpPr>
            <p:nvPr/>
          </p:nvSpPr>
          <p:spPr bwMode="auto">
            <a:xfrm flipH="1">
              <a:off x="1491343" y="4255308"/>
              <a:ext cx="13172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109" name="Rectangle 11"/>
            <p:cNvSpPr>
              <a:spLocks/>
            </p:cNvSpPr>
            <p:nvPr/>
          </p:nvSpPr>
          <p:spPr bwMode="auto">
            <a:xfrm>
              <a:off x="1924077" y="4246819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110" name="Rectangle 14"/>
            <p:cNvSpPr>
              <a:spLocks/>
            </p:cNvSpPr>
            <p:nvPr/>
          </p:nvSpPr>
          <p:spPr bwMode="auto">
            <a:xfrm>
              <a:off x="248469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111" name="Rectangle 15"/>
            <p:cNvSpPr>
              <a:spLocks/>
            </p:cNvSpPr>
            <p:nvPr/>
          </p:nvSpPr>
          <p:spPr bwMode="auto">
            <a:xfrm>
              <a:off x="3048550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112" name="Rectangle 16"/>
            <p:cNvSpPr>
              <a:spLocks/>
            </p:cNvSpPr>
            <p:nvPr/>
          </p:nvSpPr>
          <p:spPr bwMode="auto">
            <a:xfrm>
              <a:off x="3655073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113" name="Rectangle 17"/>
            <p:cNvSpPr>
              <a:spLocks/>
            </p:cNvSpPr>
            <p:nvPr/>
          </p:nvSpPr>
          <p:spPr bwMode="auto">
            <a:xfrm>
              <a:off x="4258181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114" name="Rectangle 18"/>
            <p:cNvSpPr>
              <a:spLocks/>
            </p:cNvSpPr>
            <p:nvPr/>
          </p:nvSpPr>
          <p:spPr bwMode="auto">
            <a:xfrm>
              <a:off x="4777032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115" name="Rectangle 19"/>
            <p:cNvSpPr>
              <a:spLocks/>
            </p:cNvSpPr>
            <p:nvPr/>
          </p:nvSpPr>
          <p:spPr bwMode="auto">
            <a:xfrm>
              <a:off x="538355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116" name="Rectangle 28"/>
            <p:cNvSpPr>
              <a:spLocks/>
            </p:cNvSpPr>
            <p:nvPr/>
          </p:nvSpPr>
          <p:spPr bwMode="auto">
            <a:xfrm>
              <a:off x="5938226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117" name="Rectangle 29"/>
            <p:cNvSpPr>
              <a:spLocks/>
            </p:cNvSpPr>
            <p:nvPr/>
          </p:nvSpPr>
          <p:spPr bwMode="auto">
            <a:xfrm>
              <a:off x="6532383" y="4255308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118" name="Rectangle 30"/>
            <p:cNvSpPr>
              <a:spLocks/>
            </p:cNvSpPr>
            <p:nvPr/>
          </p:nvSpPr>
          <p:spPr bwMode="auto">
            <a:xfrm>
              <a:off x="7153601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119" name="Rectangle 31"/>
            <p:cNvSpPr>
              <a:spLocks/>
            </p:cNvSpPr>
            <p:nvPr/>
          </p:nvSpPr>
          <p:spPr bwMode="auto">
            <a:xfrm>
              <a:off x="7656864" y="4246821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120" name="Rectangle 33"/>
            <p:cNvSpPr>
              <a:spLocks/>
            </p:cNvSpPr>
            <p:nvPr/>
          </p:nvSpPr>
          <p:spPr bwMode="auto">
            <a:xfrm>
              <a:off x="8202449" y="4227696"/>
              <a:ext cx="337059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121" name="Straight Arrow Connector 34"/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35"/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36"/>
            <p:cNvCxnSpPr/>
            <p:nvPr/>
          </p:nvCxnSpPr>
          <p:spPr>
            <a:xfrm>
              <a:off x="1540641" y="5260524"/>
              <a:ext cx="4010010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32"/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angle 38"/>
            <p:cNvSpPr>
              <a:spLocks/>
            </p:cNvSpPr>
            <p:nvPr/>
          </p:nvSpPr>
          <p:spPr bwMode="auto">
            <a:xfrm>
              <a:off x="4016414" y="4775091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26" name="Straight Arrow Connector 39"/>
            <p:cNvCxnSpPr/>
            <p:nvPr/>
          </p:nvCxnSpPr>
          <p:spPr>
            <a:xfrm>
              <a:off x="4960660" y="5273792"/>
              <a:ext cx="0" cy="669015"/>
            </a:xfrm>
            <a:prstGeom prst="straightConnector1">
              <a:avLst/>
            </a:prstGeom>
            <a:ln>
              <a:solidFill>
                <a:srgbClr val="244A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 40"/>
            <p:cNvSpPr>
              <a:spLocks/>
            </p:cNvSpPr>
            <p:nvPr/>
          </p:nvSpPr>
          <p:spPr bwMode="auto">
            <a:xfrm>
              <a:off x="4017078" y="5918542"/>
              <a:ext cx="1887167" cy="35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6369671" y="4879302"/>
                <a:ext cx="4572000" cy="58067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CO" sz="140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s-ES" sz="14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=−400</m:t>
                      </m:r>
                      <m:d>
                        <m:d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sz="1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sz="1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1400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1+8%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sz="1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p>
                              </m:sSup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8%</m:t>
                              </m:r>
                            </m:den>
                          </m:f>
                        </m:e>
                      </m:d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−200</m:t>
                      </m:r>
                      <m:sSup>
                        <m:sSupPr>
                          <m:ctrlPr>
                            <a:rPr lang="es-CO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1+8%</m:t>
                              </m:r>
                            </m:e>
                          </m:d>
                        </m:e>
                        <m:sup>
                          <m:r>
                            <a:rPr lang="es-CO" sz="1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CO" sz="1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14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671" y="4879302"/>
                <a:ext cx="4572000" cy="5806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Rectángulo 130">
            <a:extLst>
              <a:ext uri="{FF2B5EF4-FFF2-40B4-BE49-F238E27FC236}">
                <a16:creationId xmlns:a16="http://schemas.microsoft.com/office/drawing/2014/main" id="{84CF7F3C-7569-4C3D-B8B2-F1B263A3EBB7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1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E37A4728-2616-40BB-897D-E182BC6182E5}"/>
              </a:ext>
            </a:extLst>
          </p:cNvPr>
          <p:cNvSpPr txBox="1"/>
          <p:nvPr/>
        </p:nvSpPr>
        <p:spPr>
          <a:xfrm>
            <a:off x="7981884" y="2820355"/>
            <a:ext cx="2793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Suponiendo que los flujos son anuales, ¿A cuánto equivaldrían esta serie de pagos en el año 12?</a:t>
            </a: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51428983-3C44-4356-841D-78C6D8183AF5}"/>
              </a:ext>
            </a:extLst>
          </p:cNvPr>
          <p:cNvGrpSpPr/>
          <p:nvPr/>
        </p:nvGrpSpPr>
        <p:grpSpPr>
          <a:xfrm>
            <a:off x="1852200" y="3382677"/>
            <a:ext cx="5391476" cy="1265666"/>
            <a:chOff x="1491343" y="4202329"/>
            <a:chExt cx="7048165" cy="2099227"/>
          </a:xfrm>
        </p:grpSpPr>
        <p:cxnSp>
          <p:nvCxnSpPr>
            <p:cNvPr id="62" name="Straight Connector 12">
              <a:extLst>
                <a:ext uri="{FF2B5EF4-FFF2-40B4-BE49-F238E27FC236}">
                  <a16:creationId xmlns:a16="http://schemas.microsoft.com/office/drawing/2014/main" id="{1159D15B-7DBE-4E50-A3B2-C741E599F641}"/>
                </a:ext>
              </a:extLst>
            </p:cNvPr>
            <p:cNvCxnSpPr/>
            <p:nvPr/>
          </p:nvCxnSpPr>
          <p:spPr>
            <a:xfrm>
              <a:off x="1519511" y="4640650"/>
              <a:ext cx="6873849" cy="122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23">
              <a:extLst>
                <a:ext uri="{FF2B5EF4-FFF2-40B4-BE49-F238E27FC236}">
                  <a16:creationId xmlns:a16="http://schemas.microsoft.com/office/drawing/2014/main" id="{4439C1E2-479A-4AA5-83D1-B0DAB279FC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91343" y="4229942"/>
              <a:ext cx="131729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0</a:t>
              </a:r>
            </a:p>
          </p:txBody>
        </p:sp>
        <p:sp>
          <p:nvSpPr>
            <p:cNvPr id="64" name="Rectangle 11">
              <a:extLst>
                <a:ext uri="{FF2B5EF4-FFF2-40B4-BE49-F238E27FC236}">
                  <a16:creationId xmlns:a16="http://schemas.microsoft.com/office/drawing/2014/main" id="{80A53727-C611-4F6E-BFCE-32649024A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sp>
          <p:nvSpPr>
            <p:cNvPr id="65" name="Rectangle 14">
              <a:extLst>
                <a:ext uri="{FF2B5EF4-FFF2-40B4-BE49-F238E27FC236}">
                  <a16:creationId xmlns:a16="http://schemas.microsoft.com/office/drawing/2014/main" id="{FE9FEE22-3A65-4B38-A247-E07ED7DD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69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66" name="Rectangle 15">
              <a:extLst>
                <a:ext uri="{FF2B5EF4-FFF2-40B4-BE49-F238E27FC236}">
                  <a16:creationId xmlns:a16="http://schemas.microsoft.com/office/drawing/2014/main" id="{1CB8648A-E128-4C9D-9AE0-8EAD183E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549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67" name="Rectangle 16">
              <a:extLst>
                <a:ext uri="{FF2B5EF4-FFF2-40B4-BE49-F238E27FC236}">
                  <a16:creationId xmlns:a16="http://schemas.microsoft.com/office/drawing/2014/main" id="{72E208C7-DA93-4EBC-91D6-E14FFB61E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5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4</a:t>
              </a:r>
            </a:p>
          </p:txBody>
        </p:sp>
        <p:sp>
          <p:nvSpPr>
            <p:cNvPr id="68" name="Rectangle 17">
              <a:extLst>
                <a:ext uri="{FF2B5EF4-FFF2-40B4-BE49-F238E27FC236}">
                  <a16:creationId xmlns:a16="http://schemas.microsoft.com/office/drawing/2014/main" id="{A05DBAA4-2F10-4E6B-A8D4-C43DD42F7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181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69" name="Rectangle 18">
              <a:extLst>
                <a:ext uri="{FF2B5EF4-FFF2-40B4-BE49-F238E27FC236}">
                  <a16:creationId xmlns:a16="http://schemas.microsoft.com/office/drawing/2014/main" id="{CFB37C7F-DF96-402F-98A2-2AD67C693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031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6</a:t>
              </a:r>
            </a:p>
          </p:txBody>
        </p:sp>
        <p:sp>
          <p:nvSpPr>
            <p:cNvPr id="70" name="Rectangle 19">
              <a:extLst>
                <a:ext uri="{FF2B5EF4-FFF2-40B4-BE49-F238E27FC236}">
                  <a16:creationId xmlns:a16="http://schemas.microsoft.com/office/drawing/2014/main" id="{533C9E55-D8D0-4218-B405-C8C343FF2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3554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71" name="Rectangle 28">
              <a:extLst>
                <a:ext uri="{FF2B5EF4-FFF2-40B4-BE49-F238E27FC236}">
                  <a16:creationId xmlns:a16="http://schemas.microsoft.com/office/drawing/2014/main" id="{DD1D75B7-B8F4-486B-B21F-03B580956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227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72" name="Rectangle 29">
              <a:extLst>
                <a:ext uri="{FF2B5EF4-FFF2-40B4-BE49-F238E27FC236}">
                  <a16:creationId xmlns:a16="http://schemas.microsoft.com/office/drawing/2014/main" id="{4292D3AC-DE2B-4AC4-8884-027084780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383" y="4229941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9</a:t>
              </a:r>
            </a:p>
          </p:txBody>
        </p:sp>
        <p:sp>
          <p:nvSpPr>
            <p:cNvPr id="73" name="Rectangle 30">
              <a:extLst>
                <a:ext uri="{FF2B5EF4-FFF2-40B4-BE49-F238E27FC236}">
                  <a16:creationId xmlns:a16="http://schemas.microsoft.com/office/drawing/2014/main" id="{8099B9FD-9842-4E59-8FE3-8BD711D7E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602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10</a:t>
              </a:r>
            </a:p>
          </p:txBody>
        </p:sp>
        <p:sp>
          <p:nvSpPr>
            <p:cNvPr id="74" name="Rectangle 31">
              <a:extLst>
                <a:ext uri="{FF2B5EF4-FFF2-40B4-BE49-F238E27FC236}">
                  <a16:creationId xmlns:a16="http://schemas.microsoft.com/office/drawing/2014/main" id="{DBDF7C26-8F07-498E-A368-069B6B442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6863" y="4221453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11</a:t>
              </a:r>
            </a:p>
          </p:txBody>
        </p:sp>
        <p:sp>
          <p:nvSpPr>
            <p:cNvPr id="75" name="Rectangle 33">
              <a:extLst>
                <a:ext uri="{FF2B5EF4-FFF2-40B4-BE49-F238E27FC236}">
                  <a16:creationId xmlns:a16="http://schemas.microsoft.com/office/drawing/2014/main" id="{C0E46240-96D1-426E-8FD6-6CDB386BE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2448" y="4202329"/>
              <a:ext cx="337060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>
                  <a:solidFill>
                    <a:schemeClr val="accent1"/>
                  </a:solidFill>
                  <a:latin typeface="Century Gothic" panose="020B0502020202020204" pitchFamily="34" charset="0"/>
                </a:rPr>
                <a:t>12</a:t>
              </a:r>
            </a:p>
          </p:txBody>
        </p:sp>
        <p:cxnSp>
          <p:nvCxnSpPr>
            <p:cNvPr id="76" name="Straight Arrow Connector 34">
              <a:extLst>
                <a:ext uri="{FF2B5EF4-FFF2-40B4-BE49-F238E27FC236}">
                  <a16:creationId xmlns:a16="http://schemas.microsoft.com/office/drawing/2014/main" id="{590DB801-9452-4EE7-A949-AA9F9ED5EAE5}"/>
                </a:ext>
              </a:extLst>
            </p:cNvPr>
            <p:cNvCxnSpPr/>
            <p:nvPr/>
          </p:nvCxnSpPr>
          <p:spPr>
            <a:xfrm>
              <a:off x="1540640" y="4639623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35">
              <a:extLst>
                <a:ext uri="{FF2B5EF4-FFF2-40B4-BE49-F238E27FC236}">
                  <a16:creationId xmlns:a16="http://schemas.microsoft.com/office/drawing/2014/main" id="{EA4BDF63-0212-4773-8997-F965F4C9D0FE}"/>
                </a:ext>
              </a:extLst>
            </p:cNvPr>
            <p:cNvCxnSpPr/>
            <p:nvPr/>
          </p:nvCxnSpPr>
          <p:spPr>
            <a:xfrm>
              <a:off x="839336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36">
              <a:extLst>
                <a:ext uri="{FF2B5EF4-FFF2-40B4-BE49-F238E27FC236}">
                  <a16:creationId xmlns:a16="http://schemas.microsoft.com/office/drawing/2014/main" id="{5D60BBEE-2940-4C1B-BA2D-DDA0CD97E769}"/>
                </a:ext>
              </a:extLst>
            </p:cNvPr>
            <p:cNvCxnSpPr/>
            <p:nvPr/>
          </p:nvCxnSpPr>
          <p:spPr>
            <a:xfrm>
              <a:off x="1540640" y="5260524"/>
              <a:ext cx="2905074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37">
              <a:extLst>
                <a:ext uri="{FF2B5EF4-FFF2-40B4-BE49-F238E27FC236}">
                  <a16:creationId xmlns:a16="http://schemas.microsoft.com/office/drawing/2014/main" id="{3F1CA453-C1DC-49A0-8011-E13F672B5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079" y="4829047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80" name="Straight Arrow Connector 24">
              <a:extLst>
                <a:ext uri="{FF2B5EF4-FFF2-40B4-BE49-F238E27FC236}">
                  <a16:creationId xmlns:a16="http://schemas.microsoft.com/office/drawing/2014/main" id="{11C29049-2F59-4446-9615-6231EDAAEB2C}"/>
                </a:ext>
              </a:extLst>
            </p:cNvPr>
            <p:cNvCxnSpPr/>
            <p:nvPr/>
          </p:nvCxnSpPr>
          <p:spPr>
            <a:xfrm>
              <a:off x="4445714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25">
              <a:extLst>
                <a:ext uri="{FF2B5EF4-FFF2-40B4-BE49-F238E27FC236}">
                  <a16:creationId xmlns:a16="http://schemas.microsoft.com/office/drawing/2014/main" id="{BC8AFCE5-F83F-47AF-8B9D-5F7D05EFFB8E}"/>
                </a:ext>
              </a:extLst>
            </p:cNvPr>
            <p:cNvCxnSpPr/>
            <p:nvPr/>
          </p:nvCxnSpPr>
          <p:spPr>
            <a:xfrm>
              <a:off x="5550650" y="4652891"/>
              <a:ext cx="0" cy="6209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32">
              <a:extLst>
                <a:ext uri="{FF2B5EF4-FFF2-40B4-BE49-F238E27FC236}">
                  <a16:creationId xmlns:a16="http://schemas.microsoft.com/office/drawing/2014/main" id="{F5719F74-D2EC-422A-8408-62D0741C01D0}"/>
                </a:ext>
              </a:extLst>
            </p:cNvPr>
            <p:cNvCxnSpPr/>
            <p:nvPr/>
          </p:nvCxnSpPr>
          <p:spPr>
            <a:xfrm>
              <a:off x="5550650" y="5260524"/>
              <a:ext cx="2842710" cy="13268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id="{1A3F5A69-E47D-44D3-9FD8-1955E244F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6757" y="485833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A = 400</a:t>
              </a:r>
            </a:p>
          </p:txBody>
        </p:sp>
        <p:cxnSp>
          <p:nvCxnSpPr>
            <p:cNvPr id="138" name="Straight Arrow Connector 39">
              <a:extLst>
                <a:ext uri="{FF2B5EF4-FFF2-40B4-BE49-F238E27FC236}">
                  <a16:creationId xmlns:a16="http://schemas.microsoft.com/office/drawing/2014/main" id="{CEE60EA4-ED88-4143-91CB-63A130665813}"/>
                </a:ext>
              </a:extLst>
            </p:cNvPr>
            <p:cNvCxnSpPr/>
            <p:nvPr/>
          </p:nvCxnSpPr>
          <p:spPr>
            <a:xfrm>
              <a:off x="4960661" y="4652891"/>
              <a:ext cx="0" cy="12899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40">
              <a:extLst>
                <a:ext uri="{FF2B5EF4-FFF2-40B4-BE49-F238E27FC236}">
                  <a16:creationId xmlns:a16="http://schemas.microsoft.com/office/drawing/2014/main" id="{FA0B4FE6-9E21-4D14-802B-93A7E1170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079" y="5893175"/>
              <a:ext cx="1887166" cy="408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b="1">
                  <a:solidFill>
                    <a:srgbClr val="FF0000"/>
                  </a:solidFill>
                  <a:latin typeface="Century Gothic" panose="020B0502020202020204" pitchFamily="34" charset="0"/>
                </a:rPr>
                <a:t>600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39F36CF4-9DC8-4DDF-CB9D-4ED4F0FDC0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6B529A9-2D33-EA0B-44CF-C0B03A2AFBB9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F395D74-E5C6-8611-D620-8F4A77220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939C9BC-BFCB-9AC5-5C37-3028F3CCDF4E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D14299-5936-E9FD-90D6-E72A5155B2C5}"/>
              </a:ext>
            </a:extLst>
          </p:cNvPr>
          <p:cNvSpPr txBox="1"/>
          <p:nvPr/>
        </p:nvSpPr>
        <p:spPr>
          <a:xfrm>
            <a:off x="7265371" y="3429000"/>
            <a:ext cx="1357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>
                <a:solidFill>
                  <a:srgbClr val="D7A700"/>
                </a:solidFill>
                <a:latin typeface="Century Gothic" panose="020B0502020202020204" pitchFamily="34" charset="0"/>
              </a:rPr>
              <a:t>Años</a:t>
            </a:r>
            <a:endParaRPr lang="es-CO" sz="1400" b="1">
              <a:solidFill>
                <a:srgbClr val="D7A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Gill Sans MT (Títulos)"/>
              </a:rPr>
              <a:t>COMBINACIONES DE Relaciones de Equivalencia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graphicFrame>
        <p:nvGraphicFramePr>
          <p:cNvPr id="6" name="Gráfico 5"/>
          <p:cNvGraphicFramePr>
            <a:graphicFrameLocks/>
          </p:cNvGraphicFramePr>
          <p:nvPr/>
        </p:nvGraphicFramePr>
        <p:xfrm>
          <a:off x="1570039" y="2506196"/>
          <a:ext cx="8867775" cy="3141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Abrir corchete 8"/>
          <p:cNvSpPr/>
          <p:nvPr/>
        </p:nvSpPr>
        <p:spPr>
          <a:xfrm rot="5400000">
            <a:off x="3238501" y="2790106"/>
            <a:ext cx="154857" cy="1179872"/>
          </a:xfrm>
          <a:prstGeom prst="leftBracket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/>
          <p:cNvSpPr txBox="1"/>
          <p:nvPr/>
        </p:nvSpPr>
        <p:spPr>
          <a:xfrm>
            <a:off x="2860339" y="2954059"/>
            <a:ext cx="1179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A= 200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4329882" y="2860159"/>
            <a:ext cx="1906229" cy="36933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 rot="20944793">
            <a:off x="4723604" y="2690880"/>
            <a:ext cx="1179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G = 10</a:t>
            </a:r>
          </a:p>
        </p:txBody>
      </p:sp>
      <p:cxnSp>
        <p:nvCxnSpPr>
          <p:cNvPr id="16" name="Conector recto de flecha 15"/>
          <p:cNvCxnSpPr/>
          <p:nvPr/>
        </p:nvCxnSpPr>
        <p:spPr>
          <a:xfrm>
            <a:off x="6612194" y="2860159"/>
            <a:ext cx="1622322" cy="15239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 rot="339363">
            <a:off x="7010070" y="2597005"/>
            <a:ext cx="1179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G = -5</a:t>
            </a:r>
          </a:p>
        </p:txBody>
      </p:sp>
      <p:sp>
        <p:nvSpPr>
          <p:cNvPr id="21" name="CuadroTexto 20"/>
          <p:cNvSpPr txBox="1"/>
          <p:nvPr/>
        </p:nvSpPr>
        <p:spPr>
          <a:xfrm rot="20760208">
            <a:off x="8844229" y="2445213"/>
            <a:ext cx="1179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g = 3%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5694708" y="5811490"/>
            <a:ext cx="162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>
                <a:solidFill>
                  <a:srgbClr val="D7A700"/>
                </a:solidFill>
                <a:latin typeface="Century Gothic" panose="020B0502020202020204" pitchFamily="34" charset="0"/>
              </a:rPr>
              <a:t>i : 10% MV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9E3ADBD-8ADB-467C-9FEC-E3DB8E5DB221}"/>
              </a:ext>
            </a:extLst>
          </p:cNvPr>
          <p:cNvCxnSpPr>
            <a:cxnSpLocks/>
          </p:cNvCxnSpPr>
          <p:nvPr/>
        </p:nvCxnSpPr>
        <p:spPr>
          <a:xfrm flipV="1">
            <a:off x="8543653" y="2671467"/>
            <a:ext cx="1555778" cy="34109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DA0B306-EAED-40BC-A945-65A4CF8B15EF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2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B702086-542F-4556-96C8-D594F2902473}"/>
              </a:ext>
            </a:extLst>
          </p:cNvPr>
          <p:cNvSpPr txBox="1"/>
          <p:nvPr/>
        </p:nvSpPr>
        <p:spPr>
          <a:xfrm>
            <a:off x="10431567" y="4957379"/>
            <a:ext cx="1622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>
                <a:solidFill>
                  <a:schemeClr val="accent5"/>
                </a:solidFill>
                <a:latin typeface="Century Gothic" panose="020B0502020202020204" pitchFamily="34" charset="0"/>
              </a:rPr>
              <a:t>Meses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279F1E-D250-9F15-7982-DEFCFF3A84E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E3DF2B-B095-0F00-42F9-713EE4A02E36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23DEC82B-73C4-9947-315A-DCE9BFD10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FA39A22-E11B-FB17-B3B3-AEA0ED64C639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436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Gill Sans MT (Títulos)"/>
              </a:rPr>
              <a:t>COMBINACIONES DE Relaciones de Equivalencia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2071322" y="4991419"/>
                <a:ext cx="189859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(200;10%;3)</m:t>
                      </m:r>
                    </m:oMath>
                  </m:oMathPara>
                </a14:m>
                <a:endParaRPr lang="es-CO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322" y="4991419"/>
                <a:ext cx="1898597" cy="298415"/>
              </a:xfrm>
              <a:prstGeom prst="rect">
                <a:avLst/>
              </a:prstGeom>
              <a:blipFill>
                <a:blip r:embed="rId3"/>
                <a:stretch>
                  <a:fillRect l="-2667" t="-4167" r="-4000" b="-2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/>
              <p:cNvSpPr txBox="1"/>
              <p:nvPr/>
            </p:nvSpPr>
            <p:spPr>
              <a:xfrm>
                <a:off x="4317343" y="4964241"/>
                <a:ext cx="205748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CO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(200;10%;7)</m:t>
                      </m:r>
                    </m:oMath>
                  </m:oMathPara>
                </a14:m>
                <a:endParaRPr lang="es-CO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CuadroTexto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43" y="4964241"/>
                <a:ext cx="2057486" cy="298415"/>
              </a:xfrm>
              <a:prstGeom prst="rect">
                <a:avLst/>
              </a:prstGeom>
              <a:blipFill>
                <a:blip r:embed="rId4"/>
                <a:stretch>
                  <a:fillRect l="-1829" r="-3049" b="-2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4317343" y="5695685"/>
                <a:ext cx="192924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CO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(10;10%;7)</m:t>
                      </m:r>
                    </m:oMath>
                  </m:oMathPara>
                </a14:m>
                <a:endParaRPr lang="es-CO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43" y="5695685"/>
                <a:ext cx="1929246" cy="298415"/>
              </a:xfrm>
              <a:prstGeom prst="rect">
                <a:avLst/>
              </a:prstGeom>
              <a:blipFill>
                <a:blip r:embed="rId5"/>
                <a:stretch>
                  <a:fillRect l="-1948" t="-4167" r="-3247" b="-291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/>
          <p:cNvSpPr txBox="1"/>
          <p:nvPr/>
        </p:nvSpPr>
        <p:spPr>
          <a:xfrm>
            <a:off x="2837296" y="4652803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6"/>
                </a:solidFill>
                <a:latin typeface="Century Gothic" panose="020B0502020202020204" pitchFamily="34" charset="0"/>
              </a:rPr>
              <a:t>A      i     n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5054474" y="4673515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      i     n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5024976" y="5363983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G    i    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/>
              <p:cNvSpPr/>
              <p:nvPr/>
            </p:nvSpPr>
            <p:spPr>
              <a:xfrm>
                <a:off x="4317345" y="6183381"/>
                <a:ext cx="2072170" cy="537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>
                          <m:sSub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45" y="6183381"/>
                <a:ext cx="2072170" cy="5375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/>
              <p:cNvSpPr txBox="1"/>
              <p:nvPr/>
            </p:nvSpPr>
            <p:spPr>
              <a:xfrm>
                <a:off x="6666066" y="4952685"/>
                <a:ext cx="215527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CO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(255;10%;5)</m:t>
                      </m:r>
                    </m:oMath>
                  </m:oMathPara>
                </a14:m>
                <a:endParaRPr lang="es-CO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Cuadro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066" y="4952685"/>
                <a:ext cx="2155270" cy="298415"/>
              </a:xfrm>
              <a:prstGeom prst="rect">
                <a:avLst/>
              </a:prstGeom>
              <a:blipFill>
                <a:blip r:embed="rId7"/>
                <a:stretch>
                  <a:fillRect l="-2353" r="-2941" b="-2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/>
              <p:cNvSpPr txBox="1"/>
              <p:nvPr/>
            </p:nvSpPr>
            <p:spPr>
              <a:xfrm>
                <a:off x="6666066" y="5684129"/>
                <a:ext cx="189879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CO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(5;10%;5)</m:t>
                      </m:r>
                    </m:oMath>
                  </m:oMathPara>
                </a14:m>
                <a:endParaRPr lang="es-CO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Cuadro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066" y="5684129"/>
                <a:ext cx="1898790" cy="298415"/>
              </a:xfrm>
              <a:prstGeom prst="rect">
                <a:avLst/>
              </a:prstGeom>
              <a:blipFill>
                <a:blip r:embed="rId8"/>
                <a:stretch>
                  <a:fillRect l="-2667" t="-4167" r="-3333" b="-291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uadroTexto 30"/>
          <p:cNvSpPr txBox="1"/>
          <p:nvPr/>
        </p:nvSpPr>
        <p:spPr>
          <a:xfrm>
            <a:off x="7491684" y="4676707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A      i     n</a:t>
            </a:r>
          </a:p>
        </p:txBody>
      </p:sp>
      <p:sp>
        <p:nvSpPr>
          <p:cNvPr id="32" name="CuadroTexto 31"/>
          <p:cNvSpPr txBox="1"/>
          <p:nvPr/>
        </p:nvSpPr>
        <p:spPr>
          <a:xfrm>
            <a:off x="7358950" y="5352427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G    i    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/>
              <p:cNvSpPr/>
              <p:nvPr/>
            </p:nvSpPr>
            <p:spPr>
              <a:xfrm>
                <a:off x="6666067" y="6171825"/>
                <a:ext cx="2235677" cy="537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Rectá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067" y="6171825"/>
                <a:ext cx="2235677" cy="5375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/>
              <p:cNvSpPr txBox="1"/>
              <p:nvPr/>
            </p:nvSpPr>
            <p:spPr>
              <a:xfrm>
                <a:off x="9112572" y="5033789"/>
                <a:ext cx="2412905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(242;3%;10%;5)</m:t>
                      </m:r>
                    </m:oMath>
                  </m:oMathPara>
                </a14:m>
                <a:endParaRPr lang="es-CO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5" name="CuadroTexto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572" y="5033789"/>
                <a:ext cx="2412905" cy="299249"/>
              </a:xfrm>
              <a:prstGeom prst="rect">
                <a:avLst/>
              </a:prstGeom>
              <a:blipFill>
                <a:blip r:embed="rId10"/>
                <a:stretch>
                  <a:fillRect l="-1571" r="-3141" b="-2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uadroTexto 35"/>
          <p:cNvSpPr txBox="1"/>
          <p:nvPr/>
        </p:nvSpPr>
        <p:spPr>
          <a:xfrm>
            <a:off x="9759379" y="4707278"/>
            <a:ext cx="185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1"/>
                </a:solidFill>
                <a:latin typeface="Century Gothic" panose="020B0502020202020204" pitchFamily="34" charset="0"/>
              </a:rPr>
              <a:t>D1   g     i    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 36"/>
              <p:cNvSpPr/>
              <p:nvPr/>
            </p:nvSpPr>
            <p:spPr>
              <a:xfrm>
                <a:off x="9229035" y="6057978"/>
                <a:ext cx="1831014" cy="538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7" name="Rectángulo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035" y="6057978"/>
                <a:ext cx="1831014" cy="5380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ángulo 41">
            <a:extLst>
              <a:ext uri="{FF2B5EF4-FFF2-40B4-BE49-F238E27FC236}">
                <a16:creationId xmlns:a16="http://schemas.microsoft.com/office/drawing/2014/main" id="{5D37E4AD-C22C-45B7-AE99-973AB084E6A8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Ejemplo 2</a:t>
            </a:r>
            <a:endParaRPr lang="es-CO"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43" name="Gráfico 42">
            <a:extLst>
              <a:ext uri="{FF2B5EF4-FFF2-40B4-BE49-F238E27FC236}">
                <a16:creationId xmlns:a16="http://schemas.microsoft.com/office/drawing/2014/main" id="{B24EC915-8E30-4C03-850B-F6EF05FC7BFF}"/>
              </a:ext>
            </a:extLst>
          </p:cNvPr>
          <p:cNvGraphicFramePr>
            <a:graphicFrameLocks/>
          </p:cNvGraphicFramePr>
          <p:nvPr/>
        </p:nvGraphicFramePr>
        <p:xfrm>
          <a:off x="1980934" y="2041839"/>
          <a:ext cx="9390072" cy="2227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5" name="Abrir llave 44">
            <a:extLst>
              <a:ext uri="{FF2B5EF4-FFF2-40B4-BE49-F238E27FC236}">
                <a16:creationId xmlns:a16="http://schemas.microsoft.com/office/drawing/2014/main" id="{F336C31B-6A49-4BD8-9267-CCCFD91B1C54}"/>
              </a:ext>
            </a:extLst>
          </p:cNvPr>
          <p:cNvSpPr/>
          <p:nvPr/>
        </p:nvSpPr>
        <p:spPr>
          <a:xfrm rot="16200000">
            <a:off x="5353285" y="3149367"/>
            <a:ext cx="516193" cy="2588077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46" name="Abrir llave 45">
            <a:extLst>
              <a:ext uri="{FF2B5EF4-FFF2-40B4-BE49-F238E27FC236}">
                <a16:creationId xmlns:a16="http://schemas.microsoft.com/office/drawing/2014/main" id="{17AA207F-A6D5-41CA-8217-073E87C5CCBA}"/>
              </a:ext>
            </a:extLst>
          </p:cNvPr>
          <p:cNvSpPr/>
          <p:nvPr/>
        </p:nvSpPr>
        <p:spPr>
          <a:xfrm rot="16200000">
            <a:off x="7848295" y="3637082"/>
            <a:ext cx="516193" cy="1690616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47" name="Abrir llave 46">
            <a:extLst>
              <a:ext uri="{FF2B5EF4-FFF2-40B4-BE49-F238E27FC236}">
                <a16:creationId xmlns:a16="http://schemas.microsoft.com/office/drawing/2014/main" id="{358C5809-EC18-4449-9264-4BB901C2E022}"/>
              </a:ext>
            </a:extLst>
          </p:cNvPr>
          <p:cNvSpPr/>
          <p:nvPr/>
        </p:nvSpPr>
        <p:spPr>
          <a:xfrm rot="16200000">
            <a:off x="9940360" y="3637081"/>
            <a:ext cx="516193" cy="1690616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890FBE7-68B3-4D78-8599-16CCCBAB0CED}"/>
              </a:ext>
            </a:extLst>
          </p:cNvPr>
          <p:cNvSpPr txBox="1"/>
          <p:nvPr/>
        </p:nvSpPr>
        <p:spPr>
          <a:xfrm>
            <a:off x="11098273" y="3681900"/>
            <a:ext cx="162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>
                <a:solidFill>
                  <a:srgbClr val="D7A700"/>
                </a:solidFill>
                <a:latin typeface="Century Gothic" panose="020B0502020202020204" pitchFamily="34" charset="0"/>
              </a:rPr>
              <a:t>Meses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DC88D5-423B-B0D8-EDD4-631708BF2C1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841A94-2869-7525-7E63-F65F91FFC67C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D4B96C7-BA18-BDAC-00DD-0367509C0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68B8ED2-2437-3113-D8C9-E6E49A16DADF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D605FA5C-502A-B2A6-6068-01B5167362EC}"/>
              </a:ext>
            </a:extLst>
          </p:cNvPr>
          <p:cNvSpPr/>
          <p:nvPr/>
        </p:nvSpPr>
        <p:spPr>
          <a:xfrm rot="16200000">
            <a:off x="3274034" y="3858502"/>
            <a:ext cx="477213" cy="1208792"/>
          </a:xfrm>
          <a:prstGeom prst="leftBrace">
            <a:avLst>
              <a:gd name="adj1" fmla="val 5939"/>
              <a:gd name="adj2" fmla="val 45314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24" grpId="0"/>
      <p:bldP spid="15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7" grpId="0"/>
      <p:bldP spid="45" grpId="0" animBg="1"/>
      <p:bldP spid="46" grpId="0" animBg="1"/>
      <p:bldP spid="4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Gill Sans MT (Títulos)"/>
              </a:rPr>
              <a:t>COMBINACIONES DE Relaciones de Equivalencia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2526751" y="4988255"/>
                <a:ext cx="1898597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CO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s-CO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(200;10%;3)</m:t>
                      </m:r>
                    </m:oMath>
                  </m:oMathPara>
                </a14:m>
                <a:endParaRPr lang="es-CO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51" y="4988255"/>
                <a:ext cx="1898597" cy="298415"/>
              </a:xfrm>
              <a:prstGeom prst="rect">
                <a:avLst/>
              </a:prstGeom>
              <a:blipFill>
                <a:blip r:embed="rId3"/>
                <a:stretch>
                  <a:fillRect l="-1987" r="-3311" b="-2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/>
              <p:cNvSpPr/>
              <p:nvPr/>
            </p:nvSpPr>
            <p:spPr>
              <a:xfrm>
                <a:off x="4561892" y="4862296"/>
                <a:ext cx="2072170" cy="537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>
                          <m:sSubPr>
                            <m:ctrlP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92" y="4862296"/>
                <a:ext cx="2072170" cy="5375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/>
              <p:cNvSpPr/>
              <p:nvPr/>
            </p:nvSpPr>
            <p:spPr>
              <a:xfrm>
                <a:off x="6910614" y="4868863"/>
                <a:ext cx="2219390" cy="537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CO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s-CO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Rectá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614" y="4868863"/>
                <a:ext cx="2219390" cy="5375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 36"/>
              <p:cNvSpPr/>
              <p:nvPr/>
            </p:nvSpPr>
            <p:spPr>
              <a:xfrm>
                <a:off x="9473582" y="4868059"/>
                <a:ext cx="1831014" cy="538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b>
                    </m:sSub>
                    <m:r>
                      <a:rPr lang="es-C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s-CO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s-CO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CO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s-CO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den>
                    </m:f>
                  </m:oMath>
                </a14:m>
                <a:endParaRPr lang="es-CO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7" name="Rectángulo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82" y="4868059"/>
                <a:ext cx="1831014" cy="5380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/>
              <p:cNvSpPr txBox="1"/>
              <p:nvPr/>
            </p:nvSpPr>
            <p:spPr>
              <a:xfrm>
                <a:off x="6267370" y="5729914"/>
                <a:ext cx="18418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𝐕𝐏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=$ 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𝟗𝟏𝟔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</m:oMath>
                  </m:oMathPara>
                </a14:m>
                <a:endParaRPr lang="es-CO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CuadroTexto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70" y="5729914"/>
                <a:ext cx="1841851" cy="276999"/>
              </a:xfrm>
              <a:prstGeom prst="rect">
                <a:avLst/>
              </a:prstGeom>
              <a:blipFill>
                <a:blip r:embed="rId7"/>
                <a:stretch>
                  <a:fillRect l="-1370" t="-9091" r="-2055" b="-409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id="{4B19CDA7-0C86-462A-8B43-1594FE087363}"/>
              </a:ext>
            </a:extLst>
          </p:cNvPr>
          <p:cNvSpPr/>
          <p:nvPr/>
        </p:nvSpPr>
        <p:spPr>
          <a:xfrm>
            <a:off x="581192" y="2026344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2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7913FA-4FE3-4210-9869-6E7B84961E1B}"/>
              </a:ext>
            </a:extLst>
          </p:cNvPr>
          <p:cNvSpPr txBox="1"/>
          <p:nvPr/>
        </p:nvSpPr>
        <p:spPr>
          <a:xfrm>
            <a:off x="11098273" y="3681900"/>
            <a:ext cx="162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>
                <a:solidFill>
                  <a:srgbClr val="D7A700"/>
                </a:solidFill>
                <a:latin typeface="Century Gothic" panose="020B0502020202020204" pitchFamily="34" charset="0"/>
              </a:rPr>
              <a:t>Meses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1642FF-6B2F-63D5-D0C8-8CC806AFA3D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0A941E-FF55-0BC3-9D8B-4C41B3E7483A}"/>
              </a:ext>
            </a:extLst>
          </p:cNvPr>
          <p:cNvSpPr/>
          <p:nvPr/>
        </p:nvSpPr>
        <p:spPr>
          <a:xfrm>
            <a:off x="8795541" y="118110"/>
            <a:ext cx="29418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Profesora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Andrea Yohana Cortés Mojica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6D7117B0-243B-AC8A-FE2D-7BF77CF91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B1FA927-3F6C-912E-1E85-04296AC45E56}"/>
              </a:ext>
            </a:extLst>
          </p:cNvPr>
          <p:cNvSpPr/>
          <p:nvPr/>
        </p:nvSpPr>
        <p:spPr>
          <a:xfrm>
            <a:off x="4858343" y="118107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332677B-6D53-10FC-F0CF-866013EE9A15}"/>
              </a:ext>
            </a:extLst>
          </p:cNvPr>
          <p:cNvGraphicFramePr>
            <a:graphicFrameLocks/>
          </p:cNvGraphicFramePr>
          <p:nvPr/>
        </p:nvGraphicFramePr>
        <p:xfrm>
          <a:off x="1980934" y="2041839"/>
          <a:ext cx="9390072" cy="2227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0" name="Abrir llave 9">
            <a:extLst>
              <a:ext uri="{FF2B5EF4-FFF2-40B4-BE49-F238E27FC236}">
                <a16:creationId xmlns:a16="http://schemas.microsoft.com/office/drawing/2014/main" id="{6CD373C9-3CB9-AC5A-2E61-55D3B1FBE7B3}"/>
              </a:ext>
            </a:extLst>
          </p:cNvPr>
          <p:cNvSpPr/>
          <p:nvPr/>
        </p:nvSpPr>
        <p:spPr>
          <a:xfrm rot="16200000">
            <a:off x="5541781" y="3337864"/>
            <a:ext cx="516193" cy="2211085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02448E85-FDC3-38AD-9E04-70EBA30A1B28}"/>
              </a:ext>
            </a:extLst>
          </p:cNvPr>
          <p:cNvSpPr/>
          <p:nvPr/>
        </p:nvSpPr>
        <p:spPr>
          <a:xfrm rot="16200000">
            <a:off x="7848295" y="3637082"/>
            <a:ext cx="516193" cy="1690616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5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C6A94AF9-3CA1-5A5D-934E-46BC0A26E543}"/>
              </a:ext>
            </a:extLst>
          </p:cNvPr>
          <p:cNvSpPr/>
          <p:nvPr/>
        </p:nvSpPr>
        <p:spPr>
          <a:xfrm rot="16200000">
            <a:off x="9940360" y="3637081"/>
            <a:ext cx="516193" cy="1690616"/>
          </a:xfrm>
          <a:prstGeom prst="leftBrace">
            <a:avLst>
              <a:gd name="adj1" fmla="val 8333"/>
              <a:gd name="adj2" fmla="val 4916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/>
              </a:solidFill>
            </a:endParaRPr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868DA8D1-71D2-2879-F595-0D8E372BB59D}"/>
              </a:ext>
            </a:extLst>
          </p:cNvPr>
          <p:cNvSpPr/>
          <p:nvPr/>
        </p:nvSpPr>
        <p:spPr>
          <a:xfrm rot="16200000">
            <a:off x="3448205" y="3858502"/>
            <a:ext cx="477213" cy="1208792"/>
          </a:xfrm>
          <a:prstGeom prst="leftBrace">
            <a:avLst>
              <a:gd name="adj1" fmla="val 5939"/>
              <a:gd name="adj2" fmla="val 45314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42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0" grpId="0" animBg="1"/>
      <p:bldP spid="12" grpId="0" animBg="1"/>
      <p:bldP spid="14" grpId="0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8FED-13B5-8989-BEE7-6F3AE3F9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8C43B-D845-3A20-C7CA-91B5EE26A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359896" cy="826833"/>
          </a:xfrm>
        </p:spPr>
        <p:txBody>
          <a:bodyPr>
            <a:noAutofit/>
          </a:bodyPr>
          <a:lstStyle/>
          <a:p>
            <a:r>
              <a:rPr lang="es-CO" sz="4000" dirty="0"/>
              <a:t>Relaciones de equivalencia (</a:t>
            </a:r>
            <a:r>
              <a:rPr lang="es-CO" sz="4000" dirty="0">
                <a:solidFill>
                  <a:srgbClr val="D7A700"/>
                </a:solidFill>
              </a:rPr>
              <a:t>PARTE III</a:t>
            </a:r>
            <a:r>
              <a:rPr lang="es-CO" sz="4000" dirty="0"/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B173D9B-6E1A-BA3A-CC13-AD61B863B7A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25F679DF-F757-DFC3-43A6-5CEDA5E9A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04E5CEE3-B7B1-9037-BAA9-232AF5A5B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4A53A9F-1806-EA65-D9D3-0A2AD9FB5B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0B224D-4568-42A6-A69B-DBFEC909042A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</a:rPr>
              <a:t>													</a:t>
            </a:r>
            <a:endParaRPr lang="es-CO" sz="2000" b="1" u="sng">
              <a:solidFill>
                <a:schemeClr val="bg1"/>
              </a:solidFill>
            </a:endParaRPr>
          </a:p>
          <a:p>
            <a:endParaRPr lang="es-CO" sz="1000" b="1">
              <a:solidFill>
                <a:schemeClr val="bg1"/>
              </a:solidFill>
            </a:endParaRPr>
          </a:p>
          <a:p>
            <a:r>
              <a:rPr lang="es-CO" sz="2000" b="1">
                <a:solidFill>
                  <a:schemeClr val="bg1"/>
                </a:solidFill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</a:endParaRPr>
          </a:p>
          <a:p>
            <a:r>
              <a:rPr lang="es-CO" sz="2000" b="1">
                <a:solidFill>
                  <a:schemeClr val="bg1"/>
                </a:solidFill>
              </a:rPr>
              <a:t>Curso       </a:t>
            </a:r>
            <a:r>
              <a:rPr lang="es-CO" sz="2000">
                <a:solidFill>
                  <a:schemeClr val="bg1"/>
                </a:solidFill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</a:rPr>
              <a:t>Correo     </a:t>
            </a:r>
            <a:r>
              <a:rPr lang="es-CO" sz="2000">
                <a:solidFill>
                  <a:schemeClr val="bg1"/>
                </a:solidFill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436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c0f78d-6fc1-47c2-b059-fed23358a506}" enabled="1" method="Standard" siteId="{1b779eaf-dae5-4983-b600-0da6174a3c82}" contentBits="0" removed="0"/>
  <clbl:label id="{fabd047c-ff48-492a-8bbb-8f98b9fb9cca}" enabled="0" method="" siteId="{fabd047c-ff48-492a-8bbb-8f98b9fb9c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{7D419497-B805-D64B-B6E0-457F12115DD4}tf10001123</Template>
  <TotalTime>382</TotalTime>
  <Words>2664</Words>
  <Application>Microsoft Macintosh PowerPoint</Application>
  <PresentationFormat>Widescreen</PresentationFormat>
  <Paragraphs>679</Paragraphs>
  <Slides>44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Arial</vt:lpstr>
      <vt:lpstr>Calibri</vt:lpstr>
      <vt:lpstr>Cambria Math</vt:lpstr>
      <vt:lpstr>Century Gothic</vt:lpstr>
      <vt:lpstr>Gill Sans MT</vt:lpstr>
      <vt:lpstr>Gill Sans MT (Cuerpo)</vt:lpstr>
      <vt:lpstr>Gill Sans MT (Títulos)</vt:lpstr>
      <vt:lpstr>Wingdings</vt:lpstr>
      <vt:lpstr>Wingdings 2</vt:lpstr>
      <vt:lpstr>Dividendo</vt:lpstr>
      <vt:lpstr>Relaciones de equivalencia (PARTE III)</vt:lpstr>
      <vt:lpstr>Hojas de Fórmulas</vt:lpstr>
      <vt:lpstr>AGENDA PROPUESTA</vt:lpstr>
      <vt:lpstr>AGENDA PROPUESTA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Gradientes geométricos</vt:lpstr>
      <vt:lpstr>AGENDA PROPUESTA</vt:lpstr>
      <vt:lpstr>Relaciones de equivalencia con varios costos de oportunidad</vt:lpstr>
      <vt:lpstr>Relaciones de equivalencia con varios costos de oportunidad</vt:lpstr>
      <vt:lpstr>Relaciones de equivalencia con varios costos de oportunidad</vt:lpstr>
      <vt:lpstr>Relaciones de equivalencia con varios costos de oportunidad</vt:lpstr>
      <vt:lpstr>Relaciones de equivalencia con varios costos de oportunidad</vt:lpstr>
      <vt:lpstr>Relaciones de equivalencia con varios costos de oportunidad</vt:lpstr>
      <vt:lpstr>AGENDA PROPUESTA</vt:lpstr>
      <vt:lpstr>COMBINACIONES DE Relaciones de Equivalencia </vt:lpstr>
      <vt:lpstr> COMBINACIONES DE Relaciones de Equivalencia </vt:lpstr>
      <vt:lpstr>COMBINACIONES DE Relaciones de Equivalencia </vt:lpstr>
      <vt:lpstr>COMBINACIONES DE Relaciones de Equivalencia </vt:lpstr>
      <vt:lpstr>COMBINACIONES DE Relaciones de Equivalencia </vt:lpstr>
      <vt:lpstr>COMBINACIONES DE Relaciones de Equivalencia </vt:lpstr>
      <vt:lpstr>COMBINACIONES DE Relaciones de Equivalencia </vt:lpstr>
      <vt:lpstr>COMBINACIONES DE Relaciones de Equivalencia </vt:lpstr>
      <vt:lpstr>Relaciones de equivalencia (PARTE III)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10</cp:revision>
  <dcterms:created xsi:type="dcterms:W3CDTF">2019-06-20T04:25:04Z</dcterms:created>
  <dcterms:modified xsi:type="dcterms:W3CDTF">2026-02-17T02:14:55Z</dcterms:modified>
</cp:coreProperties>
</file>