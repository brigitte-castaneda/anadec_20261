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92" r:id="rId1"/>
  </p:sldMasterIdLst>
  <p:notesMasterIdLst>
    <p:notesMasterId r:id="rId30"/>
  </p:notesMasterIdLst>
  <p:handoutMasterIdLst>
    <p:handoutMasterId r:id="rId31"/>
  </p:handoutMasterIdLst>
  <p:sldIdLst>
    <p:sldId id="398" r:id="rId2"/>
    <p:sldId id="354" r:id="rId3"/>
    <p:sldId id="431" r:id="rId4"/>
    <p:sldId id="258" r:id="rId5"/>
    <p:sldId id="259" r:id="rId6"/>
    <p:sldId id="421" r:id="rId7"/>
    <p:sldId id="429" r:id="rId8"/>
    <p:sldId id="457" r:id="rId9"/>
    <p:sldId id="430" r:id="rId10"/>
    <p:sldId id="458" r:id="rId11"/>
    <p:sldId id="423" r:id="rId12"/>
    <p:sldId id="427" r:id="rId13"/>
    <p:sldId id="459" r:id="rId14"/>
    <p:sldId id="297" r:id="rId15"/>
    <p:sldId id="465" r:id="rId16"/>
    <p:sldId id="438" r:id="rId17"/>
    <p:sldId id="460" r:id="rId18"/>
    <p:sldId id="454" r:id="rId19"/>
    <p:sldId id="461" r:id="rId20"/>
    <p:sldId id="455" r:id="rId21"/>
    <p:sldId id="462" r:id="rId22"/>
    <p:sldId id="463" r:id="rId23"/>
    <p:sldId id="456" r:id="rId24"/>
    <p:sldId id="425" r:id="rId25"/>
    <p:sldId id="265" r:id="rId26"/>
    <p:sldId id="302" r:id="rId27"/>
    <p:sldId id="464" r:id="rId28"/>
    <p:sldId id="42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4E6"/>
    <a:srgbClr val="D7A700"/>
    <a:srgbClr val="C00000"/>
    <a:srgbClr val="002F90"/>
    <a:srgbClr val="FF6600"/>
    <a:srgbClr val="48BE7A"/>
    <a:srgbClr val="FF8AD8"/>
    <a:srgbClr val="7A81FF"/>
    <a:srgbClr val="D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C69DC4-88EF-FF4D-B714-7853276D8572}" v="10" dt="2026-01-22T18:16:47.56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01"/>
    <p:restoredTop sz="94694"/>
  </p:normalViewPr>
  <p:slideViewPr>
    <p:cSldViewPr snapToGrid="0">
      <p:cViewPr varScale="1">
        <p:scale>
          <a:sx n="116" d="100"/>
          <a:sy n="116" d="100"/>
        </p:scale>
        <p:origin x="21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gitte Castañeda Rodriguez" userId="5c201908-82f6-498c-9281-7eaa96fb17b4" providerId="ADAL" clId="{74C69DC4-88EF-FF4D-B714-7853276D8572}"/>
    <pc:docChg chg="custSel addSld modSld">
      <pc:chgData name="Brigitte Castañeda Rodriguez" userId="5c201908-82f6-498c-9281-7eaa96fb17b4" providerId="ADAL" clId="{74C69DC4-88EF-FF4D-B714-7853276D8572}" dt="2026-01-22T18:17:08.003" v="44" actId="1038"/>
      <pc:docMkLst>
        <pc:docMk/>
      </pc:docMkLst>
      <pc:sldChg chg="addSp delSp modSp new mod">
        <pc:chgData name="Brigitte Castañeda Rodriguez" userId="5c201908-82f6-498c-9281-7eaa96fb17b4" providerId="ADAL" clId="{74C69DC4-88EF-FF4D-B714-7853276D8572}" dt="2026-01-22T18:17:08.003" v="44" actId="1038"/>
        <pc:sldMkLst>
          <pc:docMk/>
          <pc:sldMk cId="1858068227" sldId="465"/>
        </pc:sldMkLst>
        <pc:spChg chg="del">
          <ac:chgData name="Brigitte Castañeda Rodriguez" userId="5c201908-82f6-498c-9281-7eaa96fb17b4" providerId="ADAL" clId="{74C69DC4-88EF-FF4D-B714-7853276D8572}" dt="2026-01-22T15:46:01.212" v="1"/>
          <ac:spMkLst>
            <pc:docMk/>
            <pc:sldMk cId="1858068227" sldId="465"/>
            <ac:spMk id="3" creationId="{896D3C4C-CABA-6EA2-269E-06C79DF308AE}"/>
          </ac:spMkLst>
        </pc:spChg>
        <pc:spChg chg="add mod">
          <ac:chgData name="Brigitte Castañeda Rodriguez" userId="5c201908-82f6-498c-9281-7eaa96fb17b4" providerId="ADAL" clId="{74C69DC4-88EF-FF4D-B714-7853276D8572}" dt="2026-01-22T15:48:01.010" v="21" actId="20577"/>
          <ac:spMkLst>
            <pc:docMk/>
            <pc:sldMk cId="1858068227" sldId="465"/>
            <ac:spMk id="6" creationId="{957CC4DB-6A42-B1F2-5B4C-BC2E0CCA1C14}"/>
          </ac:spMkLst>
        </pc:spChg>
        <pc:spChg chg="add mod">
          <ac:chgData name="Brigitte Castañeda Rodriguez" userId="5c201908-82f6-498c-9281-7eaa96fb17b4" providerId="ADAL" clId="{74C69DC4-88EF-FF4D-B714-7853276D8572}" dt="2026-01-22T18:16:44.739" v="22" actId="478"/>
          <ac:spMkLst>
            <pc:docMk/>
            <pc:sldMk cId="1858068227" sldId="465"/>
            <ac:spMk id="7" creationId="{04F77242-9A2F-D5C2-CB30-35BD723B6A5B}"/>
          </ac:spMkLst>
        </pc:spChg>
        <pc:picChg chg="add del mod">
          <ac:chgData name="Brigitte Castañeda Rodriguez" userId="5c201908-82f6-498c-9281-7eaa96fb17b4" providerId="ADAL" clId="{74C69DC4-88EF-FF4D-B714-7853276D8572}" dt="2026-01-22T18:16:44.739" v="22" actId="478"/>
          <ac:picMkLst>
            <pc:docMk/>
            <pc:sldMk cId="1858068227" sldId="465"/>
            <ac:picMk id="5" creationId="{9BB88309-A710-371A-547E-CCCA5722ECB2}"/>
          </ac:picMkLst>
        </pc:picChg>
        <pc:picChg chg="add mod">
          <ac:chgData name="Brigitte Castañeda Rodriguez" userId="5c201908-82f6-498c-9281-7eaa96fb17b4" providerId="ADAL" clId="{74C69DC4-88EF-FF4D-B714-7853276D8572}" dt="2026-01-22T18:17:08.003" v="44" actId="1038"/>
          <ac:picMkLst>
            <pc:docMk/>
            <pc:sldMk cId="1858068227" sldId="465"/>
            <ac:picMk id="8" creationId="{F29E7519-68F6-408B-90D0-BC162BBAED3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22/01/26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22/01/26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8341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2BA75-1C58-12F2-FC26-D58D365B4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E63D0-FF96-6146-048E-989947235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346130-B552-80AD-B402-BC6AF0F48D06}"/>
              </a:ext>
            </a:extLst>
          </p:cNvPr>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854133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85889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E5A76-0AD1-7331-6592-443BEBA68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2D4EB-7BC5-4A65-58A9-36A3037CB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341ECC-ADCD-9EBB-1965-F5AEFB523F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928EC9-2D6A-1788-2E09-4C33C3CB7CB7}"/>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198945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633907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032273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477196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789880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63B11-726F-C14B-0766-E48E67FA3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1DD4E-7805-673B-A1B2-FDED71A69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B61AA-156E-68F2-AAAA-E622B1A93E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DBEDA8-4E38-F935-6611-972B929EAF65}"/>
              </a:ext>
            </a:extLst>
          </p:cNvPr>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404898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1/22/26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38534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8308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1/22/26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32098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6928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1/22/26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27694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1/22/26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90547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1/22/26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94664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1/22/26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37781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219591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747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1/22/26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56143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1/22/26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2190837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eptgu.eco.catedras.unc.edu.ar/unidad-1-2/que-es-un-proyecto/costo-de-oportunidad/"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menti.com/aljbo7jfqy9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6.jpe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6.jpe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8.jpe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20.jpe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20.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4.gif"/><Relationship Id="rId5" Type="http://schemas.openxmlformats.org/officeDocument/2006/relationships/image" Target="../media/image23.jpeg"/><Relationship Id="rId4" Type="http://schemas.openxmlformats.org/officeDocument/2006/relationships/image" Target="../media/image22.jpe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6" name="CuadroTexto 5"/>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4" name="Rectángulo 3">
            <a:extLst>
              <a:ext uri="{FF2B5EF4-FFF2-40B4-BE49-F238E27FC236}">
                <a16:creationId xmlns:a16="http://schemas.microsoft.com/office/drawing/2014/main" id="{B4713FC0-59F6-475F-C18A-6594C895A7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743835"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4D96E788-B85C-A920-13D8-0A899DD148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3AAA-18F5-D925-DA76-5B4AED58E7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677C02-9CF8-31BD-A57F-3F5097FF8690}"/>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85F6FF7A-0603-E10A-2BAB-F8CA647534D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2CD6EE4F-7BED-9982-7B9D-A07C57D84266}"/>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CF2C850C-F4FB-527E-DE78-98462D43A13F}"/>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accent1"/>
                </a:solidFill>
                <a:latin typeface="Century Gothic"/>
                <a:cs typeface="Arial"/>
              </a:rPr>
              <a:t>¿Qué es el Costo de Oportunidad?</a:t>
            </a:r>
            <a:endParaRPr lang="es-ES">
              <a:solidFill>
                <a:schemeClr val="accent1"/>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tx2">
                    <a:lumMod val="20000"/>
                    <a:lumOff val="80000"/>
                  </a:schemeClr>
                </a:solidFill>
                <a:latin typeface="Century Gothic"/>
                <a:cs typeface="Arial"/>
              </a:rPr>
              <a:t>Relación entre Costo de Oportunidad y Valor del Dinero en el Tiempo (VDT)</a:t>
            </a:r>
            <a:endParaRPr lang="es-CO">
              <a:solidFill>
                <a:schemeClr val="tx2">
                  <a:lumMod val="20000"/>
                  <a:lumOff val="80000"/>
                </a:schemeClr>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1B555938-AE0D-B3AB-D153-17D03352548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399DF3D-CC99-31FE-199B-0623ABA3F9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763D8673-23CC-A26D-A596-D8EE15FE8AF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0310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76881" y="2269638"/>
            <a:ext cx="7412271" cy="3686499"/>
          </a:xfrm>
        </p:spPr>
        <p:txBody>
          <a:bodyPr>
            <a:normAutofit/>
          </a:bodyPr>
          <a:lstStyle/>
          <a:p>
            <a:pPr marL="0" indent="0" algn="just">
              <a:buNone/>
            </a:pPr>
            <a:r>
              <a:rPr lang="es-ES_tradnl">
                <a:latin typeface="Century Gothic" panose="020B0502020202020204" pitchFamily="34" charset="0"/>
              </a:rPr>
              <a:t>Cuando se utiliza el término Costo de Oportunidad, se hace alusión a dos (2) interpretaciones cuya relación es estrecha:</a:t>
            </a:r>
          </a:p>
          <a:p>
            <a:pPr algn="just"/>
            <a:endParaRPr lang="es-ES_tradnl">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a:t>
            </a:r>
            <a:r>
              <a:rPr lang="es-ES_tradnl" sz="1800" b="1">
                <a:solidFill>
                  <a:srgbClr val="D7A700"/>
                </a:solidFill>
                <a:latin typeface="Century Gothic" panose="020B0502020202020204" pitchFamily="34" charset="0"/>
              </a:rPr>
              <a:t>beneficio de la mejor alternativa rechazada </a:t>
            </a:r>
            <a:r>
              <a:rPr lang="es-ES_tradnl" sz="1800">
                <a:latin typeface="Century Gothic" panose="020B0502020202020204" pitchFamily="34" charset="0"/>
              </a:rPr>
              <a:t>y de la cual se pierde la oportunidad de obtener beneficios.</a:t>
            </a:r>
          </a:p>
          <a:p>
            <a:pPr marL="692150" lvl="1" indent="-342900" algn="just">
              <a:buFont typeface="+mj-lt"/>
              <a:buAutoNum type="arabicPeriod"/>
            </a:pPr>
            <a:endParaRPr lang="es-ES_tradnl" sz="1800">
              <a:latin typeface="Century Gothic" panose="020B0502020202020204" pitchFamily="34" charset="0"/>
            </a:endParaRPr>
          </a:p>
          <a:p>
            <a:pPr marL="692150" lvl="1" indent="-342900" algn="just">
              <a:buFont typeface="+mj-lt"/>
              <a:buAutoNum type="arabicPeriod"/>
            </a:pPr>
            <a:r>
              <a:rPr lang="es-ES_tradnl" sz="1800">
                <a:latin typeface="Century Gothic" panose="020B0502020202020204" pitchFamily="34" charset="0"/>
              </a:rPr>
              <a:t>El costo de oportunidad como elemento fundamental del concepto de pérdida del </a:t>
            </a:r>
            <a:r>
              <a:rPr lang="es-ES_tradnl" sz="1800" b="1">
                <a:solidFill>
                  <a:srgbClr val="D7A700"/>
                </a:solidFill>
                <a:latin typeface="Century Gothic" panose="020B0502020202020204" pitchFamily="34" charset="0"/>
              </a:rPr>
              <a:t>Valor del Dinero en el Tiempo (VDT)</a:t>
            </a:r>
            <a:r>
              <a:rPr lang="es-ES_tradnl" sz="1800">
                <a:solidFill>
                  <a:srgbClr val="D7A700"/>
                </a:solidFill>
                <a:latin typeface="Century Gothic" panose="020B0502020202020204" pitchFamily="34" charset="0"/>
              </a:rPr>
              <a: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1DC79C84-9E20-4804-9C9F-48A2FC2FDA2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C1F56C2-EEA8-2D03-725B-2E76BD77F0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AC07419-7908-0D3B-55C7-D0DCAF474F8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Cómo tomar decisiones importantes con seguridad? 4 modelos">
            <a:extLst>
              <a:ext uri="{FF2B5EF4-FFF2-40B4-BE49-F238E27FC236}">
                <a16:creationId xmlns:a16="http://schemas.microsoft.com/office/drawing/2014/main" id="{E4C5402D-7C3F-D37E-704C-C7432DC61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9257" y="2903945"/>
            <a:ext cx="3115862" cy="190605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ECA02643-C906-11CA-D86E-DB7828D35B03}"/>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303343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4" end="4"/>
                                            </p:txEl>
                                          </p:spTgt>
                                        </p:tgtEl>
                                        <p:attrNameLst>
                                          <p:attrName>style.visibility</p:attrName>
                                        </p:attrNameLst>
                                      </p:cBhvr>
                                      <p:to>
                                        <p:strVal val="visible"/>
                                      </p:to>
                                    </p:set>
                                    <p:animEffect transition="in" filter="fade">
                                      <p:cBhvr>
                                        <p:cTn id="12"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6"/>
          <p:cNvSpPr>
            <a:spLocks noGrp="1"/>
          </p:cNvSpPr>
          <p:nvPr>
            <p:ph idx="1"/>
          </p:nvPr>
        </p:nvSpPr>
        <p:spPr>
          <a:xfrm>
            <a:off x="641966" y="1989939"/>
            <a:ext cx="7875734" cy="4438284"/>
          </a:xfrm>
        </p:spPr>
        <p:txBody>
          <a:bodyPr>
            <a:normAutofit/>
          </a:bodyPr>
          <a:lstStyle/>
          <a:p>
            <a:pPr marL="0" indent="0" algn="just">
              <a:buNone/>
            </a:pPr>
            <a:r>
              <a:rPr lang="es-ES_tradnl">
                <a:latin typeface="Century Gothic" panose="020B0502020202020204" pitchFamily="34" charset="0"/>
              </a:rPr>
              <a:t>Las dos anteriores interpretaciones pueden parecer distintas. No obstante, hacen referencia al mismo concepto bajo situaciones distintas.</a:t>
            </a:r>
          </a:p>
          <a:p>
            <a:pPr marL="0" indent="0" algn="ctr">
              <a:buNone/>
            </a:pPr>
            <a:endParaRPr lang="es-ES_tradnl">
              <a:latin typeface="Century Gothic" panose="020B0502020202020204" pitchFamily="34" charset="0"/>
            </a:endParaRPr>
          </a:p>
          <a:p>
            <a:pPr marL="0" indent="0" algn="ctr">
              <a:buNone/>
            </a:pPr>
            <a:r>
              <a:rPr lang="es-ES_tradnl">
                <a:latin typeface="Century Gothic" panose="020B0502020202020204" pitchFamily="34" charset="0"/>
              </a:rPr>
              <a:t>Veamos un </a:t>
            </a:r>
            <a:r>
              <a:rPr lang="es-ES_tradnl" b="1">
                <a:solidFill>
                  <a:schemeClr val="accent1">
                    <a:lumMod val="75000"/>
                  </a:schemeClr>
                </a:solidFill>
                <a:latin typeface="Century Gothic" panose="020B0502020202020204" pitchFamily="34" charset="0"/>
              </a:rPr>
              <a:t>en detalle</a:t>
            </a:r>
            <a:r>
              <a:rPr lang="es-ES_tradnl">
                <a:solidFill>
                  <a:schemeClr val="accent1">
                    <a:lumMod val="75000"/>
                  </a:schemeClr>
                </a:solidFill>
                <a:latin typeface="Century Gothic" panose="020B0502020202020204" pitchFamily="34" charset="0"/>
              </a:rPr>
              <a:t> </a:t>
            </a:r>
            <a:r>
              <a:rPr lang="es-ES_tradnl">
                <a:latin typeface="Century Gothic" panose="020B0502020202020204" pitchFamily="34" charset="0"/>
              </a:rPr>
              <a:t>la primera definición.</a:t>
            </a:r>
          </a:p>
          <a:p>
            <a:pPr marL="0" indent="0" algn="ctr">
              <a:buNone/>
            </a:pPr>
            <a:endParaRPr lang="es-ES_tradnl">
              <a:latin typeface="Century Gothic" panose="020B0502020202020204" pitchFamily="34" charset="0"/>
            </a:endParaRPr>
          </a:p>
          <a:p>
            <a:pPr marL="0" indent="0" algn="r">
              <a:buNone/>
            </a:pPr>
            <a:r>
              <a:rPr lang="es-ES_tradnl">
                <a:solidFill>
                  <a:srgbClr val="D7A700"/>
                </a:solidFill>
                <a:latin typeface="Century Gothic" panose="020B0502020202020204" pitchFamily="34" charset="0"/>
              </a:rPr>
              <a:t>El </a:t>
            </a:r>
            <a:r>
              <a:rPr lang="es-ES_tradnl" b="1">
                <a:solidFill>
                  <a:srgbClr val="D7A700"/>
                </a:solidFill>
                <a:latin typeface="Century Gothic" panose="020B0502020202020204" pitchFamily="34" charset="0"/>
              </a:rPr>
              <a:t>beneficio de la mejor alternativa rechazada </a:t>
            </a:r>
            <a:r>
              <a:rPr lang="es-ES_tradnl">
                <a:solidFill>
                  <a:srgbClr val="D7A700"/>
                </a:solidFill>
                <a:latin typeface="Century Gothic" panose="020B0502020202020204" pitchFamily="34" charset="0"/>
              </a:rPr>
              <a:t>y de la cual se pierde la oportunidad de obtener ventajas económicas.</a:t>
            </a:r>
          </a:p>
          <a:p>
            <a:pPr marL="0" indent="0" algn="ctr">
              <a:buNone/>
            </a:pPr>
            <a:endParaRPr lang="es-ES_tradnl">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8DAF76B8-B148-7DDF-C37C-304E803266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217A5AC8-B047-50DB-DE02-BBB86102B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C254344-7A4A-C649-3786-6B0BDDCC88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Picture 2" descr="Qué es beneficio neto, beneficio bruto y ebitda">
            <a:extLst>
              <a:ext uri="{FF2B5EF4-FFF2-40B4-BE49-F238E27FC236}">
                <a16:creationId xmlns:a16="http://schemas.microsoft.com/office/drawing/2014/main" id="{91670C3E-A27F-32AA-BE3F-412BF27D0C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1928" y="3170479"/>
            <a:ext cx="2868106" cy="1613310"/>
          </a:xfrm>
          <a:prstGeom prst="rect">
            <a:avLst/>
          </a:prstGeom>
          <a:noFill/>
          <a:extLst>
            <a:ext uri="{909E8E84-426E-40DD-AFC4-6F175D3DCCD1}">
              <a14:hiddenFill xmlns:a14="http://schemas.microsoft.com/office/drawing/2010/main">
                <a:solidFill>
                  <a:srgbClr val="FFFFFF"/>
                </a:solidFill>
              </a14:hiddenFill>
            </a:ext>
          </a:extLst>
        </p:spPr>
      </p:pic>
      <p:sp>
        <p:nvSpPr>
          <p:cNvPr id="13" name="Título 1">
            <a:extLst>
              <a:ext uri="{FF2B5EF4-FFF2-40B4-BE49-F238E27FC236}">
                <a16:creationId xmlns:a16="http://schemas.microsoft.com/office/drawing/2014/main" id="{29A16EAE-54C8-3AC7-E014-E945E750A509}"/>
              </a:ext>
            </a:extLst>
          </p:cNvPr>
          <p:cNvSpPr>
            <a:spLocks noGrp="1"/>
          </p:cNvSpPr>
          <p:nvPr>
            <p:ph type="title"/>
          </p:nvPr>
        </p:nvSpPr>
        <p:spPr>
          <a:xfrm>
            <a:off x="581192" y="702156"/>
            <a:ext cx="11029616" cy="1013800"/>
          </a:xfrm>
        </p:spPr>
        <p:txBody>
          <a:bodyPr>
            <a:normAutofit/>
          </a:body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210897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
        <p:nvSpPr>
          <p:cNvPr id="20" name="Rectángulo 19"/>
          <p:cNvSpPr/>
          <p:nvPr/>
        </p:nvSpPr>
        <p:spPr>
          <a:xfrm>
            <a:off x="3983276" y="2822966"/>
            <a:ext cx="7272553" cy="2585323"/>
          </a:xfrm>
          <a:prstGeom prst="rect">
            <a:avLst/>
          </a:prstGeom>
        </p:spPr>
        <p:txBody>
          <a:bodyPr wrap="square" lIns="91440" tIns="45720" rIns="91440" bIns="45720" anchor="t">
            <a:spAutoFit/>
          </a:bodyPr>
          <a:lstStyle/>
          <a:p>
            <a:pPr algn="just">
              <a:buClr>
                <a:schemeClr val="accent3">
                  <a:lumMod val="75000"/>
                </a:schemeClr>
              </a:buClr>
            </a:pPr>
            <a:r>
              <a:rPr lang="es-CO" b="1">
                <a:solidFill>
                  <a:srgbClr val="C00000"/>
                </a:solidFill>
                <a:latin typeface="Century Gothic" panose="020B0502020202020204" pitchFamily="34" charset="0"/>
              </a:rPr>
              <a:t>Elegir alguna cosa significa renunciar a otra</a:t>
            </a:r>
            <a:r>
              <a:rPr lang="es-CO">
                <a:solidFill>
                  <a:schemeClr val="accent1"/>
                </a:solidFill>
                <a:latin typeface="Century Gothic" panose="020B0502020202020204" pitchFamily="34" charset="0"/>
              </a:rPr>
              <a:t>.</a:t>
            </a:r>
          </a:p>
          <a:p>
            <a:pPr algn="just">
              <a:buClr>
                <a:schemeClr val="accent3">
                  <a:lumMod val="75000"/>
                </a:schemeClr>
              </a:buClr>
            </a:pPr>
            <a:endParaRPr lang="es-CO">
              <a:latin typeface="Century Gothic"/>
            </a:endParaRPr>
          </a:p>
          <a:p>
            <a:pPr algn="just">
              <a:buClr>
                <a:schemeClr val="accent3">
                  <a:lumMod val="75000"/>
                </a:schemeClr>
              </a:buClr>
            </a:pPr>
            <a:r>
              <a:rPr lang="es-CO">
                <a:latin typeface="Century Gothic"/>
              </a:rPr>
              <a:t>Bajo la </a:t>
            </a:r>
            <a:r>
              <a:rPr lang="es-CO" b="1">
                <a:solidFill>
                  <a:schemeClr val="accent1"/>
                </a:solidFill>
                <a:latin typeface="Century Gothic"/>
              </a:rPr>
              <a:t>primera interpretación</a:t>
            </a:r>
            <a:r>
              <a:rPr lang="es-CO">
                <a:latin typeface="Century Gothic"/>
              </a:rPr>
              <a:t>, e</a:t>
            </a:r>
            <a:r>
              <a:rPr lang="es-CO">
                <a:effectLst/>
                <a:latin typeface="Century Gothic"/>
              </a:rPr>
              <a:t>l </a:t>
            </a:r>
            <a:r>
              <a:rPr lang="es-CO" b="1" u="sng">
                <a:solidFill>
                  <a:srgbClr val="D7A700"/>
                </a:solidFill>
                <a:latin typeface="Century Gothic"/>
              </a:rPr>
              <a:t>C</a:t>
            </a:r>
            <a:r>
              <a:rPr lang="es-CO" b="1" u="sng">
                <a:solidFill>
                  <a:srgbClr val="D7A700"/>
                </a:solidFill>
                <a:effectLst/>
                <a:latin typeface="Century Gothic"/>
                <a:hlinkClick r:id="rId2">
                  <a:extLst>
                    <a:ext uri="{A12FA001-AC4F-418D-AE19-62706E023703}">
                      <ahyp:hlinkClr xmlns:ahyp="http://schemas.microsoft.com/office/drawing/2018/hyperlinkcolor" val="tx"/>
                    </a:ext>
                  </a:extLst>
                </a:hlinkClick>
              </a:rPr>
              <a:t>osto de Oportunidad</a:t>
            </a:r>
            <a:r>
              <a:rPr lang="es-CO">
                <a:solidFill>
                  <a:srgbClr val="D7A700"/>
                </a:solidFill>
                <a:effectLst/>
                <a:latin typeface="Century Gothic"/>
              </a:rPr>
              <a:t> </a:t>
            </a:r>
            <a:r>
              <a:rPr lang="es-CO">
                <a:effectLst/>
                <a:latin typeface="Century Gothic"/>
              </a:rPr>
              <a:t>se define como el rendimiento o los beneficios que se dejan de percibir por la mejor alternativa a la </a:t>
            </a:r>
            <a:r>
              <a:rPr lang="es-CO">
                <a:latin typeface="Century Gothic"/>
              </a:rPr>
              <a:t>decisión tomada.</a:t>
            </a:r>
            <a:endParaRPr lang="es-CO">
              <a:latin typeface="Century Gothic" panose="020B0502020202020204" pitchFamily="34" charset="0"/>
            </a:endParaRPr>
          </a:p>
          <a:p>
            <a:pPr algn="just"/>
            <a:endParaRPr lang="es-CO">
              <a:latin typeface="Century Gothic"/>
            </a:endParaRPr>
          </a:p>
          <a:p>
            <a:pPr algn="just"/>
            <a:r>
              <a:rPr lang="es-CO">
                <a:latin typeface="Century Gothic"/>
              </a:rPr>
              <a:t>Más </a:t>
            </a:r>
            <a:r>
              <a:rPr lang="es-CO">
                <a:effectLst/>
                <a:latin typeface="Century Gothic"/>
              </a:rPr>
              <a:t>que un costo </a:t>
            </a:r>
            <a:r>
              <a:rPr lang="es-CO">
                <a:latin typeface="Century Gothic"/>
              </a:rPr>
              <a:t>económico</a:t>
            </a:r>
            <a:r>
              <a:rPr lang="es-CO">
                <a:effectLst/>
                <a:latin typeface="Century Gothic"/>
              </a:rPr>
              <a:t>, se considera, como su nombre lo indica, el costo de hacer una </a:t>
            </a:r>
            <a:r>
              <a:rPr lang="es-CO">
                <a:latin typeface="Century Gothic"/>
              </a:rPr>
              <a:t>elección </a:t>
            </a:r>
            <a:r>
              <a:rPr lang="es-CO">
                <a:effectLst/>
                <a:latin typeface="Century Gothic"/>
              </a:rPr>
              <a:t>diferente a la que se </a:t>
            </a:r>
            <a:r>
              <a:rPr lang="es-CO">
                <a:latin typeface="Century Gothic"/>
              </a:rPr>
              <a:t>tomó </a:t>
            </a:r>
            <a:r>
              <a:rPr lang="es-CO">
                <a:effectLst/>
                <a:latin typeface="Century Gothic"/>
              </a:rPr>
              <a:t>entre varias alternativas. </a:t>
            </a: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12A37EA-1CD6-7682-7872-EC5C5AF09C6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074" name="Picture 2" descr="Imágenes de Rechazado libres de derechos | Depositphotos">
            <a:extLst>
              <a:ext uri="{FF2B5EF4-FFF2-40B4-BE49-F238E27FC236}">
                <a16:creationId xmlns:a16="http://schemas.microsoft.com/office/drawing/2014/main" id="{4442F4B3-C881-1D65-05CD-2A6C0A0B27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147" y="2744942"/>
            <a:ext cx="3551129" cy="2663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90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xEl>
                                              <p:pRg st="4" end="4"/>
                                            </p:txEl>
                                          </p:spTgt>
                                        </p:tgtEl>
                                        <p:attrNameLst>
                                          <p:attrName>style.visibility</p:attrName>
                                        </p:attrNameLst>
                                      </p:cBhvr>
                                      <p:to>
                                        <p:strVal val="visible"/>
                                      </p:to>
                                    </p:set>
                                    <p:animEffect transition="in" filter="dissolve">
                                      <p:cBhvr>
                                        <p:cTn id="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2DC08-4954-DF26-35DC-D0B6CCDC27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83DA24-B5C1-7EA0-FD09-B15417327F6F}"/>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5F20A189-8969-AE5C-D130-12994BDC3C4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354A7846-E6E3-AB98-945C-959322B3BDA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5036376-A830-C1E6-C43C-95CB6A88A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8678CF7-8646-ADAD-65A1-2CD7C3408D3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BD2D09AB-AE82-D51D-33C5-C98A6CC2CB0D}"/>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129FFCB5-C729-996B-54B0-D79E7EC070D7}"/>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98A7DFA2-3053-8F73-2934-ADD634F27F5A}"/>
              </a:ext>
            </a:extLst>
          </p:cNvPr>
          <p:cNvGraphicFramePr>
            <a:graphicFrameLocks noGrp="1"/>
          </p:cNvGraphicFramePr>
          <p:nvPr>
            <p:extLst>
              <p:ext uri="{D42A27DB-BD31-4B8C-83A1-F6EECF244321}">
                <p14:modId xmlns:p14="http://schemas.microsoft.com/office/powerpoint/2010/main" val="3377301483"/>
              </p:ext>
            </p:extLst>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483E2A75-A15B-F924-0306-6D64FFF9AC79}"/>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591D3153-9D80-2DDA-7EDF-C1C66B1B5B15}"/>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97712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4179-6E44-2BFC-799C-C11F09F418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C6F4BA-6D68-2A4C-3234-4E1FA83FCAC0}"/>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1BD31265-1203-8217-2FF1-EE0696FCEA3B}"/>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18AF551B-B3E8-2B42-33AD-12F55E65A8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4456DB9-91E6-1143-7263-488FE992D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E259002-5B31-2D9F-FFFC-D1DE35FC23D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A972C6B4-9697-4EFE-5BD5-82AAEBED778C}"/>
              </a:ext>
            </a:extLst>
          </p:cNvPr>
          <p:cNvSpPr>
            <a:spLocks noGrp="1"/>
          </p:cNvSpPr>
          <p:nvPr>
            <p:ph idx="1"/>
          </p:nvPr>
        </p:nvSpPr>
        <p:spPr>
          <a:xfrm>
            <a:off x="575894" y="2399812"/>
            <a:ext cx="4141249" cy="2421193"/>
          </a:xfrm>
        </p:spPr>
        <p:txBody>
          <a:bodyPr>
            <a:noAutofit/>
          </a:bodyPr>
          <a:lstStyle/>
          <a:p>
            <a:pPr marL="0" indent="0" algn="just">
              <a:buNone/>
            </a:pPr>
            <a:r>
              <a:rPr lang="es-CO" sz="1600">
                <a:solidFill>
                  <a:schemeClr val="tx1"/>
                </a:solidFill>
                <a:latin typeface="Century Gothic" panose="020B0502020202020204" pitchFamily="34" charset="0"/>
              </a:rPr>
              <a:t>Johana es una amiga que ha diseñado un sistema para medir con puntos la satisfacción que le produce realizar ciertas tareas el domingo, donde los puntos se pueden también entender como su equivalente en unidades económicas (Ej. 1 punto = $ 1 USD). En resumen, ella percibe:</a:t>
            </a:r>
            <a:endParaRPr lang="es-ES_tradnl" sz="800">
              <a:solidFill>
                <a:schemeClr val="tx1"/>
              </a:solidFill>
              <a:latin typeface="Century Gothic" panose="020B0502020202020204" pitchFamily="34" charset="0"/>
            </a:endParaRPr>
          </a:p>
          <a:p>
            <a:pPr marL="0" indent="0" algn="ctr">
              <a:buNone/>
            </a:pPr>
            <a:endParaRPr lang="es-ES_tradnl" sz="1600">
              <a:latin typeface="Century Gothic" panose="020B0502020202020204" pitchFamily="34" charset="0"/>
            </a:endParaRPr>
          </a:p>
        </p:txBody>
      </p:sp>
      <p:sp>
        <p:nvSpPr>
          <p:cNvPr id="6" name="Rectángulo 5">
            <a:extLst>
              <a:ext uri="{FF2B5EF4-FFF2-40B4-BE49-F238E27FC236}">
                <a16:creationId xmlns:a16="http://schemas.microsoft.com/office/drawing/2014/main" id="{2C2E9980-E782-7353-A4F9-33D354F21D45}"/>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1.1.</a:t>
            </a:r>
            <a:endParaRPr lang="es-CO" b="1">
              <a:solidFill>
                <a:srgbClr val="C00000"/>
              </a:solidFill>
              <a:latin typeface="Century Gothic" panose="020B0502020202020204" pitchFamily="34" charset="0"/>
            </a:endParaRPr>
          </a:p>
        </p:txBody>
      </p:sp>
      <p:graphicFrame>
        <p:nvGraphicFramePr>
          <p:cNvPr id="9" name="Tabla 8">
            <a:extLst>
              <a:ext uri="{FF2B5EF4-FFF2-40B4-BE49-F238E27FC236}">
                <a16:creationId xmlns:a16="http://schemas.microsoft.com/office/drawing/2014/main" id="{12974516-379E-FE43-5408-72229DA8D797}"/>
              </a:ext>
            </a:extLst>
          </p:cNvPr>
          <p:cNvGraphicFramePr>
            <a:graphicFrameLocks noGrp="1"/>
          </p:cNvGraphicFramePr>
          <p:nvPr/>
        </p:nvGraphicFramePr>
        <p:xfrm>
          <a:off x="5036058" y="2399812"/>
          <a:ext cx="6513977" cy="1925320"/>
        </p:xfrm>
        <a:graphic>
          <a:graphicData uri="http://schemas.openxmlformats.org/drawingml/2006/table">
            <a:tbl>
              <a:tblPr firstRow="1" bandRow="1">
                <a:tableStyleId>{17292A2E-F333-43FB-9621-5CBBE7FDCDCB}</a:tableStyleId>
              </a:tblPr>
              <a:tblGrid>
                <a:gridCol w="2180779">
                  <a:extLst>
                    <a:ext uri="{9D8B030D-6E8A-4147-A177-3AD203B41FA5}">
                      <a16:colId xmlns:a16="http://schemas.microsoft.com/office/drawing/2014/main" val="637903925"/>
                    </a:ext>
                  </a:extLst>
                </a:gridCol>
                <a:gridCol w="883200">
                  <a:extLst>
                    <a:ext uri="{9D8B030D-6E8A-4147-A177-3AD203B41FA5}">
                      <a16:colId xmlns:a16="http://schemas.microsoft.com/office/drawing/2014/main" val="423108168"/>
                    </a:ext>
                  </a:extLst>
                </a:gridCol>
                <a:gridCol w="3449998">
                  <a:extLst>
                    <a:ext uri="{9D8B030D-6E8A-4147-A177-3AD203B41FA5}">
                      <a16:colId xmlns:a16="http://schemas.microsoft.com/office/drawing/2014/main" val="2813718426"/>
                    </a:ext>
                  </a:extLst>
                </a:gridCol>
              </a:tblGrid>
              <a:tr h="370840">
                <a:tc>
                  <a:txBody>
                    <a:bodyPr/>
                    <a:lstStyle/>
                    <a:p>
                      <a:pPr algn="ctr"/>
                      <a:r>
                        <a:rPr lang="es-CO" sz="1400">
                          <a:latin typeface="Century Gothic" panose="020B0502020202020204" pitchFamily="34" charset="0"/>
                        </a:rPr>
                        <a:t>Actividad</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tc>
                  <a:txBody>
                    <a:bodyPr/>
                    <a:lstStyle/>
                    <a:p>
                      <a:pPr algn="ctr"/>
                      <a:r>
                        <a:rPr lang="es-CO" sz="1400">
                          <a:latin typeface="Century Gothic" panose="020B0502020202020204" pitchFamily="34" charset="0"/>
                        </a:rPr>
                        <a:t>Comentarios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4051100525"/>
                  </a:ext>
                </a:extLst>
              </a:tr>
              <a:tr h="370840">
                <a:tc>
                  <a:txBody>
                    <a:bodyPr/>
                    <a:lstStyle/>
                    <a:p>
                      <a:pPr algn="ctr"/>
                      <a:r>
                        <a:rPr lang="es-CO" sz="1400">
                          <a:latin typeface="Century Gothic" panose="020B0502020202020204" pitchFamily="34" charset="0"/>
                        </a:rPr>
                        <a:t>Estudiar para los quizzes semanales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50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Le gusta prepararse previamente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15126336"/>
                  </a:ext>
                </a:extLst>
              </a:tr>
              <a:tr h="370840">
                <a:tc>
                  <a:txBody>
                    <a:bodyPr/>
                    <a:lstStyle/>
                    <a:p>
                      <a:pPr algn="ctr"/>
                      <a:r>
                        <a:rPr lang="es-CO" sz="1400">
                          <a:latin typeface="Century Gothic" panose="020B0502020202020204" pitchFamily="34" charset="0"/>
                        </a:rPr>
                        <a:t>Dedicar a buscar ofertas en línea</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40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Especialmente en sitios exclusivos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643438426"/>
                  </a:ext>
                </a:extLst>
              </a:tr>
              <a:tr h="370840">
                <a:tc>
                  <a:txBody>
                    <a:bodyPr/>
                    <a:lstStyle/>
                    <a:p>
                      <a:pPr algn="ctr"/>
                      <a:r>
                        <a:rPr lang="es-CO" sz="1400">
                          <a:latin typeface="Century Gothic" panose="020B0502020202020204" pitchFamily="34" charset="0"/>
                        </a:rPr>
                        <a:t>Clases deportivas personalizadas online</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80</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s-CO" sz="1400">
                          <a:latin typeface="Century Gothic" panose="020B0502020202020204" pitchFamily="34" charset="0"/>
                        </a:rPr>
                        <a:t>Hay un precio que pagar para tener la clase, equivalente a 20 puntos</a:t>
                      </a: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3904213"/>
                  </a:ext>
                </a:extLst>
              </a:tr>
            </a:tbl>
          </a:graphicData>
        </a:graphic>
      </p:graphicFrame>
      <p:sp>
        <p:nvSpPr>
          <p:cNvPr id="10" name="Rectángulo 9">
            <a:extLst>
              <a:ext uri="{FF2B5EF4-FFF2-40B4-BE49-F238E27FC236}">
                <a16:creationId xmlns:a16="http://schemas.microsoft.com/office/drawing/2014/main" id="{9353F4FD-E962-F42A-D943-187DD120BBD5}"/>
              </a:ext>
            </a:extLst>
          </p:cNvPr>
          <p:cNvSpPr/>
          <p:nvPr/>
        </p:nvSpPr>
        <p:spPr>
          <a:xfrm>
            <a:off x="94689" y="4649497"/>
            <a:ext cx="11532171" cy="598882"/>
          </a:xfrm>
          <a:prstGeom prst="rect">
            <a:avLst/>
          </a:prstGeom>
        </p:spPr>
        <p:txBody>
          <a:bodyPr wrap="square">
            <a:spAutoFit/>
          </a:bodyPr>
          <a:lstStyle/>
          <a:p>
            <a:pPr marL="457200" algn="just">
              <a:lnSpc>
                <a:spcPct val="107000"/>
              </a:lnSpc>
              <a:spcAft>
                <a:spcPts val="0"/>
              </a:spcAft>
            </a:pPr>
            <a:r>
              <a:rPr lang="es-CO" sz="1600">
                <a:latin typeface="Century Gothic" panose="020B0502020202020204" pitchFamily="34" charset="0"/>
                <a:ea typeface="Calibri" panose="020F0502020204030204" pitchFamily="34" charset="0"/>
                <a:cs typeface="Times New Roman" panose="02020603050405020304" pitchFamily="18" charset="0"/>
              </a:rPr>
              <a:t>Si Johana decide quedarse el domingo a estudiar para sus quizzes de la semana, ¿cuál es su costo de oportunidad?</a:t>
            </a:r>
          </a:p>
        </p:txBody>
      </p:sp>
      <p:sp>
        <p:nvSpPr>
          <p:cNvPr id="11" name="Rectángulo 10">
            <a:extLst>
              <a:ext uri="{FF2B5EF4-FFF2-40B4-BE49-F238E27FC236}">
                <a16:creationId xmlns:a16="http://schemas.microsoft.com/office/drawing/2014/main" id="{01A38794-0E92-B2B6-968A-A5A5A0B9E92C}"/>
              </a:ext>
            </a:extLst>
          </p:cNvPr>
          <p:cNvSpPr/>
          <p:nvPr/>
        </p:nvSpPr>
        <p:spPr>
          <a:xfrm>
            <a:off x="604387" y="5393226"/>
            <a:ext cx="1827954" cy="1125821"/>
          </a:xfrm>
          <a:prstGeom prst="rect">
            <a:avLst/>
          </a:prstGeom>
        </p:spPr>
        <p:txBody>
          <a:bodyPr wrap="square">
            <a:spAutoFit/>
          </a:bodyPr>
          <a:lstStyle/>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50 puntos</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40 puntos </a:t>
            </a:r>
          </a:p>
          <a:p>
            <a:pPr marL="342900" lvl="0" indent="-342900">
              <a:lnSpc>
                <a:spcPct val="107000"/>
              </a:lnSpc>
              <a:spcAft>
                <a:spcPts val="0"/>
              </a:spcAft>
              <a:buClr>
                <a:schemeClr val="accent2"/>
              </a:buClr>
              <a:buFont typeface="+mj-lt"/>
              <a:buAutoNum type="alphaLcParenR"/>
            </a:pPr>
            <a:r>
              <a:rPr lang="es-CO" sz="1600" dirty="0">
                <a:latin typeface="Century Gothic" panose="020B0502020202020204" pitchFamily="34" charset="0"/>
                <a:ea typeface="Calibri" panose="020F0502020204030204" pitchFamily="34" charset="0"/>
                <a:cs typeface="Times New Roman" panose="02020603050405020304" pitchFamily="18" charset="0"/>
              </a:rPr>
              <a:t>80 puntos</a:t>
            </a:r>
          </a:p>
          <a:p>
            <a:pPr marL="342900" lvl="0" indent="-342900">
              <a:lnSpc>
                <a:spcPct val="107000"/>
              </a:lnSpc>
              <a:spcAft>
                <a:spcPts val="0"/>
              </a:spcAft>
              <a:buClr>
                <a:schemeClr val="accent2"/>
              </a:buClr>
              <a:buFont typeface="+mj-lt"/>
              <a:buAutoNum type="alphaLcParenR"/>
            </a:pPr>
            <a:r>
              <a:rPr lang="es-CO" sz="1600" dirty="0">
                <a:highlight>
                  <a:srgbClr val="FFFF00"/>
                </a:highlight>
                <a:latin typeface="Century Gothic" panose="020B0502020202020204" pitchFamily="34" charset="0"/>
                <a:ea typeface="Calibri" panose="020F0502020204030204" pitchFamily="34" charset="0"/>
                <a:cs typeface="Times New Roman" panose="02020603050405020304" pitchFamily="18" charset="0"/>
              </a:rPr>
              <a:t>60 puntos</a:t>
            </a:r>
          </a:p>
        </p:txBody>
      </p:sp>
    </p:spTree>
    <p:extLst>
      <p:ext uri="{BB962C8B-B14F-4D97-AF65-F5344CB8AC3E}">
        <p14:creationId xmlns:p14="http://schemas.microsoft.com/office/powerpoint/2010/main" val="168916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26B9-4C18-AC7D-E2D8-878D983A69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5300C2-FE1C-C0E1-6226-5F91113A0652}"/>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FF0957B2-1FB5-6CCF-1F4D-8D2DC35F426F}"/>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3D91474-9485-A1FD-322E-40EB4D6166B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EF17BDEC-5E5E-FFF2-8716-D8B783FBF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566BF0C-D213-3A05-7C23-EB8242E153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4ACD3831-9EB4-C42E-81BF-C2AF8F69CE37}"/>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79BD8F08-1002-B50C-7F6E-C975D00BE7BD}"/>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CE9E63BC-047A-BEDF-3C73-2D0626A5A743}"/>
              </a:ext>
            </a:extLst>
          </p:cNvPr>
          <p:cNvSpPr txBox="1"/>
          <p:nvPr/>
        </p:nvSpPr>
        <p:spPr>
          <a:xfrm>
            <a:off x="2699798" y="4956034"/>
            <a:ext cx="6506831" cy="830997"/>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p:txBody>
      </p:sp>
    </p:spTree>
    <p:extLst>
      <p:ext uri="{BB962C8B-B14F-4D97-AF65-F5344CB8AC3E}">
        <p14:creationId xmlns:p14="http://schemas.microsoft.com/office/powerpoint/2010/main" val="218440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AFEAC-130D-F294-BF23-92DA7DD70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DE5E9D-2E5B-BC71-0836-0CA208D1F7E4}"/>
              </a:ext>
            </a:extLst>
          </p:cNvPr>
          <p:cNvSpPr>
            <a:spLocks noGrp="1"/>
          </p:cNvSpPr>
          <p:nvPr>
            <p:ph type="title"/>
          </p:nvPr>
        </p:nvSpPr>
        <p:spPr/>
        <p:txBody>
          <a:bodyPr>
            <a:normAutofit/>
          </a:bodyPr>
          <a:lstStyle/>
          <a:p>
            <a:r>
              <a:rPr lang="es-CO" sz="3200">
                <a:latin typeface="Century Gothic" panose="020B0502020202020204" pitchFamily="34" charset="0"/>
              </a:rPr>
              <a:t>¿Qué es el costo de oportunidad?</a:t>
            </a:r>
          </a:p>
        </p:txBody>
      </p:sp>
      <p:sp>
        <p:nvSpPr>
          <p:cNvPr id="4" name="Marcador de número de diapositiva 3">
            <a:extLst>
              <a:ext uri="{FF2B5EF4-FFF2-40B4-BE49-F238E27FC236}">
                <a16:creationId xmlns:a16="http://schemas.microsoft.com/office/drawing/2014/main" id="{DA4569A3-3350-E9DA-6B86-FF9B0F0B0265}"/>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4678F344-03CC-507E-08F5-20FC5F02433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A02A958-861F-6A91-1606-FB9A5FB40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A4386420-B699-E108-AC2F-7BE0E51B08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ontent Placeholder 6">
            <a:extLst>
              <a:ext uri="{FF2B5EF4-FFF2-40B4-BE49-F238E27FC236}">
                <a16:creationId xmlns:a16="http://schemas.microsoft.com/office/drawing/2014/main" id="{6ED35EA1-811B-5BBA-4FD3-1716C9EF3EBE}"/>
              </a:ext>
            </a:extLst>
          </p:cNvPr>
          <p:cNvSpPr>
            <a:spLocks noGrp="1"/>
          </p:cNvSpPr>
          <p:nvPr>
            <p:ph idx="1"/>
          </p:nvPr>
        </p:nvSpPr>
        <p:spPr>
          <a:xfrm>
            <a:off x="641965" y="2582571"/>
            <a:ext cx="10908070" cy="2010029"/>
          </a:xfrm>
        </p:spPr>
        <p:txBody>
          <a:bodyPr>
            <a:noAutofit/>
          </a:bodyPr>
          <a:lstStyle/>
          <a:p>
            <a:pPr marL="0" indent="0" algn="just">
              <a:buNone/>
            </a:pPr>
            <a:r>
              <a:rPr lang="es-CO" sz="1600">
                <a:solidFill>
                  <a:schemeClr val="tx1"/>
                </a:solidFill>
                <a:latin typeface="Century Gothic" panose="020B0502020202020204" pitchFamily="34" charset="0"/>
              </a:rPr>
              <a:t>Usted debe ir hoy a la Universidad, para esto cuenta con las siguientes opciones: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carro, a lo que tendrá que gastar $20.000 en gastos de parqueadero y gasolina, pero llega más rápido y tendría 3 horas libres.</a:t>
            </a:r>
          </a:p>
          <a:p>
            <a:pPr algn="just">
              <a:buFont typeface="Courier New" panose="02070309020205020404" pitchFamily="49" charset="0"/>
              <a:buChar char="o"/>
            </a:pPr>
            <a:r>
              <a:rPr lang="es-CO" sz="1600">
                <a:solidFill>
                  <a:schemeClr val="tx1"/>
                </a:solidFill>
                <a:latin typeface="Century Gothic" panose="020B0502020202020204" pitchFamily="34" charset="0"/>
              </a:rPr>
              <a:t>Irse en bus, a lo que tendrá que gastar $3.000 en el costo del pasaje, pero se demora más en llegar y solo tiene 1 hora libre.</a:t>
            </a:r>
          </a:p>
          <a:p>
            <a:pPr marL="0" indent="0" algn="just">
              <a:buNone/>
            </a:pPr>
            <a:r>
              <a:rPr lang="es-CO" sz="1600">
                <a:solidFill>
                  <a:schemeClr val="tx1"/>
                </a:solidFill>
                <a:latin typeface="Century Gothic" panose="020B0502020202020204" pitchFamily="34" charset="0"/>
              </a:rPr>
              <a:t>En sus horas libres usted realiza monitorias a estudiantes, y por cada hora recibe un pago de $10.000.</a:t>
            </a:r>
          </a:p>
        </p:txBody>
      </p:sp>
      <p:sp>
        <p:nvSpPr>
          <p:cNvPr id="6" name="Rectángulo 5">
            <a:extLst>
              <a:ext uri="{FF2B5EF4-FFF2-40B4-BE49-F238E27FC236}">
                <a16:creationId xmlns:a16="http://schemas.microsoft.com/office/drawing/2014/main" id="{80AC05FA-AD64-4596-AF9A-2D0F3A321B46}"/>
              </a:ext>
            </a:extLst>
          </p:cNvPr>
          <p:cNvSpPr/>
          <p:nvPr/>
        </p:nvSpPr>
        <p:spPr>
          <a:xfrm>
            <a:off x="604387" y="2002403"/>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1.2.</a:t>
            </a:r>
            <a:endParaRPr lang="es-CO" b="1">
              <a:solidFill>
                <a:srgbClr val="C00000"/>
              </a:solidFill>
              <a:latin typeface="Century Gothic" panose="020B0502020202020204" pitchFamily="34" charset="0"/>
            </a:endParaRPr>
          </a:p>
        </p:txBody>
      </p:sp>
      <p:sp>
        <p:nvSpPr>
          <p:cNvPr id="12" name="CuadroTexto 11">
            <a:extLst>
              <a:ext uri="{FF2B5EF4-FFF2-40B4-BE49-F238E27FC236}">
                <a16:creationId xmlns:a16="http://schemas.microsoft.com/office/drawing/2014/main" id="{A5FBA5EE-972F-EF2E-4C1A-5E4D8DE014D8}"/>
              </a:ext>
            </a:extLst>
          </p:cNvPr>
          <p:cNvSpPr txBox="1"/>
          <p:nvPr/>
        </p:nvSpPr>
        <p:spPr>
          <a:xfrm>
            <a:off x="2699798" y="4956034"/>
            <a:ext cx="6506831" cy="1323439"/>
          </a:xfrm>
          <a:prstGeom prst="rect">
            <a:avLst/>
          </a:prstGeom>
          <a:noFill/>
        </p:spPr>
        <p:txBody>
          <a:bodyPr wrap="square">
            <a:spAutoFit/>
          </a:bodyPr>
          <a:lstStyle/>
          <a:p>
            <a:pPr marL="0" indent="0" algn="ctr">
              <a:buNone/>
            </a:pPr>
            <a:r>
              <a:rPr lang="es-ES_tradnl" sz="1600" b="1" dirty="0">
                <a:solidFill>
                  <a:schemeClr val="accent1"/>
                </a:solidFill>
                <a:latin typeface="Century Gothic" panose="020B0502020202020204" pitchFamily="34" charset="0"/>
              </a:rPr>
              <a:t>¿Cuál es el costo de oportunidad de irse en bus?</a:t>
            </a:r>
          </a:p>
          <a:p>
            <a:pPr marL="0" indent="0" algn="ctr">
              <a:buNone/>
            </a:pPr>
            <a:r>
              <a:rPr lang="es-ES_tradnl" sz="1600" b="1" dirty="0">
                <a:solidFill>
                  <a:srgbClr val="FF0000"/>
                </a:solidFill>
                <a:highlight>
                  <a:srgbClr val="FFFF00"/>
                </a:highlight>
                <a:latin typeface="Century Gothic" panose="020B0502020202020204" pitchFamily="34" charset="0"/>
              </a:rPr>
              <a:t>$10.000 </a:t>
            </a:r>
          </a:p>
          <a:p>
            <a:pPr marL="0" indent="0" algn="ctr">
              <a:buNone/>
            </a:pPr>
            <a:endParaRPr lang="es-ES_tradnl" sz="1600" b="1" dirty="0">
              <a:solidFill>
                <a:schemeClr val="accent1"/>
              </a:solidFill>
              <a:latin typeface="Century Gothic" panose="020B0502020202020204" pitchFamily="34" charset="0"/>
            </a:endParaRPr>
          </a:p>
          <a:p>
            <a:pPr marL="0" indent="0" algn="ctr">
              <a:buNone/>
            </a:pPr>
            <a:r>
              <a:rPr lang="es-ES_tradnl" sz="1600" b="1" dirty="0">
                <a:solidFill>
                  <a:schemeClr val="accent1"/>
                </a:solidFill>
                <a:latin typeface="Century Gothic" panose="020B0502020202020204" pitchFamily="34" charset="0"/>
              </a:rPr>
              <a:t>¿Cuál es el costo de oportunidad de irse en carro?</a:t>
            </a:r>
          </a:p>
          <a:p>
            <a:pPr marL="0" indent="0" algn="ctr">
              <a:buNone/>
            </a:pPr>
            <a:r>
              <a:rPr lang="es-ES_tradnl" sz="1600" b="1" dirty="0">
                <a:solidFill>
                  <a:srgbClr val="FF0000"/>
                </a:solidFill>
                <a:highlight>
                  <a:srgbClr val="FFFF00"/>
                </a:highlight>
                <a:latin typeface="Century Gothic" panose="020B0502020202020204" pitchFamily="34" charset="0"/>
              </a:rPr>
              <a:t>$7.000</a:t>
            </a:r>
          </a:p>
        </p:txBody>
      </p:sp>
    </p:spTree>
    <p:extLst>
      <p:ext uri="{BB962C8B-B14F-4D97-AF65-F5344CB8AC3E}">
        <p14:creationId xmlns:p14="http://schemas.microsoft.com/office/powerpoint/2010/main" val="63904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
        <p:nvSpPr>
          <p:cNvPr id="5" name="Rectángulo 4">
            <a:extLst>
              <a:ext uri="{FF2B5EF4-FFF2-40B4-BE49-F238E27FC236}">
                <a16:creationId xmlns:a16="http://schemas.microsoft.com/office/drawing/2014/main" id="{A17748EB-9290-E656-C045-1A674295B31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9BF42DC1-5A3F-1C66-4208-D68CB882DA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552BCBF7-82FF-D3F8-D63F-5B7A6CE98E7C}"/>
              </a:ext>
            </a:extLst>
          </p:cNvPr>
          <p:cNvSpPr/>
          <p:nvPr/>
        </p:nvSpPr>
        <p:spPr>
          <a:xfrm>
            <a:off x="393441" y="2331186"/>
            <a:ext cx="11405118" cy="4031873"/>
          </a:xfrm>
          <a:prstGeom prst="rect">
            <a:avLst/>
          </a:prstGeom>
        </p:spPr>
        <p:txBody>
          <a:bodyPr wrap="square" lIns="91440" tIns="45720" rIns="91440" bIns="45720" anchor="t">
            <a:spAutoFit/>
          </a:bodyPr>
          <a:lstStyle/>
          <a:p>
            <a:pPr marL="285750" indent="-285750" algn="just">
              <a:buClr>
                <a:schemeClr val="accent2"/>
              </a:buClr>
              <a:buFont typeface="Arial" panose="020B0604020202020204" pitchFamily="34" charset="0"/>
              <a:buChar char="•"/>
            </a:pPr>
            <a:r>
              <a:rPr lang="es-CO" sz="1600" dirty="0">
                <a:latin typeface="Century Gothic"/>
              </a:rPr>
              <a:t>Se debe asegurar la </a:t>
            </a:r>
            <a:r>
              <a:rPr lang="es-CO" sz="1600" b="1" dirty="0">
                <a:solidFill>
                  <a:schemeClr val="accent1"/>
                </a:solidFill>
                <a:latin typeface="Century Gothic"/>
              </a:rPr>
              <a:t>comparabilidad</a:t>
            </a:r>
            <a:r>
              <a:rPr lang="es-CO" sz="1600" dirty="0">
                <a:latin typeface="Century Gothic"/>
              </a:rPr>
              <a:t> de los beneficios obtenidos con cada alternativa.</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Su estimación se debe realizar en términos </a:t>
            </a:r>
            <a:r>
              <a:rPr lang="es-CO" sz="1600" b="1" dirty="0">
                <a:solidFill>
                  <a:schemeClr val="accent1"/>
                </a:solidFill>
                <a:highlight>
                  <a:srgbClr val="FFFF00"/>
                </a:highlight>
                <a:latin typeface="Century Gothic"/>
              </a:rPr>
              <a:t>totales</a:t>
            </a:r>
            <a:r>
              <a:rPr lang="es-CO" sz="1600" dirty="0">
                <a:latin typeface="Century Gothic"/>
              </a:rPr>
              <a:t>,</a:t>
            </a:r>
            <a:r>
              <a:rPr lang="es-CO" sz="1600" dirty="0">
                <a:solidFill>
                  <a:srgbClr val="C00000"/>
                </a:solidFill>
                <a:latin typeface="Century Gothic"/>
              </a:rPr>
              <a:t> </a:t>
            </a:r>
            <a:r>
              <a:rPr lang="es-CO" sz="1600" b="1" dirty="0">
                <a:solidFill>
                  <a:schemeClr val="accent1"/>
                </a:solidFill>
                <a:latin typeface="Century Gothic"/>
              </a:rPr>
              <a:t>NO marginales</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a:rPr>
              <a:t>Toda decisión trae consigo la incursión en un Costo de Oportunidad (</a:t>
            </a:r>
            <a:r>
              <a:rPr lang="es-CO" sz="1600" b="1" dirty="0">
                <a:solidFill>
                  <a:schemeClr val="accent1"/>
                </a:solidFill>
                <a:latin typeface="Century Gothic"/>
              </a:rPr>
              <a:t>no hay Costo de Oportunidad igual a 0</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a:rPr>
              <a:t>En muchas ocasiones, el análisis supone la consideración de </a:t>
            </a:r>
            <a:r>
              <a:rPr lang="es-CO" sz="1600" b="1" dirty="0">
                <a:solidFill>
                  <a:schemeClr val="accent1"/>
                </a:solidFill>
                <a:latin typeface="Century Gothic"/>
              </a:rPr>
              <a:t>diversas variables</a:t>
            </a:r>
            <a:r>
              <a:rPr lang="es-CO" sz="1600" dirty="0">
                <a:solidFill>
                  <a:srgbClr val="002F90"/>
                </a:solidFill>
                <a:latin typeface="Century Gothic"/>
              </a:rPr>
              <a:t> </a:t>
            </a:r>
            <a:r>
              <a:rPr lang="es-CO" sz="1600" dirty="0">
                <a:latin typeface="Century Gothic"/>
              </a:rPr>
              <a:t>(análisis multivariado: </a:t>
            </a:r>
            <a:r>
              <a:rPr lang="es-CO" sz="1600" b="1" dirty="0">
                <a:solidFill>
                  <a:schemeClr val="accent1"/>
                </a:solidFill>
                <a:latin typeface="Century Gothic"/>
              </a:rPr>
              <a:t>funciones de utilidad</a:t>
            </a:r>
            <a:r>
              <a:rPr lang="es-CO" sz="1600" dirty="0">
                <a:latin typeface="Century Gothic"/>
              </a:rPr>
              <a:t>).</a:t>
            </a:r>
          </a:p>
          <a:p>
            <a:pPr marL="285750" indent="-285750" algn="just">
              <a:buClr>
                <a:schemeClr val="accent2"/>
              </a:buClr>
              <a:buFont typeface="Arial" panose="020B0604020202020204" pitchFamily="34" charset="0"/>
              <a:buChar char="•"/>
            </a:pPr>
            <a:endParaRPr lang="es-CO" sz="1600" dirty="0">
              <a:latin typeface="Century Gothic"/>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A la hora de valorarlo, es muy importante tener presente cuál es la </a:t>
            </a:r>
            <a:r>
              <a:rPr lang="es-CO" sz="1600" b="1" dirty="0">
                <a:solidFill>
                  <a:schemeClr val="accent1"/>
                </a:solidFill>
                <a:latin typeface="Century Gothic" panose="020B0502020202020204" pitchFamily="34" charset="0"/>
              </a:rPr>
              <a:t>función objetivo</a:t>
            </a:r>
            <a:r>
              <a:rPr lang="es-CO" sz="1600" dirty="0">
                <a:latin typeface="Century Gothic" panose="020B0502020202020204" pitchFamily="34" charset="0"/>
              </a:rPr>
              <a:t>, y el </a:t>
            </a:r>
            <a:r>
              <a:rPr lang="es-CO" sz="1600" b="1" dirty="0">
                <a:solidFill>
                  <a:schemeClr val="accent1"/>
                </a:solidFill>
                <a:latin typeface="Century Gothic" panose="020B0502020202020204" pitchFamily="34" charset="0"/>
              </a:rPr>
              <a:t>valor</a:t>
            </a:r>
            <a:r>
              <a:rPr lang="es-CO" sz="1600" dirty="0">
                <a:latin typeface="Century Gothic" panose="020B0502020202020204" pitchFamily="34" charset="0"/>
              </a:rPr>
              <a:t> que tiene para el tomador de decisión aquello que se deja de ganar.</a:t>
            </a:r>
          </a:p>
          <a:p>
            <a:pPr marL="285750" indent="-285750" algn="just">
              <a:buClr>
                <a:schemeClr val="accent2"/>
              </a:buClr>
              <a:buFont typeface="Arial" panose="020B0604020202020204" pitchFamily="34" charset="0"/>
              <a:buChar char="•"/>
            </a:pPr>
            <a:endParaRPr lang="es-CO" sz="1600" dirty="0">
              <a:latin typeface="Century Gothic" panose="020B0502020202020204" pitchFamily="34" charset="0"/>
            </a:endParaRPr>
          </a:p>
          <a:p>
            <a:pPr marL="285750" indent="-285750" algn="just">
              <a:buClr>
                <a:schemeClr val="accent2"/>
              </a:buClr>
              <a:buFont typeface="Arial" panose="020B0604020202020204" pitchFamily="34" charset="0"/>
              <a:buChar char="•"/>
            </a:pPr>
            <a:r>
              <a:rPr lang="es-CO" sz="1600" dirty="0">
                <a:latin typeface="Century Gothic" panose="020B0502020202020204" pitchFamily="34" charset="0"/>
              </a:rPr>
              <a:t>El costo de oportunidad en muchas ocasiones es objetivo (la mayoría de las veces en el mundo empresarial), pero en otras muchas ocasiones está lleno de </a:t>
            </a:r>
            <a:r>
              <a:rPr lang="es-CO" sz="1600" b="1" dirty="0">
                <a:solidFill>
                  <a:schemeClr val="accent1"/>
                </a:solidFill>
                <a:latin typeface="Century Gothic" panose="020B0502020202020204" pitchFamily="34" charset="0"/>
              </a:rPr>
              <a:t>subjetividad</a:t>
            </a:r>
            <a:r>
              <a:rPr lang="es-CO" sz="1600" dirty="0">
                <a:latin typeface="Century Gothic" panose="020B0502020202020204" pitchFamily="34" charset="0"/>
              </a:rPr>
              <a:t>, como en el caso de la política económica y las decisiones personales, dependiendo de quién hace el análisis porque entramos en “juicios de valor”.</a:t>
            </a:r>
          </a:p>
          <a:p>
            <a:pPr marL="285750" indent="-285750" algn="just">
              <a:buClr>
                <a:schemeClr val="accent2"/>
              </a:buClr>
              <a:buFont typeface="Arial" panose="020B0604020202020204" pitchFamily="34" charset="0"/>
              <a:buChar char="•"/>
            </a:pPr>
            <a:endParaRPr lang="es-CO" sz="1600" dirty="0">
              <a:latin typeface="Century Gothic"/>
            </a:endParaRPr>
          </a:p>
        </p:txBody>
      </p:sp>
      <p:sp>
        <p:nvSpPr>
          <p:cNvPr id="10" name="Título 1">
            <a:extLst>
              <a:ext uri="{FF2B5EF4-FFF2-40B4-BE49-F238E27FC236}">
                <a16:creationId xmlns:a16="http://schemas.microsoft.com/office/drawing/2014/main" id="{DF4D758E-BB29-E682-0327-A54F2FD61400}"/>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16" name="CuadroTexto 15">
            <a:extLst>
              <a:ext uri="{FF2B5EF4-FFF2-40B4-BE49-F238E27FC236}">
                <a16:creationId xmlns:a16="http://schemas.microsoft.com/office/drawing/2014/main" id="{8F3273D9-57A4-9922-573F-4AED64B486B6}"/>
              </a:ext>
            </a:extLst>
          </p:cNvPr>
          <p:cNvSpPr txBox="1"/>
          <p:nvPr/>
        </p:nvSpPr>
        <p:spPr>
          <a:xfrm>
            <a:off x="393441" y="1890822"/>
            <a:ext cx="6097772" cy="369332"/>
          </a:xfrm>
          <a:prstGeom prst="rect">
            <a:avLst/>
          </a:prstGeom>
          <a:noFill/>
        </p:spPr>
        <p:txBody>
          <a:bodyPr wrap="square">
            <a:spAutoFit/>
          </a:bodyPr>
          <a:lstStyle/>
          <a:p>
            <a:r>
              <a:rPr lang="es-CO" b="1">
                <a:solidFill>
                  <a:srgbClr val="D7A700"/>
                </a:solidFill>
                <a:latin typeface="Century Gothic"/>
              </a:rPr>
              <a:t>Consideraciones:</a:t>
            </a:r>
            <a:endParaRPr lang="es-CO">
              <a:solidFill>
                <a:srgbClr val="D7A700"/>
              </a:solidFill>
            </a:endParaRPr>
          </a:p>
        </p:txBody>
      </p:sp>
      <p:sp>
        <p:nvSpPr>
          <p:cNvPr id="2" name="Rectángulo 1">
            <a:extLst>
              <a:ext uri="{FF2B5EF4-FFF2-40B4-BE49-F238E27FC236}">
                <a16:creationId xmlns:a16="http://schemas.microsoft.com/office/drawing/2014/main" id="{2F939A2B-D76D-30A9-ADC0-A3670F04C5F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7" name="Picture 2" descr="Imágenes de Consideraciones libres de derechos | Depositphotos">
            <a:extLst>
              <a:ext uri="{FF2B5EF4-FFF2-40B4-BE49-F238E27FC236}">
                <a16:creationId xmlns:a16="http://schemas.microsoft.com/office/drawing/2014/main" id="{DF499D3D-EE33-CB3C-E886-49411865B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0735" y="726376"/>
            <a:ext cx="1673819" cy="12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58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randombar(horizont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randombar(horizontal)">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randombar(horizontal)">
                                      <p:cBhvr>
                                        <p:cTn id="22" dur="500"/>
                                        <p:tgtEl>
                                          <p:spTgt spid="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5">
                                            <p:txEl>
                                              <p:pRg st="8" end="8"/>
                                            </p:txEl>
                                          </p:spTgt>
                                        </p:tgtEl>
                                        <p:attrNameLst>
                                          <p:attrName>style.visibility</p:attrName>
                                        </p:attrNameLst>
                                      </p:cBhvr>
                                      <p:to>
                                        <p:strVal val="visible"/>
                                      </p:to>
                                    </p:set>
                                    <p:animEffect transition="in" filter="randombar(horizontal)">
                                      <p:cBhvr>
                                        <p:cTn id="27" dur="500"/>
                                        <p:tgtEl>
                                          <p:spTgt spid="1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5">
                                            <p:txEl>
                                              <p:pRg st="10" end="10"/>
                                            </p:txEl>
                                          </p:spTgt>
                                        </p:tgtEl>
                                        <p:attrNameLst>
                                          <p:attrName>style.visibility</p:attrName>
                                        </p:attrNameLst>
                                      </p:cBhvr>
                                      <p:to>
                                        <p:strVal val="visible"/>
                                      </p:to>
                                    </p:set>
                                    <p:animEffect transition="in" filter="randombar(horizontal)">
                                      <p:cBhvr>
                                        <p:cTn id="32" dur="500"/>
                                        <p:tgtEl>
                                          <p:spTgt spid="1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50" t="-1408" r="-450"/>
                </a:stretch>
              </a:blipFill>
            </p:spPr>
            <p:txBody>
              <a:bodyPr/>
              <a:lstStyle/>
              <a:p>
                <a:r>
                  <a:rPr lang="en-US">
                    <a:noFill/>
                  </a:rPr>
                  <a:t> </a:t>
                </a:r>
              </a:p>
            </p:txBody>
          </p:sp>
        </mc:Fallback>
      </mc:AlternateContent>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sp>
        <p:nvSpPr>
          <p:cNvPr id="12" name="Rectángulo 11"/>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9AE97B0C-705E-7778-5F15-BEE4396663C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EE1786A-C920-80FA-5DA4-BB6F458DAE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1A234206-6469-41F0-89B1-E1B5E7651DC8}"/>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8948749C-6200-631B-E8DA-5278A1DFEF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0285EAAC-4138-6023-09BE-27C276F01C6A}"/>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Tree>
    <p:extLst>
      <p:ext uri="{BB962C8B-B14F-4D97-AF65-F5344CB8AC3E}">
        <p14:creationId xmlns:p14="http://schemas.microsoft.com/office/powerpoint/2010/main" val="429341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9AF33-B37C-2892-8E46-44A0A259431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Content Placeholder 6">
                <a:extLst>
                  <a:ext uri="{FF2B5EF4-FFF2-40B4-BE49-F238E27FC236}">
                    <a16:creationId xmlns:a16="http://schemas.microsoft.com/office/drawing/2014/main" id="{F47FE7AE-2796-D9B4-8F07-30967F4AEA42}"/>
                  </a:ext>
                </a:extLst>
              </p:cNvPr>
              <p:cNvSpPr>
                <a:spLocks noGrp="1"/>
              </p:cNvSpPr>
              <p:nvPr>
                <p:ph idx="1"/>
              </p:nvPr>
            </p:nvSpPr>
            <p:spPr>
              <a:xfrm>
                <a:off x="678413" y="2543550"/>
                <a:ext cx="10835173" cy="1727826"/>
              </a:xfrm>
            </p:spPr>
            <p:txBody>
              <a:bodyPr>
                <a:noAutofit/>
              </a:bodyPr>
              <a:lstStyle/>
              <a:p>
                <a:pPr marL="0" indent="0" algn="just">
                  <a:buNone/>
                </a:pPr>
                <a:r>
                  <a:rPr lang="es-ES">
                    <a:latin typeface="Century Gothic" panose="020B0502020202020204" pitchFamily="34" charset="0"/>
                  </a:rPr>
                  <a:t>Una compañía ha encontrado que la rentabilidad para uno de sus procesos productivos depende de los parámetros de operación </a:t>
                </a:r>
                <a:r>
                  <a:rPr lang="es-ES" i="1">
                    <a:latin typeface="Century Gothic" panose="020B0502020202020204" pitchFamily="34" charset="0"/>
                  </a:rPr>
                  <a:t>a</a:t>
                </a:r>
                <a:r>
                  <a:rPr lang="es-ES">
                    <a:latin typeface="Century Gothic" panose="020B0502020202020204" pitchFamily="34" charset="0"/>
                  </a:rPr>
                  <a:t> y </a:t>
                </a:r>
                <a:r>
                  <a:rPr lang="es-ES" i="1">
                    <a:latin typeface="Century Gothic" panose="020B0502020202020204" pitchFamily="34" charset="0"/>
                  </a:rPr>
                  <a:t>b</a:t>
                </a:r>
                <a:r>
                  <a:rPr lang="es-ES">
                    <a:latin typeface="Century Gothic" panose="020B0502020202020204" pitchFamily="34" charset="0"/>
                  </a:rPr>
                  <a:t> y viene dada por la siguiente expresión:</a:t>
                </a:r>
              </a:p>
              <a:p>
                <a:pPr marL="0" indent="0" algn="just">
                  <a:buNone/>
                </a:pPr>
                <a:endParaRPr lang="es-CO">
                  <a:latin typeface="Century Gothic" panose="020B0502020202020204" pitchFamily="34" charset="0"/>
                </a:endParaRPr>
              </a:p>
              <a:p>
                <a:pPr marL="0" indent="0" algn="just">
                  <a:buNone/>
                </a:pPr>
                <a14:m>
                  <m:oMathPara xmlns:m="http://schemas.openxmlformats.org/officeDocument/2006/math">
                    <m:oMathParaPr>
                      <m:jc m:val="centerGroup"/>
                    </m:oMathParaPr>
                    <m:oMath xmlns:m="http://schemas.openxmlformats.org/officeDocument/2006/math">
                      <m:r>
                        <a:rPr lang="es-419" b="1" i="0" smtClean="0">
                          <a:solidFill>
                            <a:srgbClr val="D7A700"/>
                          </a:solidFill>
                          <a:latin typeface="Cambria Math" panose="02040503050406030204" pitchFamily="18" charset="0"/>
                        </a:rPr>
                        <m:t>𝐑𝐞𝐧𝐭𝐚𝐛𝐢𝐥𝐢𝐝𝐚𝐝</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f>
                        <m:fPr>
                          <m:ctrlPr>
                            <a:rPr lang="es-419" b="1" i="1" smtClean="0">
                              <a:solidFill>
                                <a:srgbClr val="D7A700"/>
                              </a:solidFill>
                              <a:latin typeface="Cambria Math" panose="02040503050406030204" pitchFamily="18" charset="0"/>
                            </a:rPr>
                          </m:ctrlPr>
                        </m:fPr>
                        <m:num>
                          <m:r>
                            <a:rPr lang="es-419" b="1" i="0" smtClean="0">
                              <a:solidFill>
                                <a:srgbClr val="D7A700"/>
                              </a:solidFill>
                              <a:latin typeface="Cambria Math" panose="02040503050406030204" pitchFamily="18" charset="0"/>
                            </a:rPr>
                            <m:t>𝟏</m:t>
                          </m:r>
                        </m:num>
                        <m:den>
                          <m:r>
                            <a:rPr lang="es-419" b="1" i="0" smtClean="0">
                              <a:solidFill>
                                <a:srgbClr val="D7A700"/>
                              </a:solidFill>
                              <a:latin typeface="Cambria Math" panose="02040503050406030204" pitchFamily="18" charset="0"/>
                            </a:rPr>
                            <m:t>𝟓𝟎</m:t>
                          </m:r>
                        </m:den>
                      </m:f>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𝐚𝐛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d>
                            <m:dPr>
                              <m:ctrlPr>
                                <a:rPr lang="es-419" b="1" i="1" smtClean="0">
                                  <a:solidFill>
                                    <a:srgbClr val="D7A700"/>
                                  </a:solidFill>
                                  <a:latin typeface="Cambria Math" panose="02040503050406030204" pitchFamily="18" charset="0"/>
                                </a:rPr>
                              </m:ctrlPr>
                            </m:dPr>
                            <m:e>
                              <m:r>
                                <a:rPr lang="es-419" b="1" i="0" smtClean="0">
                                  <a:solidFill>
                                    <a:srgbClr val="D7A700"/>
                                  </a:solidFill>
                                  <a:latin typeface="Cambria Math" panose="02040503050406030204" pitchFamily="18" charset="0"/>
                                </a:rPr>
                                <m:t>𝟒</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𝐚</m:t>
                              </m:r>
                            </m:e>
                          </m:d>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𝟐</m:t>
                          </m:r>
                          <m:r>
                            <a:rPr lang="es-419" b="1" i="0" smtClean="0">
                              <a:solidFill>
                                <a:srgbClr val="D7A700"/>
                              </a:solidFill>
                              <a:latin typeface="Cambria Math" panose="02040503050406030204" pitchFamily="18" charset="0"/>
                            </a:rPr>
                            <m:t>−</m:t>
                          </m:r>
                          <m:r>
                            <a:rPr lang="es-419" b="1" i="0" smtClean="0">
                              <a:solidFill>
                                <a:srgbClr val="D7A700"/>
                              </a:solidFill>
                              <a:latin typeface="Cambria Math" panose="02040503050406030204" pitchFamily="18" charset="0"/>
                            </a:rPr>
                            <m:t>𝐛</m:t>
                          </m:r>
                          <m:r>
                            <a:rPr lang="es-419" b="1" i="0" smtClean="0">
                              <a:solidFill>
                                <a:srgbClr val="D7A700"/>
                              </a:solidFill>
                              <a:latin typeface="Cambria Math" panose="02040503050406030204" pitchFamily="18" charset="0"/>
                            </a:rPr>
                            <m:t>)</m:t>
                          </m:r>
                        </m:e>
                      </m:d>
                    </m:oMath>
                  </m:oMathPara>
                </a14:m>
                <a:endParaRPr lang="es-CO">
                  <a:solidFill>
                    <a:srgbClr val="D7A700"/>
                  </a:solidFill>
                  <a:latin typeface="Century Gothic" panose="020B0502020202020204" pitchFamily="34" charset="0"/>
                </a:endParaRPr>
              </a:p>
            </p:txBody>
          </p:sp>
        </mc:Choice>
        <mc:Fallback xmlns="">
          <p:sp>
            <p:nvSpPr>
              <p:cNvPr id="10" name="Content Placeholder 6">
                <a:extLst>
                  <a:ext uri="{FF2B5EF4-FFF2-40B4-BE49-F238E27FC236}">
                    <a16:creationId xmlns:a16="http://schemas.microsoft.com/office/drawing/2014/main" id="{F47FE7AE-2796-D9B4-8F07-30967F4AEA42}"/>
                  </a:ext>
                </a:extLst>
              </p:cNvPr>
              <p:cNvSpPr>
                <a:spLocks noGrp="1" noRot="1" noChangeAspect="1" noMove="1" noResize="1" noEditPoints="1" noAdjustHandles="1" noChangeArrowheads="1" noChangeShapeType="1" noTextEdit="1"/>
              </p:cNvSpPr>
              <p:nvPr>
                <p:ph idx="1"/>
              </p:nvPr>
            </p:nvSpPr>
            <p:spPr>
              <a:xfrm>
                <a:off x="678413" y="2543550"/>
                <a:ext cx="10835173" cy="1727826"/>
              </a:xfrm>
              <a:blipFill>
                <a:blip r:embed="rId3"/>
                <a:stretch>
                  <a:fillRect l="-468" t="-1460" r="-468"/>
                </a:stretch>
              </a:blipFill>
            </p:spPr>
            <p:txBody>
              <a:bodyPr/>
              <a:lstStyle/>
              <a:p>
                <a:r>
                  <a:rPr lang="es-ES_tradnl">
                    <a:noFill/>
                  </a:rPr>
                  <a:t> </a:t>
                </a:r>
              </a:p>
            </p:txBody>
          </p:sp>
        </mc:Fallback>
      </mc:AlternateContent>
      <p:sp>
        <p:nvSpPr>
          <p:cNvPr id="11" name="Slide Number Placeholder 10">
            <a:extLst>
              <a:ext uri="{FF2B5EF4-FFF2-40B4-BE49-F238E27FC236}">
                <a16:creationId xmlns:a16="http://schemas.microsoft.com/office/drawing/2014/main" id="{A56EEEDE-3DA7-7CB6-60BE-20DF7E910FDE}"/>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sp>
        <p:nvSpPr>
          <p:cNvPr id="12" name="Rectángulo 11">
            <a:extLst>
              <a:ext uri="{FF2B5EF4-FFF2-40B4-BE49-F238E27FC236}">
                <a16:creationId xmlns:a16="http://schemas.microsoft.com/office/drawing/2014/main" id="{38E91C92-41A6-6FE6-55A4-5AE4FC8296D1}"/>
              </a:ext>
            </a:extLst>
          </p:cNvPr>
          <p:cNvSpPr/>
          <p:nvPr/>
        </p:nvSpPr>
        <p:spPr>
          <a:xfrm>
            <a:off x="801956" y="1989939"/>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1.3.</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1DEA9272-33EC-ABAA-753B-20D006441B7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4D9D201-36C1-4589-9944-B03BBDF45D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4C8300E8-959D-C4C1-5FBC-C93629AC2E6B}"/>
              </a:ext>
            </a:extLst>
          </p:cNvPr>
          <p:cNvSpPr txBox="1"/>
          <p:nvPr/>
        </p:nvSpPr>
        <p:spPr>
          <a:xfrm>
            <a:off x="801956" y="4644134"/>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¿Cuál es el costo de Oportunidad del proceso, en términos de rentabilidad, si la compañía se encuentra operando con valores de </a:t>
            </a:r>
            <a:r>
              <a:rPr lang="es-ES" b="1" i="1" dirty="0">
                <a:solidFill>
                  <a:schemeClr val="accent1"/>
                </a:solidFill>
                <a:latin typeface="Century Gothic" panose="020B0502020202020204" pitchFamily="34" charset="0"/>
              </a:rPr>
              <a:t>a</a:t>
            </a:r>
            <a:r>
              <a:rPr lang="es-ES" b="1" dirty="0">
                <a:solidFill>
                  <a:schemeClr val="accent1"/>
                </a:solidFill>
                <a:latin typeface="Century Gothic" panose="020B0502020202020204" pitchFamily="34" charset="0"/>
              </a:rPr>
              <a:t> y </a:t>
            </a:r>
            <a:r>
              <a:rPr lang="es-ES" b="1" i="1" dirty="0">
                <a:solidFill>
                  <a:schemeClr val="accent1"/>
                </a:solidFill>
                <a:latin typeface="Century Gothic" panose="020B0502020202020204" pitchFamily="34" charset="0"/>
              </a:rPr>
              <a:t>b</a:t>
            </a:r>
            <a:r>
              <a:rPr lang="es-ES" b="1" dirty="0">
                <a:solidFill>
                  <a:schemeClr val="accent1"/>
                </a:solidFill>
                <a:latin typeface="Century Gothic" panose="020B0502020202020204" pitchFamily="34" charset="0"/>
              </a:rPr>
              <a:t> de 1 y 2, respectivamente?.</a:t>
            </a:r>
            <a:endParaRPr lang="es-CO" sz="1800" b="1" dirty="0">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AC88405C-94C3-A813-544B-77A073C78E1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ítulo 1">
            <a:extLst>
              <a:ext uri="{FF2B5EF4-FFF2-40B4-BE49-F238E27FC236}">
                <a16:creationId xmlns:a16="http://schemas.microsoft.com/office/drawing/2014/main" id="{C77727E0-9794-AB66-68F5-C2245AC965B8}"/>
              </a:ext>
            </a:extLst>
          </p:cNvPr>
          <p:cNvSpPr txBox="1">
            <a:spLocks/>
          </p:cNvSpPr>
          <p:nvPr/>
        </p:nvSpPr>
        <p:spPr>
          <a:xfrm>
            <a:off x="581192" y="726376"/>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panose="020B0502020202020204" pitchFamily="34" charset="0"/>
              </a:rPr>
              <a:t>¿Qué es el costo de oportunidad?</a:t>
            </a:r>
          </a:p>
        </p:txBody>
      </p:sp>
      <p:sp>
        <p:nvSpPr>
          <p:cNvPr id="3" name="CuadroTexto 7">
            <a:extLst>
              <a:ext uri="{FF2B5EF4-FFF2-40B4-BE49-F238E27FC236}">
                <a16:creationId xmlns:a16="http://schemas.microsoft.com/office/drawing/2014/main" id="{CDD3AD7C-32AD-E89F-F925-05A0B9F6DD55}"/>
              </a:ext>
            </a:extLst>
          </p:cNvPr>
          <p:cNvSpPr txBox="1"/>
          <p:nvPr/>
        </p:nvSpPr>
        <p:spPr>
          <a:xfrm>
            <a:off x="930133" y="5414208"/>
            <a:ext cx="10483995" cy="646331"/>
          </a:xfrm>
          <a:prstGeom prst="rect">
            <a:avLst/>
          </a:prstGeom>
          <a:noFill/>
        </p:spPr>
        <p:txBody>
          <a:bodyPr wrap="square">
            <a:spAutoFit/>
          </a:bodyPr>
          <a:lstStyle/>
          <a:p>
            <a:pPr algn="ctr"/>
            <a:r>
              <a:rPr lang="es-ES" b="1" dirty="0">
                <a:solidFill>
                  <a:schemeClr val="accent1"/>
                </a:solidFill>
                <a:latin typeface="Century Gothic" panose="020B0502020202020204" pitchFamily="34" charset="0"/>
              </a:rPr>
              <a:t>Actual: </a:t>
            </a:r>
            <a:r>
              <a:rPr lang="es-ES" b="1" dirty="0">
                <a:solidFill>
                  <a:schemeClr val="accent1"/>
                </a:solidFill>
                <a:highlight>
                  <a:srgbClr val="FFFF00"/>
                </a:highlight>
                <a:latin typeface="Century Gothic" panose="020B0502020202020204" pitchFamily="34" charset="0"/>
              </a:rPr>
              <a:t>Rentabilidad(1,2)= 0.10</a:t>
            </a:r>
          </a:p>
          <a:p>
            <a:pPr algn="ctr"/>
            <a:r>
              <a:rPr lang="es-ES" b="1" dirty="0">
                <a:solidFill>
                  <a:schemeClr val="accent1"/>
                </a:solidFill>
                <a:latin typeface="Century Gothic" panose="020B0502020202020204" pitchFamily="34" charset="0"/>
              </a:rPr>
              <a:t>Máxima rentabilidad: </a:t>
            </a:r>
            <a:r>
              <a:rPr lang="es-ES" b="1" dirty="0">
                <a:solidFill>
                  <a:schemeClr val="accent1"/>
                </a:solidFill>
                <a:highlight>
                  <a:srgbClr val="FFFF00"/>
                </a:highlight>
                <a:latin typeface="Century Gothic" panose="020B0502020202020204" pitchFamily="34" charset="0"/>
              </a:rPr>
              <a:t>a=10/3; b=8/3</a:t>
            </a:r>
            <a:r>
              <a:rPr lang="es-ES" b="1" dirty="0">
                <a:solidFill>
                  <a:schemeClr val="accent1"/>
                </a:solidFill>
                <a:latin typeface="Century Gothic" panose="020B0502020202020204" pitchFamily="34" charset="0"/>
              </a:rPr>
              <a:t>; </a:t>
            </a:r>
            <a:r>
              <a:rPr lang="es-ES" b="1" dirty="0">
                <a:solidFill>
                  <a:schemeClr val="accent1"/>
                </a:solidFill>
                <a:highlight>
                  <a:srgbClr val="FFFF00"/>
                </a:highlight>
                <a:latin typeface="Century Gothic" panose="020B0502020202020204" pitchFamily="34" charset="0"/>
              </a:rPr>
              <a:t>Rentabilidad(10/3,8/3)= 0.1867 </a:t>
            </a:r>
            <a:endParaRPr lang="es-CO" sz="1800" b="1" dirty="0">
              <a:solidFill>
                <a:schemeClr val="accent1"/>
              </a:solidFill>
              <a:highlight>
                <a:srgbClr val="FFFF00"/>
              </a:highlight>
              <a:latin typeface="Century Gothic" panose="020B0502020202020204" pitchFamily="34" charset="0"/>
            </a:endParaRPr>
          </a:p>
        </p:txBody>
      </p:sp>
    </p:spTree>
    <p:extLst>
      <p:ext uri="{BB962C8B-B14F-4D97-AF65-F5344CB8AC3E}">
        <p14:creationId xmlns:p14="http://schemas.microsoft.com/office/powerpoint/2010/main" val="243315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sz="3200">
                <a:latin typeface="Century Gothic" panose="020B0502020202020204" pitchFamily="34" charset="0"/>
              </a:rPr>
              <a:t>¿Qué es el costo de oportunidad?</a:t>
            </a:r>
          </a:p>
        </p:txBody>
      </p:sp>
      <p:sp>
        <p:nvSpPr>
          <p:cNvPr id="10" name="Content Placeholder 6"/>
          <p:cNvSpPr>
            <a:spLocks noGrp="1"/>
          </p:cNvSpPr>
          <p:nvPr>
            <p:ph idx="1"/>
          </p:nvPr>
        </p:nvSpPr>
        <p:spPr>
          <a:xfrm>
            <a:off x="2005044" y="2594129"/>
            <a:ext cx="5754294" cy="1450925"/>
          </a:xfrm>
        </p:spPr>
        <p:txBody>
          <a:bodyPr>
            <a:normAutofit/>
          </a:bodyPr>
          <a:lstStyle/>
          <a:p>
            <a:pPr marL="0" indent="0" algn="ctr">
              <a:buNone/>
            </a:pPr>
            <a:r>
              <a:rPr lang="es-ES_tradnl">
                <a:solidFill>
                  <a:schemeClr val="tx1"/>
                </a:solidFill>
                <a:latin typeface="Century Gothic" panose="020B0502020202020204" pitchFamily="34" charset="0"/>
              </a:rPr>
              <a:t>En conclusión, cualquier decisión que se tome siempre tiene relacionado un Costo de Oportunidad.</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14</a:t>
            </a:fld>
            <a:endParaRPr lang="en-US" sz="2000" b="1">
              <a:latin typeface="Century Gothic" panose="020B0502020202020204" pitchFamily="34" charset="0"/>
            </a:endParaRPr>
          </a:p>
        </p:txBody>
      </p:sp>
      <p:sp>
        <p:nvSpPr>
          <p:cNvPr id="2" name="Rectángulo 1"/>
          <p:cNvSpPr/>
          <p:nvPr/>
        </p:nvSpPr>
        <p:spPr>
          <a:xfrm>
            <a:off x="2558975" y="4583589"/>
            <a:ext cx="7074050" cy="923330"/>
          </a:xfrm>
          <a:prstGeom prst="rect">
            <a:avLst/>
          </a:prstGeom>
          <a:solidFill>
            <a:schemeClr val="accent3">
              <a:lumMod val="60000"/>
              <a:lumOff val="40000"/>
            </a:schemeClr>
          </a:solidFill>
        </p:spPr>
        <p:txBody>
          <a:bodyPr wrap="square">
            <a:spAutoFit/>
          </a:bodyPr>
          <a:lstStyle/>
          <a:p>
            <a:pPr algn="ctr"/>
            <a:r>
              <a:rPr lang="es-ES_tradnl" b="1">
                <a:solidFill>
                  <a:schemeClr val="accent1"/>
                </a:solidFill>
                <a:latin typeface="Century Gothic" panose="020B0502020202020204" pitchFamily="34" charset="0"/>
              </a:rPr>
              <a:t>Esto se debe a que, en un mundo con recursos limitados, seleccionar una alternativa por lo general implica sacrificar otra.</a:t>
            </a:r>
          </a:p>
        </p:txBody>
      </p:sp>
      <p:sp>
        <p:nvSpPr>
          <p:cNvPr id="3" name="Rectángulo 2">
            <a:extLst>
              <a:ext uri="{FF2B5EF4-FFF2-40B4-BE49-F238E27FC236}">
                <a16:creationId xmlns:a16="http://schemas.microsoft.com/office/drawing/2014/main" id="{9D7DE274-7430-681C-1FF9-6148C23008E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764F226-4B21-0FF6-071B-2BF687897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ágenes de Decision - Descarga gratuita en Freepik">
            <a:extLst>
              <a:ext uri="{FF2B5EF4-FFF2-40B4-BE49-F238E27FC236}">
                <a16:creationId xmlns:a16="http://schemas.microsoft.com/office/drawing/2014/main" id="{8565570C-052F-ECD4-DF23-BD52B0075C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120" t="10238" r="10636" b="10238"/>
          <a:stretch/>
        </p:blipFill>
        <p:spPr bwMode="auto">
          <a:xfrm>
            <a:off x="8235230" y="2005694"/>
            <a:ext cx="2323070" cy="2331271"/>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4EC8264-CDA7-F9BD-6534-A56C5C0CC24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91407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anim calcmode="lin" valueType="num">
                                      <p:cBhvr additive="base">
                                        <p:cTn id="11" dur="500" fill="hold"/>
                                        <p:tgtEl>
                                          <p:spTgt spid="1026"/>
                                        </p:tgtEl>
                                        <p:attrNameLst>
                                          <p:attrName>ppt_x</p:attrName>
                                        </p:attrNameLst>
                                      </p:cBhvr>
                                      <p:tavLst>
                                        <p:tav tm="0">
                                          <p:val>
                                            <p:strVal val="#ppt_x"/>
                                          </p:val>
                                        </p:tav>
                                        <p:tav tm="100000">
                                          <p:val>
                                            <p:strVal val="#ppt_x"/>
                                          </p:val>
                                        </p:tav>
                                      </p:tavLst>
                                    </p:anim>
                                    <p:anim calcmode="lin" valueType="num">
                                      <p:cBhvr additive="base">
                                        <p:cTn id="1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12263-2918-C92F-AC29-849E65E4D502}"/>
              </a:ext>
            </a:extLst>
          </p:cNvPr>
          <p:cNvSpPr>
            <a:spLocks noGrp="1"/>
          </p:cNvSpPr>
          <p:nvPr>
            <p:ph type="title"/>
          </p:nvPr>
        </p:nvSpPr>
        <p:spPr/>
        <p:txBody>
          <a:bodyPr/>
          <a:lstStyle/>
          <a:p>
            <a:endParaRPr lang="es-ES_tradnl"/>
          </a:p>
        </p:txBody>
      </p:sp>
      <p:sp>
        <p:nvSpPr>
          <p:cNvPr id="4" name="Slide Number Placeholder 3">
            <a:extLst>
              <a:ext uri="{FF2B5EF4-FFF2-40B4-BE49-F238E27FC236}">
                <a16:creationId xmlns:a16="http://schemas.microsoft.com/office/drawing/2014/main" id="{B95F044D-ABFB-81C0-FC63-F523B5074D39}"/>
              </a:ext>
            </a:extLst>
          </p:cNvPr>
          <p:cNvSpPr>
            <a:spLocks noGrp="1"/>
          </p:cNvSpPr>
          <p:nvPr>
            <p:ph type="sldNum" sz="quarter" idx="12"/>
          </p:nvPr>
        </p:nvSpPr>
        <p:spPr/>
        <p:txBody>
          <a:bodyPr/>
          <a:lstStyle/>
          <a:p>
            <a:fld id="{D57F1E4F-1CFF-5643-939E-217C01CDF565}" type="slidenum">
              <a:rPr lang="en-US" smtClean="0"/>
              <a:pPr/>
              <a:t>15</a:t>
            </a:fld>
            <a:endParaRPr lang="en-US"/>
          </a:p>
        </p:txBody>
      </p:sp>
      <p:sp>
        <p:nvSpPr>
          <p:cNvPr id="6" name="TextBox 5">
            <a:extLst>
              <a:ext uri="{FF2B5EF4-FFF2-40B4-BE49-F238E27FC236}">
                <a16:creationId xmlns:a16="http://schemas.microsoft.com/office/drawing/2014/main" id="{957CC4DB-6A42-B1F2-5B4C-BC2E0CCA1C14}"/>
              </a:ext>
            </a:extLst>
          </p:cNvPr>
          <p:cNvSpPr txBox="1"/>
          <p:nvPr/>
        </p:nvSpPr>
        <p:spPr>
          <a:xfrm>
            <a:off x="664464" y="6315166"/>
            <a:ext cx="3601242" cy="369332"/>
          </a:xfrm>
          <a:prstGeom prst="rect">
            <a:avLst/>
          </a:prstGeom>
          <a:noFill/>
        </p:spPr>
        <p:txBody>
          <a:bodyPr wrap="none" rtlCol="0">
            <a:spAutoFit/>
          </a:bodyPr>
          <a:lstStyle/>
          <a:p>
            <a:r>
              <a:rPr lang="es-ES_tradnl" dirty="0">
                <a:hlinkClick r:id="rId2"/>
              </a:rPr>
              <a:t>https://www.menti.com</a:t>
            </a:r>
            <a:r>
              <a:rPr lang="es-ES_tradnl">
                <a:hlinkClick r:id="rId2"/>
              </a:rPr>
              <a:t>/aljbo7jfqy9e</a:t>
            </a:r>
            <a:r>
              <a:rPr lang="es-ES_tradnl"/>
              <a:t> </a:t>
            </a:r>
            <a:endParaRPr lang="es-ES_tradnl" dirty="0"/>
          </a:p>
        </p:txBody>
      </p:sp>
      <p:sp>
        <p:nvSpPr>
          <p:cNvPr id="7" name="Content Placeholder 6">
            <a:extLst>
              <a:ext uri="{FF2B5EF4-FFF2-40B4-BE49-F238E27FC236}">
                <a16:creationId xmlns:a16="http://schemas.microsoft.com/office/drawing/2014/main" id="{04F77242-9A2F-D5C2-CB30-35BD723B6A5B}"/>
              </a:ext>
            </a:extLst>
          </p:cNvPr>
          <p:cNvSpPr>
            <a:spLocks noGrp="1"/>
          </p:cNvSpPr>
          <p:nvPr>
            <p:ph idx="1"/>
          </p:nvPr>
        </p:nvSpPr>
        <p:spPr/>
        <p:txBody>
          <a:bodyPr/>
          <a:lstStyle/>
          <a:p>
            <a:endParaRPr lang="es-ES_tradnl"/>
          </a:p>
        </p:txBody>
      </p:sp>
      <p:pic>
        <p:nvPicPr>
          <p:cNvPr id="8" name="Picture 7">
            <a:extLst>
              <a:ext uri="{FF2B5EF4-FFF2-40B4-BE49-F238E27FC236}">
                <a16:creationId xmlns:a16="http://schemas.microsoft.com/office/drawing/2014/main" id="{F29E7519-68F6-408B-90D0-BC162BBAED31}"/>
              </a:ext>
            </a:extLst>
          </p:cNvPr>
          <p:cNvPicPr>
            <a:picLocks noChangeAspect="1"/>
          </p:cNvPicPr>
          <p:nvPr/>
        </p:nvPicPr>
        <p:blipFill>
          <a:blip r:embed="rId3"/>
          <a:stretch>
            <a:fillRect/>
          </a:stretch>
        </p:blipFill>
        <p:spPr>
          <a:xfrm>
            <a:off x="582161" y="556035"/>
            <a:ext cx="11029616" cy="6309121"/>
          </a:xfrm>
          <a:prstGeom prst="rect">
            <a:avLst/>
          </a:prstGeom>
        </p:spPr>
      </p:pic>
    </p:spTree>
    <p:extLst>
      <p:ext uri="{BB962C8B-B14F-4D97-AF65-F5344CB8AC3E}">
        <p14:creationId xmlns:p14="http://schemas.microsoft.com/office/powerpoint/2010/main" val="1858068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A7D1A14-36C1-49D3-93E0-4578B847CFB5}"/>
              </a:ext>
            </a:extLst>
          </p:cNvPr>
          <p:cNvSpPr>
            <a:spLocks noGrp="1"/>
          </p:cNvSpPr>
          <p:nvPr>
            <p:ph type="title"/>
          </p:nvPr>
        </p:nvSpPr>
        <p:spPr/>
        <p:txBody>
          <a:bodyPr/>
          <a:lstStyle/>
          <a:p>
            <a:r>
              <a:rPr lang="es-CO" dirty="0">
                <a:latin typeface="Century Gothic" panose="020B0502020202020204" pitchFamily="34" charset="0"/>
              </a:rPr>
              <a:t>PREGUNTA 1 (4 MINUTOS)</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
        <p:nvSpPr>
          <p:cNvPr id="5" name="TPPolling"/>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030B7CF3-F66C-FA65-D904-51F663DA31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E83CBE2-9562-BE43-7256-191E4065B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D6B6DC96-C34F-1D37-DCF2-905DDD4DA615}"/>
              </a:ext>
            </a:extLst>
          </p:cNvPr>
          <p:cNvPicPr>
            <a:picLocks noChangeAspect="1"/>
          </p:cNvPicPr>
          <p:nvPr/>
        </p:nvPicPr>
        <p:blipFill>
          <a:blip r:embed="rId5"/>
          <a:stretch>
            <a:fillRect/>
          </a:stretch>
        </p:blipFill>
        <p:spPr>
          <a:xfrm>
            <a:off x="1045026" y="1844276"/>
            <a:ext cx="8013357" cy="4783545"/>
          </a:xfrm>
          <a:prstGeom prst="rect">
            <a:avLst/>
          </a:prstGeom>
        </p:spPr>
      </p:pic>
      <p:sp>
        <p:nvSpPr>
          <p:cNvPr id="3" name="Rectángulo 2">
            <a:extLst>
              <a:ext uri="{FF2B5EF4-FFF2-40B4-BE49-F238E27FC236}">
                <a16:creationId xmlns:a16="http://schemas.microsoft.com/office/drawing/2014/main" id="{1091580A-6AF1-26BC-CBE1-8BBFE7CBDA7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4" name="Picture 2" descr="Imágenes de Resolucion Problemas - Descarga gratuita en Freepik">
            <a:extLst>
              <a:ext uri="{FF2B5EF4-FFF2-40B4-BE49-F238E27FC236}">
                <a16:creationId xmlns:a16="http://schemas.microsoft.com/office/drawing/2014/main" id="{7EEFDCFB-0FF9-1D1A-5003-4B3206C007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09653" y="3429000"/>
            <a:ext cx="2235775" cy="158014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2418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4AA2-AA74-A0F2-F183-B79F096F967E}"/>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2E0125F7-84ED-0FFE-165D-CD5F457C2F69}"/>
              </a:ext>
            </a:extLst>
          </p:cNvPr>
          <p:cNvSpPr>
            <a:spLocks noGrp="1"/>
          </p:cNvSpPr>
          <p:nvPr>
            <p:ph type="title"/>
          </p:nvPr>
        </p:nvSpPr>
        <p:spPr/>
        <p:txBody>
          <a:bodyPr/>
          <a:lstStyle/>
          <a:p>
            <a:r>
              <a:rPr lang="es-CO">
                <a:latin typeface="Century Gothic" panose="020B0502020202020204" pitchFamily="34" charset="0"/>
              </a:rPr>
              <a:t>PREGUNTA 1 (4 MINUTOS)</a:t>
            </a:r>
          </a:p>
        </p:txBody>
      </p:sp>
      <p:sp>
        <p:nvSpPr>
          <p:cNvPr id="4" name="Marcador de número de diapositiva 3">
            <a:extLst>
              <a:ext uri="{FF2B5EF4-FFF2-40B4-BE49-F238E27FC236}">
                <a16:creationId xmlns:a16="http://schemas.microsoft.com/office/drawing/2014/main" id="{915460AC-008D-CAEC-F835-11DDEEBE8FAE}"/>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BC9AD6E-C588-46B0-23D5-B639C1C4DE7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E711654-9176-C626-E778-9C396CEA7F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06719330-78C4-C923-62D2-7796E76173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A08E248D-D3AD-96EE-30F6-0F68EF5DA7F0}"/>
              </a:ext>
            </a:extLst>
          </p:cNvPr>
          <p:cNvPicPr>
            <a:picLocks noChangeAspect="1"/>
          </p:cNvPicPr>
          <p:nvPr/>
        </p:nvPicPr>
        <p:blipFill>
          <a:blip r:embed="rId4"/>
          <a:stretch>
            <a:fillRect/>
          </a:stretch>
        </p:blipFill>
        <p:spPr>
          <a:xfrm>
            <a:off x="1045026" y="1844276"/>
            <a:ext cx="8013357" cy="4783545"/>
          </a:xfrm>
          <a:prstGeom prst="rect">
            <a:avLst/>
          </a:prstGeom>
        </p:spPr>
      </p:pic>
      <p:sp>
        <p:nvSpPr>
          <p:cNvPr id="3" name="Rectángulo 2">
            <a:extLst>
              <a:ext uri="{FF2B5EF4-FFF2-40B4-BE49-F238E27FC236}">
                <a16:creationId xmlns:a16="http://schemas.microsoft.com/office/drawing/2014/main" id="{08CF7A18-1BDA-784A-FC88-FD9F015F67B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4" name="Picture 2" descr="Imágenes de Resolucion Problemas - Descarga gratuita en Freepik">
            <a:extLst>
              <a:ext uri="{FF2B5EF4-FFF2-40B4-BE49-F238E27FC236}">
                <a16:creationId xmlns:a16="http://schemas.microsoft.com/office/drawing/2014/main" id="{0F82B46D-55CA-FAD2-DF54-763091CA0D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9653" y="3429000"/>
            <a:ext cx="2235775" cy="158014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A36170A-0382-AAFC-B29A-2A16B6EED4DE}"/>
              </a:ext>
            </a:extLst>
          </p:cNvPr>
          <p:cNvSpPr/>
          <p:nvPr/>
        </p:nvSpPr>
        <p:spPr>
          <a:xfrm>
            <a:off x="1248629" y="5858466"/>
            <a:ext cx="7699879" cy="687378"/>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36769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C5E2-8C61-BBCC-18BE-D2F1F8A7C28C}"/>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285384F-DB32-61CE-686B-4DBF554FD96B}"/>
              </a:ext>
            </a:extLst>
          </p:cNvPr>
          <p:cNvSpPr>
            <a:spLocks noGrp="1"/>
          </p:cNvSpPr>
          <p:nvPr>
            <p:ph type="title"/>
          </p:nvPr>
        </p:nvSpPr>
        <p:spPr/>
        <p:txBody>
          <a:bodyPr/>
          <a:lstStyle/>
          <a:p>
            <a:r>
              <a:rPr lang="es-CO" dirty="0">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D91C01EF-A0D5-D8BC-B7DF-DA0C73B9CF3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07EBCE0D-47CD-176A-2547-3A7092D834F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266187-2813-8A27-8476-2026F5A90B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857A56-50D7-1005-EDCE-4BF46E58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B3CFF034-4BCF-F732-3354-AA701DC98F11}"/>
              </a:ext>
            </a:extLst>
          </p:cNvPr>
          <p:cNvPicPr>
            <a:picLocks noChangeAspect="1"/>
          </p:cNvPicPr>
          <p:nvPr/>
        </p:nvPicPr>
        <p:blipFill>
          <a:blip r:embed="rId4"/>
          <a:stretch>
            <a:fillRect/>
          </a:stretch>
        </p:blipFill>
        <p:spPr>
          <a:xfrm>
            <a:off x="996618" y="1962360"/>
            <a:ext cx="7772400" cy="4777530"/>
          </a:xfrm>
          <a:prstGeom prst="rect">
            <a:avLst/>
          </a:prstGeom>
        </p:spPr>
      </p:pic>
      <p:sp>
        <p:nvSpPr>
          <p:cNvPr id="3" name="Rectángulo 2">
            <a:extLst>
              <a:ext uri="{FF2B5EF4-FFF2-40B4-BE49-F238E27FC236}">
                <a16:creationId xmlns:a16="http://schemas.microsoft.com/office/drawing/2014/main" id="{FC9BFF1C-8D6D-9DB3-9B84-51AA433ABB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4338" name="Picture 2" descr="Tendencias ineficaces a la hora de resolver problemas">
            <a:extLst>
              <a:ext uri="{FF2B5EF4-FFF2-40B4-BE49-F238E27FC236}">
                <a16:creationId xmlns:a16="http://schemas.microsoft.com/office/drawing/2014/main" id="{C8633A87-1E80-2602-9367-810C1CA853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6616" y="3429000"/>
            <a:ext cx="2594192" cy="15739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261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BCEA-544E-7E36-64D3-F4E6EDAF379B}"/>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5759072D-D155-701F-6BF4-DB5927193E02}"/>
              </a:ext>
            </a:extLst>
          </p:cNvPr>
          <p:cNvSpPr>
            <a:spLocks noGrp="1"/>
          </p:cNvSpPr>
          <p:nvPr>
            <p:ph type="title"/>
          </p:nvPr>
        </p:nvSpPr>
        <p:spPr/>
        <p:txBody>
          <a:bodyPr/>
          <a:lstStyle/>
          <a:p>
            <a:r>
              <a:rPr lang="es-CO">
                <a:latin typeface="Century Gothic" panose="020B0502020202020204" pitchFamily="34" charset="0"/>
              </a:rPr>
              <a:t>PREGUNTA 2 (5 MINUTOS)</a:t>
            </a:r>
          </a:p>
        </p:txBody>
      </p:sp>
      <p:sp>
        <p:nvSpPr>
          <p:cNvPr id="4" name="Marcador de número de diapositiva 3">
            <a:extLst>
              <a:ext uri="{FF2B5EF4-FFF2-40B4-BE49-F238E27FC236}">
                <a16:creationId xmlns:a16="http://schemas.microsoft.com/office/drawing/2014/main" id="{169406AF-1EC2-C39B-6386-BC586F97946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E8ED489A-4257-77F4-9358-7046EF871523}"/>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274D0295-C797-235A-77F0-DEF843B0A1E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318AD173-34DB-68C3-6FB7-8F0F91388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C7516B0A-D021-5C30-A2F2-C347B28F2C09}"/>
              </a:ext>
            </a:extLst>
          </p:cNvPr>
          <p:cNvPicPr>
            <a:picLocks noChangeAspect="1"/>
          </p:cNvPicPr>
          <p:nvPr/>
        </p:nvPicPr>
        <p:blipFill>
          <a:blip r:embed="rId4"/>
          <a:stretch>
            <a:fillRect/>
          </a:stretch>
        </p:blipFill>
        <p:spPr>
          <a:xfrm>
            <a:off x="996618" y="1962360"/>
            <a:ext cx="7772400" cy="4777530"/>
          </a:xfrm>
          <a:prstGeom prst="rect">
            <a:avLst/>
          </a:prstGeom>
        </p:spPr>
      </p:pic>
      <p:sp>
        <p:nvSpPr>
          <p:cNvPr id="3" name="Rectángulo 2">
            <a:extLst>
              <a:ext uri="{FF2B5EF4-FFF2-40B4-BE49-F238E27FC236}">
                <a16:creationId xmlns:a16="http://schemas.microsoft.com/office/drawing/2014/main" id="{1EE3182F-D861-F1BC-2B6D-C9F38E7E698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4338" name="Picture 2" descr="Tendencias ineficaces a la hora de resolver problemas">
            <a:extLst>
              <a:ext uri="{FF2B5EF4-FFF2-40B4-BE49-F238E27FC236}">
                <a16:creationId xmlns:a16="http://schemas.microsoft.com/office/drawing/2014/main" id="{B8191581-8708-5A89-E175-721200192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6616" y="3429000"/>
            <a:ext cx="2594192" cy="15739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FF570F-D017-2CA9-CACB-7D503B4C8551}"/>
              </a:ext>
            </a:extLst>
          </p:cNvPr>
          <p:cNvSpPr/>
          <p:nvPr/>
        </p:nvSpPr>
        <p:spPr>
          <a:xfrm>
            <a:off x="1192938" y="5461174"/>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605246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FED-50BC-AD9A-EF98-BB238E6F6266}"/>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E5ED9DF7-6BFF-2155-2BC0-82D65CEF7B87}"/>
              </a:ext>
            </a:extLst>
          </p:cNvPr>
          <p:cNvSpPr>
            <a:spLocks noGrp="1"/>
          </p:cNvSpPr>
          <p:nvPr>
            <p:ph type="title"/>
          </p:nvPr>
        </p:nvSpPr>
        <p:spPr/>
        <p:txBody>
          <a:bodyPr/>
          <a:lstStyle/>
          <a:p>
            <a:r>
              <a:rPr lang="es-CO">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CB3E8B3D-5F88-D547-2B7A-B085CC66B40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378D9015-ECD7-6285-DC41-80D20B389D75}"/>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3AB8044-334E-DA63-2706-AF02747CAA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B4A512F-F0F4-742A-EF81-AEE2F33E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A09F5143-ABB7-AB0F-A272-C16B7F947B8D}"/>
              </a:ext>
            </a:extLst>
          </p:cNvPr>
          <p:cNvPicPr>
            <a:picLocks noChangeAspect="1"/>
          </p:cNvPicPr>
          <p:nvPr/>
        </p:nvPicPr>
        <p:blipFill>
          <a:blip r:embed="rId4"/>
          <a:stretch>
            <a:fillRect/>
          </a:stretch>
        </p:blipFill>
        <p:spPr>
          <a:xfrm>
            <a:off x="1415434" y="1922248"/>
            <a:ext cx="7020554" cy="4777877"/>
          </a:xfrm>
          <a:prstGeom prst="rect">
            <a:avLst/>
          </a:prstGeom>
        </p:spPr>
      </p:pic>
      <p:sp>
        <p:nvSpPr>
          <p:cNvPr id="7" name="Rectángulo 6">
            <a:extLst>
              <a:ext uri="{FF2B5EF4-FFF2-40B4-BE49-F238E27FC236}">
                <a16:creationId xmlns:a16="http://schemas.microsoft.com/office/drawing/2014/main" id="{DB169610-50DE-45ED-09EF-D5021621775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5362" name="Picture 2" descr="Aprender a resolver problemas | PressCoaching">
            <a:extLst>
              <a:ext uri="{FF2B5EF4-FFF2-40B4-BE49-F238E27FC236}">
                <a16:creationId xmlns:a16="http://schemas.microsoft.com/office/drawing/2014/main" id="{311F784E-0A82-EEBA-69A2-92CAF2CA8F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9631" y="3106456"/>
            <a:ext cx="3207142" cy="180374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943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41199-AEC6-76B1-9149-9ACCE52D6BFD}"/>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D88A4B0E-750F-96E0-D47E-A9158A42FF46}"/>
              </a:ext>
            </a:extLst>
          </p:cNvPr>
          <p:cNvSpPr>
            <a:spLocks noGrp="1"/>
          </p:cNvSpPr>
          <p:nvPr>
            <p:ph type="title"/>
          </p:nvPr>
        </p:nvSpPr>
        <p:spPr/>
        <p:txBody>
          <a:bodyPr/>
          <a:lstStyle/>
          <a:p>
            <a:r>
              <a:rPr lang="es-CO" dirty="0">
                <a:latin typeface="Century Gothic" panose="020B0502020202020204" pitchFamily="34" charset="0"/>
              </a:rPr>
              <a:t>PREGUNTA 3 (4 MINUTOS)</a:t>
            </a:r>
          </a:p>
        </p:txBody>
      </p:sp>
      <p:sp>
        <p:nvSpPr>
          <p:cNvPr id="4" name="Marcador de número de diapositiva 3">
            <a:extLst>
              <a:ext uri="{FF2B5EF4-FFF2-40B4-BE49-F238E27FC236}">
                <a16:creationId xmlns:a16="http://schemas.microsoft.com/office/drawing/2014/main" id="{54E1F2D0-4D59-CD40-732A-AD909215F972}"/>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B7865112-B427-29F6-1516-AE7A978656B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1E1F58F-53E5-435A-0D44-B901752ECAC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93484A1-2594-3BC7-0550-39FE9AD7B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D80CEAA-E8F7-A0FF-3131-369F19112DEC}"/>
              </a:ext>
            </a:extLst>
          </p:cNvPr>
          <p:cNvPicPr>
            <a:picLocks noChangeAspect="1"/>
          </p:cNvPicPr>
          <p:nvPr/>
        </p:nvPicPr>
        <p:blipFill>
          <a:blip r:embed="rId5"/>
          <a:stretch>
            <a:fillRect/>
          </a:stretch>
        </p:blipFill>
        <p:spPr>
          <a:xfrm>
            <a:off x="1415434" y="1922248"/>
            <a:ext cx="7020554" cy="4777877"/>
          </a:xfrm>
          <a:prstGeom prst="rect">
            <a:avLst/>
          </a:prstGeom>
        </p:spPr>
      </p:pic>
      <p:sp>
        <p:nvSpPr>
          <p:cNvPr id="7" name="Rectángulo 6">
            <a:extLst>
              <a:ext uri="{FF2B5EF4-FFF2-40B4-BE49-F238E27FC236}">
                <a16:creationId xmlns:a16="http://schemas.microsoft.com/office/drawing/2014/main" id="{1885A7B1-947C-54F0-2D3A-8308347030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5362" name="Picture 2" descr="Aprender a resolver problemas | PressCoaching">
            <a:extLst>
              <a:ext uri="{FF2B5EF4-FFF2-40B4-BE49-F238E27FC236}">
                <a16:creationId xmlns:a16="http://schemas.microsoft.com/office/drawing/2014/main" id="{F5DB4FE2-A803-B6C4-710C-23E4231EBE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9631" y="3106456"/>
            <a:ext cx="3207142" cy="18037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D630EDB-82B2-D074-D665-DB99F2F338AB}"/>
              </a:ext>
            </a:extLst>
          </p:cNvPr>
          <p:cNvSpPr/>
          <p:nvPr/>
        </p:nvSpPr>
        <p:spPr>
          <a:xfrm>
            <a:off x="1174019" y="5836319"/>
            <a:ext cx="7699879" cy="201799"/>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68687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4AB5C-BE54-0742-4C7B-D1E21E5DF885}"/>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19B7C58A-D7BB-FC31-6DCB-A52B86C40516}"/>
              </a:ext>
            </a:extLst>
          </p:cNvPr>
          <p:cNvSpPr>
            <a:spLocks noGrp="1"/>
          </p:cNvSpPr>
          <p:nvPr>
            <p:ph type="title"/>
          </p:nvPr>
        </p:nvSpPr>
        <p:spPr/>
        <p:txBody>
          <a:bodyPr/>
          <a:lstStyle/>
          <a:p>
            <a:r>
              <a:rPr lang="es-CO">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B33923A1-8C39-B4FA-B66C-B41F892E48B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AFB9682A-BAF7-46B9-A070-BB243B4327D1}"/>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FCC2988-BC5F-DAFF-D97C-A7B9AF4430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86B79ED-E0EF-98C2-8515-A3DCD02F39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B26D30F7-519E-FF11-B346-75285E190BD0}"/>
              </a:ext>
            </a:extLst>
          </p:cNvPr>
          <p:cNvPicPr>
            <a:picLocks noChangeAspect="1"/>
          </p:cNvPicPr>
          <p:nvPr/>
        </p:nvPicPr>
        <p:blipFill>
          <a:blip r:embed="rId4"/>
          <a:stretch>
            <a:fillRect/>
          </a:stretch>
        </p:blipFill>
        <p:spPr>
          <a:xfrm>
            <a:off x="1289264" y="1904660"/>
            <a:ext cx="7200531" cy="4640342"/>
          </a:xfrm>
          <a:prstGeom prst="rect">
            <a:avLst/>
          </a:prstGeom>
        </p:spPr>
      </p:pic>
      <p:sp>
        <p:nvSpPr>
          <p:cNvPr id="3" name="Rectángulo 2">
            <a:extLst>
              <a:ext uri="{FF2B5EF4-FFF2-40B4-BE49-F238E27FC236}">
                <a16:creationId xmlns:a16="http://schemas.microsoft.com/office/drawing/2014/main" id="{7F4749DC-3DCE-16C8-BF13-74B92A37C6B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6386" name="Picture 2" descr="Resolución de problemas. 10 consejos para evitar antes de encontrar una  solución - Cepymenews">
            <a:extLst>
              <a:ext uri="{FF2B5EF4-FFF2-40B4-BE49-F238E27FC236}">
                <a16:creationId xmlns:a16="http://schemas.microsoft.com/office/drawing/2014/main" id="{0929A0FB-5699-52BD-2786-E2DAD3C760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53" y="3429000"/>
            <a:ext cx="2887755" cy="153594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29096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CFF1-48B5-0EEB-8C41-835BD158FD14}"/>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FFEF6672-9AAB-866C-2C01-0F9D0A2545F0}"/>
              </a:ext>
            </a:extLst>
          </p:cNvPr>
          <p:cNvSpPr>
            <a:spLocks noGrp="1"/>
          </p:cNvSpPr>
          <p:nvPr>
            <p:ph type="title"/>
          </p:nvPr>
        </p:nvSpPr>
        <p:spPr/>
        <p:txBody>
          <a:bodyPr/>
          <a:lstStyle/>
          <a:p>
            <a:r>
              <a:rPr lang="es-CO" dirty="0">
                <a:latin typeface="Century Gothic" panose="020B0502020202020204" pitchFamily="34" charset="0"/>
              </a:rPr>
              <a:t>PREGUNTA 4 (5 MINUTOS)</a:t>
            </a:r>
          </a:p>
        </p:txBody>
      </p:sp>
      <p:sp>
        <p:nvSpPr>
          <p:cNvPr id="4" name="Marcador de número de diapositiva 3">
            <a:extLst>
              <a:ext uri="{FF2B5EF4-FFF2-40B4-BE49-F238E27FC236}">
                <a16:creationId xmlns:a16="http://schemas.microsoft.com/office/drawing/2014/main" id="{0D976F3A-E9E2-7B18-6B81-DAB2FBD512C3}"/>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7E177D15-0D52-23CC-0A9F-0BC2839CCE18}"/>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D4AE3500-7BB8-5B5D-C43F-320362E8FB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C18F553A-8073-A91A-3B5F-A65F5CB86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0BBFF9A4-8FDF-AA43-D12E-CAEB9522D162}"/>
              </a:ext>
            </a:extLst>
          </p:cNvPr>
          <p:cNvPicPr>
            <a:picLocks noChangeAspect="1"/>
          </p:cNvPicPr>
          <p:nvPr/>
        </p:nvPicPr>
        <p:blipFill>
          <a:blip r:embed="rId4"/>
          <a:stretch>
            <a:fillRect/>
          </a:stretch>
        </p:blipFill>
        <p:spPr>
          <a:xfrm>
            <a:off x="1289264" y="1904660"/>
            <a:ext cx="7200531" cy="4640342"/>
          </a:xfrm>
          <a:prstGeom prst="rect">
            <a:avLst/>
          </a:prstGeom>
        </p:spPr>
      </p:pic>
      <p:sp>
        <p:nvSpPr>
          <p:cNvPr id="3" name="Rectángulo 2">
            <a:extLst>
              <a:ext uri="{FF2B5EF4-FFF2-40B4-BE49-F238E27FC236}">
                <a16:creationId xmlns:a16="http://schemas.microsoft.com/office/drawing/2014/main" id="{723DC319-944E-4D3A-517B-1986CAC9D59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6386" name="Picture 2" descr="Resolución de problemas. 10 consejos para evitar antes de encontrar una  solución - Cepymenews">
            <a:extLst>
              <a:ext uri="{FF2B5EF4-FFF2-40B4-BE49-F238E27FC236}">
                <a16:creationId xmlns:a16="http://schemas.microsoft.com/office/drawing/2014/main" id="{51048C60-4625-4445-B9C1-D5D3B2C615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3053" y="3429000"/>
            <a:ext cx="2887755" cy="15359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A74D73E-DD67-21A3-5115-71148A9B7288}"/>
              </a:ext>
            </a:extLst>
          </p:cNvPr>
          <p:cNvSpPr/>
          <p:nvPr/>
        </p:nvSpPr>
        <p:spPr>
          <a:xfrm>
            <a:off x="1337980" y="5142045"/>
            <a:ext cx="7699879" cy="426336"/>
          </a:xfrm>
          <a:prstGeom prst="rect">
            <a:avLst/>
          </a:prstGeom>
          <a:solidFill>
            <a:srgbClr val="FFFF00">
              <a:alpha val="1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ustDataLst>
      <p:tags r:id="rId1"/>
    </p:custDataLst>
    <p:extLst>
      <p:ext uri="{BB962C8B-B14F-4D97-AF65-F5344CB8AC3E}">
        <p14:creationId xmlns:p14="http://schemas.microsoft.com/office/powerpoint/2010/main" val="1112228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0B350FC-AF73-8F25-8CA6-9E9B24E0554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2" name="Picture 6" descr="Resultado de imagen para RELOJ VECTOR">
            <a:extLst>
              <a:ext uri="{FF2B5EF4-FFF2-40B4-BE49-F238E27FC236}">
                <a16:creationId xmlns:a16="http://schemas.microsoft.com/office/drawing/2014/main" id="{6F079B36-206B-AF08-63CC-CB2132E7BDD3}"/>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F4E70C8E-6F4F-5AE8-A908-093FE580A90B}"/>
              </a:ext>
            </a:extLst>
          </p:cNvPr>
          <p:cNvSpPr/>
          <p:nvPr/>
        </p:nvSpPr>
        <p:spPr>
          <a:xfrm>
            <a:off x="2806200" y="2772729"/>
            <a:ext cx="8540907" cy="2862322"/>
          </a:xfrm>
          <a:prstGeom prst="rect">
            <a:avLst/>
          </a:prstGeom>
        </p:spPr>
        <p:txBody>
          <a:bodyPr wrap="square" lIns="91440" tIns="45720" rIns="91440" bIns="45720" anchor="t">
            <a:spAutoFit/>
          </a:bodyPr>
          <a:lstStyle/>
          <a:p>
            <a:pPr marL="342900" indent="-342900" algn="just">
              <a:buClr>
                <a:schemeClr val="accent3">
                  <a:lumMod val="75000"/>
                </a:schemeClr>
              </a:buClr>
              <a:buFont typeface="Gill Sans MT" panose="020B0502020104020203"/>
              <a:buAutoNum type="arabicPeriod"/>
            </a:pPr>
            <a:r>
              <a:rPr lang="es-CO">
                <a:solidFill>
                  <a:schemeClr val="tx2">
                    <a:lumMod val="20000"/>
                    <a:lumOff val="80000"/>
                  </a:schemeClr>
                </a:solidFill>
                <a:latin typeface="Century Gothic"/>
                <a:cs typeface="Arial"/>
              </a:rPr>
              <a:t>¿Qué es el Costo de Oportunidad?</a:t>
            </a:r>
            <a:endParaRPr lang="es-ES">
              <a:solidFill>
                <a:schemeClr val="tx2">
                  <a:lumMod val="20000"/>
                  <a:lumOff val="80000"/>
                </a:schemeClr>
              </a:solidFill>
              <a:latin typeface="Century Gothic"/>
              <a:cs typeface="Arial"/>
            </a:endParaRPr>
          </a:p>
          <a:p>
            <a:pPr marL="342900" indent="-342900" algn="just">
              <a:buClr>
                <a:srgbClr val="2C7C9F"/>
              </a:buClr>
              <a:buFontTx/>
              <a:buAutoNum type="arabicPeriod"/>
            </a:pPr>
            <a:endParaRPr lang="es-CO">
              <a:solidFill>
                <a:schemeClr val="accent1"/>
              </a:solidFill>
              <a:latin typeface="Century Gothic"/>
              <a:cs typeface="Arial"/>
            </a:endParaRPr>
          </a:p>
          <a:p>
            <a:pPr marL="342900" indent="-342900" algn="just">
              <a:buClr>
                <a:srgbClr val="48BE7A"/>
              </a:buClr>
              <a:buFontTx/>
              <a:buAutoNum type="arabicPeriod"/>
            </a:pPr>
            <a:r>
              <a:rPr lang="es-CO">
                <a:solidFill>
                  <a:schemeClr val="accent1"/>
                </a:solidFill>
                <a:latin typeface="Century Gothic"/>
                <a:cs typeface="Arial"/>
              </a:rPr>
              <a:t>Relación entre Costo de Oportunidad y Valor del Dinero en el Tiempo (VDT)</a:t>
            </a: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algn="just">
              <a:buClr>
                <a:srgbClr val="48BE7A"/>
              </a:buClr>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marL="342900" indent="-342900" algn="just">
              <a:buClr>
                <a:srgbClr val="48BE7A"/>
              </a:buClr>
              <a:buAutoNum type="arabicPeriod"/>
            </a:pPr>
            <a:endParaRPr lang="es-CO">
              <a:solidFill>
                <a:schemeClr val="accent1"/>
              </a:solidFill>
              <a:latin typeface="Century Gothic" panose="020B0502020202020204" pitchFamily="34" charset="0"/>
              <a:cs typeface="Arial"/>
            </a:endParaRPr>
          </a:p>
          <a:p>
            <a:pPr algn="just">
              <a:buClr>
                <a:schemeClr val="accent3">
                  <a:lumMod val="75000"/>
                </a:schemeClr>
              </a:buClr>
            </a:pPr>
            <a:endParaRPr lang="es-CO">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239495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1000"/>
                                        <p:tgtEl>
                                          <p:spTgt spid="13"/>
                                        </p:tgtEl>
                                      </p:cBhvr>
                                    </p:animEffect>
                                    <p:anim calcmode="lin" valueType="num">
                                      <p:cBhvr>
                                        <p:cTn id="10" dur="1000" fill="hold"/>
                                        <p:tgtEl>
                                          <p:spTgt spid="13"/>
                                        </p:tgtEl>
                                        <p:attrNameLst>
                                          <p:attrName>ppt_x</p:attrName>
                                        </p:attrNameLst>
                                      </p:cBhvr>
                                      <p:tavLst>
                                        <p:tav tm="0">
                                          <p:val>
                                            <p:strVal val="#ppt_x"/>
                                          </p:val>
                                        </p:tav>
                                        <p:tav tm="100000">
                                          <p:val>
                                            <p:strVal val="#ppt_x"/>
                                          </p:val>
                                        </p:tav>
                                      </p:tavLst>
                                    </p:anim>
                                    <p:anim calcmode="lin" valueType="num">
                                      <p:cBhvr>
                                        <p:cTn id="1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pPr algn="just"/>
            <a:r>
              <a:rPr lang="es-ES_tradnl">
                <a:latin typeface="Century Gothic" panose="020B0502020202020204" pitchFamily="34" charset="0"/>
              </a:rPr>
              <a:t>RELACIÓN ENTRE COSTO DE OPORTUNIDAD Y VALOR DEL DINERO EN EL TIEMPO</a:t>
            </a:r>
          </a:p>
        </p:txBody>
      </p:sp>
      <p:sp>
        <p:nvSpPr>
          <p:cNvPr id="10" name="Content Placeholder 6"/>
          <p:cNvSpPr>
            <a:spLocks noGrp="1"/>
          </p:cNvSpPr>
          <p:nvPr>
            <p:ph idx="1"/>
          </p:nvPr>
        </p:nvSpPr>
        <p:spPr>
          <a:xfrm>
            <a:off x="581193" y="2091712"/>
            <a:ext cx="7857254" cy="4046985"/>
          </a:xfrm>
        </p:spPr>
        <p:txBody>
          <a:bodyPr>
            <a:normAutofit/>
          </a:bodyPr>
          <a:lstStyle/>
          <a:p>
            <a:pPr marL="0" indent="0" algn="ctr">
              <a:buNone/>
            </a:pPr>
            <a:r>
              <a:rPr lang="es-ES_tradnl">
                <a:latin typeface="Century Gothic" panose="020B0502020202020204" pitchFamily="34" charset="0"/>
              </a:rPr>
              <a:t>Ahora, también es útil entender la segunda interpretación del Costo de Oportunidad y establecer su relación con el VDT.</a:t>
            </a:r>
          </a:p>
          <a:p>
            <a:pPr marL="0" indent="0" algn="ctr">
              <a:buNone/>
            </a:pPr>
            <a:endParaRPr lang="es-ES_tradnl">
              <a:latin typeface="Century Gothic" panose="020B0502020202020204" pitchFamily="34" charset="0"/>
            </a:endParaRPr>
          </a:p>
          <a:p>
            <a:pPr marL="0" indent="0" algn="r">
              <a:buNone/>
            </a:pPr>
            <a:r>
              <a:rPr lang="es-ES_tradnl" b="1">
                <a:solidFill>
                  <a:srgbClr val="D7A700"/>
                </a:solidFill>
                <a:latin typeface="Century Gothic" panose="020B0502020202020204" pitchFamily="34" charset="0"/>
              </a:rPr>
              <a:t>El Costo de Oportunidad como elemento fundamental del concepto de pérdida del valor del dinero en el tiempo (VDT).</a:t>
            </a:r>
          </a:p>
          <a:p>
            <a:pPr marL="0" indent="0" algn="ctr">
              <a:buNone/>
            </a:pPr>
            <a:endParaRPr lang="es-ES_tradnl">
              <a:latin typeface="Century Gothic" panose="020B0502020202020204" pitchFamily="34" charset="0"/>
            </a:endParaRPr>
          </a:p>
          <a:p>
            <a:pPr marL="0" indent="0" algn="ctr">
              <a:buNone/>
            </a:pPr>
            <a:r>
              <a:rPr lang="es-ES_tradnl" b="1">
                <a:solidFill>
                  <a:schemeClr val="accent1"/>
                </a:solidFill>
                <a:latin typeface="Century Gothic" panose="020B0502020202020204" pitchFamily="34" charset="0"/>
              </a:rPr>
              <a:t>¿Para todos los agentes es igual el VDT?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7210D5D7-8AE0-7B74-7D02-08E91D7F8F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4ADBBB33-F2D1-E32B-CDF4-2D5BA6C2B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34E48BC-414B-317F-04B1-F22CE3A06F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170" name="Picture 2" descr="El valor del dinero en el tiempo - GCH ACCOUNTING FIRM.">
            <a:extLst>
              <a:ext uri="{FF2B5EF4-FFF2-40B4-BE49-F238E27FC236}">
                <a16:creationId xmlns:a16="http://schemas.microsoft.com/office/drawing/2014/main" id="{BE76C320-756E-2700-A430-AEBB360993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9085" y="3134869"/>
            <a:ext cx="2880950" cy="1892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7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25" name="Rectángulo 24"/>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F13D0EAF-8190-4459-6E3B-EDF3575C5A9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1FA4F54B-7EDB-FAB5-682A-5A9DD85CE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0127F71-123A-9118-058B-F2850DB570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B391F82B-1D81-9365-931C-899A9DC42F8C}"/>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71B0010B-2A92-8DCB-F512-A4972309703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1EAB02BB-C0F2-A1EA-3932-F812D737A142}"/>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031A2A67-FB32-2A28-4330-9C239BAB81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7C71DA01-0113-44A2-969E-BB1A30EC76D3}"/>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8AEDECF3-A7F8-8ABB-B734-78314E853342}"/>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687C136C-36BD-671E-7E39-272A83E42EA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DAEF592C-E7D3-000B-AFD1-2AB167EDF95D}"/>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D01AB1B1-A3FC-6D7C-8742-0FD6032B71F1}"/>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Tree>
    <p:extLst>
      <p:ext uri="{BB962C8B-B14F-4D97-AF65-F5344CB8AC3E}">
        <p14:creationId xmlns:p14="http://schemas.microsoft.com/office/powerpoint/2010/main" val="163752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52324-E9BE-D57C-149B-CE2CE2A09D16}"/>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F1E2B06E-650F-2F85-B07B-45A463AF33C3}"/>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27</a:t>
            </a:fld>
            <a:endParaRPr lang="en-US" sz="2000" b="1">
              <a:latin typeface="Century Gothic" panose="020B0502020202020204" pitchFamily="34" charset="0"/>
            </a:endParaRPr>
          </a:p>
        </p:txBody>
      </p:sp>
      <p:sp>
        <p:nvSpPr>
          <p:cNvPr id="25" name="Rectángulo 24">
            <a:extLst>
              <a:ext uri="{FF2B5EF4-FFF2-40B4-BE49-F238E27FC236}">
                <a16:creationId xmlns:a16="http://schemas.microsoft.com/office/drawing/2014/main" id="{3320775A-1F94-575E-4710-95E4615FA30F}"/>
              </a:ext>
            </a:extLst>
          </p:cNvPr>
          <p:cNvSpPr/>
          <p:nvPr/>
        </p:nvSpPr>
        <p:spPr>
          <a:xfrm>
            <a:off x="581192" y="2158190"/>
            <a:ext cx="1535998" cy="369332"/>
          </a:xfrm>
          <a:prstGeom prst="rect">
            <a:avLst/>
          </a:prstGeom>
        </p:spPr>
        <p:txBody>
          <a:bodyPr wrap="none">
            <a:spAutoFit/>
          </a:bodyPr>
          <a:lstStyle/>
          <a:p>
            <a:r>
              <a:rPr lang="es-ES_tradnl" b="1">
                <a:solidFill>
                  <a:srgbClr val="C00000"/>
                </a:solidFill>
                <a:latin typeface="Century Gothic" panose="020B0502020202020204" pitchFamily="34" charset="0"/>
              </a:rPr>
              <a:t>Ejemplo 2.1.</a:t>
            </a:r>
            <a:endParaRPr lang="es-CO" b="1">
              <a:solidFill>
                <a:srgbClr val="C00000"/>
              </a:solidFill>
              <a:latin typeface="Century Gothic" panose="020B0502020202020204" pitchFamily="34" charset="0"/>
            </a:endParaRPr>
          </a:p>
        </p:txBody>
      </p:sp>
      <p:sp>
        <p:nvSpPr>
          <p:cNvPr id="2" name="Rectángulo 1">
            <a:extLst>
              <a:ext uri="{FF2B5EF4-FFF2-40B4-BE49-F238E27FC236}">
                <a16:creationId xmlns:a16="http://schemas.microsoft.com/office/drawing/2014/main" id="{665728B4-54DE-620D-D83F-1722777537E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7B28E0BB-B4F4-B0A2-FD59-89289C64F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6CC7A42-A401-A6E4-13B4-1BD7033E94C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2D9128FA-B7CF-2454-45D1-D16A6BD15EE9}"/>
              </a:ext>
            </a:extLst>
          </p:cNvPr>
          <p:cNvSpPr>
            <a:spLocks noGrp="1"/>
          </p:cNvSpPr>
          <p:nvPr>
            <p:ph type="title"/>
          </p:nvPr>
        </p:nvSpPr>
        <p:spPr>
          <a:xfrm>
            <a:off x="581192" y="702156"/>
            <a:ext cx="11029616" cy="1013800"/>
          </a:xfrm>
        </p:spPr>
        <p:txBody>
          <a:bodyPr>
            <a:normAutofit/>
          </a:bodyPr>
          <a:lstStyle/>
          <a:p>
            <a:pPr algn="just"/>
            <a:r>
              <a:rPr lang="es-ES_tradnl">
                <a:latin typeface="Century Gothic" panose="020B0502020202020204" pitchFamily="34" charset="0"/>
              </a:rPr>
              <a:t>RELACIÓN ENTRE COSTO DE OPORTUNIDAD Y VALOR DEL DINERO EN EL TIEMPO</a:t>
            </a:r>
          </a:p>
        </p:txBody>
      </p:sp>
      <p:pic>
        <p:nvPicPr>
          <p:cNvPr id="3" name="Picture 2" descr="La historia institucional de Transmilenio | Archivo de Bogotá">
            <a:extLst>
              <a:ext uri="{FF2B5EF4-FFF2-40B4-BE49-F238E27FC236}">
                <a16:creationId xmlns:a16="http://schemas.microsoft.com/office/drawing/2014/main" id="{63A94727-3744-1669-CA39-B522112A680E}"/>
              </a:ext>
            </a:extLst>
          </p:cNvPr>
          <p:cNvPicPr>
            <a:picLocks noChangeAspect="1"/>
          </p:cNvPicPr>
          <p:nvPr/>
        </p:nvPicPr>
        <p:blipFill>
          <a:blip r:embed="rId4"/>
          <a:stretch>
            <a:fillRect/>
          </a:stretch>
        </p:blipFill>
        <p:spPr>
          <a:xfrm>
            <a:off x="3781559" y="5507746"/>
            <a:ext cx="2690958" cy="1100951"/>
          </a:xfrm>
          <a:prstGeom prst="rect">
            <a:avLst/>
          </a:prstGeom>
        </p:spPr>
      </p:pic>
      <p:sp>
        <p:nvSpPr>
          <p:cNvPr id="9" name="TextBox 8">
            <a:extLst>
              <a:ext uri="{FF2B5EF4-FFF2-40B4-BE49-F238E27FC236}">
                <a16:creationId xmlns:a16="http://schemas.microsoft.com/office/drawing/2014/main" id="{BBC39D95-0292-6D96-5F59-E183BE293721}"/>
              </a:ext>
            </a:extLst>
          </p:cNvPr>
          <p:cNvSpPr txBox="1"/>
          <p:nvPr/>
        </p:nvSpPr>
        <p:spPr>
          <a:xfrm>
            <a:off x="1506069" y="3064463"/>
            <a:ext cx="2820455"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2000: </a:t>
            </a:r>
            <a:r>
              <a:rPr lang="en-CO">
                <a:latin typeface="Century Gothic" panose="020B0502020202020204" pitchFamily="34" charset="0"/>
              </a:rPr>
              <a:t>COP $800</a:t>
            </a:r>
          </a:p>
        </p:txBody>
      </p:sp>
      <p:sp>
        <p:nvSpPr>
          <p:cNvPr id="10" name="TextBox 9">
            <a:extLst>
              <a:ext uri="{FF2B5EF4-FFF2-40B4-BE49-F238E27FC236}">
                <a16:creationId xmlns:a16="http://schemas.microsoft.com/office/drawing/2014/main" id="{EFD8BEF2-881C-D399-AFB2-CB8F0F323ADD}"/>
              </a:ext>
            </a:extLst>
          </p:cNvPr>
          <p:cNvSpPr txBox="1"/>
          <p:nvPr/>
        </p:nvSpPr>
        <p:spPr>
          <a:xfrm>
            <a:off x="7735219" y="5288751"/>
            <a:ext cx="2926080" cy="923330"/>
          </a:xfrm>
          <a:prstGeom prst="rect">
            <a:avLst/>
          </a:prstGeom>
          <a:solidFill>
            <a:schemeClr val="accent1">
              <a:lumMod val="20000"/>
              <a:lumOff val="80000"/>
            </a:schemeClr>
          </a:solidFill>
          <a:ln>
            <a:solidFill>
              <a:schemeClr val="accent1"/>
            </a:solidFill>
          </a:ln>
        </p:spPr>
        <p:txBody>
          <a:bodyPr wrap="square" rtlCol="0">
            <a:spAutoFit/>
          </a:bodyPr>
          <a:lstStyle/>
          <a:p>
            <a:pPr algn="ctr"/>
            <a:r>
              <a:rPr lang="en-CO" b="1">
                <a:solidFill>
                  <a:schemeClr val="accent1"/>
                </a:solidFill>
                <a:latin typeface="Century Gothic" panose="020B0502020202020204" pitchFamily="34" charset="0"/>
              </a:rPr>
              <a:t>Costo del pasaje de Transmilenio en 2026: </a:t>
            </a:r>
            <a:r>
              <a:rPr lang="en-CO">
                <a:latin typeface="Century Gothic" panose="020B0502020202020204" pitchFamily="34" charset="0"/>
              </a:rPr>
              <a:t>COP $3.550</a:t>
            </a:r>
          </a:p>
        </p:txBody>
      </p:sp>
      <p:sp>
        <p:nvSpPr>
          <p:cNvPr id="18" name="Left Arrow 17">
            <a:extLst>
              <a:ext uri="{FF2B5EF4-FFF2-40B4-BE49-F238E27FC236}">
                <a16:creationId xmlns:a16="http://schemas.microsoft.com/office/drawing/2014/main" id="{279707D7-5D17-85E8-D769-DDE47E830EFD}"/>
              </a:ext>
            </a:extLst>
          </p:cNvPr>
          <p:cNvSpPr/>
          <p:nvPr/>
        </p:nvSpPr>
        <p:spPr>
          <a:xfrm rot="12409809">
            <a:off x="4456326" y="4315769"/>
            <a:ext cx="3149092" cy="765165"/>
          </a:xfrm>
          <a:prstGeom prst="leftArrow">
            <a:avLst>
              <a:gd name="adj1" fmla="val 34671"/>
              <a:gd name="adj2" fmla="val 6458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O"/>
          </a:p>
        </p:txBody>
      </p:sp>
      <p:pic>
        <p:nvPicPr>
          <p:cNvPr id="20" name="Picture 19" descr="El valor del dinero en el tiempo - GCH ACCOUNTING FIRM.">
            <a:extLst>
              <a:ext uri="{FF2B5EF4-FFF2-40B4-BE49-F238E27FC236}">
                <a16:creationId xmlns:a16="http://schemas.microsoft.com/office/drawing/2014/main" id="{4CC0E660-79D3-1A00-EBBB-115A353348F0}"/>
              </a:ext>
            </a:extLst>
          </p:cNvPr>
          <p:cNvPicPr>
            <a:picLocks noChangeAspect="1"/>
          </p:cNvPicPr>
          <p:nvPr/>
        </p:nvPicPr>
        <p:blipFill>
          <a:blip r:embed="rId5"/>
          <a:stretch>
            <a:fillRect/>
          </a:stretch>
        </p:blipFill>
        <p:spPr>
          <a:xfrm rot="1621137">
            <a:off x="5654564" y="3526105"/>
            <a:ext cx="1407047" cy="923375"/>
          </a:xfrm>
          <a:prstGeom prst="ellipse">
            <a:avLst/>
          </a:prstGeom>
        </p:spPr>
      </p:pic>
      <p:sp>
        <p:nvSpPr>
          <p:cNvPr id="22" name="TextBox 21">
            <a:extLst>
              <a:ext uri="{FF2B5EF4-FFF2-40B4-BE49-F238E27FC236}">
                <a16:creationId xmlns:a16="http://schemas.microsoft.com/office/drawing/2014/main" id="{45D9D612-A8A0-C5B2-E162-C8B564DB0BFC}"/>
              </a:ext>
            </a:extLst>
          </p:cNvPr>
          <p:cNvSpPr txBox="1"/>
          <p:nvPr/>
        </p:nvSpPr>
        <p:spPr>
          <a:xfrm>
            <a:off x="1421543" y="4251671"/>
            <a:ext cx="3052707" cy="1169551"/>
          </a:xfrm>
          <a:prstGeom prst="rect">
            <a:avLst/>
          </a:prstGeom>
          <a:noFill/>
        </p:spPr>
        <p:txBody>
          <a:bodyPr wrap="square">
            <a:spAutoFit/>
          </a:bodyPr>
          <a:lstStyle/>
          <a:p>
            <a:pPr algn="just"/>
            <a:r>
              <a:rPr lang="es-ES_tradnl" sz="1400" b="0" i="0" u="none" strike="noStrike" noProof="0">
                <a:solidFill>
                  <a:srgbClr val="000000"/>
                </a:solidFill>
                <a:effectLst/>
                <a:latin typeface="Century Gothic" panose="020B0502020202020204" pitchFamily="34" charset="0"/>
              </a:rPr>
              <a:t>El dinero representa el </a:t>
            </a:r>
            <a:r>
              <a:rPr lang="es-ES_tradnl" sz="1400" b="1" i="0" u="none" strike="noStrike" noProof="0">
                <a:solidFill>
                  <a:srgbClr val="D7A700"/>
                </a:solidFill>
                <a:effectLst/>
                <a:latin typeface="Century Gothic" panose="020B0502020202020204" pitchFamily="34" charset="0"/>
              </a:rPr>
              <a:t>poder adquisitivo</a:t>
            </a:r>
            <a:r>
              <a:rPr lang="es-ES_tradnl" sz="1400" b="0" i="0" u="none" strike="noStrike" noProof="0">
                <a:solidFill>
                  <a:srgbClr val="D7A700"/>
                </a:solidFill>
                <a:effectLst/>
                <a:latin typeface="Century Gothic" panose="020B0502020202020204" pitchFamily="34" charset="0"/>
              </a:rPr>
              <a:t> </a:t>
            </a:r>
            <a:r>
              <a:rPr lang="es-ES_tradnl" sz="1400" b="0" i="0" u="none" strike="noStrike" noProof="0">
                <a:solidFill>
                  <a:srgbClr val="000000"/>
                </a:solidFill>
                <a:effectLst/>
                <a:latin typeface="Century Gothic" panose="020B0502020202020204" pitchFamily="34" charset="0"/>
              </a:rPr>
              <a:t>de una persona, es decir, la cantidad de bienes y servicios que puede adquirir en un momento determinado. </a:t>
            </a:r>
            <a:endParaRPr lang="es-ES_tradnl" sz="1400" noProof="0">
              <a:latin typeface="Century Gothic" panose="020B0502020202020204" pitchFamily="34" charset="0"/>
            </a:endParaRPr>
          </a:p>
        </p:txBody>
      </p:sp>
      <p:sp>
        <p:nvSpPr>
          <p:cNvPr id="26" name="TextBox 25">
            <a:extLst>
              <a:ext uri="{FF2B5EF4-FFF2-40B4-BE49-F238E27FC236}">
                <a16:creationId xmlns:a16="http://schemas.microsoft.com/office/drawing/2014/main" id="{1E6CDBA2-1319-1AA7-212D-E17C7358E005}"/>
              </a:ext>
            </a:extLst>
          </p:cNvPr>
          <p:cNvSpPr txBox="1"/>
          <p:nvPr/>
        </p:nvSpPr>
        <p:spPr>
          <a:xfrm>
            <a:off x="7671907" y="3757050"/>
            <a:ext cx="3052704" cy="1384995"/>
          </a:xfrm>
          <a:prstGeom prst="rect">
            <a:avLst/>
          </a:prstGeom>
          <a:noFill/>
        </p:spPr>
        <p:txBody>
          <a:bodyPr wrap="square">
            <a:spAutoFit/>
          </a:bodyPr>
          <a:lstStyle/>
          <a:p>
            <a:pPr algn="just"/>
            <a:r>
              <a:rPr lang="es-ES_tradnl" sz="1400" b="0" i="0" u="none" strike="noStrike" noProof="1">
                <a:solidFill>
                  <a:srgbClr val="000000"/>
                </a:solidFill>
                <a:effectLst/>
                <a:latin typeface="Century Gothic" panose="020B0502020202020204" pitchFamily="34" charset="0"/>
              </a:rPr>
              <a:t>Con el paso del tiempo, los precios de esos bienes y servicios tienden</a:t>
            </a:r>
            <a:r>
              <a:rPr lang="es-ES_tradnl" sz="1400" noProof="1">
                <a:solidFill>
                  <a:srgbClr val="000000"/>
                </a:solidFill>
                <a:latin typeface="Century Gothic" panose="020B0502020202020204" pitchFamily="34" charset="0"/>
              </a:rPr>
              <a:t> a</a:t>
            </a:r>
            <a:r>
              <a:rPr lang="es-ES_tradnl" sz="1400" b="0" i="0" u="none" strike="noStrike" noProof="1">
                <a:solidFill>
                  <a:srgbClr val="000000"/>
                </a:solidFill>
                <a:effectLst/>
                <a:latin typeface="Century Gothic" panose="020B0502020202020204" pitchFamily="34" charset="0"/>
              </a:rPr>
              <a:t> </a:t>
            </a:r>
            <a:r>
              <a:rPr lang="es-ES_tradnl" sz="1400" b="1" i="0" u="none" strike="noStrike" noProof="1">
                <a:solidFill>
                  <a:srgbClr val="D7A700"/>
                </a:solidFill>
                <a:effectLst/>
                <a:latin typeface="Century Gothic" panose="020B0502020202020204" pitchFamily="34" charset="0"/>
              </a:rPr>
              <a:t>incrementarse</a:t>
            </a:r>
            <a:r>
              <a:rPr lang="es-ES_tradnl" sz="1400" b="0" i="0" u="none" strike="noStrike" noProof="1">
                <a:solidFill>
                  <a:srgbClr val="000000"/>
                </a:solidFill>
                <a:effectLst/>
                <a:latin typeface="Century Gothic" panose="020B0502020202020204" pitchFamily="34" charset="0"/>
              </a:rPr>
              <a:t> debido a factores como la inflación y cambios en las condiciones de mercado.</a:t>
            </a:r>
            <a:endParaRPr lang="es-ES_tradnl" sz="1400" noProof="1">
              <a:latin typeface="Century Gothic" panose="020B0502020202020204" pitchFamily="34" charset="0"/>
            </a:endParaRPr>
          </a:p>
        </p:txBody>
      </p:sp>
      <p:sp>
        <p:nvSpPr>
          <p:cNvPr id="28" name="TextBox 27">
            <a:extLst>
              <a:ext uri="{FF2B5EF4-FFF2-40B4-BE49-F238E27FC236}">
                <a16:creationId xmlns:a16="http://schemas.microsoft.com/office/drawing/2014/main" id="{0162D90A-BB81-73BD-0A8E-665EEF3B8886}"/>
              </a:ext>
            </a:extLst>
          </p:cNvPr>
          <p:cNvSpPr txBox="1"/>
          <p:nvPr/>
        </p:nvSpPr>
        <p:spPr>
          <a:xfrm>
            <a:off x="4733365" y="1862662"/>
            <a:ext cx="5927934" cy="1077218"/>
          </a:xfrm>
          <a:prstGeom prst="rect">
            <a:avLst/>
          </a:prstGeom>
          <a:solidFill>
            <a:srgbClr val="FFF4E6"/>
          </a:solidFill>
          <a:ln>
            <a:solidFill>
              <a:srgbClr val="C00000"/>
            </a:solidFill>
          </a:ln>
        </p:spPr>
        <p:txBody>
          <a:bodyPr wrap="square">
            <a:spAutoFit/>
          </a:bodyPr>
          <a:lstStyle/>
          <a:p>
            <a:pPr algn="ctr"/>
            <a:r>
              <a:rPr lang="es-ES_tradnl" sz="1600" b="0" i="0" u="none" strike="noStrike" noProof="1">
                <a:solidFill>
                  <a:srgbClr val="000000"/>
                </a:solidFill>
                <a:effectLst/>
                <a:latin typeface="Century Gothic" panose="020B0502020202020204" pitchFamily="34" charset="0"/>
              </a:rPr>
              <a:t>Si una persona decide mantener su dinero sin utilizarlo, gastarlo o incluso prestarlo, renuncia a alternativas que podrían permitirle preservar o incluso aumentar su poder adquisitivo frente al aumento de precios. </a:t>
            </a:r>
            <a:endParaRPr lang="es-ES_tradnl" sz="1600" noProof="1">
              <a:latin typeface="Century Gothic" panose="020B0502020202020204" pitchFamily="34" charset="0"/>
            </a:endParaRPr>
          </a:p>
        </p:txBody>
      </p:sp>
      <p:sp>
        <p:nvSpPr>
          <p:cNvPr id="7" name="TextBox 6">
            <a:extLst>
              <a:ext uri="{FF2B5EF4-FFF2-40B4-BE49-F238E27FC236}">
                <a16:creationId xmlns:a16="http://schemas.microsoft.com/office/drawing/2014/main" id="{85AF361C-E2EB-8FAF-4B1B-D4A0D9A0D054}"/>
              </a:ext>
            </a:extLst>
          </p:cNvPr>
          <p:cNvSpPr txBox="1"/>
          <p:nvPr/>
        </p:nvSpPr>
        <p:spPr>
          <a:xfrm>
            <a:off x="6927172" y="6357858"/>
            <a:ext cx="6094948" cy="646331"/>
          </a:xfrm>
          <a:prstGeom prst="rect">
            <a:avLst/>
          </a:prstGeom>
          <a:noFill/>
        </p:spPr>
        <p:txBody>
          <a:bodyPr wrap="square">
            <a:spAutoFit/>
          </a:bodyPr>
          <a:lstStyle/>
          <a:p>
            <a:r>
              <a:rPr lang="en-CO" altLang="en-CO" b="1" dirty="0">
                <a:solidFill>
                  <a:schemeClr val="accent1"/>
                </a:solidFill>
                <a:highlight>
                  <a:srgbClr val="FFFF00"/>
                </a:highlight>
                <a:latin typeface="Century Gothic" panose="020B0502020202020204" pitchFamily="34" charset="0"/>
              </a:rPr>
              <a:t>Δ </a:t>
            </a:r>
            <a:r>
              <a:rPr lang="es-ES" b="1" dirty="0">
                <a:solidFill>
                  <a:schemeClr val="accent1"/>
                </a:solidFill>
                <a:highlight>
                  <a:srgbClr val="FFFF00"/>
                </a:highlight>
                <a:latin typeface="Century Gothic" panose="020B0502020202020204" pitchFamily="34" charset="0"/>
              </a:rPr>
              <a:t>=</a:t>
            </a:r>
            <a:r>
              <a:rPr lang="en-CO" b="1" dirty="0">
                <a:solidFill>
                  <a:schemeClr val="accent1"/>
                </a:solidFill>
                <a:highlight>
                  <a:srgbClr val="FFFF00"/>
                </a:highlight>
                <a:latin typeface="Century Gothic" panose="020B0502020202020204" pitchFamily="34" charset="0"/>
              </a:rPr>
              <a:t>(3550 - 800) / 800 *100 = 343,75%</a:t>
            </a:r>
          </a:p>
          <a:p>
            <a:r>
              <a:rPr lang="en-CO" dirty="0"/>
              <a:t> </a:t>
            </a:r>
            <a:endParaRPr lang="es-ES_tradnl" dirty="0"/>
          </a:p>
        </p:txBody>
      </p:sp>
      <p:pic>
        <p:nvPicPr>
          <p:cNvPr id="1026" name="Picture 2">
            <a:extLst>
              <a:ext uri="{FF2B5EF4-FFF2-40B4-BE49-F238E27FC236}">
                <a16:creationId xmlns:a16="http://schemas.microsoft.com/office/drawing/2014/main" id="{2EE9D283-377B-9D1C-5DE5-79B6554C0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7000" y="-411163"/>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87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heckerboard(across)">
                                      <p:cBhvr>
                                        <p:cTn id="7" dur="500"/>
                                        <p:tgtEl>
                                          <p:spTgt spid="1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 calcmode="lin" valueType="num">
                                      <p:cBhvr additive="base">
                                        <p:cTn id="15" dur="500" fill="hold"/>
                                        <p:tgtEl>
                                          <p:spTgt spid="22"/>
                                        </p:tgtEl>
                                        <p:attrNameLst>
                                          <p:attrName>ppt_x</p:attrName>
                                        </p:attrNameLst>
                                      </p:cBhvr>
                                      <p:tavLst>
                                        <p:tav tm="0">
                                          <p:val>
                                            <p:strVal val="#ppt_x"/>
                                          </p:val>
                                        </p:tav>
                                        <p:tav tm="100000">
                                          <p:val>
                                            <p:strVal val="#ppt_x"/>
                                          </p:val>
                                        </p:tav>
                                      </p:tavLst>
                                    </p:anim>
                                    <p:anim calcmode="lin" valueType="num">
                                      <p:cBhvr additive="base">
                                        <p:cTn id="1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horizont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heel(1)">
                                      <p:cBhvr>
                                        <p:cTn id="29"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2" grpId="0"/>
      <p:bldP spid="26" grpId="0"/>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r>
              <a:rPr lang="es-CO" sz="4000">
                <a:latin typeface="Century Gothic"/>
              </a:rPr>
              <a:t>COSTO DE OPORTUNIDAD y valor del dinero en el tiempo (</a:t>
            </a:r>
            <a:r>
              <a:rPr lang="es-CO" sz="4000">
                <a:solidFill>
                  <a:srgbClr val="D7A700"/>
                </a:solidFill>
                <a:latin typeface="Century Gothic"/>
              </a:rPr>
              <a:t>parte 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02849334-50C1-23CB-251B-F07826B2CE1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CuadroTexto 4">
            <a:extLst>
              <a:ext uri="{FF2B5EF4-FFF2-40B4-BE49-F238E27FC236}">
                <a16:creationId xmlns:a16="http://schemas.microsoft.com/office/drawing/2014/main" id="{C995C794-1E12-7031-9346-1AE89CA8F729}"/>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73</TotalTime>
  <Words>2043</Words>
  <Application>Microsoft Macintosh PowerPoint</Application>
  <PresentationFormat>Widescreen</PresentationFormat>
  <Paragraphs>267</Paragraphs>
  <Slides>28</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Cambria Math</vt:lpstr>
      <vt:lpstr>Century Gothic</vt:lpstr>
      <vt:lpstr>Courier New</vt:lpstr>
      <vt:lpstr>Gill Sans MT</vt:lpstr>
      <vt:lpstr>Wingdings 2</vt:lpstr>
      <vt:lpstr>Dividendo</vt:lpstr>
      <vt:lpstr>COSTO DE OPORTUNIDAD Y VALOR DEL DINERO EN EL TIEMPO (PARTE I)</vt:lpstr>
      <vt:lpstr>AGENDA PROPUESTA</vt:lpstr>
      <vt:lpstr>AGENDA PROPUESTA</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¿Qué es el costo de oportunidad?</vt:lpstr>
      <vt:lpstr>PowerPoint Presentation</vt:lpstr>
      <vt:lpstr>PowerPoint Presentation</vt:lpstr>
      <vt:lpstr>PowerPoint Presentation</vt:lpstr>
      <vt:lpstr>¿Qué es el costo de oportunidad?</vt:lpstr>
      <vt:lpstr>PowerPoint Presentation</vt:lpstr>
      <vt:lpstr>PREGUNTA 1 (4 MINUTOS)</vt:lpstr>
      <vt:lpstr>PREGUNTA 1 (4 MINUTOS)</vt:lpstr>
      <vt:lpstr>PREGUNTA 2 (5 MINUTOS)</vt:lpstr>
      <vt:lpstr>PREGUNTA 2 (5 MINUTOS)</vt:lpstr>
      <vt:lpstr>PREGUNTA 3 (4 MINUTOS)</vt:lpstr>
      <vt:lpstr>PREGUNTA 3 (4 MINUTOS)</vt:lpstr>
      <vt:lpstr>PREGUNTA 4 (5 MINUTOS)</vt:lpstr>
      <vt:lpstr>PREGUNTA 4 (5 MINUTOS)</vt:lpstr>
      <vt:lpstr>AGENDA PROPUESTA</vt:lpstr>
      <vt:lpstr>RELACIÓN ENTRE COSTO DE OPORTUNIDAD Y VALOR DEL DINERO EN EL TIEMPO</vt:lpstr>
      <vt:lpstr>RELACIÓN ENTRE COSTO DE OPORTUNIDAD Y VALOR DEL DINERO EN EL TIEMPO</vt:lpstr>
      <vt:lpstr>RELACIÓN ENTRE COSTO DE OPORTUNIDAD Y VALOR DEL DINERO EN EL TIEMPO</vt:lpstr>
      <vt:lpstr>COSTO DE OPORTUNIDAD y valor del dinero en el tiempo (parte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 Rodriguez</cp:lastModifiedBy>
  <cp:revision>2</cp:revision>
  <dcterms:created xsi:type="dcterms:W3CDTF">2019-06-20T04:25:04Z</dcterms:created>
  <dcterms:modified xsi:type="dcterms:W3CDTF">2026-01-22T18:17:16Z</dcterms:modified>
</cp:coreProperties>
</file>